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</p:sldIdLst>
  <p:sldSz cx="10692000" cy="7559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Éléments avancés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 marL="0" indent="0" algn="ctr">
              <a:buNone/>
            </a:pPr>
            <a:r>
              <a:rPr sz="3200" b="1"/>
              <a:t>Groupes</a:t>
            </a:r>
          </a:p>
          <a:p>
            <a:pPr marL="0" indent="0" algn="ctr">
              <a:buNone/>
            </a:pPr>
            <a:r>
              <a:rPr sz="3200"/>
              <a:t>Sous-rapports</a:t>
            </a:r>
          </a:p>
          <a:p>
            <a:pPr marL="0" indent="0" algn="ctr">
              <a:buNone/>
            </a:pPr>
            <a:r>
              <a:rPr sz="3200"/>
              <a:t>Datasets, Listes et Tableaux</a:t>
            </a:r>
          </a:p>
          <a:p>
            <a:pPr marL="0" indent="0" algn="ctr">
              <a:buNone/>
            </a:pPr>
            <a:r>
              <a:rPr sz="3200"/>
              <a:t>Graphiques </a:t>
            </a:r>
          </a:p>
          <a:p>
            <a:pPr marL="0" indent="0" algn="ctr">
              <a:buNone/>
            </a:pPr>
            <a:r>
              <a:rPr sz="3200"/>
              <a:t>Tableaux croisés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Groupe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600"/>
              <a:t>Les groupes permettent de regrouper les </a:t>
            </a:r>
            <a:r>
              <a:rPr sz="2600"/>
              <a:t>données d'un rapport selon des </a:t>
            </a:r>
            <a:r>
              <a:rPr sz="2600" b="1"/>
              <a:t>critères de </a:t>
            </a:r>
            <a:r>
              <a:rPr sz="2600" b="1"/>
              <a:t>rupture </a:t>
            </a:r>
            <a:r>
              <a:rPr sz="2600"/>
              <a:t>spécifiés via des expressions.</a:t>
            </a:r>
          </a:p>
          <a:p>
            <a:pPr/>
            <a:r>
              <a:rPr sz="2600"/>
              <a:t>La définition d’un groupe créée généralement </a:t>
            </a:r>
            <a:r>
              <a:rPr sz="2600"/>
              <a:t>de nouvelle bandes :</a:t>
            </a:r>
          </a:p>
          <a:p>
            <a:pPr lvl="1"/>
            <a:r>
              <a:rPr sz="2600"/>
              <a:t>une </a:t>
            </a:r>
            <a:r>
              <a:rPr sz="2600" b="1"/>
              <a:t>entête </a:t>
            </a:r>
            <a:r>
              <a:rPr sz="2600"/>
              <a:t>(</a:t>
            </a:r>
            <a:r>
              <a:rPr sz="2600" i="1"/>
              <a:t>&lt;groupFooter&gt;)</a:t>
            </a:r>
          </a:p>
          <a:p>
            <a:pPr lvl="1"/>
            <a:r>
              <a:rPr sz="2600" b="1"/>
              <a:t>un pied de groupe</a:t>
            </a:r>
            <a:r>
              <a:rPr sz="2600"/>
              <a:t> (</a:t>
            </a:r>
            <a:r>
              <a:rPr sz="2600" i="1"/>
              <a:t>&lt;groupHeader&gt;</a:t>
            </a:r>
            <a:r>
              <a:rPr sz="2600"/>
              <a:t>)</a:t>
            </a:r>
            <a:br/>
            <a:r>
              <a:rPr sz="2200" i="1"/>
              <a:t>Rapport → Clic droit → Créer groupe</a:t>
            </a:r>
          </a:p>
          <a:p>
            <a:pPr/>
            <a:r>
              <a:rPr sz="2600"/>
              <a:t>Lors de la fusion de données et l’itération sur </a:t>
            </a:r>
            <a:r>
              <a:rPr sz="2600"/>
              <a:t>le ResultSet, </a:t>
            </a:r>
            <a:r>
              <a:rPr sz="2600" i="1"/>
              <a:t>JasperReport</a:t>
            </a:r>
            <a:r>
              <a:rPr sz="2600"/>
              <a:t> teste les </a:t>
            </a:r>
            <a:r>
              <a:rPr sz="2600"/>
              <a:t>expressions de groupe définis afin de </a:t>
            </a:r>
            <a:r>
              <a:rPr sz="2600"/>
              <a:t>déterminer si une rupture survient. </a:t>
            </a:r>
            <a:r>
              <a:rPr sz="2600"/>
              <a:t>Si c'est le cas, il insère l'entête et le pied de </a:t>
            </a:r>
            <a:r>
              <a:rPr sz="2600"/>
              <a:t>groupe adéquats.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Exemple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sz="1300">
                <a:latin typeface="Courier New"/>
              </a:rPr>
              <a:t>&lt;group </a:t>
            </a:r>
            <a:r>
              <a:rPr sz="1300" b="1">
                <a:latin typeface="Courier New"/>
              </a:rPr>
              <a:t>name="CITY"</a:t>
            </a:r>
            <a:r>
              <a:rPr sz="1300">
                <a:latin typeface="Courier New"/>
              </a:rPr>
              <a:t>&gt;</a:t>
            </a:r>
          </a:p>
          <a:p>
            <a:pPr marL="0" indent="0">
              <a:buNone/>
            </a:pPr>
            <a:r>
              <a:rPr sz="1300">
                <a:latin typeface="Courier New"/>
              </a:rPr>
              <a:t>   &lt;groupExpression&gt;</a:t>
            </a:r>
            <a:r>
              <a:rPr sz="1300" b="1">
                <a:latin typeface="Courier New"/>
              </a:rPr>
              <a:t>&lt;![CDATA[$F{CITY}]]&gt;</a:t>
            </a:r>
            <a:r>
              <a:rPr sz="1300">
                <a:latin typeface="Courier New"/>
              </a:rPr>
              <a:t>&lt;/groupExpression&gt;</a:t>
            </a:r>
          </a:p>
          <a:p>
            <a:pPr marL="0" indent="0">
              <a:buNone/>
            </a:pPr>
            <a:r>
              <a:rPr sz="1300">
                <a:latin typeface="Courier New"/>
              </a:rPr>
              <a:t>   &lt;</a:t>
            </a:r>
            <a:r>
              <a:rPr sz="1300" b="1">
                <a:latin typeface="Courier New"/>
              </a:rPr>
              <a:t>groupHeader</a:t>
            </a:r>
            <a:r>
              <a:rPr sz="1300">
                <a:latin typeface="Courier New"/>
              </a:rPr>
              <a:t>&gt;</a:t>
            </a:r>
          </a:p>
          <a:p>
            <a:pPr marL="0" indent="0">
              <a:buNone/>
            </a:pPr>
            <a:r>
              <a:rPr sz="1300">
                <a:latin typeface="Courier New"/>
              </a:rPr>
              <a:t>         &lt;band height="37"&gt;</a:t>
            </a:r>
          </a:p>
          <a:p>
            <a:pPr marL="0" indent="0">
              <a:buNone/>
            </a:pPr>
            <a:r>
              <a:rPr sz="1300">
                <a:latin typeface="Courier New"/>
              </a:rPr>
              <a:t>           &lt;frame&gt;</a:t>
            </a:r>
          </a:p>
          <a:p>
            <a:pPr marL="0" indent="0">
              <a:buNone/>
            </a:pPr>
            <a:r>
              <a:rPr sz="1300">
                <a:latin typeface="Courier New"/>
              </a:rPr>
              <a:t>              &lt;reportElement mode="Opaque" x="0" y="7" width="555" height="24" </a:t>
            </a:r>
          </a:p>
          <a:p>
            <a:pPr marL="0" indent="0">
              <a:buNone/>
            </a:pPr>
            <a:r>
              <a:rPr sz="1300">
                <a:latin typeface="Courier New"/>
              </a:rPr>
              <a:t>forecolor="#B89F7D" backcolor="#000000"/&gt;</a:t>
            </a:r>
          </a:p>
          <a:p>
            <a:pPr marL="0" indent="0">
              <a:buNone/>
            </a:pPr>
            <a:r>
              <a:rPr sz="1300">
                <a:latin typeface="Courier New"/>
              </a:rPr>
              <a:t>              &lt;textField isStretchWithOverflow="true"&gt;</a:t>
            </a:r>
          </a:p>
          <a:p>
            <a:pPr marL="0" indent="0">
              <a:buNone/>
            </a:pPr>
            <a:r>
              <a:rPr sz="1300">
                <a:latin typeface="Courier New"/>
              </a:rPr>
              <a:t>                          &lt;reportElement style="SubTitle" </a:t>
            </a:r>
          </a:p>
          <a:p>
            <a:pPr marL="0" indent="0">
              <a:buNone/>
            </a:pPr>
            <a:r>
              <a:rPr sz="1300">
                <a:latin typeface="Courier New"/>
              </a:rPr>
              <a:t>isPrintRepeatedValues="false" x="2" y="0" width="479" height="24" </a:t>
            </a:r>
          </a:p>
          <a:p>
            <a:pPr marL="0" indent="0">
              <a:buNone/>
            </a:pPr>
            <a:r>
              <a:rPr sz="1300">
                <a:latin typeface="Courier New"/>
              </a:rPr>
              <a:t>forecolor="#FFFFFF"/&gt;</a:t>
            </a:r>
          </a:p>
          <a:p>
            <a:pPr marL="0" indent="0">
              <a:buNone/>
            </a:pPr>
            <a:r>
              <a:rPr sz="1300">
                <a:latin typeface="Courier New"/>
              </a:rPr>
              <a:t>                    &lt;textElement&gt;&lt;font isBold="false"/&gt;&lt;/textElement&gt;</a:t>
            </a:r>
          </a:p>
          <a:p>
            <a:pPr marL="0" indent="0">
              <a:buNone/>
            </a:pPr>
            <a:r>
              <a:rPr sz="1300">
                <a:latin typeface="Courier New"/>
              </a:rPr>
              <a:t>                    &lt;textFieldExpression class="java.lang.String"&gt;</a:t>
            </a:r>
          </a:p>
          <a:p>
            <a:pPr marL="0" indent="0">
              <a:buNone/>
            </a:pPr>
            <a:r>
              <a:rPr sz="1300">
                <a:latin typeface="Courier New"/>
              </a:rPr>
              <a:t>                                &lt;![CDATA[$F{CITY}]]&gt;</a:t>
            </a:r>
          </a:p>
          <a:p>
            <a:pPr marL="0" indent="0">
              <a:buNone/>
            </a:pPr>
            <a:r>
              <a:rPr sz="1300">
                <a:latin typeface="Courier New"/>
              </a:rPr>
              <a:t>                    &lt;/textFieldExpression&gt;</a:t>
            </a:r>
          </a:p>
          <a:p>
            <a:pPr marL="0" indent="0">
              <a:buNone/>
            </a:pPr>
            <a:r>
              <a:rPr sz="1300">
                <a:latin typeface="Courier New"/>
              </a:rPr>
              <a:t>              &lt;/textField&gt;</a:t>
            </a:r>
          </a:p>
          <a:p>
            <a:pPr marL="0" indent="0">
              <a:buNone/>
            </a:pPr>
            <a:r>
              <a:rPr sz="1300">
                <a:latin typeface="Courier New"/>
              </a:rPr>
              <a:t>          &lt;/frame&gt;</a:t>
            </a:r>
          </a:p>
          <a:p>
            <a:pPr marL="0" indent="0">
              <a:buNone/>
            </a:pPr>
            <a:r>
              <a:rPr sz="1300">
                <a:latin typeface="Courier New"/>
              </a:rPr>
              <a:t>       &lt;/band&gt;</a:t>
            </a:r>
          </a:p>
          <a:p>
            <a:pPr marL="0" indent="0">
              <a:buNone/>
            </a:pPr>
            <a:r>
              <a:rPr sz="1300">
                <a:latin typeface="Courier New"/>
              </a:rPr>
              <a:t>    &lt;/groupHeader&gt;</a:t>
            </a:r>
          </a:p>
          <a:p>
            <a:pPr marL="0" indent="0">
              <a:buNone/>
            </a:pPr>
            <a:r>
              <a:rPr sz="1300">
                <a:latin typeface="Courier New"/>
              </a:rPr>
              <a:t>    &lt;</a:t>
            </a:r>
            <a:r>
              <a:rPr sz="1300" b="1">
                <a:latin typeface="Courier New"/>
              </a:rPr>
              <a:t>groupFooter</a:t>
            </a:r>
            <a:r>
              <a:rPr sz="1300">
                <a:latin typeface="Courier New"/>
              </a:rPr>
              <a:t>&gt;</a:t>
            </a:r>
          </a:p>
          <a:p>
            <a:pPr marL="0" indent="0">
              <a:buNone/>
            </a:pPr>
            <a:r>
              <a:rPr sz="1300">
                <a:latin typeface="Courier New"/>
              </a:rPr>
              <a:t>      &lt;band height="6"/&gt;</a:t>
            </a:r>
          </a:p>
          <a:p>
            <a:pPr marL="0" indent="0">
              <a:buNone/>
            </a:pPr>
            <a:r>
              <a:rPr sz="1300">
                <a:latin typeface="Courier New"/>
              </a:rPr>
              <a:t>    &lt;/groupFooter&gt;</a:t>
            </a:r>
          </a:p>
          <a:p>
            <a:pPr marL="0" indent="0">
              <a:buNone/>
            </a:pPr>
            <a:r>
              <a:rPr sz="1300">
                <a:latin typeface="Courier New"/>
              </a:rPr>
              <a:t>&lt;/group&gt;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Ordre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3200"/>
              <a:t>Le moteur n'effectue pas de tri sur les </a:t>
            </a:r>
            <a:r>
              <a:rPr sz="3200"/>
              <a:t>enregistrements. </a:t>
            </a:r>
          </a:p>
          <a:p>
            <a:pPr marL="0" indent="0">
              <a:buNone/>
            </a:pPr>
            <a:r>
              <a:rPr sz="3200"/>
              <a:t>=&gt;Il faut donc toujours ajouter une </a:t>
            </a:r>
            <a:r>
              <a:rPr sz="3200"/>
              <a:t>clause </a:t>
            </a:r>
            <a:r>
              <a:rPr sz="3200" b="1" i="1"/>
              <a:t>ORDER</a:t>
            </a:r>
            <a:r>
              <a:rPr sz="3200"/>
              <a:t> dans la requête SQL </a:t>
            </a:r>
          </a:p>
          <a:p>
            <a:pPr/>
            <a:r>
              <a:rPr sz="3200"/>
              <a:t>Dans le cas d'une source XML, il faut </a:t>
            </a:r>
            <a:r>
              <a:rPr sz="3200"/>
              <a:t>alors demander explicitement à </a:t>
            </a:r>
            <a:r>
              <a:rPr sz="3200" i="1"/>
              <a:t>JasperReport</a:t>
            </a:r>
            <a:r>
              <a:rPr sz="3200"/>
              <a:t> d'effectuer le tri.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Imbrication des groupes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3200"/>
              <a:t>Le nombre de groupes définis dans un </a:t>
            </a:r>
            <a:r>
              <a:rPr sz="3200"/>
              <a:t>rapport est illimité.</a:t>
            </a:r>
          </a:p>
          <a:p>
            <a:pPr/>
            <a:r>
              <a:rPr sz="3200"/>
              <a:t>L'ordre est important car les groupes </a:t>
            </a:r>
            <a:r>
              <a:rPr sz="3200"/>
              <a:t>sont contenus les uns dans les autres. </a:t>
            </a:r>
          </a:p>
          <a:p>
            <a:pPr/>
            <a:r>
              <a:rPr sz="3200"/>
              <a:t>Lorsqu'un groupe rencontre une </a:t>
            </a:r>
            <a:r>
              <a:rPr sz="3200"/>
              <a:t>rupture, tous les groupes contenus </a:t>
            </a:r>
            <a:r>
              <a:rPr sz="3200"/>
              <a:t>sont réinitialisés.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Attributs d’un groupe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400" b="1" i="1"/>
              <a:t>groupExpression</a:t>
            </a:r>
            <a:r>
              <a:rPr sz="2400"/>
              <a:t> : L'expression</a:t>
            </a:r>
          </a:p>
          <a:p>
            <a:pPr/>
            <a:r>
              <a:rPr sz="2400" b="1" i="1"/>
              <a:t>isStartNewColumn</a:t>
            </a:r>
            <a:r>
              <a:rPr sz="2400"/>
              <a:t> : Si true, un saut de colonne </a:t>
            </a:r>
            <a:r>
              <a:rPr sz="2400"/>
              <a:t>est effectué à chaque rupture. Dans le cas d'un </a:t>
            </a:r>
            <a:r>
              <a:rPr sz="2400"/>
              <a:t>rapport avec une seule colonne, c'est un saut de </a:t>
            </a:r>
            <a:r>
              <a:rPr sz="2400"/>
              <a:t>page qui est effectué</a:t>
            </a:r>
          </a:p>
          <a:p>
            <a:pPr/>
            <a:r>
              <a:rPr sz="2400" b="1" i="1"/>
              <a:t>isStartNewPage</a:t>
            </a:r>
            <a:r>
              <a:rPr sz="2400"/>
              <a:t> : Si true, un saut de page est </a:t>
            </a:r>
            <a:r>
              <a:rPr sz="2400"/>
              <a:t>effectué à chaque rupture</a:t>
            </a:r>
          </a:p>
          <a:p>
            <a:pPr/>
            <a:r>
              <a:rPr sz="2400" b="1" i="1"/>
              <a:t>isResetPageNumber</a:t>
            </a:r>
            <a:r>
              <a:rPr sz="2400"/>
              <a:t> : Saut de page + </a:t>
            </a:r>
            <a:r>
              <a:rPr sz="2400"/>
              <a:t>réinitialisation du numéro de page</a:t>
            </a:r>
          </a:p>
          <a:p>
            <a:pPr/>
            <a:r>
              <a:rPr sz="2400" b="1" i="1"/>
              <a:t>isReprintHeaderOnEachPage</a:t>
            </a:r>
            <a:r>
              <a:rPr sz="2400"/>
              <a:t> : L'entête de </a:t>
            </a:r>
            <a:r>
              <a:rPr sz="2400"/>
              <a:t>groupe est rappelé à chaque changement de page</a:t>
            </a:r>
          </a:p>
          <a:p>
            <a:pPr/>
            <a:r>
              <a:rPr sz="2400" b="1" i="1"/>
              <a:t>minHeightToStartNewPage</a:t>
            </a:r>
            <a:r>
              <a:rPr sz="2400"/>
              <a:t> : Hauteur minimale </a:t>
            </a:r>
            <a:r>
              <a:rPr sz="2400"/>
              <a:t>déclenchant le saut de page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Variables de groupe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3200"/>
              <a:t>Lors de l'ajout d'un groupe, </a:t>
            </a:r>
            <a:r>
              <a:rPr sz="3200" i="1"/>
              <a:t>JasperReport</a:t>
            </a:r>
            <a:r>
              <a:rPr sz="3200"/>
              <a:t> crée automatiquement </a:t>
            </a:r>
            <a:r>
              <a:rPr sz="3200"/>
              <a:t>une variable : </a:t>
            </a:r>
            <a:r>
              <a:rPr sz="3200" b="1" i="1"/>
              <a:t>&lt;groupName&gt;_COUNT</a:t>
            </a:r>
          </a:p>
          <a:p>
            <a:pPr/>
            <a:r>
              <a:rPr sz="3200"/>
              <a:t>C’est une variable d’itération </a:t>
            </a:r>
          </a:p>
          <a:p>
            <a:pPr/>
            <a:r>
              <a:rPr sz="3200"/>
              <a:t>Utilisée en bas de groupe, elle donne </a:t>
            </a:r>
            <a:r>
              <a:rPr sz="3200"/>
              <a:t>le nombre d’enregistrements pour le </a:t>
            </a:r>
            <a:r>
              <a:rPr sz="3200"/>
              <a:t>groupe </a:t>
            </a:r>
          </a:p>
          <a:p>
            <a:pPr marL="0" indent="0">
              <a:buNone/>
            </a:pPr>
            <a:r>
              <a:rPr sz="2800" b="1" i="1"/>
              <a:t>TP 5 : Groupes imbriqués et calculs d’agrégation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Éléments avancés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 marL="0" indent="0" algn="ctr">
              <a:buNone/>
            </a:pPr>
            <a:r>
              <a:rPr sz="3200"/>
              <a:t>Groupes</a:t>
            </a:r>
          </a:p>
          <a:p>
            <a:pPr marL="0" indent="0" algn="ctr">
              <a:buNone/>
            </a:pPr>
            <a:r>
              <a:rPr sz="3200" b="1"/>
              <a:t>Sous-rapports</a:t>
            </a:r>
          </a:p>
          <a:p>
            <a:pPr marL="0" indent="0" algn="ctr">
              <a:buNone/>
            </a:pPr>
            <a:r>
              <a:rPr sz="3200"/>
              <a:t>Datasets, Listes et Tableaux</a:t>
            </a:r>
          </a:p>
          <a:p>
            <a:pPr marL="0" indent="0" algn="ctr">
              <a:buNone/>
            </a:pPr>
            <a:r>
              <a:rPr sz="3200"/>
              <a:t>Graphiques </a:t>
            </a:r>
          </a:p>
          <a:p>
            <a:pPr marL="0" indent="0" algn="ctr">
              <a:buNone/>
            </a:pPr>
            <a:r>
              <a:rPr sz="3200"/>
              <a:t>Tableaux croisés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200"/>
              <a:t>Les </a:t>
            </a:r>
            <a:r>
              <a:rPr sz="2200" b="1"/>
              <a:t>sous-rapports</a:t>
            </a:r>
            <a:r>
              <a:rPr sz="2200"/>
              <a:t> permettent la création de rapports </a:t>
            </a:r>
            <a:r>
              <a:rPr sz="2200"/>
              <a:t>complexes et la réutilisation.</a:t>
            </a:r>
          </a:p>
          <a:p>
            <a:pPr/>
            <a:r>
              <a:rPr sz="2200"/>
              <a:t>Ils sont souvent utilisés dans des rapport de type </a:t>
            </a:r>
            <a:r>
              <a:rPr sz="2200"/>
              <a:t>« master-detail » ou lorsque la structure d'un rapport </a:t>
            </a:r>
            <a:r>
              <a:rPr sz="2200"/>
              <a:t>n'est pas suffisante pour décrire la complexité du </a:t>
            </a:r>
            <a:r>
              <a:rPr sz="2200"/>
              <a:t>document à générer.</a:t>
            </a:r>
          </a:p>
          <a:p>
            <a:pPr/>
            <a:r>
              <a:rPr sz="2200"/>
              <a:t>Un sous-rapport est un rapport normal inclus dans un </a:t>
            </a:r>
            <a:r>
              <a:rPr sz="2200"/>
              <a:t>autre rapport. </a:t>
            </a:r>
            <a:r>
              <a:rPr sz="2200"/>
              <a:t>=&gt; Tout rapport peut être utilisé comme sous-rapport </a:t>
            </a:r>
            <a:r>
              <a:rPr sz="2200"/>
              <a:t>dans un autre rapport sans modification.</a:t>
            </a:r>
          </a:p>
          <a:p>
            <a:pPr/>
            <a:r>
              <a:rPr sz="2200"/>
              <a:t>Il n'y a pas de limite d'imbrication des sous-rapports.</a:t>
            </a:r>
          </a:p>
          <a:p>
            <a:pPr/>
            <a:r>
              <a:rPr sz="2200"/>
              <a:t>Les listes/tableaux proposent une alternative simplifiée </a:t>
            </a:r>
            <a:r>
              <a:rPr sz="2200"/>
              <a:t>des sous-rapports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Utilisation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600"/>
              <a:t>Un sous-rapport est designé complètement </a:t>
            </a:r>
            <a:r>
              <a:rPr sz="2600"/>
              <a:t>indépendamment d'un autre rapport.</a:t>
            </a:r>
          </a:p>
          <a:p>
            <a:pPr/>
            <a:r>
              <a:rPr sz="2600"/>
              <a:t>C'est au moment de son intégration dans le </a:t>
            </a:r>
            <a:r>
              <a:rPr sz="2600"/>
              <a:t>rapport parent (balise </a:t>
            </a:r>
            <a:r>
              <a:rPr sz="2600" b="1" i="1"/>
              <a:t>&lt;subReport&gt;</a:t>
            </a:r>
            <a:r>
              <a:rPr sz="2600"/>
              <a:t>) que les </a:t>
            </a:r>
            <a:r>
              <a:rPr sz="2600"/>
              <a:t>informations suivantes doivent être fournies :</a:t>
            </a:r>
          </a:p>
          <a:p>
            <a:pPr lvl="1"/>
            <a:r>
              <a:rPr sz="2400" b="1"/>
              <a:t>Référence</a:t>
            </a:r>
            <a:r>
              <a:rPr sz="2400"/>
              <a:t> au fichier .</a:t>
            </a:r>
            <a:r>
              <a:rPr sz="2400" i="1"/>
              <a:t>jrxml</a:t>
            </a:r>
            <a:r>
              <a:rPr sz="2400"/>
              <a:t> du sous-rapport</a:t>
            </a:r>
          </a:p>
          <a:p>
            <a:pPr lvl="1"/>
            <a:r>
              <a:rPr sz="2400"/>
              <a:t>La </a:t>
            </a:r>
            <a:r>
              <a:rPr sz="2400" b="1"/>
              <a:t>connexion</a:t>
            </a:r>
            <a:r>
              <a:rPr sz="2400"/>
              <a:t> à utiliser</a:t>
            </a:r>
          </a:p>
          <a:p>
            <a:pPr lvl="1"/>
            <a:r>
              <a:rPr sz="2400"/>
              <a:t>Les </a:t>
            </a:r>
            <a:r>
              <a:rPr sz="2400" b="1"/>
              <a:t>paramètres</a:t>
            </a:r>
            <a:r>
              <a:rPr sz="2400"/>
              <a:t> d'entrées à fournir</a:t>
            </a:r>
          </a:p>
          <a:p>
            <a:pPr lvl="1"/>
            <a:r>
              <a:rPr sz="2400"/>
              <a:t>Les </a:t>
            </a:r>
            <a:r>
              <a:rPr sz="2400" b="1"/>
              <a:t>valeurs de retour</a:t>
            </a:r>
            <a:r>
              <a:rPr sz="2400"/>
              <a:t> que l'on veut utiliser </a:t>
            </a:r>
            <a:r>
              <a:rPr sz="2400"/>
              <a:t>dans le rapport parent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Marges et dimensions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200"/>
              <a:t>Les marges d’un sous-rapport sont généralement </a:t>
            </a:r>
            <a:r>
              <a:rPr sz="2200"/>
              <a:t>positionnées à 0. </a:t>
            </a:r>
          </a:p>
          <a:p>
            <a:pPr/>
            <a:r>
              <a:rPr sz="2200"/>
              <a:t>Lors de son utilisation, il est possible d’indiquer une </a:t>
            </a:r>
            <a:r>
              <a:rPr sz="2200"/>
              <a:t>taille à l’élément </a:t>
            </a:r>
            <a:r>
              <a:rPr sz="2200" i="1"/>
              <a:t>&lt;subReport&gt;</a:t>
            </a:r>
          </a:p>
          <a:p>
            <a:pPr lvl="1"/>
            <a:r>
              <a:rPr sz="2200"/>
              <a:t>Ce n’est pas cette taille qui est utilisée lors de la </a:t>
            </a:r>
            <a:r>
              <a:rPr sz="2200"/>
              <a:t>génération. </a:t>
            </a:r>
            <a:r>
              <a:rPr sz="2200"/>
              <a:t>La taille est définie dans le sous-rapport.</a:t>
            </a:r>
          </a:p>
          <a:p>
            <a:pPr lvl="1"/>
            <a:r>
              <a:rPr sz="2200"/>
              <a:t>L'élément </a:t>
            </a:r>
            <a:r>
              <a:rPr sz="2200" i="1"/>
              <a:t>&lt;subReport&gt;</a:t>
            </a:r>
            <a:r>
              <a:rPr sz="2200"/>
              <a:t> ne permet donc que de </a:t>
            </a:r>
            <a:r>
              <a:rPr sz="2200"/>
              <a:t>positionner le sous-rapport dans le rapport parent</a:t>
            </a:r>
          </a:p>
          <a:p>
            <a:pPr lvl="2"/>
            <a:r>
              <a:rPr sz="1800"/>
              <a:t>Il est cependant conseillé de positionner la largeur de </a:t>
            </a:r>
            <a:r>
              <a:rPr sz="1800"/>
              <a:t>l'élément à la même valeur que la taille du sous-</a:t>
            </a:r>
            <a:r>
              <a:rPr sz="1800"/>
              <a:t> </a:t>
            </a:r>
            <a:r>
              <a:rPr sz="1800"/>
              <a:t>rapport pour « préserver » l’aspect WYSWIG.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Référence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400"/>
              <a:t>La référence au fichier se fait via le sous-élément </a:t>
            </a:r>
            <a:r>
              <a:rPr sz="2400" b="1" i="1"/>
              <a:t>&lt;subReportExpression&gt;</a:t>
            </a:r>
            <a:r>
              <a:rPr sz="2400"/>
              <a:t> et son attribut </a:t>
            </a:r>
            <a:r>
              <a:rPr sz="2400" b="1" i="1"/>
              <a:t>class</a:t>
            </a:r>
            <a:r>
              <a:rPr sz="2400"/>
              <a:t> </a:t>
            </a:r>
            <a:r>
              <a:rPr sz="2400"/>
              <a:t>pouvant prendre les valeurs suivantes :</a:t>
            </a:r>
          </a:p>
          <a:p>
            <a:pPr lvl="2"/>
            <a:r>
              <a:rPr sz="2000" b="1" i="1"/>
              <a:t>java.lang.String</a:t>
            </a:r>
            <a:r>
              <a:rPr sz="2000"/>
              <a:t> : L'emplacement du fichier </a:t>
            </a:r>
            <a:r>
              <a:rPr sz="2000"/>
              <a:t>Jasper. Par rapport au système de fichier ou au </a:t>
            </a:r>
            <a:r>
              <a:rPr sz="2000"/>
              <a:t>CLASSPATH ou une URL. L'attribut </a:t>
            </a:r>
            <a:r>
              <a:rPr sz="2000" b="1" i="1"/>
              <a:t>isUsingCache</a:t>
            </a:r>
            <a:r>
              <a:rPr sz="2000"/>
              <a:t> </a:t>
            </a:r>
            <a:r>
              <a:rPr sz="2000"/>
              <a:t>permet de ne pas recharger à chaque fois le sous-</a:t>
            </a:r>
            <a:r>
              <a:rPr sz="2000"/>
              <a:t> </a:t>
            </a:r>
            <a:r>
              <a:rPr sz="2000"/>
              <a:t>rapport.</a:t>
            </a:r>
          </a:p>
          <a:p>
            <a:pPr lvl="2"/>
            <a:r>
              <a:rPr sz="2000" b="1" i="1"/>
              <a:t>java.io.File</a:t>
            </a:r>
            <a:r>
              <a:rPr sz="2000"/>
              <a:t> : Expression Java retournant un objet </a:t>
            </a:r>
            <a:r>
              <a:rPr sz="2000"/>
              <a:t>File</a:t>
            </a:r>
          </a:p>
          <a:p>
            <a:pPr lvl="2"/>
            <a:r>
              <a:rPr sz="2000" b="1" i="1"/>
              <a:t>java.net.URL</a:t>
            </a:r>
            <a:r>
              <a:rPr sz="2000"/>
              <a:t> : Une URL </a:t>
            </a:r>
          </a:p>
          <a:p>
            <a:pPr lvl="2"/>
            <a:r>
              <a:rPr sz="2000"/>
              <a:t>...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Source de données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800"/>
              <a:t>En général, il y a 3 possibilités concernant </a:t>
            </a:r>
            <a:r>
              <a:rPr sz="2800"/>
              <a:t>la source de données :</a:t>
            </a:r>
          </a:p>
          <a:p>
            <a:pPr lvl="1"/>
            <a:r>
              <a:rPr sz="2600"/>
              <a:t>Le sous-rapport utilise une requête SQL et </a:t>
            </a:r>
            <a:r>
              <a:rPr sz="2600"/>
              <a:t>nécessite la </a:t>
            </a:r>
            <a:r>
              <a:rPr sz="2600" b="1"/>
              <a:t>même connexion JDBC</a:t>
            </a:r>
            <a:r>
              <a:rPr sz="2600"/>
              <a:t> </a:t>
            </a:r>
            <a:r>
              <a:rPr sz="2600"/>
              <a:t>utilisée par le parent </a:t>
            </a:r>
          </a:p>
          <a:p>
            <a:pPr lvl="1"/>
            <a:r>
              <a:rPr sz="2600"/>
              <a:t>Le sous-rapport utilise un </a:t>
            </a:r>
            <a:r>
              <a:rPr sz="2600" b="1"/>
              <a:t>autre type de </a:t>
            </a:r>
            <a:r>
              <a:rPr sz="2600" b="1"/>
              <a:t>source de données</a:t>
            </a:r>
            <a:r>
              <a:rPr sz="2600"/>
              <a:t> comme un fichier </a:t>
            </a:r>
            <a:r>
              <a:rPr sz="2600"/>
              <a:t>XML par exemple</a:t>
            </a:r>
          </a:p>
          <a:p>
            <a:pPr lvl="1"/>
            <a:r>
              <a:rPr sz="2600"/>
              <a:t>Le sous-rapport n'utilise </a:t>
            </a:r>
            <a:r>
              <a:rPr sz="2600" b="1"/>
              <a:t>pas de source </a:t>
            </a:r>
            <a:r>
              <a:rPr sz="2600" b="1"/>
              <a:t>de données</a:t>
            </a:r>
            <a:r>
              <a:rPr sz="2600"/>
              <a:t> et est utilisé pour simuler </a:t>
            </a:r>
            <a:r>
              <a:rPr sz="2600"/>
              <a:t>l'inclusion de portions statiques de </a:t>
            </a:r>
            <a:r>
              <a:rPr sz="2600"/>
              <a:t>document (entête, pied de page, …)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Paramètres d’un sous-rapport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800"/>
              <a:t>Les paramètres d'un sous-rapport peuvent </a:t>
            </a:r>
            <a:r>
              <a:rPr sz="2800"/>
              <a:t>être fournis :</a:t>
            </a:r>
          </a:p>
          <a:p>
            <a:pPr lvl="1"/>
            <a:r>
              <a:rPr sz="2400"/>
              <a:t>Soit sous forme de </a:t>
            </a:r>
            <a:r>
              <a:rPr sz="2400" i="1"/>
              <a:t>Map</a:t>
            </a:r>
            <a:r>
              <a:rPr sz="2400"/>
              <a:t> par l'élément </a:t>
            </a:r>
            <a:r>
              <a:rPr sz="2400" b="1"/>
              <a:t>&lt;</a:t>
            </a:r>
            <a:r>
              <a:rPr sz="2400" b="1" i="1"/>
              <a:t>parametersMapExpression</a:t>
            </a:r>
            <a:r>
              <a:rPr sz="2400" b="1"/>
              <a:t>&gt;</a:t>
            </a:r>
            <a:r>
              <a:rPr sz="2400"/>
              <a:t>. </a:t>
            </a:r>
            <a:r>
              <a:rPr sz="2400"/>
              <a:t>On peut ainsi passer tous les paramètres du </a:t>
            </a:r>
            <a:r>
              <a:rPr sz="2400"/>
              <a:t>parent en utilisant </a:t>
            </a:r>
            <a:r>
              <a:rPr sz="2400" i="1"/>
              <a:t>$P{REPORT_PARAMETERS_MAP}</a:t>
            </a:r>
          </a:p>
          <a:p>
            <a:pPr lvl="1"/>
            <a:r>
              <a:rPr sz="2400"/>
              <a:t>Soit en utilisant l'élément </a:t>
            </a:r>
            <a:r>
              <a:rPr sz="2400" b="1"/>
              <a:t>&lt;</a:t>
            </a:r>
            <a:r>
              <a:rPr sz="2400" b="1" i="1"/>
              <a:t>subreportParameter</a:t>
            </a:r>
            <a:r>
              <a:rPr sz="2400" b="1"/>
              <a:t>&gt;</a:t>
            </a:r>
            <a:r>
              <a:rPr sz="2400"/>
              <a:t> pour chaque </a:t>
            </a:r>
            <a:r>
              <a:rPr sz="2400"/>
              <a:t>paramètre. (ces éléments surchargent la </a:t>
            </a:r>
            <a:r>
              <a:rPr sz="2400"/>
              <a:t>map éventuellement spécifiée).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Valeurs de retour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38" y="2199347"/>
            <a:ext cx="8770491" cy="2378641"/>
          </a:xfrm>
        </p:spPr>
        <p:txBody>
          <a:bodyPr wrap="square">
            <a:normAutofit/>
          </a:bodyPr>
          <a:lstStyle/>
          <a:p>
            <a:pPr/>
            <a:r>
              <a:rPr sz="2000"/>
              <a:t>Il est possible de mettre à jour des variables du rapport </a:t>
            </a:r>
            <a:r>
              <a:rPr sz="2000"/>
              <a:t>parent avec les variables calculées du sous-rapport </a:t>
            </a:r>
          </a:p>
          <a:p>
            <a:pPr lvl="1"/>
            <a:r>
              <a:rPr sz="2000"/>
              <a:t>Il suffit alors de définir les correspondances entre la </a:t>
            </a:r>
            <a:r>
              <a:rPr sz="2000"/>
              <a:t>variable de sous-rapport et la variable du parent.</a:t>
            </a:r>
          </a:p>
          <a:p>
            <a:pPr lvl="1"/>
            <a:r>
              <a:rPr sz="2000"/>
              <a:t>Des fonctions d'agrégation peuvent également être </a:t>
            </a:r>
            <a:r>
              <a:rPr sz="2000"/>
              <a:t>appliquées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0385" y="4603388"/>
            <a:ext cx="4769154" cy="26354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Méthode à suivre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800"/>
              <a:t>Définir une variable dans le rapport parent </a:t>
            </a:r>
            <a:r>
              <a:rPr sz="2800"/>
              <a:t>dont la méthode de calcul est «</a:t>
            </a:r>
            <a:r>
              <a:rPr sz="2800" b="1"/>
              <a:t> System </a:t>
            </a:r>
            <a:r>
              <a:rPr sz="2800"/>
              <a:t>»</a:t>
            </a:r>
          </a:p>
          <a:p>
            <a:pPr/>
            <a:r>
              <a:rPr sz="2800"/>
              <a:t>Définir la correspondance entre la variable </a:t>
            </a:r>
            <a:r>
              <a:rPr sz="2800"/>
              <a:t>créée et une des variables du sous-rapport. </a:t>
            </a:r>
            <a:r>
              <a:rPr sz="2800"/>
              <a:t>Les types devant correspondre</a:t>
            </a:r>
          </a:p>
          <a:p>
            <a:pPr/>
            <a:r>
              <a:rPr sz="2800"/>
              <a:t>Si la valeur de la variable est affichée dans </a:t>
            </a:r>
            <a:r>
              <a:rPr sz="2800"/>
              <a:t>la même bande que le sous-rapport, alors </a:t>
            </a:r>
            <a:r>
              <a:rPr sz="2800"/>
              <a:t>l'attribut «</a:t>
            </a:r>
            <a:r>
              <a:rPr sz="2800" b="1"/>
              <a:t> Evaluation time</a:t>
            </a:r>
            <a:r>
              <a:rPr sz="2800"/>
              <a:t> » du champ </a:t>
            </a:r>
            <a:r>
              <a:rPr sz="2800"/>
              <a:t>texte doit être positionné à «</a:t>
            </a:r>
            <a:r>
              <a:rPr sz="2800" b="1"/>
              <a:t> band </a:t>
            </a:r>
            <a:r>
              <a:rPr sz="2800"/>
              <a:t>»</a:t>
            </a:r>
          </a:p>
          <a:p>
            <a:pPr marL="0" indent="0">
              <a:buNone/>
            </a:pPr>
            <a:r>
              <a:rPr sz="2800" b="1" i="1"/>
              <a:t>TP 6 : Sous-rapport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Éléments avancés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 marL="0" indent="0" algn="ctr">
              <a:buNone/>
            </a:pPr>
            <a:r>
              <a:rPr sz="3200"/>
              <a:t>Groupes</a:t>
            </a:r>
          </a:p>
          <a:p>
            <a:pPr marL="0" indent="0" algn="ctr">
              <a:buNone/>
            </a:pPr>
            <a:r>
              <a:rPr sz="3200"/>
              <a:t>Sous-rapports</a:t>
            </a:r>
          </a:p>
          <a:p>
            <a:pPr marL="0" indent="0" algn="ctr">
              <a:buNone/>
            </a:pPr>
            <a:r>
              <a:rPr sz="3200" b="1"/>
              <a:t>Datasets, Listes et Tableaux</a:t>
            </a:r>
          </a:p>
          <a:p>
            <a:pPr marL="0" indent="0" algn="ctr">
              <a:buNone/>
            </a:pPr>
            <a:r>
              <a:rPr sz="3200"/>
              <a:t>Graphiques </a:t>
            </a:r>
          </a:p>
          <a:p>
            <a:pPr marL="0" indent="0" algn="ctr">
              <a:buNone/>
            </a:pPr>
            <a:r>
              <a:rPr sz="3200"/>
              <a:t>Tableaux croisés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Datasets / Jeux de données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600"/>
              <a:t>Les graphiques et tableaux croisés ont souvent </a:t>
            </a:r>
            <a:r>
              <a:rPr sz="2600"/>
              <a:t>besoin d'utiliser des données non fournies par </a:t>
            </a:r>
            <a:r>
              <a:rPr sz="2600"/>
              <a:t>la requête principale du rapport</a:t>
            </a:r>
          </a:p>
          <a:p>
            <a:pPr/>
            <a:r>
              <a:rPr sz="2600"/>
              <a:t>Grâce à la notion de </a:t>
            </a:r>
            <a:r>
              <a:rPr sz="2600" b="1" i="1"/>
              <a:t>datasets</a:t>
            </a:r>
            <a:r>
              <a:rPr sz="2600"/>
              <a:t>, différents </a:t>
            </a:r>
            <a:r>
              <a:rPr sz="2600"/>
              <a:t>graphiques ou tableaux croisés peuvent être </a:t>
            </a:r>
            <a:r>
              <a:rPr sz="2600"/>
              <a:t>inclus sans utiliser de sous-rapports</a:t>
            </a:r>
          </a:p>
          <a:p>
            <a:pPr/>
            <a:r>
              <a:rPr sz="2600"/>
              <a:t>Un dataset est un mélange entre :</a:t>
            </a:r>
          </a:p>
          <a:p>
            <a:pPr lvl="1"/>
            <a:r>
              <a:rPr sz="2200"/>
              <a:t>Un jeu de données : on va pouvoir définir de </a:t>
            </a:r>
            <a:r>
              <a:rPr sz="2200"/>
              <a:t>nouvelles requêtes</a:t>
            </a:r>
          </a:p>
          <a:p>
            <a:pPr lvl="1"/>
            <a:r>
              <a:rPr sz="2200"/>
              <a:t>et un sous-rapport : il contient des paramètres </a:t>
            </a:r>
            <a:r>
              <a:rPr sz="2200"/>
              <a:t>des champs, des variables et des groupes mais </a:t>
            </a:r>
            <a:r>
              <a:rPr sz="2200"/>
              <a:t>pas d'information de disposition.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Élément &lt;subdataset&gt;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800"/>
              <a:t>Les datasets sont déclarés à l'intérieur de </a:t>
            </a:r>
            <a:r>
              <a:rPr sz="2800"/>
              <a:t>la balise </a:t>
            </a:r>
            <a:r>
              <a:rPr sz="2800" i="1"/>
              <a:t>&lt;jasperReport&gt;</a:t>
            </a:r>
            <a:r>
              <a:rPr sz="2800"/>
              <a:t> via l'élément </a:t>
            </a:r>
            <a:r>
              <a:rPr sz="2800" b="1" i="1"/>
              <a:t>&lt;subdataset&gt;</a:t>
            </a:r>
            <a:r>
              <a:rPr sz="2800" i="1"/>
              <a:t>.</a:t>
            </a:r>
          </a:p>
          <a:p>
            <a:pPr/>
            <a:r>
              <a:rPr sz="2800"/>
              <a:t>Le nombre de datasets n'est pas limité. </a:t>
            </a:r>
          </a:p>
          <a:p>
            <a:pPr/>
            <a:r>
              <a:rPr sz="2800"/>
              <a:t>Les propriétés principales du </a:t>
            </a:r>
            <a:r>
              <a:rPr sz="2800" i="1"/>
              <a:t>dataset</a:t>
            </a:r>
            <a:r>
              <a:rPr sz="2800"/>
              <a:t> sont :</a:t>
            </a:r>
          </a:p>
          <a:p>
            <a:pPr lvl="1"/>
            <a:r>
              <a:rPr sz="2600"/>
              <a:t>La requête permettant d'avoir un autre </a:t>
            </a:r>
            <a:r>
              <a:rPr sz="2600"/>
              <a:t>jeu de données</a:t>
            </a:r>
          </a:p>
          <a:p>
            <a:pPr lvl="1"/>
            <a:r>
              <a:rPr sz="2600"/>
              <a:t>Les champs, paramètres, variables et </a:t>
            </a:r>
            <a:r>
              <a:rPr sz="2600"/>
              <a:t>groupes qui seront utilisables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Outline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63" y="3136386"/>
            <a:ext cx="3089033" cy="248136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Dataset run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400"/>
              <a:t>Un </a:t>
            </a:r>
            <a:r>
              <a:rPr sz="2400" i="1"/>
              <a:t>dataset</a:t>
            </a:r>
            <a:r>
              <a:rPr sz="2400"/>
              <a:t> peut être associé à un ou plusieurs </a:t>
            </a:r>
            <a:r>
              <a:rPr sz="2400"/>
              <a:t>éléments itératifs : liste, tableau, graphique ou </a:t>
            </a:r>
            <a:r>
              <a:rPr sz="2400"/>
              <a:t>tableau croisé par l'intermédiaire d'un </a:t>
            </a:r>
            <a:r>
              <a:rPr sz="2400" b="1"/>
              <a:t>dataset </a:t>
            </a:r>
            <a:r>
              <a:rPr sz="2400" b="1"/>
              <a:t>run</a:t>
            </a:r>
          </a:p>
          <a:p>
            <a:pPr/>
            <a:r>
              <a:rPr sz="2400"/>
              <a:t>La configuration d’un </a:t>
            </a:r>
            <a:r>
              <a:rPr sz="2400" i="1"/>
              <a:t>dataset run</a:t>
            </a:r>
            <a:r>
              <a:rPr sz="2400"/>
              <a:t> est similaire à la </a:t>
            </a:r>
            <a:r>
              <a:rPr sz="2400"/>
              <a:t>configuration d'un sous-rapport, il faut spécifier :</a:t>
            </a:r>
          </a:p>
          <a:p>
            <a:pPr lvl="1"/>
            <a:r>
              <a:rPr sz="2200"/>
              <a:t>La connexion à la source de données</a:t>
            </a:r>
          </a:p>
          <a:p>
            <a:pPr lvl="1"/>
            <a:r>
              <a:rPr sz="2200"/>
              <a:t>Le mapping des paramètres</a:t>
            </a:r>
          </a:p>
          <a:p>
            <a:pPr lvl="1"/>
            <a:r>
              <a:rPr sz="2200"/>
              <a:t>Les éventuels valeurs de retour</a:t>
            </a:r>
          </a:p>
          <a:p>
            <a:pPr/>
            <a:r>
              <a:rPr sz="2400"/>
              <a:t>Tous les champs, paramètres et variables du </a:t>
            </a:r>
            <a:r>
              <a:rPr sz="2400" i="1"/>
              <a:t>dataset</a:t>
            </a:r>
            <a:r>
              <a:rPr sz="2400"/>
              <a:t> peuvent alors être utilisés dans l’élément </a:t>
            </a:r>
            <a:r>
              <a:rPr sz="2400"/>
              <a:t>itératif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Contexte du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800"/>
              <a:t>Les variables, paramètres et groupes du </a:t>
            </a:r>
            <a:r>
              <a:rPr sz="2800" i="1"/>
              <a:t>dataset</a:t>
            </a:r>
            <a:r>
              <a:rPr sz="2800"/>
              <a:t> ne peuvent être utilisés que par les </a:t>
            </a:r>
            <a:r>
              <a:rPr sz="2800"/>
              <a:t>éléments itératifs qui utilisent le </a:t>
            </a:r>
            <a:r>
              <a:rPr sz="2800" i="1"/>
              <a:t>dataset</a:t>
            </a:r>
            <a:r>
              <a:rPr sz="2800"/>
              <a:t>. </a:t>
            </a:r>
            <a:r>
              <a:rPr sz="2800"/>
              <a:t>Ils ne sont pas visibles dans le rapport </a:t>
            </a:r>
            <a:r>
              <a:rPr sz="2800"/>
              <a:t>principal</a:t>
            </a:r>
          </a:p>
          <a:p>
            <a:pPr/>
            <a:r>
              <a:rPr sz="2800"/>
              <a:t>Les groupes</a:t>
            </a:r>
            <a:r>
              <a:rPr sz="2800" b="1"/>
              <a:t> </a:t>
            </a:r>
            <a:r>
              <a:rPr sz="2800"/>
              <a:t>ne sont donc utilisés que pour </a:t>
            </a:r>
            <a:r>
              <a:rPr sz="2800"/>
              <a:t>le calcul des variables du dataset.</a:t>
            </a:r>
            <a:r>
              <a:rPr sz="2800"/>
              <a:t> </a:t>
            </a:r>
            <a:r>
              <a:rPr sz="2800"/>
              <a:t>Ils ne provoquent pas d'espaces </a:t>
            </a:r>
            <a:r>
              <a:rPr sz="2800"/>
              <a:t>d'impression supplémentaires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Dataset run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540" y="2330450"/>
            <a:ext cx="4191000" cy="487633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Autres propriétés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3200"/>
              <a:t>En dehors de l'attribut </a:t>
            </a:r>
            <a:r>
              <a:rPr sz="3200" b="1" i="1"/>
              <a:t>name</a:t>
            </a:r>
            <a:r>
              <a:rPr sz="3200"/>
              <a:t> qui doit </a:t>
            </a:r>
            <a:r>
              <a:rPr sz="3200"/>
              <a:t>être unique dans le rapport, un </a:t>
            </a:r>
            <a:r>
              <a:rPr sz="3200"/>
              <a:t>dataset peut définir :</a:t>
            </a:r>
          </a:p>
          <a:p>
            <a:pPr lvl="1"/>
            <a:r>
              <a:rPr sz="2800" b="1" i="1"/>
              <a:t>scriptletClass</a:t>
            </a:r>
            <a:r>
              <a:rPr sz="2800"/>
              <a:t> : Une classe scriptlet </a:t>
            </a:r>
            <a:r>
              <a:rPr sz="2800"/>
              <a:t>spécifique</a:t>
            </a:r>
          </a:p>
          <a:p>
            <a:pPr lvl="1"/>
            <a:r>
              <a:rPr sz="2800" b="1" i="1"/>
              <a:t>resourceBundle</a:t>
            </a:r>
            <a:r>
              <a:rPr sz="2800"/>
              <a:t> : Des fichiers de </a:t>
            </a:r>
            <a:r>
              <a:rPr sz="2800"/>
              <a:t>localisation des labels </a:t>
            </a:r>
          </a:p>
          <a:p>
            <a:pPr lvl="1"/>
            <a:r>
              <a:rPr sz="2800" b="1" i="1"/>
              <a:t>whenResourceMissingType</a:t>
            </a:r>
            <a:r>
              <a:rPr sz="2800"/>
              <a:t> : Le </a:t>
            </a:r>
            <a:r>
              <a:rPr sz="2800"/>
              <a:t>comportement à adopter si une clé du </a:t>
            </a:r>
            <a:r>
              <a:rPr sz="2800"/>
              <a:t>bundle manque</a:t>
            </a:r>
          </a:p>
          <a:p>
            <a:pPr lvl="1"/>
            <a:r>
              <a:rPr sz="2800"/>
              <a:t>Des</a:t>
            </a:r>
            <a:r>
              <a:rPr sz="2800" b="1"/>
              <a:t> </a:t>
            </a:r>
            <a:r>
              <a:rPr sz="2800"/>
              <a:t>expressions</a:t>
            </a:r>
            <a:r>
              <a:rPr sz="2800" b="1" i="1"/>
              <a:t> </a:t>
            </a:r>
            <a:r>
              <a:rPr sz="2800"/>
              <a:t>de</a:t>
            </a:r>
            <a:r>
              <a:rPr sz="2800" b="1" i="1"/>
              <a:t> </a:t>
            </a:r>
            <a:r>
              <a:rPr sz="2800" b="1"/>
              <a:t>filtre</a:t>
            </a:r>
            <a:r>
              <a:rPr sz="2800" b="1" i="1"/>
              <a:t> </a:t>
            </a:r>
            <a:r>
              <a:rPr sz="2800"/>
              <a:t>et</a:t>
            </a:r>
            <a:r>
              <a:rPr sz="2800" b="1" i="1"/>
              <a:t> </a:t>
            </a:r>
            <a:r>
              <a:rPr sz="2800"/>
              <a:t>de</a:t>
            </a:r>
            <a:r>
              <a:rPr sz="2800" b="1" i="1"/>
              <a:t> </a:t>
            </a:r>
            <a:r>
              <a:rPr sz="2800" b="1"/>
              <a:t>tri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Liste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sz="2200"/>
              <a:t>L'élément </a:t>
            </a:r>
            <a:r>
              <a:rPr sz="2200" b="1" i="1"/>
              <a:t>Liste</a:t>
            </a:r>
            <a:r>
              <a:rPr sz="2200"/>
              <a:t> est une version ultra-simplifiée d'un sous-</a:t>
            </a:r>
            <a:r>
              <a:rPr sz="2200"/>
              <a:t> </a:t>
            </a:r>
            <a:r>
              <a:rPr sz="2200"/>
              <a:t>rapport. </a:t>
            </a:r>
          </a:p>
          <a:p>
            <a:pPr marL="0" indent="0">
              <a:buNone/>
            </a:pPr>
            <a:r>
              <a:rPr sz="2000"/>
              <a:t>Il ne propose pas de variables, ni de bandes</a:t>
            </a:r>
          </a:p>
          <a:p>
            <a:pPr marL="0" indent="0" algn="ctr">
              <a:buNone/>
            </a:pPr>
            <a:r>
              <a:rPr sz="2000"/>
              <a:t>Mais il est associé à une source de données (</a:t>
            </a:r>
            <a:r>
              <a:rPr sz="2000" i="1"/>
              <a:t>dataset</a:t>
            </a:r>
            <a:r>
              <a:rPr sz="2000"/>
              <a:t>), et a </a:t>
            </a:r>
          </a:p>
          <a:p>
            <a:pPr marL="0" indent="0">
              <a:buNone/>
            </a:pPr>
            <a:r>
              <a:rPr sz="2000"/>
              <a:t>des paramètres éventuels</a:t>
            </a:r>
          </a:p>
          <a:p>
            <a:pPr marL="0" indent="0">
              <a:buNone/>
            </a:pPr>
            <a:r>
              <a:rPr sz="2200"/>
              <a:t>L'usage d'une liste consiste à « itérer » sur un autre jeu de </a:t>
            </a:r>
            <a:r>
              <a:rPr sz="2200"/>
              <a:t>données que les données principales</a:t>
            </a:r>
          </a:p>
          <a:p>
            <a:pPr marL="0" indent="0">
              <a:buNone/>
            </a:pPr>
            <a:r>
              <a:rPr sz="2200"/>
              <a:t>L'élément peut se placer dans n'importe quelle section du </a:t>
            </a:r>
            <a:r>
              <a:rPr sz="2200"/>
              <a:t>rapport, l'affichage consiste à imprimer des items sous </a:t>
            </a:r>
            <a:r>
              <a:rPr sz="2200"/>
              <a:t>forme de liste ; les seules latitudes sont :</a:t>
            </a:r>
          </a:p>
          <a:p>
            <a:pPr marL="0" indent="0">
              <a:buNone/>
            </a:pPr>
            <a:r>
              <a:rPr sz="2000"/>
              <a:t>La taille des items</a:t>
            </a:r>
          </a:p>
          <a:p>
            <a:pPr marL="0" indent="0">
              <a:buNone/>
            </a:pPr>
            <a:r>
              <a:rPr sz="2000"/>
              <a:t>La direction de remplissage de la liste (Horizontal ou Vertical)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sz="3200" i="1"/>
              <a:t>jasperStudio</a:t>
            </a:r>
            <a:r>
              <a:rPr sz="3200"/>
              <a:t> propose également </a:t>
            </a:r>
            <a:r>
              <a:rPr sz="3200"/>
              <a:t>l'élément </a:t>
            </a:r>
            <a:r>
              <a:rPr sz="3200" b="1"/>
              <a:t>table</a:t>
            </a:r>
            <a:r>
              <a:rPr sz="3200"/>
              <a:t> dédié à l'affichage de </a:t>
            </a:r>
            <a:r>
              <a:rPr sz="3200"/>
              <a:t>données tabulaires</a:t>
            </a:r>
            <a:br/>
            <a:r>
              <a:rPr sz="2600"/>
              <a:t>L'utilisation d'une table est plus facile que </a:t>
            </a:r>
            <a:br/>
            <a:r>
              <a:rPr sz="2600"/>
              <a:t>l'utilisation de champs textes individuels </a:t>
            </a:r>
            <a:br/>
            <a:r>
              <a:rPr sz="2600"/>
              <a:t>avec des bordures.</a:t>
            </a:r>
          </a:p>
          <a:p>
            <a:pPr lvl="1"/>
            <a:r>
              <a:rPr sz="2600"/>
              <a:t>Une DTD XML distincte est associée à </a:t>
            </a:r>
            <a:r>
              <a:rPr sz="2600"/>
              <a:t>l’élément table</a:t>
            </a:r>
            <a:br/>
            <a:r>
              <a:rPr sz="1500"/>
              <a:t>http://jasperreports.sourceforge.net/sample.reference/table/index.html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Structure d'une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sz="2200"/>
              <a:t>A l'intérieur d'une table, des sections sont déclarées afin de </a:t>
            </a:r>
            <a:r>
              <a:rPr sz="2200"/>
              <a:t>regrouper le contenu : </a:t>
            </a:r>
          </a:p>
          <a:p>
            <a:pPr lvl="1"/>
            <a:r>
              <a:rPr sz="2200"/>
              <a:t>en-tête et bas de table</a:t>
            </a:r>
          </a:p>
          <a:p>
            <a:pPr lvl="1"/>
            <a:r>
              <a:rPr sz="2200"/>
              <a:t>entête et bas de colonne</a:t>
            </a:r>
          </a:p>
          <a:p>
            <a:pPr lvl="1"/>
            <a:r>
              <a:rPr sz="2200"/>
              <a:t>entête et bas de ligne </a:t>
            </a:r>
          </a:p>
          <a:p>
            <a:pPr lvl="1"/>
            <a:r>
              <a:rPr sz="2200"/>
              <a:t>ainsi qu'un nombre illimité d’en-tête et de bas de </a:t>
            </a:r>
            <a:r>
              <a:rPr sz="2200"/>
              <a:t>groupes imbriqués. </a:t>
            </a:r>
          </a:p>
          <a:p>
            <a:pPr marL="0" indent="0">
              <a:buNone/>
            </a:pPr>
            <a:r>
              <a:rPr sz="2200"/>
              <a:t>Chaque section est composée d'une liste de </a:t>
            </a:r>
            <a:r>
              <a:rPr sz="2200" b="1"/>
              <a:t>colonnes</a:t>
            </a:r>
            <a:r>
              <a:rPr sz="2200"/>
              <a:t>.</a:t>
            </a:r>
          </a:p>
          <a:p>
            <a:pPr lvl="1"/>
            <a:r>
              <a:rPr sz="2000"/>
              <a:t>Ces colonnes peuvent être groupées </a:t>
            </a:r>
          </a:p>
          <a:p>
            <a:pPr lvl="1"/>
            <a:r>
              <a:rPr sz="2000"/>
              <a:t>Elles peuvent être cachées en fonction d'un condition </a:t>
            </a:r>
            <a:r>
              <a:rPr sz="2000"/>
              <a:t>booléenne </a:t>
            </a:r>
          </a:p>
          <a:p>
            <a:pPr marL="0" indent="0">
              <a:buNone/>
            </a:pPr>
            <a:r>
              <a:rPr sz="2200"/>
              <a:t>A chaque colonne est associée une cellule qui contient un </a:t>
            </a:r>
            <a:r>
              <a:rPr sz="2200"/>
              <a:t>ou plusieurs éléments de contenus.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Assistant Table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5534" y="2553545"/>
            <a:ext cx="5382603" cy="446100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Cellules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sz="2400"/>
              <a:t>Finalement, le résultat d'un tableau est une série de </a:t>
            </a:r>
            <a:r>
              <a:rPr sz="2400"/>
              <a:t>cellules se comportant comme des cadres et qui </a:t>
            </a:r>
            <a:r>
              <a:rPr sz="2400"/>
              <a:t>correspondent </a:t>
            </a:r>
            <a:r>
              <a:rPr sz="2200"/>
              <a:t>Aux différents en-têtes et bas</a:t>
            </a:r>
          </a:p>
          <a:p>
            <a:pPr marL="0" indent="0">
              <a:buNone/>
            </a:pPr>
            <a:r>
              <a:rPr sz="2200"/>
              <a:t>Aux données</a:t>
            </a:r>
          </a:p>
          <a:p>
            <a:pPr marL="0" indent="0">
              <a:buNone/>
            </a:pPr>
            <a:r>
              <a:rPr sz="2400"/>
              <a:t>Il est possible de fusionner, supprimer, ajouter des </a:t>
            </a:r>
            <a:r>
              <a:rPr sz="2400"/>
              <a:t>cellules.</a:t>
            </a:r>
          </a:p>
          <a:p>
            <a:pPr marL="0" indent="0">
              <a:buNone/>
            </a:pPr>
            <a:r>
              <a:rPr sz="2400"/>
              <a:t>Il est possible de modifier leur Layout (Vertical par </a:t>
            </a:r>
            <a:r>
              <a:rPr sz="2400"/>
              <a:t>défaut)</a:t>
            </a:r>
          </a:p>
          <a:p>
            <a:pPr marL="0" indent="0">
              <a:buNone/>
            </a:pPr>
            <a:r>
              <a:rPr sz="2400"/>
              <a:t>Les évaluations différées sont possibles</a:t>
            </a:r>
          </a:p>
          <a:p>
            <a:pPr marL="0" indent="0">
              <a:buNone/>
            </a:pPr>
            <a:r>
              <a:rPr sz="2800" b="1" i="1"/>
              <a:t>TP 7 : Tables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Éléments avancés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 marL="0" indent="0" algn="ctr">
              <a:buNone/>
            </a:pPr>
            <a:r>
              <a:rPr sz="3200"/>
              <a:t>Groupes</a:t>
            </a:r>
          </a:p>
          <a:p>
            <a:pPr marL="0" indent="0" algn="ctr">
              <a:buNone/>
            </a:pPr>
            <a:r>
              <a:rPr sz="3200"/>
              <a:t>Sous-rapports</a:t>
            </a:r>
          </a:p>
          <a:p>
            <a:pPr marL="0" indent="0" algn="ctr">
              <a:buNone/>
            </a:pPr>
            <a:r>
              <a:rPr sz="3200"/>
              <a:t>Datasets, Listes et Tableaux</a:t>
            </a:r>
          </a:p>
          <a:p>
            <a:pPr marL="0" indent="0" algn="ctr">
              <a:buNone/>
            </a:pPr>
            <a:r>
              <a:rPr sz="3200" b="1"/>
              <a:t>Graphiques</a:t>
            </a:r>
          </a:p>
          <a:p>
            <a:pPr marL="0" indent="0" algn="ctr">
              <a:buNone/>
            </a:pPr>
            <a:r>
              <a:rPr sz="3200"/>
              <a:t>Tableaux croisés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Graphiques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200"/>
              <a:t>JasperReports propose un support pour la création de </a:t>
            </a:r>
            <a:r>
              <a:rPr sz="2200"/>
              <a:t>graphiques s'appuyant sur la librairie </a:t>
            </a:r>
            <a:r>
              <a:rPr sz="2200" i="1"/>
              <a:t>JFreeChart</a:t>
            </a:r>
          </a:p>
          <a:p>
            <a:pPr/>
            <a:r>
              <a:rPr sz="2200"/>
              <a:t>La documentation la plus complète est disponible dans </a:t>
            </a:r>
            <a:r>
              <a:rPr sz="2200"/>
              <a:t>l’ultimate guide de JasperReport et le site </a:t>
            </a:r>
            <a:r>
              <a:rPr sz="2200" i="1"/>
              <a:t>JFReeChart</a:t>
            </a:r>
          </a:p>
          <a:p>
            <a:pPr/>
            <a:r>
              <a:rPr sz="2200"/>
              <a:t>Lors de l'ajout d'un élément </a:t>
            </a:r>
            <a:r>
              <a:rPr sz="2200" b="1" i="1"/>
              <a:t>chart</a:t>
            </a:r>
            <a:r>
              <a:rPr sz="2200"/>
              <a:t>, 4 types </a:t>
            </a:r>
            <a:r>
              <a:rPr sz="2200"/>
              <a:t>d'informations doivent être configurées :</a:t>
            </a:r>
          </a:p>
          <a:p>
            <a:pPr lvl="1"/>
            <a:r>
              <a:rPr sz="2200"/>
              <a:t>Le </a:t>
            </a:r>
            <a:r>
              <a:rPr sz="2200" b="1"/>
              <a:t>type</a:t>
            </a:r>
            <a:r>
              <a:rPr sz="2200"/>
              <a:t> de graphique</a:t>
            </a:r>
          </a:p>
          <a:p>
            <a:pPr lvl="1"/>
            <a:r>
              <a:rPr sz="2200"/>
              <a:t>Le </a:t>
            </a:r>
            <a:r>
              <a:rPr sz="2200" b="1"/>
              <a:t>jeu de données</a:t>
            </a:r>
            <a:r>
              <a:rPr sz="2200"/>
              <a:t> utilisé (dataset principal ou un </a:t>
            </a:r>
            <a:r>
              <a:rPr sz="2200"/>
              <a:t>subdataset)</a:t>
            </a:r>
          </a:p>
          <a:p>
            <a:pPr lvl="1"/>
            <a:r>
              <a:rPr sz="2200"/>
              <a:t>Les </a:t>
            </a:r>
            <a:r>
              <a:rPr sz="2200" b="1"/>
              <a:t>expressions</a:t>
            </a:r>
            <a:r>
              <a:rPr sz="2200"/>
              <a:t> des valeurs du graphique </a:t>
            </a:r>
            <a:r>
              <a:rPr sz="2200"/>
              <a:t>(dépendant du type de graphique)</a:t>
            </a:r>
          </a:p>
          <a:p>
            <a:pPr lvl="1"/>
            <a:r>
              <a:rPr sz="2200"/>
              <a:t>Les paramètres de </a:t>
            </a:r>
            <a:r>
              <a:rPr sz="2200" b="1"/>
              <a:t>rendus</a:t>
            </a:r>
            <a:r>
              <a:rPr sz="2200"/>
              <a:t> (couleurs, disposition, …) </a:t>
            </a:r>
            <a:r>
              <a:rPr sz="2200"/>
              <a:t>dépendant également du type de graphique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Types de graphiques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899" y="2330450"/>
            <a:ext cx="8562835" cy="5040141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Jeux de données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400"/>
              <a:t>Au moment de la définition du dataset, les </a:t>
            </a:r>
            <a:r>
              <a:rPr sz="2400"/>
              <a:t>attributs communs à tous les types de dataset </a:t>
            </a:r>
            <a:r>
              <a:rPr sz="2400"/>
              <a:t>peuvent être définis : </a:t>
            </a:r>
          </a:p>
          <a:p>
            <a:pPr lvl="1"/>
            <a:r>
              <a:rPr sz="2000" b="1" i="1"/>
              <a:t>ResetType</a:t>
            </a:r>
            <a:r>
              <a:rPr sz="2000"/>
              <a:t> et </a:t>
            </a:r>
            <a:r>
              <a:rPr sz="2000" b="1" i="1"/>
              <a:t>ResetGroup</a:t>
            </a:r>
            <a:r>
              <a:rPr sz="2000"/>
              <a:t> permettent de </a:t>
            </a:r>
            <a:r>
              <a:rPr sz="2000"/>
              <a:t>périodiquement réinitialiser le dataset. </a:t>
            </a:r>
            <a:r>
              <a:rPr sz="2000"/>
              <a:t>Utile si le dataset prend un paramètre (paramètre </a:t>
            </a:r>
            <a:r>
              <a:rPr sz="2000"/>
              <a:t>d’un groupe par exemple)</a:t>
            </a:r>
          </a:p>
          <a:p>
            <a:pPr lvl="1"/>
            <a:r>
              <a:rPr sz="2000"/>
              <a:t>Par défaut, tous les enregistrements sont affichés </a:t>
            </a:r>
            <a:r>
              <a:rPr sz="2000"/>
              <a:t>dans le graphique et tableau croisé. On peut changer </a:t>
            </a:r>
            <a:r>
              <a:rPr sz="2000"/>
              <a:t>ce comportement via les attributs suivants :</a:t>
            </a:r>
          </a:p>
          <a:p>
            <a:pPr lvl="2"/>
            <a:r>
              <a:rPr sz="1800" b="1" i="1"/>
              <a:t>IncrementType</a:t>
            </a:r>
            <a:r>
              <a:rPr sz="1800"/>
              <a:t> et </a:t>
            </a:r>
            <a:r>
              <a:rPr sz="1800" b="1" i="1"/>
              <a:t>IncrementGroup</a:t>
            </a:r>
            <a:r>
              <a:rPr sz="1800"/>
              <a:t> spécifient les </a:t>
            </a:r>
            <a:r>
              <a:rPr sz="1800"/>
              <a:t>moment où des nouvelles valeurs doivent être </a:t>
            </a:r>
            <a:r>
              <a:rPr sz="1800"/>
              <a:t>ajoutées au dataset.</a:t>
            </a:r>
          </a:p>
          <a:p>
            <a:pPr lvl="2"/>
            <a:r>
              <a:rPr sz="1800"/>
              <a:t>L'expression </a:t>
            </a:r>
            <a:r>
              <a:rPr sz="1800" b="1" i="1"/>
              <a:t>IncrementWhen</a:t>
            </a:r>
            <a:r>
              <a:rPr sz="1800"/>
              <a:t> retourne un booléen </a:t>
            </a:r>
            <a:r>
              <a:rPr sz="1800"/>
              <a:t>qui détermine si l 'enregistrement courant doit être </a:t>
            </a:r>
            <a:r>
              <a:rPr sz="1800"/>
              <a:t>ajouté au data set. (par défaut tous)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Propriétés communes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800"/>
              <a:t>De nombreuses propriétés sont communes </a:t>
            </a:r>
            <a:r>
              <a:rPr sz="2800"/>
              <a:t>à tous les types de graphiques :</a:t>
            </a:r>
          </a:p>
          <a:p>
            <a:pPr lvl="1"/>
            <a:r>
              <a:rPr sz="2600" b="1" i="1"/>
              <a:t>evaluationTime</a:t>
            </a:r>
            <a:r>
              <a:rPr sz="2600"/>
              <a:t> et </a:t>
            </a:r>
            <a:r>
              <a:rPr sz="2600" b="1" i="1"/>
              <a:t>evaluationGroup</a:t>
            </a:r>
            <a:r>
              <a:rPr sz="2600"/>
              <a:t> : </a:t>
            </a:r>
            <a:r>
              <a:rPr sz="2600"/>
              <a:t>Le moment où les expressions du </a:t>
            </a:r>
            <a:r>
              <a:rPr sz="2600"/>
              <a:t>graphique sont évaluées</a:t>
            </a:r>
          </a:p>
          <a:p>
            <a:pPr lvl="1"/>
            <a:r>
              <a:rPr sz="2600"/>
              <a:t>Le titre et sous-titre (expression, police, </a:t>
            </a:r>
            <a:r>
              <a:rPr sz="2600"/>
              <a:t>couleur, position)</a:t>
            </a:r>
          </a:p>
          <a:p>
            <a:pPr lvl="1"/>
            <a:r>
              <a:rPr sz="2600"/>
              <a:t>La légende (police, couleur, position)</a:t>
            </a:r>
          </a:p>
          <a:p>
            <a:pPr lvl="1"/>
            <a:r>
              <a:rPr sz="2600"/>
              <a:t>Le type de rendu (Vectoriel, image)</a:t>
            </a:r>
          </a:p>
          <a:p>
            <a:pPr lvl="1"/>
            <a:r>
              <a:rPr sz="2600"/>
              <a:t>L'orientation des labels</a:t>
            </a:r>
          </a:p>
          <a:p>
            <a:pPr lvl="1"/>
            <a:r>
              <a:rPr sz="2600"/>
              <a:t>...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Données graphiques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600"/>
              <a:t>Les données d’un graphique sont très </a:t>
            </a:r>
            <a:r>
              <a:rPr sz="2600"/>
              <a:t>dépendantes du type de graphique</a:t>
            </a:r>
          </a:p>
          <a:p>
            <a:pPr lvl="1"/>
            <a:r>
              <a:rPr sz="2000"/>
              <a:t>Certains peuvent demander de spécifier les valeurs en </a:t>
            </a:r>
            <a:r>
              <a:rPr sz="2000"/>
              <a:t>abscisse, en ordonnée, d'autres des expressions pour </a:t>
            </a:r>
            <a:r>
              <a:rPr sz="2000"/>
              <a:t>évaluer la taille d'une part de camembert, .…</a:t>
            </a:r>
          </a:p>
          <a:p>
            <a:pPr/>
            <a:r>
              <a:rPr sz="2600"/>
              <a:t>Mais, en général, il y a 2 types de valeurs :</a:t>
            </a:r>
          </a:p>
          <a:p>
            <a:pPr lvl="1"/>
            <a:r>
              <a:rPr sz="2400"/>
              <a:t>1 permettant de grouper les données</a:t>
            </a:r>
          </a:p>
          <a:p>
            <a:pPr lvl="1"/>
            <a:r>
              <a:rPr sz="2400"/>
              <a:t>1 valeur numérique</a:t>
            </a:r>
          </a:p>
          <a:p>
            <a:pPr/>
            <a:r>
              <a:rPr sz="2600"/>
              <a:t>De plus, les graphiques permettent de définir </a:t>
            </a:r>
            <a:r>
              <a:rPr sz="2600"/>
              <a:t>plusieurs séries de valeurs numériques </a:t>
            </a:r>
            <a:r>
              <a:rPr sz="2600"/>
              <a:t>donnant lieu à plusieurs tracés sur le même </a:t>
            </a:r>
            <a:r>
              <a:rPr sz="2600"/>
              <a:t>graphique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Graphique Meter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38" y="2222435"/>
            <a:ext cx="9007335" cy="3077345"/>
          </a:xfrm>
        </p:spPr>
        <p:txBody>
          <a:bodyPr wrap="square">
            <a:normAutofit/>
          </a:bodyPr>
          <a:lstStyle/>
          <a:p>
            <a:pPr/>
            <a:r>
              <a:rPr sz="3200"/>
              <a:t>Les graphiques de type «</a:t>
            </a:r>
            <a:r>
              <a:rPr sz="3200" i="1"/>
              <a:t> Meter </a:t>
            </a:r>
            <a:r>
              <a:rPr sz="3200"/>
              <a:t>» </a:t>
            </a:r>
            <a:r>
              <a:rPr sz="3200"/>
              <a:t>n'affichent qu'une seule valeur </a:t>
            </a:r>
            <a:r>
              <a:rPr sz="3200"/>
              <a:t>(attribut </a:t>
            </a:r>
            <a:r>
              <a:rPr sz="3200" b="1" i="1"/>
              <a:t>valueExpression</a:t>
            </a:r>
            <a:r>
              <a:rPr sz="3200"/>
              <a:t>)</a:t>
            </a:r>
          </a:p>
          <a:p>
            <a:pPr lvl="1"/>
            <a:r>
              <a:rPr sz="2600"/>
              <a:t>Des intervalles permettent de spécifier si </a:t>
            </a:r>
            <a:r>
              <a:rPr sz="2600"/>
              <a:t>cette valeur est jugée bonne, moyenne </a:t>
            </a:r>
            <a:r>
              <a:rPr sz="2600"/>
              <a:t>ou mauvaise (Paramètres de rendu)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019" y="5325180"/>
            <a:ext cx="7207084" cy="198456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Camemberts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899" y="3129553"/>
            <a:ext cx="8759037" cy="288419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Données d’un camembert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600"/>
              <a:t>Les </a:t>
            </a:r>
            <a:r>
              <a:rPr sz="2600" i="1"/>
              <a:t>pieDataSet</a:t>
            </a:r>
            <a:r>
              <a:rPr sz="2600"/>
              <a:t> sont utilisés par les </a:t>
            </a:r>
            <a:r>
              <a:rPr sz="2600"/>
              <a:t>camemberts. Il faut indiquer :</a:t>
            </a:r>
          </a:p>
          <a:p>
            <a:pPr lvl="1"/>
            <a:r>
              <a:rPr sz="2400" b="1" i="1"/>
              <a:t>serieExpression : </a:t>
            </a:r>
            <a:r>
              <a:rPr sz="2400"/>
              <a:t>Constante ou expression </a:t>
            </a:r>
            <a:r>
              <a:rPr sz="2400"/>
              <a:t>permettant de créer plusieurs camemberts</a:t>
            </a:r>
          </a:p>
          <a:p>
            <a:pPr lvl="1"/>
            <a:r>
              <a:rPr sz="2400" b="1" i="1"/>
              <a:t>keyExpression</a:t>
            </a:r>
            <a:r>
              <a:rPr sz="2400"/>
              <a:t> : Une expression permettant </a:t>
            </a:r>
            <a:r>
              <a:rPr sz="2400"/>
              <a:t>d'identifier une part de camembert</a:t>
            </a:r>
          </a:p>
          <a:p>
            <a:pPr lvl="1"/>
            <a:r>
              <a:rPr sz="2400" b="1" i="1"/>
              <a:t>valueExpression</a:t>
            </a:r>
            <a:r>
              <a:rPr sz="2400"/>
              <a:t> : L'expression de la taille </a:t>
            </a:r>
            <a:r>
              <a:rPr sz="2400"/>
              <a:t>du camembert</a:t>
            </a:r>
          </a:p>
          <a:p>
            <a:pPr lvl="1"/>
            <a:r>
              <a:rPr sz="2400" b="1" i="1"/>
              <a:t>labelExpression</a:t>
            </a:r>
            <a:r>
              <a:rPr sz="2400"/>
              <a:t> : Le libellé d'une part</a:t>
            </a:r>
          </a:p>
          <a:p>
            <a:pPr/>
            <a:r>
              <a:rPr sz="2400"/>
              <a:t>Il est également possible de définir des liens </a:t>
            </a:r>
            <a:r>
              <a:rPr sz="2400"/>
              <a:t>Hypertextes sur chaque portion, de limiter le </a:t>
            </a:r>
            <a:r>
              <a:rPr sz="2400"/>
              <a:t>nombre de part ou d'indiquer un seuil minimal </a:t>
            </a:r>
            <a:r>
              <a:rPr sz="2400"/>
              <a:t>d'affichage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Graphes X/Y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902" y="2841556"/>
            <a:ext cx="7852194" cy="3947274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Graphiques XY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800"/>
              <a:t>Il est possible de dessiner plusieurs séries </a:t>
            </a:r>
            <a:r>
              <a:rPr sz="2800"/>
              <a:t>sur le même graphe (couleurs différentes)</a:t>
            </a:r>
          </a:p>
          <a:p>
            <a:pPr/>
            <a:r>
              <a:rPr sz="2800"/>
              <a:t>Les attributs sont alors :</a:t>
            </a:r>
          </a:p>
          <a:p>
            <a:pPr lvl="1"/>
            <a:r>
              <a:rPr sz="2600" b="1" i="1"/>
              <a:t>seriesExpression</a:t>
            </a:r>
            <a:r>
              <a:rPr sz="2600"/>
              <a:t> : L'expression </a:t>
            </a:r>
            <a:r>
              <a:rPr sz="2600"/>
              <a:t>permettant de distinguer les séries. </a:t>
            </a:r>
            <a:r>
              <a:rPr sz="2400"/>
              <a:t>(Si une seule série, indiquer une constante)</a:t>
            </a:r>
          </a:p>
          <a:p>
            <a:pPr lvl="1"/>
            <a:r>
              <a:rPr sz="2600" b="1" i="1"/>
              <a:t>xValueExpression</a:t>
            </a:r>
            <a:r>
              <a:rPr sz="2600"/>
              <a:t> : L'expression en X</a:t>
            </a:r>
          </a:p>
          <a:p>
            <a:pPr lvl="1"/>
            <a:r>
              <a:rPr sz="2600" b="1" i="1"/>
              <a:t>yValueExpression</a:t>
            </a:r>
            <a:r>
              <a:rPr sz="2600"/>
              <a:t> : L'expression en Y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Graphes XYZ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38" y="2222435"/>
            <a:ext cx="5743159" cy="1380685"/>
          </a:xfrm>
        </p:spPr>
        <p:txBody>
          <a:bodyPr wrap="square">
            <a:normAutofit/>
          </a:bodyPr>
          <a:lstStyle/>
          <a:p>
            <a:pPr/>
            <a:r>
              <a:rPr sz="3200"/>
              <a:t>XYZ ajoute l'attribut </a:t>
            </a:r>
            <a:r>
              <a:rPr sz="3200" b="1" i="1"/>
              <a:t>zValueExpression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2821" y="3929095"/>
            <a:ext cx="5261279" cy="2732646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TimeSeries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38" y="2222435"/>
            <a:ext cx="9179997" cy="1380685"/>
          </a:xfrm>
        </p:spPr>
        <p:txBody>
          <a:bodyPr wrap="square">
            <a:normAutofit/>
          </a:bodyPr>
          <a:lstStyle/>
          <a:p>
            <a:pPr/>
            <a:r>
              <a:rPr sz="3200"/>
              <a:t>L'axe des abscisses est adapté à des </a:t>
            </a:r>
            <a:r>
              <a:rPr sz="3200"/>
              <a:t>dates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0257" y="4065544"/>
            <a:ext cx="4323842" cy="2485682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Category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535" y="2122265"/>
            <a:ext cx="10155478" cy="5437733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CategoryDataSet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3200"/>
              <a:t>Les </a:t>
            </a:r>
            <a:r>
              <a:rPr sz="3200" i="1"/>
              <a:t>categoryDataSet</a:t>
            </a:r>
            <a:r>
              <a:rPr sz="3200"/>
              <a:t> sont adaptés </a:t>
            </a:r>
            <a:r>
              <a:rPr sz="3200"/>
              <a:t>pour comparer différents groupes. </a:t>
            </a:r>
            <a:r>
              <a:rPr sz="3200"/>
              <a:t>L'axe des abscisse correspond à une </a:t>
            </a:r>
            <a:r>
              <a:rPr sz="3200"/>
              <a:t>valeur particulière d'un groupe.</a:t>
            </a:r>
          </a:p>
          <a:p>
            <a:pPr lvl="1"/>
            <a:r>
              <a:rPr sz="2800" b="1" i="1"/>
              <a:t>seriesExpression</a:t>
            </a:r>
            <a:r>
              <a:rPr sz="2800"/>
              <a:t> : Permet </a:t>
            </a:r>
            <a:r>
              <a:rPr sz="2800"/>
              <a:t>d'identifier une série (couleur)</a:t>
            </a:r>
          </a:p>
          <a:p>
            <a:pPr lvl="1"/>
            <a:r>
              <a:rPr sz="2800" b="1" i="1"/>
              <a:t>categoryExpression</a:t>
            </a:r>
            <a:r>
              <a:rPr sz="2800"/>
              <a:t> : Les différentes </a:t>
            </a:r>
            <a:r>
              <a:rPr sz="2800"/>
              <a:t>valeurs de groupe</a:t>
            </a:r>
          </a:p>
          <a:p>
            <a:pPr lvl="1"/>
            <a:r>
              <a:rPr sz="2800" b="1" i="1"/>
              <a:t>valueExpression</a:t>
            </a:r>
            <a:r>
              <a:rPr sz="2800"/>
              <a:t> : La valeur. (Axe </a:t>
            </a:r>
            <a:r>
              <a:rPr sz="2800"/>
              <a:t>des ordonnées)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Graphiques de type High/Low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586" y="3920827"/>
            <a:ext cx="6424803" cy="1485963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highLowDataSet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400"/>
              <a:t>Ce dataset orienté finance permet pour une même </a:t>
            </a:r>
            <a:r>
              <a:rPr sz="2400"/>
              <a:t>abscisse (une date), d'afficher d'une valeur haute </a:t>
            </a:r>
            <a:r>
              <a:rPr sz="2400"/>
              <a:t>et une valeur basse, une valeur d'ouverture et une </a:t>
            </a:r>
            <a:r>
              <a:rPr sz="2400"/>
              <a:t>valeur de clôture. </a:t>
            </a:r>
          </a:p>
          <a:p>
            <a:pPr/>
            <a:r>
              <a:rPr sz="2400"/>
              <a:t>Les attributs sont : </a:t>
            </a:r>
          </a:p>
          <a:p>
            <a:pPr lvl="1"/>
            <a:r>
              <a:rPr sz="2200" b="1" i="1"/>
              <a:t>seriesExpression</a:t>
            </a:r>
            <a:r>
              <a:rPr sz="2200"/>
              <a:t> : Les couleurs</a:t>
            </a:r>
          </a:p>
          <a:p>
            <a:pPr lvl="1"/>
            <a:r>
              <a:rPr sz="2200" b="1" i="1"/>
              <a:t>dateExpression</a:t>
            </a:r>
            <a:r>
              <a:rPr sz="2200"/>
              <a:t> : Axe des abscisse</a:t>
            </a:r>
          </a:p>
          <a:p>
            <a:pPr lvl="1"/>
            <a:r>
              <a:rPr sz="2200" b="1" i="1"/>
              <a:t>highExpression</a:t>
            </a:r>
            <a:r>
              <a:rPr sz="2200"/>
              <a:t> : Valeur haute</a:t>
            </a:r>
          </a:p>
          <a:p>
            <a:pPr lvl="1"/>
            <a:r>
              <a:rPr sz="2200" b="1" i="1"/>
              <a:t>lowExpression</a:t>
            </a:r>
            <a:r>
              <a:rPr sz="2200"/>
              <a:t> : Valeur basse</a:t>
            </a:r>
          </a:p>
          <a:p>
            <a:pPr lvl="1"/>
            <a:r>
              <a:rPr sz="2200" b="1" i="1"/>
              <a:t>openExpression</a:t>
            </a:r>
            <a:r>
              <a:rPr sz="2200"/>
              <a:t> : Valeur d'ouverture</a:t>
            </a:r>
          </a:p>
          <a:p>
            <a:pPr lvl="1"/>
            <a:r>
              <a:rPr sz="2200" b="1" i="1"/>
              <a:t>closeExpression</a:t>
            </a:r>
            <a:r>
              <a:rPr sz="2200"/>
              <a:t> : Valeur de clôture</a:t>
            </a:r>
          </a:p>
          <a:p>
            <a:pPr lvl="1"/>
            <a:r>
              <a:rPr sz="2200" b="1" i="1"/>
              <a:t>volumeExpression</a:t>
            </a:r>
            <a:r>
              <a:rPr sz="2200"/>
              <a:t> : Volume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GanttDataSet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38" y="2226494"/>
            <a:ext cx="9309455" cy="3613645"/>
          </a:xfrm>
        </p:spPr>
        <p:txBody>
          <a:bodyPr wrap="square">
            <a:normAutofit/>
          </a:bodyPr>
          <a:lstStyle/>
          <a:p>
            <a:pPr/>
            <a:r>
              <a:rPr sz="2400"/>
              <a:t>Adaptés pour les diagrammes de Gant.</a:t>
            </a:r>
          </a:p>
          <a:p>
            <a:pPr/>
            <a:r>
              <a:rPr sz="2400"/>
              <a:t>Les attributs sont : </a:t>
            </a:r>
          </a:p>
          <a:p>
            <a:pPr lvl="1"/>
            <a:r>
              <a:rPr sz="2200" b="1" i="1"/>
              <a:t>TaskExpression</a:t>
            </a:r>
            <a:r>
              <a:rPr sz="2200"/>
              <a:t> et </a:t>
            </a:r>
            <a:r>
              <a:rPr sz="2200" b="1" i="1"/>
              <a:t>subTaskExpression</a:t>
            </a:r>
            <a:r>
              <a:rPr sz="2200"/>
              <a:t> : Pour </a:t>
            </a:r>
            <a:r>
              <a:rPr sz="2200"/>
              <a:t>les tâches</a:t>
            </a:r>
          </a:p>
          <a:p>
            <a:pPr lvl="1"/>
            <a:r>
              <a:rPr sz="2200" b="1" i="1"/>
              <a:t>startDateExpression</a:t>
            </a:r>
            <a:r>
              <a:rPr sz="2200"/>
              <a:t> et </a:t>
            </a:r>
            <a:r>
              <a:rPr sz="2200" b="1" i="1"/>
              <a:t>endDateExpression</a:t>
            </a:r>
            <a:r>
              <a:rPr sz="2200"/>
              <a:t> : </a:t>
            </a:r>
            <a:r>
              <a:rPr sz="2200"/>
              <a:t>Pour la planification</a:t>
            </a:r>
          </a:p>
          <a:p>
            <a:pPr lvl="1"/>
            <a:r>
              <a:rPr sz="2200" b="1" i="1"/>
              <a:t>percentExpression</a:t>
            </a:r>
            <a:r>
              <a:rPr sz="2200"/>
              <a:t> : Pour le pourcentage de </a:t>
            </a:r>
            <a:r>
              <a:rPr sz="2200"/>
              <a:t>réalisation d'une tâche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5704" y="5865540"/>
            <a:ext cx="2792399" cy="1458963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Attributs de dessin spécifiques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1800"/>
              <a:t>Des attributs spécifiques de présentation peuvent être indiqués en </a:t>
            </a:r>
            <a:r>
              <a:rPr sz="1800"/>
              <a:t>fonction du type de graphique :</a:t>
            </a:r>
          </a:p>
          <a:p>
            <a:pPr lvl="2"/>
            <a:r>
              <a:rPr sz="1800"/>
              <a:t>Thermomètre : Couleurs du mercure</a:t>
            </a:r>
          </a:p>
          <a:p>
            <a:pPr lvl="2"/>
            <a:r>
              <a:rPr sz="1800"/>
              <a:t>Pie 3D : Facteur 3D</a:t>
            </a:r>
          </a:p>
          <a:p>
            <a:pPr lvl="2"/>
            <a:r>
              <a:rPr sz="1800"/>
              <a:t>Bar, XY Bar, Stacked Bar : Affichage des légendes</a:t>
            </a:r>
          </a:p>
          <a:p>
            <a:pPr lvl="2"/>
            <a:r>
              <a:rPr sz="1800"/>
              <a:t>Bar 3D, Stacked Bar 3D : Affichage des légendes + effet 3D </a:t>
            </a:r>
            <a:r>
              <a:rPr sz="1800"/>
              <a:t>(x offset et y offfset)</a:t>
            </a:r>
          </a:p>
          <a:p>
            <a:pPr lvl="2"/>
            <a:r>
              <a:rPr sz="1800"/>
              <a:t>Line, XY Line, Scatter Plot, Time series : Affichage des lignes </a:t>
            </a:r>
            <a:r>
              <a:rPr sz="1800"/>
              <a:t>et des formes</a:t>
            </a:r>
          </a:p>
          <a:p>
            <a:pPr lvl="2"/>
            <a:r>
              <a:rPr sz="1800"/>
              <a:t>Bubble : Echelle</a:t>
            </a:r>
          </a:p>
          <a:p>
            <a:pPr lvl="2"/>
            <a:r>
              <a:rPr sz="1800"/>
              <a:t>High Low Open Close : Couleurs d’affichage </a:t>
            </a:r>
          </a:p>
          <a:p>
            <a:pPr lvl="2"/>
            <a:r>
              <a:rPr sz="1800"/>
              <a:t>Candlestick : Affichage du volume</a:t>
            </a:r>
          </a:p>
          <a:p>
            <a:pPr lvl="2"/>
            <a:r>
              <a:rPr sz="1800"/>
              <a:t>...</a:t>
            </a:r>
          </a:p>
          <a:p>
            <a:pPr marL="0" indent="0">
              <a:buNone/>
            </a:pPr>
            <a:r>
              <a:rPr sz="2800" b="1" i="1"/>
              <a:t>TP 8 : Graphiques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Éléments avancés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 marL="0" indent="0" algn="ctr">
              <a:buNone/>
            </a:pPr>
            <a:r>
              <a:rPr sz="3200"/>
              <a:t>Groupes</a:t>
            </a:r>
          </a:p>
          <a:p>
            <a:pPr marL="0" indent="0" algn="ctr">
              <a:buNone/>
            </a:pPr>
            <a:r>
              <a:rPr sz="3200"/>
              <a:t>Sous-rapports</a:t>
            </a:r>
          </a:p>
          <a:p>
            <a:pPr marL="0" indent="0" algn="ctr">
              <a:buNone/>
            </a:pPr>
            <a:r>
              <a:rPr sz="3200"/>
              <a:t>Datasets, Listes et Tableaux</a:t>
            </a:r>
          </a:p>
          <a:p>
            <a:pPr marL="0" indent="0" algn="ctr">
              <a:buNone/>
            </a:pPr>
            <a:r>
              <a:rPr sz="3200"/>
              <a:t>Graphiques </a:t>
            </a:r>
          </a:p>
          <a:p>
            <a:pPr marL="0" indent="0" algn="ctr">
              <a:buNone/>
            </a:pPr>
            <a:r>
              <a:rPr sz="3200" b="1"/>
              <a:t>Tableaux</a:t>
            </a:r>
            <a:r>
              <a:rPr sz="3200"/>
              <a:t> </a:t>
            </a:r>
            <a:r>
              <a:rPr sz="3200" b="1"/>
              <a:t>croisés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Tableau croisé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400"/>
              <a:t>Les </a:t>
            </a:r>
            <a:r>
              <a:rPr sz="2400" b="1"/>
              <a:t>tableaux croisés</a:t>
            </a:r>
            <a:r>
              <a:rPr sz="2400"/>
              <a:t> sont des tableaux </a:t>
            </a:r>
            <a:r>
              <a:rPr sz="2400"/>
              <a:t>spécifiques dans lesquels les nombres de lignes et </a:t>
            </a:r>
            <a:r>
              <a:rPr sz="2400"/>
              <a:t>de colonnes ne sont pas connus à l'avance.</a:t>
            </a:r>
          </a:p>
          <a:p>
            <a:pPr/>
            <a:r>
              <a:rPr sz="2400"/>
              <a:t>Par exemple, les ventes des différents produit par </a:t>
            </a:r>
            <a:r>
              <a:rPr sz="2400"/>
              <a:t>années :</a:t>
            </a:r>
          </a:p>
          <a:p>
            <a:pPr lvl="1"/>
            <a:r>
              <a:rPr sz="2400"/>
              <a:t>Ni le nombre d'années, ni le nombre de </a:t>
            </a:r>
            <a:r>
              <a:rPr sz="2400"/>
              <a:t>produits ne sont connus au moment du </a:t>
            </a:r>
            <a:r>
              <a:rPr sz="2400"/>
              <a:t>design</a:t>
            </a:r>
          </a:p>
          <a:p>
            <a:pPr/>
            <a:r>
              <a:rPr sz="2400"/>
              <a:t>Ils sont utilisés pour afficher des données agrégées </a:t>
            </a:r>
            <a:r>
              <a:rPr sz="2400"/>
              <a:t>avec de multiple niveaux de groupements de </a:t>
            </a:r>
            <a:r>
              <a:rPr sz="2400"/>
              <a:t>colonnes et de lignes</a:t>
            </a:r>
          </a:p>
          <a:p>
            <a:pPr/>
            <a:r>
              <a:rPr sz="2400"/>
              <a:t>Les calculs courants sont des totaux, des </a:t>
            </a:r>
            <a:r>
              <a:rPr sz="2400"/>
              <a:t>pourcentages, des moyennes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Tableau croisé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00364" y="2879643"/>
          <a:ext cx="6130795" cy="304488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31797"/>
                <a:gridCol w="1531797"/>
                <a:gridCol w="1532153"/>
                <a:gridCol w="1535048"/>
              </a:tblGrid>
              <a:tr h="760323">
                <a:tc>
                  <a:txBody>
                    <a:bodyPr wrap="square"/>
                    <a:lstStyle/>
                    <a:p>
                      <a:r>
                        <a:rPr sz="1800" b="1"/>
                        <a:t/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 b="1"/>
                        <a:t>2007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 b="1"/>
                        <a:t>2008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 b="1"/>
                        <a:t>2009</a:t>
                      </a:r>
                    </a:p>
                  </a:txBody>
                  <a:tcPr marL="50800" marR="50800" marT="25400" marB="25400"/>
                </a:tc>
              </a:tr>
              <a:tr h="762114">
                <a:tc>
                  <a:txBody>
                    <a:bodyPr wrap="square"/>
                    <a:lstStyle/>
                    <a:p>
                      <a:r>
                        <a:rPr sz="1800"/>
                        <a:t>Fraises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45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21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39</a:t>
                      </a:r>
                    </a:p>
                  </a:txBody>
                  <a:tcPr marL="50800" marR="50800" marT="25400" marB="25400"/>
                </a:tc>
              </a:tr>
              <a:tr h="760323">
                <a:tc>
                  <a:txBody>
                    <a:bodyPr wrap="square"/>
                    <a:lstStyle/>
                    <a:p>
                      <a:r>
                        <a:rPr sz="1800"/>
                        <a:t>Cerises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40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25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42</a:t>
                      </a:r>
                    </a:p>
                  </a:txBody>
                  <a:tcPr marL="50800" marR="50800" marT="25400" marB="25400"/>
                </a:tc>
              </a:tr>
              <a:tr h="762127">
                <a:tc>
                  <a:txBody>
                    <a:bodyPr wrap="square"/>
                    <a:lstStyle/>
                    <a:p>
                      <a:r>
                        <a:rPr sz="1800"/>
                        <a:t>Pommes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35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36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38</a:t>
                      </a:r>
                    </a:p>
                  </a:txBody>
                  <a:tcPr marL="50800" marR="50800" marT="25400" marB="25400"/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Assistant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600"/>
              <a:t>La mise en place de tableau croisé est </a:t>
            </a:r>
            <a:r>
              <a:rPr sz="2600"/>
              <a:t>facilitée par un assistant en 5 étapes</a:t>
            </a:r>
          </a:p>
          <a:p>
            <a:pPr lvl="1"/>
            <a:r>
              <a:rPr sz="2400"/>
              <a:t>Définition du dataset</a:t>
            </a:r>
          </a:p>
          <a:p>
            <a:pPr lvl="1"/>
            <a:r>
              <a:rPr sz="2400"/>
              <a:t>Définition des regroupements de colonnes</a:t>
            </a:r>
          </a:p>
          <a:p>
            <a:pPr lvl="1"/>
            <a:r>
              <a:rPr sz="2400"/>
              <a:t>Définition des regroupements de lignes </a:t>
            </a:r>
          </a:p>
          <a:p>
            <a:pPr lvl="1"/>
            <a:r>
              <a:rPr sz="2400"/>
              <a:t>Définition de la mesure effectuée</a:t>
            </a:r>
          </a:p>
          <a:p>
            <a:pPr lvl="1"/>
            <a:r>
              <a:rPr sz="2400"/>
              <a:t>Couleurs et ajout éventuels de totaux en </a:t>
            </a:r>
            <a:r>
              <a:rPr sz="2400"/>
              <a:t>début ou fin de ligne/colonne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Etape 1 : Dataset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1900" y="2661914"/>
            <a:ext cx="6067323" cy="4486198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Etape 2 : Lignes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424" y="2330450"/>
            <a:ext cx="6067323" cy="4647737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Tri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800"/>
              <a:t>A la différence de l’utilisation des groupes </a:t>
            </a:r>
            <a:r>
              <a:rPr sz="2800"/>
              <a:t>dans le rapport principal, il n'est pas </a:t>
            </a:r>
            <a:r>
              <a:rPr sz="2800"/>
              <a:t>nécessaire de trier explicitement le jeu de </a:t>
            </a:r>
            <a:r>
              <a:rPr sz="2800"/>
              <a:t>données selon les critères de </a:t>
            </a:r>
            <a:r>
              <a:rPr sz="2800"/>
              <a:t>regroupement </a:t>
            </a:r>
          </a:p>
          <a:p>
            <a:pPr lvl="1"/>
            <a:r>
              <a:rPr sz="2800"/>
              <a:t>Cela est fait automatiquement et peut </a:t>
            </a:r>
            <a:r>
              <a:rPr sz="2800"/>
              <a:t>être désactivé si les données sont déjà </a:t>
            </a:r>
            <a:r>
              <a:rPr sz="2800"/>
              <a:t>triées correctement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Etape 3 : Colonnes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1186" y="2330450"/>
            <a:ext cx="6067678" cy="4752499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Etape 4 : Mesures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1900" y="2330450"/>
            <a:ext cx="6067323" cy="4752499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Mesure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sz="2000"/>
              <a:t>Une mesure est similaire à une variable. En général, c'est le </a:t>
            </a:r>
            <a:r>
              <a:rPr sz="2000"/>
              <a:t>résultat d'une fonction d'agrégation définie par :</a:t>
            </a:r>
          </a:p>
          <a:p>
            <a:pPr lvl="1"/>
            <a:r>
              <a:rPr sz="1800"/>
              <a:t>Son </a:t>
            </a:r>
            <a:r>
              <a:rPr sz="1800" b="1"/>
              <a:t>nom</a:t>
            </a:r>
          </a:p>
          <a:p>
            <a:pPr lvl="1"/>
            <a:r>
              <a:rPr sz="1800"/>
              <a:t>Sa </a:t>
            </a:r>
            <a:r>
              <a:rPr sz="1800" b="1"/>
              <a:t>classe</a:t>
            </a:r>
          </a:p>
          <a:p>
            <a:pPr lvl="1"/>
            <a:r>
              <a:rPr sz="1800"/>
              <a:t>Son </a:t>
            </a:r>
            <a:r>
              <a:rPr sz="1800" b="1"/>
              <a:t>expression</a:t>
            </a:r>
          </a:p>
          <a:p>
            <a:pPr lvl="1"/>
            <a:r>
              <a:rPr sz="1800"/>
              <a:t>Le type de calcul. Si les types de calcul proposés ne suffisent pas, </a:t>
            </a:r>
            <a:r>
              <a:rPr sz="1800"/>
              <a:t>les développeurs peuvent fournir une classe de type </a:t>
            </a:r>
            <a:r>
              <a:rPr sz="1800" i="1"/>
              <a:t>Incrementer</a:t>
            </a:r>
            <a:r>
              <a:rPr sz="1800"/>
              <a:t> </a:t>
            </a:r>
            <a:r>
              <a:rPr sz="1800"/>
              <a:t>par l'intermédiaire d'une factory </a:t>
            </a:r>
          </a:p>
          <a:p>
            <a:pPr marL="0" indent="0">
              <a:buNone/>
            </a:pPr>
            <a:r>
              <a:rPr sz="2000"/>
              <a:t>Exemple :</a:t>
            </a:r>
          </a:p>
          <a:p>
            <a:pPr marL="0" indent="0">
              <a:buNone/>
            </a:pPr>
            <a:r>
              <a:rPr sz="2000" i="1">
                <a:latin typeface="Courier New"/>
              </a:rPr>
              <a:t>&lt;measure </a:t>
            </a:r>
            <a:r>
              <a:rPr sz="2000" b="1" i="1">
                <a:latin typeface="Courier New"/>
              </a:rPr>
              <a:t>name</a:t>
            </a:r>
            <a:r>
              <a:rPr sz="2000" i="1">
                <a:latin typeface="Courier New"/>
              </a:rPr>
              <a:t>="ORDERIDMeasure" </a:t>
            </a:r>
          </a:p>
          <a:p>
            <a:pPr marL="0" indent="0">
              <a:buNone/>
            </a:pPr>
            <a:r>
              <a:rPr sz="2000" b="1" i="1">
                <a:latin typeface="Courier New"/>
              </a:rPr>
              <a:t>class</a:t>
            </a:r>
            <a:r>
              <a:rPr sz="2000" i="1">
                <a:latin typeface="Courier New"/>
              </a:rPr>
              <a:t>="java.lang.Integer" </a:t>
            </a:r>
            <a:r>
              <a:rPr sz="2000" b="1" i="1">
                <a:latin typeface="Courier New"/>
              </a:rPr>
              <a:t>calculation</a:t>
            </a:r>
            <a:r>
              <a:rPr sz="2000" i="1">
                <a:latin typeface="Courier New"/>
              </a:rPr>
              <a:t>="Count"&gt;</a:t>
            </a:r>
          </a:p>
          <a:p>
            <a:pPr marL="0" indent="0">
              <a:buNone/>
            </a:pPr>
            <a:r>
              <a:rPr sz="2000" i="1">
                <a:latin typeface="Courier New"/>
              </a:rPr>
              <a:t>&lt;</a:t>
            </a:r>
            <a:r>
              <a:rPr sz="2000" b="1" i="1">
                <a:latin typeface="Courier New"/>
              </a:rPr>
              <a:t>measureExpression</a:t>
            </a:r>
            <a:r>
              <a:rPr sz="2000" i="1">
                <a:latin typeface="Courier New"/>
              </a:rPr>
              <a:t>&gt;</a:t>
            </a:r>
          </a:p>
          <a:p>
            <a:pPr marL="0" indent="0">
              <a:buNone/>
            </a:pPr>
            <a:r>
              <a:rPr sz="2000" i="1">
                <a:latin typeface="Courier New"/>
              </a:rPr>
              <a:t>&lt;![CDATA[$F{ORDERID}]]&gt;</a:t>
            </a:r>
          </a:p>
          <a:p>
            <a:pPr marL="0" indent="0">
              <a:buNone/>
            </a:pPr>
            <a:r>
              <a:rPr sz="2000" i="1">
                <a:latin typeface="Courier New"/>
              </a:rPr>
              <a:t>&lt;/</a:t>
            </a:r>
            <a:r>
              <a:rPr sz="2000" b="1" i="1">
                <a:latin typeface="Courier New"/>
              </a:rPr>
              <a:t>measureExpression</a:t>
            </a:r>
            <a:r>
              <a:rPr sz="2000" i="1">
                <a:latin typeface="Courier New"/>
              </a:rPr>
              <a:t>&gt;</a:t>
            </a:r>
          </a:p>
          <a:p>
            <a:pPr marL="0" indent="0">
              <a:buNone/>
            </a:pPr>
            <a:r>
              <a:rPr sz="2000" i="1">
                <a:latin typeface="Courier New"/>
              </a:rPr>
              <a:t>&lt;/measure&gt;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Etape 5 : Totaux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1900" y="2330450"/>
            <a:ext cx="6067323" cy="4752499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Cellules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400"/>
              <a:t>En fonction, du nombre de regroupement des </a:t>
            </a:r>
            <a:r>
              <a:rPr sz="2400"/>
              <a:t>lignes et des colonnes; le nombre de cellules du </a:t>
            </a:r>
            <a:r>
              <a:rPr sz="2400"/>
              <a:t>tableau croisé varie.</a:t>
            </a:r>
          </a:p>
          <a:p>
            <a:pPr/>
            <a:r>
              <a:rPr sz="2400"/>
              <a:t>On distingue :</a:t>
            </a:r>
          </a:p>
          <a:p>
            <a:pPr lvl="1"/>
            <a:r>
              <a:rPr sz="2200"/>
              <a:t>Les cellules entête affichant des titres ou des </a:t>
            </a:r>
            <a:r>
              <a:rPr sz="2200"/>
              <a:t>noms de groupe</a:t>
            </a:r>
          </a:p>
          <a:p>
            <a:pPr lvl="1"/>
            <a:r>
              <a:rPr sz="2200"/>
              <a:t>Les cellules affichant des totaux</a:t>
            </a:r>
          </a:p>
          <a:p>
            <a:pPr lvl="1"/>
            <a:r>
              <a:rPr sz="2200"/>
              <a:t>Les cellules affichant les valeurs mesurées</a:t>
            </a:r>
          </a:p>
          <a:p>
            <a:pPr/>
            <a:r>
              <a:rPr sz="2400"/>
              <a:t>Du point de vue de </a:t>
            </a:r>
            <a:r>
              <a:rPr sz="2400" i="1"/>
              <a:t>jasperStudio</a:t>
            </a:r>
            <a:r>
              <a:rPr sz="2400"/>
              <a:t>, chaque cellule </a:t>
            </a:r>
            <a:r>
              <a:rPr sz="2400"/>
              <a:t>contient de éléments dont la valeur est définie par </a:t>
            </a:r>
            <a:r>
              <a:rPr sz="2400"/>
              <a:t>des expressions (Chaînes de caractères, variables, </a:t>
            </a:r>
            <a:r>
              <a:rPr sz="2400"/>
              <a:t>...) 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Exemple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540" y="2122266"/>
            <a:ext cx="5476557" cy="5295836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Exemple 2 lignes/1 colonnes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1186" y="2330450"/>
            <a:ext cx="5573763" cy="5229549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Attributs d'un groupe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800" b="1" i="1"/>
              <a:t>totalPosition</a:t>
            </a:r>
            <a:r>
              <a:rPr sz="2800"/>
              <a:t> : Définit la présence d'une </a:t>
            </a:r>
            <a:r>
              <a:rPr sz="2800"/>
              <a:t>ligne (ou colonne) pour les totaux.</a:t>
            </a:r>
          </a:p>
          <a:p>
            <a:pPr/>
            <a:r>
              <a:rPr sz="2800" b="1" i="1"/>
              <a:t>order</a:t>
            </a:r>
            <a:r>
              <a:rPr sz="2800"/>
              <a:t> : L'ordre de tri dans le groupe </a:t>
            </a:r>
            <a:r>
              <a:rPr sz="2800"/>
              <a:t>(ascendant ou descendant)</a:t>
            </a:r>
          </a:p>
          <a:p>
            <a:pPr/>
            <a:r>
              <a:rPr sz="2800" b="1" i="1"/>
              <a:t>comparatorExpression</a:t>
            </a:r>
            <a:r>
              <a:rPr sz="2800"/>
              <a:t> : Retourne une </a:t>
            </a:r>
            <a:r>
              <a:rPr sz="2800"/>
              <a:t>instance de </a:t>
            </a:r>
            <a:r>
              <a:rPr sz="2800" i="1"/>
              <a:t>java.util.Comparator</a:t>
            </a:r>
            <a:r>
              <a:rPr sz="2800"/>
              <a:t> qui peut </a:t>
            </a:r>
            <a:r>
              <a:rPr sz="2800"/>
              <a:t>être utilisée pour trier les données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Attributs tableau croisé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3200" b="1" i="1"/>
              <a:t>isRepeatColumnHeaders</a:t>
            </a:r>
            <a:r>
              <a:rPr sz="3200"/>
              <a:t> : Les </a:t>
            </a:r>
            <a:r>
              <a:rPr sz="3200"/>
              <a:t>entêtes de colonnes sont répétées </a:t>
            </a:r>
            <a:r>
              <a:rPr sz="3200"/>
              <a:t>lors d'un changement de page</a:t>
            </a:r>
          </a:p>
          <a:p>
            <a:pPr/>
            <a:r>
              <a:rPr sz="3200" b="1" i="1"/>
              <a:t>isRepeatRowHeaders</a:t>
            </a:r>
            <a:r>
              <a:rPr sz="3200"/>
              <a:t> : Les entêtes </a:t>
            </a:r>
            <a:r>
              <a:rPr sz="3200"/>
              <a:t>de lignes sont répétées lors d'un </a:t>
            </a:r>
            <a:r>
              <a:rPr sz="3200"/>
              <a:t>changement de page</a:t>
            </a:r>
          </a:p>
          <a:p>
            <a:pPr/>
            <a:r>
              <a:rPr sz="3200" b="1" i="1"/>
              <a:t>columnBreakOffset</a:t>
            </a:r>
            <a:r>
              <a:rPr sz="3200"/>
              <a:t>: L'espace entre </a:t>
            </a:r>
            <a:r>
              <a:rPr sz="3200"/>
              <a:t>deux partiees du tableau croisé, </a:t>
            </a:r>
            <a:r>
              <a:rPr sz="3200"/>
              <a:t>lorsque celui-ci dépasse en largeur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Variables du tableau croisé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3200"/>
              <a:t>Un tableau croisé génère un </a:t>
            </a:r>
            <a:r>
              <a:rPr sz="3200" b="1"/>
              <a:t>ensemble de variables</a:t>
            </a:r>
            <a:r>
              <a:rPr sz="3200"/>
              <a:t>. </a:t>
            </a:r>
          </a:p>
          <a:p>
            <a:pPr/>
            <a:r>
              <a:rPr sz="3200"/>
              <a:t>Seuls ces variables peuvent être </a:t>
            </a:r>
            <a:r>
              <a:rPr sz="3200"/>
              <a:t>utilisées dans les expressions des </a:t>
            </a:r>
            <a:r>
              <a:rPr sz="3200"/>
              <a:t>cellules </a:t>
            </a:r>
          </a:p>
          <a:p>
            <a:pPr/>
            <a:r>
              <a:rPr sz="3200"/>
              <a:t>Les variables consistent en fait aux </a:t>
            </a:r>
            <a:r>
              <a:rPr sz="3200"/>
              <a:t>agrégations des mesures dans toutes </a:t>
            </a:r>
            <a:r>
              <a:rPr sz="3200"/>
              <a:t>les dimensions possibles du tableau.</a:t>
            </a:r>
          </a:p>
          <a:p>
            <a:pPr/>
            <a:r>
              <a:rPr sz="3200"/>
              <a:t>Elles sont utiles pour créer des </a:t>
            </a:r>
            <a:r>
              <a:rPr sz="3200" b="1"/>
              <a:t>mesures dérivées</a:t>
            </a:r>
            <a:r>
              <a:rPr sz="3200"/>
              <a:t>. 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Mesures dérivées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000"/>
              <a:t>Par exemple pour calculer un pourcentage, on peut diviser la </a:t>
            </a:r>
            <a:r>
              <a:rPr sz="2000"/>
              <a:t>mesure par la mesure agréée toutes dimensions </a:t>
            </a:r>
            <a:r>
              <a:rPr sz="2000"/>
              <a:t>confondues.</a:t>
            </a:r>
          </a:p>
          <a:p>
            <a:pPr/>
            <a:r>
              <a:rPr sz="2000"/>
              <a:t>L</a:t>
            </a:r>
            <a:r>
              <a:rPr sz="1800"/>
              <a:t>'expression serait alors: </a:t>
            </a:r>
          </a:p>
          <a:p>
            <a:pPr marL="0" indent="0">
              <a:buNone/>
            </a:pPr>
            <a:r>
              <a:rPr sz="2000">
                <a:latin typeface="Courier New"/>
              </a:rPr>
              <a:t>     </a:t>
            </a:r>
            <a:r>
              <a:rPr sz="1500">
                <a:latin typeface="Courier New"/>
              </a:rPr>
              <a:t>new Double(</a:t>
            </a:r>
          </a:p>
          <a:p>
            <a:pPr marL="0" indent="0">
              <a:buNone/>
            </a:pPr>
            <a:r>
              <a:rPr sz="1500">
                <a:latin typeface="Courier New"/>
              </a:rPr>
              <a:t>         $V{ORDERIDMeasure}.doubleValue()</a:t>
            </a:r>
          </a:p>
          <a:p>
            <a:pPr marL="0" indent="0">
              <a:buNone/>
            </a:pPr>
            <a:r>
              <a:rPr sz="1500">
                <a:latin typeface="Courier New"/>
              </a:rPr>
              <a:t>         /</a:t>
            </a:r>
          </a:p>
          <a:p>
            <a:pPr marL="0" indent="0">
              <a:buNone/>
            </a:pPr>
            <a:r>
              <a:rPr sz="1500">
                <a:latin typeface="Courier New"/>
              </a:rPr>
              <a:t>         $V{ORDERIDMeasure_ORDERDATE_ALL.doubleValue() )</a:t>
            </a:r>
          </a:p>
          <a:p>
            <a:pPr lvl="2"/>
            <a:r>
              <a:rPr sz="1800"/>
              <a:t>Et Le pattern : #,##0.00 %.</a:t>
            </a:r>
          </a:p>
          <a:p>
            <a:pPr marL="0" indent="0">
              <a:buNone/>
            </a:pPr>
            <a:r>
              <a:rPr sz="2800" b="1" i="1"/>
              <a:t>TP 9 : Tableau croisé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Java et JasperReport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 marL="0" indent="0" algn="ctr">
              <a:buNone/>
            </a:pPr>
            <a:r>
              <a:rPr sz="3200" b="1"/>
              <a:t>API</a:t>
            </a:r>
          </a:p>
          <a:p>
            <a:pPr marL="0" indent="0" algn="ctr">
              <a:buNone/>
            </a:pPr>
            <a:r>
              <a:rPr sz="3200"/>
              <a:t>Scriptlets</a:t>
            </a:r>
          </a:p>
          <a:p>
            <a:pPr marL="0" indent="0" algn="ctr">
              <a:buNone/>
            </a:pPr>
            <a:r>
              <a:rPr sz="3200"/>
              <a:t>Outils de Build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Cycle de vie d'un rapport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80" y="3243307"/>
            <a:ext cx="10400284" cy="3765118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Classes principales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sz="2400"/>
              <a:t>La librairie </a:t>
            </a:r>
            <a:r>
              <a:rPr sz="2400" i="1"/>
              <a:t>JasperReport</a:t>
            </a:r>
            <a:r>
              <a:rPr sz="2400"/>
              <a:t> expose un ensemble de </a:t>
            </a:r>
          </a:p>
          <a:p>
            <a:pPr marL="0" indent="0">
              <a:buNone/>
            </a:pPr>
            <a:r>
              <a:rPr sz="2400"/>
              <a:t>classes façades qui contiennent différentes méthodes </a:t>
            </a:r>
          </a:p>
          <a:p>
            <a:pPr marL="0" indent="0">
              <a:buNone/>
            </a:pPr>
            <a:r>
              <a:rPr sz="2400"/>
              <a:t>statiques simplifiant l'accès à l'API . </a:t>
            </a:r>
          </a:p>
          <a:p>
            <a:pPr marL="0" indent="0">
              <a:buNone/>
            </a:pPr>
            <a:r>
              <a:rPr sz="2400"/>
              <a:t>Ces classes sont présentes dans le package </a:t>
            </a:r>
          </a:p>
          <a:p>
            <a:pPr marL="0" indent="0">
              <a:buNone/>
            </a:pPr>
            <a:r>
              <a:rPr sz="2400" i="1"/>
              <a:t>net.sf.jasperreports.engine</a:t>
            </a:r>
            <a:r>
              <a:rPr sz="2400"/>
              <a:t> :</a:t>
            </a:r>
          </a:p>
          <a:p>
            <a:pPr lvl="1"/>
            <a:r>
              <a:rPr sz="2000" b="1" i="1"/>
              <a:t>JRXmlLoader : </a:t>
            </a:r>
            <a:r>
              <a:rPr sz="2000"/>
              <a:t>Charge un fichier JRXML</a:t>
            </a:r>
          </a:p>
          <a:p>
            <a:pPr lvl="1"/>
            <a:r>
              <a:rPr sz="2000" b="1" i="1"/>
              <a:t>JasperCompileManager</a:t>
            </a:r>
            <a:r>
              <a:rPr sz="2000"/>
              <a:t> : Compile les fichiers JRXML</a:t>
            </a:r>
          </a:p>
          <a:p>
            <a:pPr lvl="1"/>
            <a:r>
              <a:rPr sz="2000" b="1" i="1"/>
              <a:t>JasperFillManager</a:t>
            </a:r>
            <a:r>
              <a:rPr sz="2000"/>
              <a:t> : Fusionne le fichiers compilés </a:t>
            </a:r>
            <a:r>
              <a:rPr sz="2000"/>
              <a:t>avec les données dynamiques</a:t>
            </a:r>
          </a:p>
          <a:p>
            <a:pPr lvl="1"/>
            <a:r>
              <a:rPr sz="2000" b="1" i="1"/>
              <a:t>JasperPrintManager</a:t>
            </a:r>
            <a:r>
              <a:rPr sz="2000"/>
              <a:t> : Impression du document final</a:t>
            </a:r>
          </a:p>
          <a:p>
            <a:pPr lvl="1"/>
            <a:r>
              <a:rPr sz="2000" b="1" i="1"/>
              <a:t>JasperExportManager</a:t>
            </a:r>
            <a:r>
              <a:rPr sz="2000"/>
              <a:t> : Exportation du document </a:t>
            </a:r>
            <a:r>
              <a:rPr sz="2000"/>
              <a:t>final en PDF, HTML ou XML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Chargement du fichier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sz="2800"/>
              <a:t>La classe </a:t>
            </a:r>
            <a:r>
              <a:rPr sz="2800" b="1" i="1"/>
              <a:t>JRXmlLoader</a:t>
            </a:r>
            <a:r>
              <a:rPr sz="2800"/>
              <a:t> permet de construire </a:t>
            </a:r>
          </a:p>
          <a:p>
            <a:pPr marL="0" indent="0">
              <a:buNone/>
            </a:pPr>
            <a:r>
              <a:rPr sz="2800"/>
              <a:t>une objet </a:t>
            </a:r>
            <a:r>
              <a:rPr sz="2800" i="1"/>
              <a:t>JasperDesign</a:t>
            </a:r>
            <a:r>
              <a:rPr sz="2800"/>
              <a:t> à partir d'un fichier </a:t>
            </a:r>
          </a:p>
          <a:p>
            <a:pPr marL="0" indent="0">
              <a:buNone/>
            </a:pPr>
            <a:r>
              <a:rPr sz="2800"/>
              <a:t>XML</a:t>
            </a:r>
          </a:p>
          <a:p>
            <a:pPr marL="0" indent="0">
              <a:buNone/>
            </a:pPr>
            <a:r>
              <a:rPr sz="1600">
                <a:latin typeface="Courier New"/>
              </a:rPr>
              <a:t>static JasperDesign load(java.io.File file)      </a:t>
            </a:r>
          </a:p>
          <a:p>
            <a:pPr marL="0" indent="0">
              <a:buNone/>
            </a:pPr>
            <a:r>
              <a:rPr sz="1600">
                <a:latin typeface="Courier New"/>
              </a:rPr>
              <a:t>static JasperDesign load(java.io.InputStream is)</a:t>
            </a:r>
          </a:p>
          <a:p>
            <a:pPr marL="0" indent="0">
              <a:buNone/>
            </a:pPr>
            <a:r>
              <a:rPr sz="1600">
                <a:latin typeface="Courier New"/>
              </a:rPr>
              <a:t>static JasperDesign  load(java.lang.String sourceFileName)</a:t>
            </a:r>
          </a:p>
          <a:p>
            <a:pPr marL="0" indent="0">
              <a:buNone/>
            </a:pPr>
            <a:r>
              <a:rPr sz="2800"/>
              <a:t>Exemple :</a:t>
            </a:r>
            <a:br/>
            <a:r>
              <a:rPr sz="1600">
                <a:latin typeface="Courier New"/>
              </a:rPr>
              <a:t>JasperDesign design = JRXmlLoader.load("/public/myReport.jrxml</a:t>
            </a:r>
            <a:r>
              <a:rPr sz="1600"/>
              <a:t>");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Compilation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200"/>
              <a:t>La compilation du fichier JRXML est exécutée par les </a:t>
            </a:r>
            <a:r>
              <a:rPr sz="2200"/>
              <a:t>méthodes </a:t>
            </a:r>
            <a:r>
              <a:rPr sz="2200" i="1"/>
              <a:t>compileReport()</a:t>
            </a:r>
            <a:r>
              <a:rPr sz="2200"/>
              <a:t> de la classe </a:t>
            </a:r>
            <a:r>
              <a:rPr sz="2200" b="1" i="1"/>
              <a:t>JasperCompileManager</a:t>
            </a:r>
            <a:r>
              <a:rPr sz="2200"/>
              <a:t>. </a:t>
            </a:r>
          </a:p>
          <a:p>
            <a:pPr/>
            <a:r>
              <a:rPr sz="2200"/>
              <a:t>Il existe différents types de compilation selon que l'on </a:t>
            </a:r>
            <a:r>
              <a:rPr sz="2200"/>
              <a:t>utilise les langages Java, Groovy ou Javascript</a:t>
            </a:r>
          </a:p>
          <a:p>
            <a:pPr/>
            <a:r>
              <a:rPr sz="2200"/>
              <a:t>Le résultat est un objet de type </a:t>
            </a:r>
            <a:r>
              <a:rPr sz="2200" b="1" i="1"/>
              <a:t>JasperReport</a:t>
            </a:r>
            <a:r>
              <a:rPr sz="2200"/>
              <a:t>. </a:t>
            </a:r>
            <a:r>
              <a:rPr sz="2200"/>
              <a:t>Cet objet peut être sérialisé sur un disque pour se </a:t>
            </a:r>
            <a:r>
              <a:rPr sz="2200"/>
              <a:t>matérialisé en un fichier </a:t>
            </a:r>
            <a:r>
              <a:rPr sz="2200" i="1"/>
              <a:t>.jasper</a:t>
            </a:r>
          </a:p>
          <a:p>
            <a:pPr/>
            <a:r>
              <a:rPr sz="2200"/>
              <a:t>Le fichier </a:t>
            </a:r>
            <a:r>
              <a:rPr sz="2200" i="1"/>
              <a:t>.jasper</a:t>
            </a:r>
            <a:r>
              <a:rPr sz="2200"/>
              <a:t> peut faire partie du déploiement de </a:t>
            </a:r>
            <a:r>
              <a:rPr sz="2200"/>
              <a:t>l'application</a:t>
            </a:r>
          </a:p>
          <a:p>
            <a:pPr/>
            <a:r>
              <a:rPr sz="2200"/>
              <a:t>L'objet </a:t>
            </a:r>
            <a:r>
              <a:rPr sz="2200" i="1"/>
              <a:t>JasperReport</a:t>
            </a:r>
            <a:r>
              <a:rPr sz="2200"/>
              <a:t> ou le fichier </a:t>
            </a:r>
            <a:r>
              <a:rPr sz="2200" i="1"/>
              <a:t>.jasper</a:t>
            </a:r>
            <a:r>
              <a:rPr sz="2200"/>
              <a:t> est utilisé lors </a:t>
            </a:r>
            <a:r>
              <a:rPr sz="2200"/>
              <a:t>de la fusion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Méthodes de JasperCompileManager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200" i="1"/>
              <a:t>JasperCompileManager</a:t>
            </a:r>
            <a:r>
              <a:rPr sz="2200"/>
              <a:t> propose des méthodes :</a:t>
            </a:r>
          </a:p>
          <a:p>
            <a:pPr lvl="1"/>
            <a:r>
              <a:rPr sz="1800"/>
              <a:t>prenant en paramètre d'entrée un </a:t>
            </a:r>
            <a:r>
              <a:rPr sz="1800" i="1"/>
              <a:t>InputStream</a:t>
            </a:r>
            <a:r>
              <a:rPr sz="1800"/>
              <a:t>, un </a:t>
            </a:r>
            <a:r>
              <a:rPr sz="1800"/>
              <a:t>emplacement de fichier ou un objet </a:t>
            </a:r>
            <a:r>
              <a:rPr sz="1800" i="1"/>
              <a:t>JasperDesign</a:t>
            </a:r>
          </a:p>
          <a:p>
            <a:pPr lvl="1"/>
            <a:r>
              <a:rPr sz="1800"/>
              <a:t>Retournant un outputStream, un objet JasperReport ou </a:t>
            </a:r>
            <a:r>
              <a:rPr sz="1800"/>
              <a:t>générant un fichier .</a:t>
            </a:r>
            <a:r>
              <a:rPr sz="1800" i="1"/>
              <a:t>jasper</a:t>
            </a:r>
            <a:r>
              <a:rPr sz="1800"/>
              <a:t> en sortie </a:t>
            </a:r>
          </a:p>
          <a:p>
            <a:pPr marL="0" indent="0">
              <a:buNone/>
            </a:pPr>
            <a:r>
              <a:rPr sz="1000">
                <a:latin typeface="Courier New"/>
              </a:rPr>
              <a:t>static JasperReport compileReport(java.io.InputStream inputStream) </a:t>
            </a:r>
          </a:p>
          <a:p>
            <a:pPr marL="0" indent="0">
              <a:buNone/>
            </a:pPr>
            <a:r>
              <a:rPr sz="1000">
                <a:latin typeface="Courier New"/>
              </a:rPr>
              <a:t>static JasperReport compileReport(JasperDesign jasperDesign) </a:t>
            </a:r>
          </a:p>
          <a:p>
            <a:pPr marL="0" indent="0">
              <a:buNone/>
            </a:pPr>
            <a:r>
              <a:rPr sz="1000">
                <a:latin typeface="Courier New"/>
              </a:rPr>
              <a:t>static JasperReport compileReport(java.lang.String sourceFileName)</a:t>
            </a:r>
          </a:p>
          <a:p>
            <a:pPr marL="0" indent="0">
              <a:buNone/>
            </a:pPr>
            <a:r>
              <a:rPr sz="1000">
                <a:latin typeface="Courier New"/>
              </a:rPr>
              <a:t>static void compileReportToFile(JasperDesign jasperDesign, java.lang.String destFileName) </a:t>
            </a:r>
          </a:p>
          <a:p>
            <a:pPr marL="0" indent="0">
              <a:buNone/>
            </a:pPr>
            <a:r>
              <a:rPr sz="1000">
                <a:latin typeface="Courier New"/>
              </a:rPr>
              <a:t>static String compileReportToFile(java.lang.String sourceFileName) </a:t>
            </a:r>
          </a:p>
          <a:p>
            <a:pPr marL="0" indent="0">
              <a:buNone/>
            </a:pPr>
            <a:r>
              <a:rPr sz="1000">
                <a:latin typeface="Courier New"/>
              </a:rPr>
              <a:t>static void </a:t>
            </a:r>
          </a:p>
          <a:p>
            <a:pPr marL="0" indent="0">
              <a:buNone/>
            </a:pPr>
            <a:r>
              <a:rPr sz="1000">
                <a:latin typeface="Courier New"/>
              </a:rPr>
              <a:t>compileReportToFile(java.lang.String sourceFileName, java.lang.String destFileName) </a:t>
            </a:r>
          </a:p>
          <a:p>
            <a:pPr marL="0" indent="0">
              <a:buNone/>
            </a:pPr>
            <a:r>
              <a:rPr sz="1000">
                <a:latin typeface="Courier New"/>
              </a:rPr>
              <a:t>static void </a:t>
            </a:r>
          </a:p>
          <a:p>
            <a:pPr marL="0" indent="0">
              <a:buNone/>
            </a:pPr>
            <a:r>
              <a:rPr sz="1000">
                <a:latin typeface="Courier New"/>
              </a:rPr>
              <a:t>compileReportToStream(java.io.InputStream inputStream, java.io.OutputStream outputStream) </a:t>
            </a:r>
          </a:p>
          <a:p>
            <a:pPr marL="0" indent="0">
              <a:buNone/>
            </a:pPr>
            <a:r>
              <a:rPr sz="1000">
                <a:latin typeface="Courier New"/>
              </a:rPr>
              <a:t>static void </a:t>
            </a:r>
          </a:p>
          <a:p>
            <a:pPr marL="0" indent="0">
              <a:buNone/>
            </a:pPr>
            <a:r>
              <a:rPr sz="1000">
                <a:latin typeface="Courier New"/>
              </a:rPr>
              <a:t>compileReportToStream(JasperDesign jasperDesign, java.io.OutputStream outputStream)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Déploiement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sz="2200"/>
              <a:t>Dans la majorité des cas, les fichiers JRXMLs ne changent </a:t>
            </a:r>
          </a:p>
          <a:p>
            <a:pPr marL="0" indent="0">
              <a:buNone/>
            </a:pPr>
            <a:r>
              <a:rPr sz="2200"/>
              <a:t>pas à l'exécution de l'application finale, celle-ci ne fait que </a:t>
            </a:r>
          </a:p>
          <a:p>
            <a:pPr marL="0" indent="0">
              <a:buNone/>
            </a:pPr>
            <a:r>
              <a:rPr sz="2200"/>
              <a:t>fournir dynamiquement les données et les paramètres à </a:t>
            </a:r>
          </a:p>
          <a:p>
            <a:pPr marL="0" indent="0">
              <a:buNone/>
            </a:pPr>
            <a:r>
              <a:rPr sz="2200"/>
              <a:t>des rapports prédéfinis.</a:t>
            </a:r>
          </a:p>
          <a:p>
            <a:pPr marL="0" indent="0">
              <a:buNone/>
            </a:pPr>
            <a:r>
              <a:rPr sz="2200"/>
              <a:t>Dans ce cas, les fichiers JRXML peuvent être considérés </a:t>
            </a:r>
          </a:p>
          <a:p>
            <a:pPr marL="0" indent="0">
              <a:buNone/>
            </a:pPr>
            <a:r>
              <a:rPr sz="2200"/>
              <a:t>comme du code source de l'application et leur compilation </a:t>
            </a:r>
          </a:p>
          <a:p>
            <a:pPr marL="0" indent="0">
              <a:buNone/>
            </a:pPr>
            <a:r>
              <a:rPr sz="2200"/>
              <a:t>doit logiquement s'effectuer durant la construction de </a:t>
            </a:r>
          </a:p>
          <a:p>
            <a:pPr marL="0" indent="0">
              <a:buNone/>
            </a:pPr>
            <a:r>
              <a:rPr sz="2200"/>
              <a:t>l'application </a:t>
            </a:r>
          </a:p>
          <a:p>
            <a:pPr marL="0" indent="0">
              <a:buNone/>
            </a:pPr>
            <a:r>
              <a:rPr sz="2200"/>
              <a:t>Les fichiers compilés </a:t>
            </a:r>
            <a:r>
              <a:rPr sz="2200" i="1"/>
              <a:t>.jasper</a:t>
            </a:r>
            <a:r>
              <a:rPr sz="2200"/>
              <a:t> sont alors inclus dans </a:t>
            </a:r>
          </a:p>
          <a:p>
            <a:pPr marL="0" indent="0">
              <a:buNone/>
            </a:pPr>
            <a:r>
              <a:rPr sz="2200"/>
              <a:t>l'application déployée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Compilateur JDT embarqué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sz="2400"/>
              <a:t>Dans des cas plus complexes, les rapports peuvent </a:t>
            </a:r>
          </a:p>
          <a:p>
            <a:pPr marL="0" indent="0">
              <a:buNone/>
            </a:pPr>
            <a:r>
              <a:rPr sz="2400"/>
              <a:t>être modifiés lors de l'exécution de l'application. Il est </a:t>
            </a:r>
          </a:p>
          <a:p>
            <a:pPr marL="0" indent="0">
              <a:buNone/>
            </a:pPr>
            <a:r>
              <a:rPr sz="2400"/>
              <a:t>alors recommandé d'utiliser le compilateur JDT pour </a:t>
            </a:r>
          </a:p>
          <a:p>
            <a:pPr marL="0" indent="0">
              <a:buNone/>
            </a:pPr>
            <a:r>
              <a:rPr sz="2400"/>
              <a:t>plusieurs raisons :</a:t>
            </a:r>
          </a:p>
          <a:p>
            <a:pPr lvl="1"/>
            <a:r>
              <a:rPr sz="2000"/>
              <a:t>Il n'a pas besoin d'utiliser de fichiers temporaires (le </a:t>
            </a:r>
            <a:r>
              <a:rPr sz="2000"/>
              <a:t>compilateur basé sur le JDK en a besoin).</a:t>
            </a:r>
          </a:p>
          <a:p>
            <a:pPr lvl="1"/>
            <a:r>
              <a:rPr sz="2000"/>
              <a:t>Il utilise le classloader de l'application pour résoudre les </a:t>
            </a:r>
            <a:r>
              <a:rPr sz="2000"/>
              <a:t>classes tandis que le compilateur JDK nécessite la </a:t>
            </a:r>
            <a:r>
              <a:rPr sz="2000"/>
              <a:t>notion de classpath.</a:t>
            </a:r>
          </a:p>
          <a:p>
            <a:pPr marL="0" indent="0">
              <a:buNone/>
            </a:pPr>
            <a:r>
              <a:rPr sz="2400"/>
              <a:t>L'utilisation du compilateur basé sur JDT nécessite de </a:t>
            </a:r>
          </a:p>
          <a:p>
            <a:pPr marL="0" indent="0">
              <a:buNone/>
            </a:pPr>
            <a:r>
              <a:rPr sz="2400"/>
              <a:t>packager son jar avec </a:t>
            </a:r>
            <a:r>
              <a:rPr sz="2400" b="1" i="1"/>
              <a:t>jdt-compiler.jar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Utilisation de l'outil 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000"/>
              <a:t>Comme la compilation s'effectue généralement lors du </a:t>
            </a:r>
            <a:r>
              <a:rPr sz="2000"/>
              <a:t>processus de build, une tâche Ant est fournie par </a:t>
            </a:r>
            <a:r>
              <a:rPr sz="2000"/>
              <a:t>JasperReport</a:t>
            </a:r>
          </a:p>
          <a:p>
            <a:pPr/>
            <a:r>
              <a:rPr sz="2000"/>
              <a:t>Cette tâche implémentée par la classe </a:t>
            </a:r>
            <a:r>
              <a:rPr sz="2000" i="1"/>
              <a:t>JRAntCompileTask</a:t>
            </a:r>
            <a:r>
              <a:rPr sz="2000"/>
              <a:t> est </a:t>
            </a:r>
            <a:r>
              <a:rPr sz="2000"/>
              <a:t>très similaire à la tâche prédéfini </a:t>
            </a:r>
            <a:r>
              <a:rPr sz="2000" i="1"/>
              <a:t>&lt;javac&gt;</a:t>
            </a:r>
          </a:p>
          <a:p>
            <a:pPr/>
            <a:r>
              <a:rPr sz="2000"/>
              <a:t>La définition de cette tâche dans un fichier ant </a:t>
            </a:r>
            <a:r>
              <a:rPr sz="2000" i="1"/>
              <a:t>build.xml</a:t>
            </a:r>
            <a:r>
              <a:rPr sz="2000"/>
              <a:t> </a:t>
            </a:r>
            <a:r>
              <a:rPr sz="2000"/>
              <a:t>s'effectue comme suit :</a:t>
            </a:r>
          </a:p>
          <a:p>
            <a:pPr marL="0" indent="0">
              <a:buNone/>
            </a:pPr>
            <a:r>
              <a:rPr sz="1600">
                <a:latin typeface="Courier New"/>
              </a:rPr>
              <a:t>&lt;taskdef name="jrc"  </a:t>
            </a:r>
          </a:p>
          <a:p>
            <a:pPr marL="0" indent="0">
              <a:buNone/>
            </a:pPr>
            <a:r>
              <a:rPr sz="1600">
                <a:latin typeface="Courier New"/>
              </a:rPr>
              <a:t>classname="net.sf.jasperreports.ant.JRAntCompileTask"&gt; </a:t>
            </a:r>
          </a:p>
          <a:p>
            <a:pPr marL="0" indent="0">
              <a:buNone/>
            </a:pPr>
            <a:r>
              <a:rPr sz="1600">
                <a:latin typeface="Courier New"/>
              </a:rPr>
              <a:t>  &lt;classpath&gt;</a:t>
            </a:r>
          </a:p>
          <a:p>
            <a:pPr marL="0" indent="0">
              <a:buNone/>
            </a:pPr>
            <a:r>
              <a:rPr sz="1600">
                <a:latin typeface="Courier New"/>
              </a:rPr>
              <a:t>    &lt;fileset dir="./lib"&gt; &lt;include name="**/*.jar"/&gt; /fileset&gt;</a:t>
            </a:r>
          </a:p>
          <a:p>
            <a:pPr marL="0" indent="0">
              <a:buNone/>
            </a:pPr>
            <a:r>
              <a:rPr sz="1600">
                <a:latin typeface="Courier New"/>
              </a:rPr>
              <a:t>  &lt;/classpath&gt;</a:t>
            </a:r>
          </a:p>
          <a:p>
            <a:pPr marL="0" indent="0">
              <a:buNone/>
            </a:pPr>
            <a:r>
              <a:rPr sz="1600">
                <a:latin typeface="Courier New"/>
              </a:rPr>
              <a:t>&lt;/taskdef&gt;</a:t>
            </a:r>
          </a:p>
          <a:p>
            <a:pPr marL="0" indent="0">
              <a:buNone/>
            </a:pPr>
            <a:r>
              <a:rPr sz="1600">
                <a:latin typeface="Courier New"/>
              </a:rPr>
              <a:t>&lt;jrc srcDir= "src/jrxml/*" targetDir= "build/jasper"&gt;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Exemple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sz="1300">
                <a:latin typeface="Courier New"/>
              </a:rPr>
              <a:t>&lt;target name="build-report" description="Compile les rapports Jasper"&gt;</a:t>
            </a:r>
          </a:p>
          <a:p>
            <a:pPr marL="0" indent="0">
              <a:buNone/>
            </a:pPr>
            <a:r>
              <a:rPr sz="1300">
                <a:latin typeface="Courier New"/>
              </a:rPr>
              <a:t>  &lt;echo message="Building report with ${jasper_home}" /&gt;</a:t>
            </a:r>
          </a:p>
          <a:p>
            <a:pPr marL="0" indent="0">
              <a:buNone/>
            </a:pPr>
            <a:r>
              <a:rPr sz="1300">
                <a:latin typeface="Courier New"/>
              </a:rPr>
              <a:t>  &lt;path id="cp"&gt;</a:t>
            </a:r>
          </a:p>
          <a:p>
            <a:pPr marL="0" indent="0">
              <a:buNone/>
            </a:pPr>
            <a:r>
              <a:rPr sz="1300">
                <a:latin typeface="Courier New"/>
              </a:rPr>
              <a:t>    &lt;fileset dir="${jasper_home}"&gt;</a:t>
            </a:r>
          </a:p>
          <a:p>
            <a:pPr marL="0" indent="0">
              <a:buNone/>
            </a:pPr>
            <a:r>
              <a:rPr sz="1300">
                <a:latin typeface="Courier New"/>
              </a:rPr>
              <a:t>      &lt;include name="**/*.jar" /&gt;</a:t>
            </a:r>
          </a:p>
          <a:p>
            <a:pPr marL="0" indent="0">
              <a:buNone/>
            </a:pPr>
            <a:r>
              <a:rPr sz="1300">
                <a:latin typeface="Courier New"/>
              </a:rPr>
              <a:t>    &lt;/fileset&gt;</a:t>
            </a:r>
          </a:p>
          <a:p>
            <a:pPr marL="0" indent="0">
              <a:buNone/>
            </a:pPr>
            <a:r>
              <a:rPr sz="1300">
                <a:latin typeface="Courier New"/>
              </a:rPr>
              <a:t>  &lt;/path&gt;</a:t>
            </a:r>
          </a:p>
          <a:p>
            <a:pPr marL="0" indent="0">
              <a:buNone/>
            </a:pPr>
            <a:r>
              <a:rPr sz="1300">
                <a:latin typeface="Courier New"/>
              </a:rPr>
              <a:t>  &lt;taskdef name="jrc" classname="net.sf.jasperreports.ant.JRAntCompileTask"&gt;</a:t>
            </a:r>
          </a:p>
          <a:p>
            <a:pPr marL="0" indent="0">
              <a:buNone/>
            </a:pPr>
            <a:r>
              <a:rPr sz="1300">
                <a:latin typeface="Courier New"/>
              </a:rPr>
              <a:t>    &lt;classpath refid="cp" /&gt;</a:t>
            </a:r>
          </a:p>
          <a:p>
            <a:pPr marL="0" indent="0">
              <a:buNone/>
            </a:pPr>
            <a:r>
              <a:rPr sz="1300">
                <a:latin typeface="Courier New"/>
              </a:rPr>
              <a:t>    &lt;classpath path="${classes.model.dir}" /&gt;</a:t>
            </a:r>
          </a:p>
          <a:p>
            <a:pPr marL="0" indent="0">
              <a:buNone/>
            </a:pPr>
            <a:r>
              <a:rPr sz="1300">
                <a:latin typeface="Courier New"/>
              </a:rPr>
              <a:t>  &lt;/taskdef&gt;</a:t>
            </a:r>
          </a:p>
          <a:p>
            <a:pPr marL="0" indent="0">
              <a:buNone/>
            </a:pPr>
            <a:r>
              <a:rPr sz="1300">
                <a:latin typeface="Courier New"/>
              </a:rPr>
              <a:t>  &lt;jrc srcdir="./reports" destdir="./reports" tempdir="./classes" </a:t>
            </a:r>
          </a:p>
          <a:p>
            <a:pPr marL="0" indent="0">
              <a:buNone/>
            </a:pPr>
            <a:r>
              <a:rPr sz="1300">
                <a:latin typeface="Courier New"/>
              </a:rPr>
              <a:t>                                                keepjava="true" xmlvalidation="true"&gt;</a:t>
            </a:r>
          </a:p>
          <a:p>
            <a:pPr marL="0" indent="0">
              <a:buNone/>
            </a:pPr>
            <a:r>
              <a:rPr sz="1300">
                <a:latin typeface="Courier New"/>
              </a:rPr>
              <a:t>    &lt;classpath refid="cp" /&gt;</a:t>
            </a:r>
          </a:p>
          <a:p>
            <a:pPr marL="0" indent="0">
              <a:buNone/>
            </a:pPr>
            <a:r>
              <a:rPr sz="1300">
                <a:latin typeface="Courier New"/>
              </a:rPr>
              <a:t>    &lt;include name="**/*.jrxml" /&gt;</a:t>
            </a:r>
          </a:p>
          <a:p>
            <a:pPr marL="0" indent="0">
              <a:buNone/>
            </a:pPr>
            <a:r>
              <a:rPr sz="1300">
                <a:latin typeface="Courier New"/>
              </a:rPr>
              <a:t>  &lt;/jrc&gt;</a:t>
            </a:r>
          </a:p>
          <a:p>
            <a:pPr marL="0" indent="0">
              <a:buNone/>
            </a:pPr>
            <a:r>
              <a:rPr sz="1300">
                <a:latin typeface="Courier New"/>
              </a:rPr>
              <a:t>&lt;/target&gt;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Fusion de données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1800"/>
              <a:t>La classe </a:t>
            </a:r>
            <a:r>
              <a:rPr sz="1800" i="1"/>
              <a:t>JasperFillManager</a:t>
            </a:r>
          </a:p>
          <a:p>
            <a:pPr lvl="1"/>
            <a:r>
              <a:rPr sz="1600"/>
              <a:t>Prend en entrée un fichier compilé sous ses différents formats, un </a:t>
            </a:r>
            <a:r>
              <a:rPr sz="1600"/>
              <a:t>ensemble de paramètres, une source de données </a:t>
            </a:r>
          </a:p>
          <a:p>
            <a:pPr lvl="1"/>
            <a:r>
              <a:rPr sz="1600"/>
              <a:t>Génère en sortie un objet </a:t>
            </a:r>
            <a:r>
              <a:rPr sz="1600" i="1"/>
              <a:t>JasperPrint, </a:t>
            </a:r>
            <a:r>
              <a:rPr sz="1600"/>
              <a:t>un fichier ou un objet </a:t>
            </a:r>
            <a:r>
              <a:rPr sz="1600" i="1"/>
              <a:t>OutputStream</a:t>
            </a:r>
            <a:r>
              <a:rPr sz="1600"/>
              <a:t> qui pourra être exporté en différents formats</a:t>
            </a:r>
          </a:p>
          <a:p>
            <a:pPr marL="0" indent="0">
              <a:buNone/>
            </a:pPr>
            <a:r>
              <a:rPr sz="1200">
                <a:latin typeface="Courier New"/>
              </a:rPr>
              <a:t>static JasperPrint </a:t>
            </a:r>
          </a:p>
          <a:p>
            <a:pPr marL="0" indent="0">
              <a:buNone/>
            </a:pPr>
            <a:r>
              <a:rPr sz="1200">
                <a:latin typeface="Courier New"/>
              </a:rPr>
              <a:t>fillReport(java.io.InputStream inputStream, </a:t>
            </a:r>
          </a:p>
          <a:p>
            <a:pPr marL="0" indent="0">
              <a:buNone/>
            </a:pPr>
            <a:r>
              <a:rPr sz="1200">
                <a:latin typeface="Courier New"/>
              </a:rPr>
              <a:t>                           java.util.Map parameters, </a:t>
            </a:r>
          </a:p>
          <a:p>
            <a:pPr marL="0" indent="0">
              <a:buNone/>
            </a:pPr>
            <a:r>
              <a:rPr sz="1200">
                <a:latin typeface="Courier New"/>
              </a:rPr>
              <a:t>                           java.sql.Connection connection)</a:t>
            </a:r>
          </a:p>
          <a:p>
            <a:pPr marL="0" indent="0">
              <a:buNone/>
            </a:pPr>
            <a:r>
              <a:rPr sz="1200">
                <a:latin typeface="Courier New"/>
              </a:rPr>
              <a:t>static JasperPrint </a:t>
            </a:r>
          </a:p>
          <a:p>
            <a:pPr marL="0" indent="0">
              <a:buNone/>
            </a:pPr>
            <a:r>
              <a:rPr sz="1200">
                <a:latin typeface="Courier New"/>
              </a:rPr>
              <a:t>fillReport(JasperReport jasperReport, </a:t>
            </a:r>
          </a:p>
          <a:p>
            <a:pPr marL="0" indent="0">
              <a:buNone/>
            </a:pPr>
            <a:r>
              <a:rPr sz="1200">
                <a:latin typeface="Courier New"/>
              </a:rPr>
              <a:t>                           java.util.Map parameters, </a:t>
            </a:r>
          </a:p>
          <a:p>
            <a:pPr marL="0" indent="0">
              <a:buNone/>
            </a:pPr>
            <a:r>
              <a:rPr sz="1200">
                <a:latin typeface="Courier New"/>
              </a:rPr>
              <a:t>                           JRDataSource dataSource)</a:t>
            </a:r>
          </a:p>
          <a:p>
            <a:pPr marL="0" indent="0">
              <a:buNone/>
            </a:pPr>
            <a:r>
              <a:rPr sz="1200">
                <a:latin typeface="Courier New"/>
              </a:rPr>
              <a:t>static JasperPrint </a:t>
            </a:r>
          </a:p>
          <a:p>
            <a:pPr marL="0" indent="0">
              <a:buNone/>
            </a:pPr>
            <a:r>
              <a:rPr sz="1200">
                <a:latin typeface="Courier New"/>
              </a:rPr>
              <a:t>fillReport(java.lang.String sourceFileName, </a:t>
            </a:r>
          </a:p>
          <a:p>
            <a:pPr marL="0" indent="0">
              <a:buNone/>
            </a:pPr>
            <a:r>
              <a:rPr sz="1200">
                <a:latin typeface="Courier New"/>
              </a:rPr>
              <a:t>                           java.util.Map parameters, </a:t>
            </a:r>
          </a:p>
          <a:p>
            <a:pPr marL="0" indent="0">
              <a:buNone/>
            </a:pPr>
            <a:r>
              <a:rPr sz="1200">
                <a:latin typeface="Courier New"/>
              </a:rPr>
              <a:t>                           JRDataSource dataSource)</a:t>
            </a:r>
          </a:p>
          <a:p>
            <a:pPr/>
            <a:r>
              <a:rPr sz="2000"/>
              <a:t>Exemple</a:t>
            </a:r>
          </a:p>
          <a:p>
            <a:pPr marL="0" indent="0">
              <a:buNone/>
            </a:pPr>
            <a:r>
              <a:rPr sz="1500">
                <a:latin typeface="Courier New"/>
              </a:rPr>
              <a:t>JasperFillManager.fillReport(myReport, parametersMap, jdbcConnection);     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Exporters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400"/>
              <a:t>Les classes </a:t>
            </a:r>
            <a:r>
              <a:rPr sz="2400" b="1" i="1"/>
              <a:t>exporters</a:t>
            </a:r>
            <a:r>
              <a:rPr sz="2400"/>
              <a:t> permettent d'exporter un </a:t>
            </a:r>
            <a:r>
              <a:rPr sz="2400"/>
              <a:t>rapport généré vers un format spécifique de </a:t>
            </a:r>
            <a:r>
              <a:rPr sz="2400"/>
              <a:t>documents.</a:t>
            </a:r>
            <a:r>
              <a:rPr sz="2400"/>
              <a:t> </a:t>
            </a:r>
            <a:r>
              <a:rPr sz="2400"/>
              <a:t>Elles sont situées dans le package </a:t>
            </a:r>
            <a:r>
              <a:rPr sz="2400" i="1"/>
              <a:t>net.sf.jasperreports.engine.export</a:t>
            </a:r>
          </a:p>
          <a:p>
            <a:pPr/>
            <a:r>
              <a:rPr sz="2400"/>
              <a:t>La classe </a:t>
            </a:r>
            <a:r>
              <a:rPr sz="2400" i="1"/>
              <a:t>JasperExportManager</a:t>
            </a:r>
            <a:r>
              <a:rPr sz="2400"/>
              <a:t> permet d'exporter </a:t>
            </a:r>
            <a:r>
              <a:rPr sz="2400"/>
              <a:t>vers PDF, HTML et XML</a:t>
            </a:r>
          </a:p>
          <a:p>
            <a:pPr/>
            <a:r>
              <a:rPr sz="2400"/>
              <a:t>Pour les autres formats ou lors de besoins </a:t>
            </a:r>
            <a:r>
              <a:rPr sz="2400"/>
              <a:t>spécifiques, d'autres classes sont disponibles : </a:t>
            </a:r>
          </a:p>
          <a:p>
            <a:pPr lvl="1"/>
            <a:r>
              <a:rPr sz="2000" i="1"/>
              <a:t>JRHtmlExporter</a:t>
            </a:r>
            <a:r>
              <a:rPr sz="2000"/>
              <a:t>, </a:t>
            </a:r>
            <a:r>
              <a:rPr sz="2000" i="1"/>
              <a:t>JRPdfExporter</a:t>
            </a:r>
            <a:r>
              <a:rPr sz="2000"/>
              <a:t> permettent de contrôler </a:t>
            </a:r>
            <a:r>
              <a:rPr sz="2000"/>
              <a:t>finement mapping des polices AWT vers les polices </a:t>
            </a:r>
            <a:r>
              <a:rPr sz="2000"/>
              <a:t>HTML ou PDF</a:t>
            </a:r>
          </a:p>
          <a:p>
            <a:pPr lvl="1"/>
            <a:r>
              <a:rPr sz="2000" i="1"/>
              <a:t>JRXlsExporter</a:t>
            </a:r>
            <a:r>
              <a:rPr sz="2000"/>
              <a:t> vers Excel, </a:t>
            </a:r>
          </a:p>
          <a:p>
            <a:pPr lvl="1"/>
            <a:r>
              <a:rPr sz="2000" i="1"/>
              <a:t>JRCsvExporter</a:t>
            </a:r>
            <a:r>
              <a:rPr sz="2000"/>
              <a:t> vers un format csv 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Méthodes de JasperExportManager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1800"/>
              <a:t>La classe </a:t>
            </a:r>
            <a:r>
              <a:rPr sz="1800" b="1" i="1"/>
              <a:t>JasperExportManager</a:t>
            </a:r>
            <a:r>
              <a:rPr sz="1800"/>
              <a:t> :</a:t>
            </a:r>
          </a:p>
          <a:p>
            <a:pPr lvl="1"/>
            <a:r>
              <a:rPr sz="1600"/>
              <a:t>Prend en entrée un objet </a:t>
            </a:r>
            <a:r>
              <a:rPr sz="1600" i="1"/>
              <a:t>JasperPrint</a:t>
            </a:r>
            <a:r>
              <a:rPr sz="1600"/>
              <a:t>, un </a:t>
            </a:r>
            <a:r>
              <a:rPr sz="1600" i="1"/>
              <a:t>InputStream</a:t>
            </a:r>
            <a:r>
              <a:rPr sz="1600"/>
              <a:t> ou un fichier</a:t>
            </a:r>
          </a:p>
          <a:p>
            <a:pPr lvl="1"/>
            <a:r>
              <a:rPr sz="1600"/>
              <a:t>Génère un fichier, un </a:t>
            </a:r>
            <a:r>
              <a:rPr sz="1600" i="1"/>
              <a:t>OutputStream, </a:t>
            </a:r>
            <a:r>
              <a:rPr sz="1600"/>
              <a:t>un tableau d'octets dans un </a:t>
            </a:r>
            <a:r>
              <a:rPr sz="1600"/>
              <a:t>format de visualisation</a:t>
            </a:r>
          </a:p>
          <a:p>
            <a:pPr marL="0" indent="0">
              <a:buNone/>
            </a:pPr>
            <a:r>
              <a:rPr sz="1100">
                <a:latin typeface="Courier New"/>
              </a:rPr>
              <a:t>static void </a:t>
            </a:r>
          </a:p>
          <a:p>
            <a:pPr marL="0" indent="0">
              <a:buNone/>
            </a:pPr>
            <a:r>
              <a:rPr sz="1100">
                <a:latin typeface="Courier New"/>
              </a:rPr>
              <a:t>exportReportToHtmlFile(JasperPrint jasperPrint, java.lang.String destFileName)</a:t>
            </a:r>
          </a:p>
          <a:p>
            <a:pPr marL="0" indent="0">
              <a:buNone/>
            </a:pPr>
            <a:r>
              <a:rPr sz="1100">
                <a:latin typeface="Courier New"/>
              </a:rPr>
              <a:t>static byte[] exportReportToPdf(JasperPrint jasperPrint)</a:t>
            </a:r>
          </a:p>
          <a:p>
            <a:pPr marL="0" indent="0">
              <a:buNone/>
            </a:pPr>
            <a:r>
              <a:rPr sz="1100">
                <a:latin typeface="Courier New"/>
              </a:rPr>
              <a:t>static void </a:t>
            </a:r>
          </a:p>
          <a:p>
            <a:pPr marL="0" indent="0">
              <a:buNone/>
            </a:pPr>
            <a:r>
              <a:rPr sz="1100">
                <a:latin typeface="Courier New"/>
              </a:rPr>
              <a:t>exportReportToPdfFile(JasperPrint jasperPrint, java.lang.String destFileName)</a:t>
            </a:r>
          </a:p>
          <a:p>
            <a:pPr marL="0" indent="0">
              <a:buNone/>
            </a:pPr>
            <a:r>
              <a:rPr sz="1100">
                <a:latin typeface="Courier New"/>
              </a:rPr>
              <a:t>static void </a:t>
            </a:r>
          </a:p>
          <a:p>
            <a:pPr marL="0" indent="0">
              <a:buNone/>
            </a:pPr>
            <a:r>
              <a:rPr sz="1100">
                <a:latin typeface="Courier New"/>
              </a:rPr>
              <a:t>exportReportToPdfStream(java.io.InputStream inputStream, java.io.OutputStream </a:t>
            </a:r>
          </a:p>
          <a:p>
            <a:pPr marL="0" indent="0">
              <a:buNone/>
            </a:pPr>
            <a:r>
              <a:rPr sz="1100">
                <a:latin typeface="Courier New"/>
              </a:rPr>
              <a:t>outputStream)</a:t>
            </a:r>
          </a:p>
          <a:p>
            <a:pPr marL="0" indent="0">
              <a:buNone/>
            </a:pPr>
            <a:r>
              <a:rPr sz="1100">
                <a:latin typeface="Courier New"/>
              </a:rPr>
              <a:t>static java.lang.String exportReportToXml(JasperPrint jasperPrint)</a:t>
            </a:r>
          </a:p>
          <a:p>
            <a:pPr marL="0" indent="0">
              <a:buNone/>
            </a:pPr>
            <a:r>
              <a:rPr sz="1100">
                <a:latin typeface="Courier New"/>
              </a:rPr>
              <a:t>static java.lang.String exportReportToXmlFile(java.lang.String sourceFileName, boolean </a:t>
            </a:r>
          </a:p>
          <a:p>
            <a:pPr marL="0" indent="0">
              <a:buNone/>
            </a:pPr>
            <a:r>
              <a:rPr sz="1100">
                <a:latin typeface="Courier New"/>
              </a:rPr>
              <a:t>isEmbeddingImages)</a:t>
            </a:r>
          </a:p>
          <a:p>
            <a:pPr/>
            <a:r>
              <a:rPr sz="1800"/>
              <a:t>Exemple :</a:t>
            </a:r>
          </a:p>
          <a:p>
            <a:pPr marL="0" indent="0">
              <a:buNone/>
            </a:pPr>
            <a:r>
              <a:rPr sz="1500">
                <a:latin typeface="Courier New"/>
              </a:rPr>
              <a:t>byte[] pdfContent = JasperExportManager.exportToPdf(myPrint);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Viewer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400"/>
              <a:t>JasperReport fournit plusieurs moyens pour </a:t>
            </a:r>
            <a:r>
              <a:rPr sz="2400"/>
              <a:t>visualiser directement un rapport généré. </a:t>
            </a:r>
            <a:r>
              <a:rPr sz="2400"/>
              <a:t>(</a:t>
            </a:r>
            <a:r>
              <a:rPr sz="2400" i="1"/>
              <a:t>JasperPrint</a:t>
            </a:r>
            <a:r>
              <a:rPr sz="2400"/>
              <a:t>)</a:t>
            </a:r>
          </a:p>
          <a:p>
            <a:pPr lvl="1"/>
            <a:r>
              <a:rPr sz="2000"/>
              <a:t>A l'intérieur d'une application de type SWING, le </a:t>
            </a:r>
            <a:r>
              <a:rPr sz="2000"/>
              <a:t>composant de type </a:t>
            </a:r>
            <a:r>
              <a:rPr sz="2000" i="1"/>
              <a:t>JPanel</a:t>
            </a:r>
            <a:r>
              <a:rPr sz="2000"/>
              <a:t> : </a:t>
            </a:r>
            <a:r>
              <a:rPr sz="2000" i="1"/>
              <a:t>JRViewer</a:t>
            </a:r>
            <a:r>
              <a:rPr sz="2000"/>
              <a:t> peut être utilisé.</a:t>
            </a:r>
          </a:p>
          <a:p>
            <a:pPr lvl="1"/>
            <a:r>
              <a:rPr sz="2000"/>
              <a:t>L'application stand-alone </a:t>
            </a:r>
            <a:r>
              <a:rPr sz="2000" i="1"/>
              <a:t>JasperViewer</a:t>
            </a:r>
            <a:r>
              <a:rPr sz="2000"/>
              <a:t> est une </a:t>
            </a:r>
            <a:r>
              <a:rPr sz="2000"/>
              <a:t>application Swing contenant le composant </a:t>
            </a:r>
            <a:r>
              <a:rPr sz="2000" i="1"/>
              <a:t>JRViewer</a:t>
            </a:r>
          </a:p>
          <a:p>
            <a:pPr/>
            <a:r>
              <a:rPr sz="2400"/>
              <a:t>Mais, la plupart du temps, le fichier </a:t>
            </a:r>
            <a:r>
              <a:rPr sz="2400" i="1"/>
              <a:t>.jrprint</a:t>
            </a:r>
            <a:r>
              <a:rPr sz="2400"/>
              <a:t> est </a:t>
            </a:r>
            <a:r>
              <a:rPr sz="2400"/>
              <a:t>exporté dans un format bureautique exploitable </a:t>
            </a:r>
            <a:r>
              <a:rPr sz="2400"/>
              <a:t>par l'utilisateur final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Exemple servlet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sz="1400">
                <a:latin typeface="Courier New"/>
              </a:rPr>
              <a:t>public void service(HttpServletRequest request,HttpServletResponse response) </a:t>
            </a:r>
          </a:p>
          <a:p>
            <a:pPr marL="0" indent="0">
              <a:buNone/>
            </a:pPr>
            <a:r>
              <a:rPr sz="1400">
                <a:latin typeface="Courier New"/>
              </a:rPr>
              <a:t>throws IOException, ServletException {</a:t>
            </a:r>
          </a:p>
          <a:p>
            <a:pPr marL="0" indent="0">
              <a:buNone/>
            </a:pPr>
            <a:r>
              <a:rPr sz="1400">
                <a:latin typeface="Courier New"/>
              </a:rPr>
              <a:t>response.setContentType("application/pdf");</a:t>
            </a:r>
          </a:p>
          <a:p>
            <a:pPr marL="0" indent="0">
              <a:buNone/>
            </a:pPr>
            <a:r>
              <a:rPr sz="1400">
                <a:latin typeface="Courier New"/>
              </a:rPr>
              <a:t>try {</a:t>
            </a:r>
          </a:p>
          <a:p>
            <a:pPr marL="0" indent="0">
              <a:buNone/>
            </a:pPr>
            <a:r>
              <a:rPr sz="1400" b="1">
                <a:latin typeface="Courier New"/>
              </a:rPr>
              <a:t>  JasperReport report = </a:t>
            </a:r>
          </a:p>
          <a:p>
            <a:pPr marL="0" indent="0">
              <a:buNone/>
            </a:pPr>
            <a:r>
              <a:rPr sz="1400" b="1">
                <a:latin typeface="Courier New"/>
              </a:rPr>
              <a:t>JasperCompileManager.compileReport(request.getParameter("jrxml"));</a:t>
            </a:r>
          </a:p>
          <a:p>
            <a:pPr marL="0" indent="0">
              <a:buNone/>
            </a:pPr>
            <a:r>
              <a:rPr sz="1400" b="1">
                <a:latin typeface="Courier New"/>
              </a:rPr>
              <a:t>  JasperPrint print = </a:t>
            </a:r>
          </a:p>
          <a:p>
            <a:pPr marL="0" indent="0">
              <a:buNone/>
            </a:pPr>
            <a:r>
              <a:rPr sz="1400" b="1">
                <a:latin typeface="Courier New"/>
              </a:rPr>
              <a:t>JasperFillManager.fillReport(report,request.getParameterMap(),connection);</a:t>
            </a:r>
          </a:p>
          <a:p>
            <a:pPr marL="0" indent="0">
              <a:buNone/>
            </a:pPr>
            <a:r>
              <a:rPr sz="1400" b="1">
                <a:latin typeface="Courier New"/>
              </a:rPr>
              <a:t>  JasperExportManager.exportReportToPdfStream(print, </a:t>
            </a:r>
          </a:p>
          <a:p>
            <a:pPr marL="0" indent="0">
              <a:buNone/>
            </a:pPr>
            <a:r>
              <a:rPr sz="1400" b="1">
                <a:latin typeface="Courier New"/>
              </a:rPr>
              <a:t>response.getOutputStream());</a:t>
            </a:r>
          </a:p>
          <a:p>
            <a:pPr marL="0" indent="0">
              <a:buNone/>
            </a:pPr>
            <a:r>
              <a:rPr sz="1400">
                <a:latin typeface="Courier New"/>
              </a:rPr>
              <a:t>} catch (JRException e) {</a:t>
            </a:r>
          </a:p>
          <a:p>
            <a:pPr marL="0" indent="0">
              <a:buNone/>
            </a:pPr>
            <a:r>
              <a:rPr sz="1400">
                <a:latin typeface="Courier New"/>
              </a:rPr>
              <a:t>  e.printStackTrace();</a:t>
            </a:r>
          </a:p>
          <a:p>
            <a:pPr marL="0" indent="0">
              <a:buNone/>
            </a:pPr>
            <a:r>
              <a:rPr sz="1400">
                <a:latin typeface="Courier New"/>
              </a:rPr>
              <a:t>}</a:t>
            </a:r>
          </a:p>
          <a:p>
            <a:pPr marL="0" indent="0">
              <a:buNone/>
            </a:pPr>
            <a:r>
              <a:rPr sz="2800" b="1" i="1"/>
              <a:t>TP 10.1 : Génération de rapport par l’API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Java et JasperReport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 marL="0" indent="0" algn="ctr">
              <a:buNone/>
            </a:pPr>
            <a:r>
              <a:rPr sz="3200"/>
              <a:t>API</a:t>
            </a:r>
          </a:p>
          <a:p>
            <a:pPr marL="0" indent="0" algn="ctr">
              <a:buNone/>
            </a:pPr>
            <a:r>
              <a:rPr sz="3200" b="1"/>
              <a:t>Scriptlets</a:t>
            </a:r>
          </a:p>
          <a:p>
            <a:pPr marL="0" indent="0" algn="ctr">
              <a:buNone/>
            </a:pPr>
            <a:r>
              <a:rPr sz="3200"/>
              <a:t>Outils de Build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Scriptlets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400"/>
              <a:t>Les scriptlets offre une alternative aux expressions </a:t>
            </a:r>
            <a:r>
              <a:rPr sz="2400"/>
              <a:t>lorsque l'on nécessite des calculs plus complexes.</a:t>
            </a:r>
          </a:p>
          <a:p>
            <a:pPr/>
            <a:r>
              <a:rPr sz="2400"/>
              <a:t>Ce sont des séquences de code Java, exécutées à </a:t>
            </a:r>
            <a:r>
              <a:rPr sz="2400"/>
              <a:t>chaque fois qu'un </a:t>
            </a:r>
            <a:r>
              <a:rPr sz="2400" b="1"/>
              <a:t>événement rapport</a:t>
            </a:r>
            <a:r>
              <a:rPr sz="2400" b="1"/>
              <a:t> </a:t>
            </a:r>
            <a:r>
              <a:rPr sz="2400"/>
              <a:t>survient, </a:t>
            </a:r>
            <a:r>
              <a:rPr sz="2400"/>
              <a:t>permettant d'affecter des valeurs aux variables du </a:t>
            </a:r>
            <a:r>
              <a:rPr sz="2400"/>
              <a:t>rapport.</a:t>
            </a:r>
          </a:p>
          <a:p>
            <a:pPr lvl="1"/>
            <a:r>
              <a:rPr sz="2000"/>
              <a:t>Ex : démarrage d'une nouvelle page, fin d'un groupe</a:t>
            </a:r>
          </a:p>
          <a:p>
            <a:pPr/>
            <a:r>
              <a:rPr sz="2400"/>
              <a:t>Puisque les scriptlets travaillent principalement </a:t>
            </a:r>
            <a:r>
              <a:rPr sz="2400"/>
              <a:t>avec les variables de rapport; il est important de </a:t>
            </a:r>
            <a:r>
              <a:rPr sz="2400"/>
              <a:t>contrôler exactement le moment ou les scriptlets </a:t>
            </a:r>
            <a:r>
              <a:rPr sz="2400"/>
              <a:t>sont exécutés. </a:t>
            </a:r>
            <a:r>
              <a:rPr sz="2400"/>
              <a:t>JasperReports permet l'exécution de code </a:t>
            </a:r>
            <a:r>
              <a:rPr sz="2400"/>
              <a:t>spécifique Java </a:t>
            </a:r>
            <a:r>
              <a:rPr sz="2400" b="1"/>
              <a:t>avant ou après l'initialisation</a:t>
            </a:r>
            <a:r>
              <a:rPr sz="2400"/>
              <a:t> </a:t>
            </a:r>
            <a:r>
              <a:rPr sz="2400"/>
              <a:t>des variables.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Scriptlets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000"/>
              <a:t>Un scriptlet est une classe qui étend </a:t>
            </a:r>
            <a:r>
              <a:rPr sz="2000" b="1" i="1"/>
              <a:t>JRAbstractScriptlet</a:t>
            </a:r>
            <a:r>
              <a:rPr sz="2000"/>
              <a:t> </a:t>
            </a:r>
            <a:r>
              <a:rPr sz="2000"/>
              <a:t>ou </a:t>
            </a:r>
            <a:r>
              <a:rPr sz="2000" b="1" i="1"/>
              <a:t>JRDefaultScriptlet</a:t>
            </a:r>
            <a:r>
              <a:rPr sz="2000"/>
              <a:t>. Le nom de la classe doit être </a:t>
            </a:r>
            <a:r>
              <a:rPr sz="2000"/>
              <a:t>spécifiée dans l'attribut </a:t>
            </a:r>
            <a:r>
              <a:rPr sz="2000" i="1"/>
              <a:t>scriptletClass</a:t>
            </a:r>
            <a:r>
              <a:rPr sz="2000"/>
              <a:t> de l'élément </a:t>
            </a:r>
            <a:r>
              <a:rPr sz="2000"/>
              <a:t>&lt;</a:t>
            </a:r>
            <a:r>
              <a:rPr sz="2000" i="1"/>
              <a:t>jasperReport</a:t>
            </a:r>
            <a:r>
              <a:rPr sz="2000"/>
              <a:t>&gt;.</a:t>
            </a:r>
          </a:p>
          <a:p>
            <a:pPr/>
            <a:r>
              <a:rPr sz="2000"/>
              <a:t>La création d'une classe scriptlet requiert l'implémentation </a:t>
            </a:r>
            <a:r>
              <a:rPr sz="2000"/>
              <a:t>de certaines méthodes appelées par le moteur au moment </a:t>
            </a:r>
            <a:r>
              <a:rPr sz="2000"/>
              <a:t>opportun lors de la fusion de données: </a:t>
            </a:r>
            <a:r>
              <a:rPr sz="2000" i="1"/>
              <a:t>beforeReportInit(), afterReportInit(), beforePageInit(), </a:t>
            </a:r>
            <a:r>
              <a:rPr sz="2000" i="1"/>
              <a:t>afterPageInit(), beforeGroupInit(), afterGroupInit(</a:t>
            </a:r>
            <a:r>
              <a:rPr sz="2000"/>
              <a:t>), etc. </a:t>
            </a:r>
          </a:p>
          <a:p>
            <a:pPr/>
            <a:r>
              <a:rPr sz="2000"/>
              <a:t>Il est également possible de récupérer une instance de la </a:t>
            </a:r>
            <a:r>
              <a:rPr sz="2000"/>
              <a:t>classe scriptlet via le paramètre prédéfini </a:t>
            </a:r>
            <a:r>
              <a:rPr sz="2000" i="1"/>
              <a:t>REPORT</a:t>
            </a:r>
            <a:r>
              <a:rPr sz="2000"/>
              <a:t>_</a:t>
            </a:r>
            <a:r>
              <a:rPr sz="2000" i="1"/>
              <a:t>SCRIPTLET</a:t>
            </a:r>
            <a:r>
              <a:rPr sz="2000"/>
              <a:t>. On peut alors dans le cadre d'une </a:t>
            </a:r>
            <a:r>
              <a:rPr sz="2000"/>
              <a:t>expression appelée une méthode spécifique de la classe.</a:t>
            </a:r>
          </a:p>
          <a:p>
            <a:pPr marL="0" indent="0">
              <a:buNone/>
            </a:pPr>
            <a:r>
              <a:rPr sz="2800" b="1" i="1"/>
              <a:t>TP 10.2 : Scriptlets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Java et JasperReport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 marL="0" indent="0" algn="ctr">
              <a:buNone/>
            </a:pPr>
            <a:r>
              <a:rPr sz="3200"/>
              <a:t>API </a:t>
            </a:r>
          </a:p>
          <a:p>
            <a:pPr marL="0" indent="0" algn="ctr">
              <a:buNone/>
            </a:pPr>
            <a:r>
              <a:rPr sz="3200"/>
              <a:t>Scriptlets</a:t>
            </a:r>
          </a:p>
          <a:p>
            <a:pPr marL="0" indent="0" algn="ctr">
              <a:buNone/>
            </a:pPr>
            <a:r>
              <a:rPr sz="3200" b="1"/>
              <a:t>Outils de Build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Dépendances Maven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sz="1600"/>
              <a:t>Dépendance :</a:t>
            </a:r>
          </a:p>
          <a:p>
            <a:pPr marL="0" indent="0">
              <a:buNone/>
            </a:pPr>
            <a:r>
              <a:rPr sz="1600"/>
              <a:t>&lt;dependency&gt;</a:t>
            </a:r>
          </a:p>
          <a:p>
            <a:pPr marL="0" indent="0">
              <a:buNone/>
            </a:pPr>
            <a:r>
              <a:rPr sz="1600"/>
              <a:t>&lt;groupId&gt;net.sf.jasperreports&lt;/groupId&gt;</a:t>
            </a:r>
          </a:p>
          <a:p>
            <a:pPr marL="0" indent="0">
              <a:buNone/>
            </a:pPr>
            <a:r>
              <a:rPr sz="1600"/>
              <a:t>&lt;artifactId&gt;jasperreports&lt;/artifactId&gt;</a:t>
            </a:r>
          </a:p>
          <a:p>
            <a:pPr marL="0" indent="0">
              <a:buNone/>
            </a:pPr>
            <a:r>
              <a:rPr sz="1600"/>
              <a:t>&lt;version&gt;6.11.0&lt;/version&gt;</a:t>
            </a:r>
          </a:p>
          <a:p>
            <a:pPr marL="0" indent="0">
              <a:buNone/>
            </a:pPr>
            <a:r>
              <a:rPr sz="1600"/>
              <a:t>&lt;/dependency&gt;</a:t>
            </a:r>
          </a:p>
          <a:p>
            <a:pPr marL="0" indent="0">
              <a:buNone/>
            </a:pPr>
            <a:r>
              <a:rPr sz="1600"/>
              <a:t>Et éventuellement, si utilisation du langage Groovy :</a:t>
            </a:r>
          </a:p>
          <a:p>
            <a:pPr marL="0" indent="0">
              <a:buNone/>
            </a:pPr>
            <a:r>
              <a:rPr sz="1600"/>
              <a:t>&lt;dependency&gt;</a:t>
            </a:r>
          </a:p>
          <a:p>
            <a:pPr marL="0" indent="0">
              <a:buNone/>
            </a:pPr>
            <a:r>
              <a:rPr sz="1600"/>
              <a:t>&lt;groupId&gt;org.codehaus.groovy&lt;/groupId&gt;</a:t>
            </a:r>
          </a:p>
          <a:p>
            <a:pPr marL="0" indent="0">
              <a:buNone/>
            </a:pPr>
            <a:r>
              <a:rPr sz="1600"/>
              <a:t>&lt;artifactId&gt;groovy-all&lt;/artifactId&gt;</a:t>
            </a:r>
          </a:p>
          <a:p>
            <a:pPr marL="0" indent="0">
              <a:buNone/>
            </a:pPr>
            <a:r>
              <a:rPr sz="1600"/>
              <a:t>&lt;version&gt;2.5.8&lt;/version&gt;</a:t>
            </a:r>
          </a:p>
          <a:p>
            <a:pPr marL="0" indent="0">
              <a:buNone/>
            </a:pPr>
            <a:r>
              <a:rPr sz="1600"/>
              <a:t>&lt;type&gt;pom&lt;/type&gt;</a:t>
            </a:r>
          </a:p>
          <a:p>
            <a:pPr marL="0" indent="0">
              <a:buNone/>
            </a:pPr>
            <a:r>
              <a:rPr sz="1600"/>
              <a:t>&lt;/dependency&gt;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Plugin Maven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sz="2000"/>
              <a:t>Il existe un plugin Maven (non officiel) permettant de compiler les </a:t>
            </a:r>
            <a:r>
              <a:rPr sz="2000"/>
              <a:t>rapports JRXML</a:t>
            </a:r>
          </a:p>
          <a:p>
            <a:pPr marL="0" indent="0">
              <a:buNone/>
            </a:pPr>
            <a:r>
              <a:rPr sz="1200">
                <a:latin typeface="Courier New"/>
              </a:rPr>
              <a:t>        &lt;plugin&gt;</a:t>
            </a:r>
          </a:p>
          <a:p>
            <a:pPr marL="0" indent="0">
              <a:buNone/>
            </a:pPr>
            <a:r>
              <a:rPr sz="1200">
                <a:latin typeface="Courier New"/>
              </a:rPr>
              <a:t>            &lt;groupId&gt;com.alexnederlof&lt;/groupId&gt;</a:t>
            </a:r>
          </a:p>
          <a:p>
            <a:pPr marL="0" indent="0">
              <a:buNone/>
            </a:pPr>
            <a:r>
              <a:rPr sz="1200">
                <a:latin typeface="Courier New"/>
              </a:rPr>
              <a:t>            &lt;artifactId&gt;jasperreports-plugin&lt;/artifactId&gt;</a:t>
            </a:r>
          </a:p>
          <a:p>
            <a:pPr marL="0" indent="0">
              <a:buNone/>
            </a:pPr>
            <a:r>
              <a:rPr sz="1200">
                <a:latin typeface="Courier New"/>
              </a:rPr>
              <a:t>            &lt;version&gt;2.8&lt;/version&gt;</a:t>
            </a:r>
          </a:p>
          <a:p>
            <a:pPr marL="0" indent="0">
              <a:buNone/>
            </a:pPr>
            <a:r>
              <a:rPr sz="1200">
                <a:latin typeface="Courier New"/>
              </a:rPr>
              <a:t>            &lt;executions&gt;</a:t>
            </a:r>
          </a:p>
          <a:p>
            <a:pPr marL="0" indent="0">
              <a:buNone/>
            </a:pPr>
            <a:r>
              <a:rPr sz="1200">
                <a:latin typeface="Courier New"/>
              </a:rPr>
              <a:t>                &lt;execution&gt;</a:t>
            </a:r>
          </a:p>
          <a:p>
            <a:pPr marL="0" indent="0">
              <a:buNone/>
            </a:pPr>
            <a:r>
              <a:rPr sz="1200">
                <a:latin typeface="Courier New"/>
              </a:rPr>
              <a:t>                    &lt;phase&gt;compile&lt;/phase&gt;</a:t>
            </a:r>
          </a:p>
          <a:p>
            <a:pPr marL="0" indent="0">
              <a:buNone/>
            </a:pPr>
            <a:r>
              <a:rPr sz="1200">
                <a:latin typeface="Courier New"/>
              </a:rPr>
              <a:t>                    &lt;goals&gt;</a:t>
            </a:r>
          </a:p>
          <a:p>
            <a:pPr marL="0" indent="0">
              <a:buNone/>
            </a:pPr>
            <a:r>
              <a:rPr sz="1200">
                <a:latin typeface="Courier New"/>
              </a:rPr>
              <a:t>                       &lt;goal&gt;jasper&lt;/goal&gt;</a:t>
            </a:r>
          </a:p>
          <a:p>
            <a:pPr marL="0" indent="0">
              <a:buNone/>
            </a:pPr>
            <a:r>
              <a:rPr sz="1200">
                <a:latin typeface="Courier New"/>
              </a:rPr>
              <a:t>                    &lt;/goals&gt;</a:t>
            </a:r>
          </a:p>
          <a:p>
            <a:pPr marL="0" indent="0">
              <a:buNone/>
            </a:pPr>
            <a:r>
              <a:rPr sz="1200">
                <a:latin typeface="Courier New"/>
              </a:rPr>
              <a:t>                &lt;/execution&gt;</a:t>
            </a:r>
          </a:p>
          <a:p>
            <a:pPr marL="0" indent="0">
              <a:buNone/>
            </a:pPr>
            <a:r>
              <a:rPr sz="1200">
                <a:latin typeface="Courier New"/>
              </a:rPr>
              <a:t>            &lt;/executions&gt;</a:t>
            </a:r>
          </a:p>
          <a:p>
            <a:pPr marL="0" indent="0">
              <a:buNone/>
            </a:pPr>
            <a:r>
              <a:rPr sz="1200">
                <a:latin typeface="Courier New"/>
              </a:rPr>
              <a:t>            &lt;configuration&gt;</a:t>
            </a:r>
          </a:p>
          <a:p>
            <a:pPr marL="0" indent="0">
              <a:buNone/>
            </a:pPr>
            <a:r>
              <a:rPr sz="1200">
                <a:latin typeface="Courier New"/>
              </a:rPr>
              <a:t>                &lt;sourceDirectory&gt;src/main/resources/&lt;/sourceDirectory&gt;</a:t>
            </a:r>
          </a:p>
          <a:p>
            <a:pPr marL="0" indent="0">
              <a:buNone/>
            </a:pPr>
            <a:r>
              <a:rPr sz="1200">
                <a:latin typeface="Courier New"/>
              </a:rPr>
              <a:t>                &lt;outputDirectory&gt;${project.build.directory}/jasper&lt;/outputDirectory&gt;</a:t>
            </a:r>
          </a:p>
          <a:p>
            <a:pPr marL="0" indent="0">
              <a:buNone/>
            </a:pPr>
            <a:r>
              <a:rPr sz="1200">
                <a:latin typeface="Courier New"/>
              </a:rPr>
              <a:t>            &lt;/configuration&gt;</a:t>
            </a:r>
          </a:p>
          <a:p>
            <a:pPr marL="0" indent="0">
              <a:buNone/>
            </a:pPr>
            <a:r>
              <a:rPr sz="1200">
                <a:latin typeface="Courier New"/>
              </a:rPr>
              <a:t>        &lt;/plugin&gt;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Gradle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sz="1800">
                <a:latin typeface="Courier New"/>
              </a:rPr>
              <a:t>plugins {</a:t>
            </a:r>
          </a:p>
          <a:p>
            <a:pPr marL="0" indent="0">
              <a:buNone/>
            </a:pPr>
            <a:r>
              <a:rPr sz="1800">
                <a:latin typeface="Courier New"/>
              </a:rPr>
              <a:t>  id "com.github.gmazelier.jasperreports" version "0.4"</a:t>
            </a:r>
          </a:p>
          <a:p>
            <a:pPr marL="0" indent="0">
              <a:buNone/>
            </a:pPr>
            <a:r>
              <a:rPr sz="1800">
                <a:latin typeface="Courier New"/>
              </a:rPr>
              <a:t>}</a:t>
            </a:r>
          </a:p>
          <a:p>
            <a:pPr marL="0" indent="0">
              <a:buNone/>
            </a:pPr>
            <a:r>
              <a:rPr sz="1800">
                <a:latin typeface="Courier New"/>
              </a:rPr>
              <a:t>./gradlew clean compileAllReports</a:t>
            </a:r>
          </a:p>
          <a:p>
            <a:pPr marL="0" indent="0">
              <a:buNone/>
            </a:pPr>
            <a:r>
              <a:rPr sz="2400" i="1"/>
              <a:t>https://github.com/gmazelier/gradle-jasperreports</a:t>
            </a:r>
          </a:p>
          <a:p>
            <a:pPr marL="0" indent="0">
              <a:buNone/>
            </a:pPr>
            <a:r>
              <a:rPr sz="2800" b="1" i="1"/>
              <a:t>TP 11 : Mise en place d’un projet Maven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Ressources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800"/>
              <a:t>“Ultimate Guides” fournis par JasperSoft </a:t>
            </a:r>
            <a:r>
              <a:rPr sz="2800"/>
              <a:t>(</a:t>
            </a:r>
            <a:r>
              <a:rPr sz="2800" i="1"/>
              <a:t>JasperReport</a:t>
            </a:r>
            <a:r>
              <a:rPr sz="2800"/>
              <a:t> et </a:t>
            </a:r>
            <a:r>
              <a:rPr sz="2800" i="1"/>
              <a:t>iReport</a:t>
            </a:r>
            <a:r>
              <a:rPr sz="2800"/>
              <a:t>)</a:t>
            </a:r>
          </a:p>
          <a:p>
            <a:pPr/>
            <a:r>
              <a:rPr sz="2800"/>
              <a:t>“JasperReports for Java Developer ", David R. </a:t>
            </a:r>
            <a:r>
              <a:rPr sz="2800"/>
              <a:t>Heffelfinger, 2006</a:t>
            </a:r>
          </a:p>
          <a:p>
            <a:pPr/>
            <a:r>
              <a:rPr sz="2800"/>
              <a:t>Forums et Wikis</a:t>
            </a:r>
          </a:p>
          <a:p>
            <a:pPr/>
            <a:r>
              <a:rPr sz="2800"/>
              <a:t>http://community.jaspersoft.com 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Merci!!!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3200"/>
              <a:t>MERCI DE VOTRE ATTENTION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Annexes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 marL="0" indent="0" algn="ctr">
              <a:buNone/>
            </a:pPr>
            <a:r>
              <a:rPr sz="3200"/>
              <a:t>DataAdapters</a:t>
            </a:r>
          </a:p>
          <a:p>
            <a:pPr marL="0" indent="0" algn="ctr">
              <a:buNone/>
            </a:pPr>
            <a:r>
              <a:rPr sz="3200"/>
              <a:t>Gabarits et assistants</a:t>
            </a:r>
          </a:p>
          <a:p>
            <a:pPr marL="0" indent="0" algn="ctr">
              <a:buNone/>
            </a:pPr>
            <a:r>
              <a:rPr sz="3200"/>
              <a:t>Report Books</a:t>
            </a:r>
          </a:p>
          <a:p>
            <a:pPr marL="0" indent="0" algn="ctr">
              <a:buNone/>
            </a:pPr>
            <a:r>
              <a:rPr sz="3200"/>
              <a:t>Création programmatique de rapport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Interface JRDataSource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000"/>
              <a:t>L'interface </a:t>
            </a:r>
            <a:r>
              <a:rPr sz="2000" i="1"/>
              <a:t>JRDataSource</a:t>
            </a:r>
            <a:r>
              <a:rPr sz="2000"/>
              <a:t> définit deux méthodes :</a:t>
            </a:r>
          </a:p>
          <a:p>
            <a:pPr lvl="1"/>
            <a:r>
              <a:rPr sz="2000" b="1" i="1"/>
              <a:t>public boolean next()</a:t>
            </a:r>
            <a:r>
              <a:rPr sz="2000"/>
              <a:t> </a:t>
            </a:r>
            <a:r>
              <a:rPr sz="2000"/>
              <a:t>Cette méthode doit retournée </a:t>
            </a:r>
            <a:r>
              <a:rPr sz="2000" i="1"/>
              <a:t>true</a:t>
            </a:r>
            <a:r>
              <a:rPr sz="2000"/>
              <a:t> si le curseur est </a:t>
            </a:r>
            <a:r>
              <a:rPr sz="2000"/>
              <a:t>positionné correctement sur l'enregistrement suivant.</a:t>
            </a:r>
            <a:r>
              <a:rPr sz="2000"/>
              <a:t> </a:t>
            </a:r>
            <a:r>
              <a:rPr sz="2000"/>
              <a:t>Chaque fois que le moteur invoque cette méthode. Les </a:t>
            </a:r>
            <a:r>
              <a:rPr sz="2000"/>
              <a:t>valeurs des champs sont remplis avec les valeurs de </a:t>
            </a:r>
            <a:r>
              <a:rPr sz="2000"/>
              <a:t>l'enregistrement courant et les expressions sont </a:t>
            </a:r>
            <a:r>
              <a:rPr sz="2000"/>
              <a:t>réévaluées.</a:t>
            </a:r>
            <a:r>
              <a:rPr sz="2000"/>
              <a:t> </a:t>
            </a:r>
            <a:r>
              <a:rPr sz="2000"/>
              <a:t>En conséquence, les entêtes d'un nouveau groupe </a:t>
            </a:r>
            <a:r>
              <a:rPr sz="2000"/>
              <a:t>peuvent être imprimées, un saut de page peut </a:t>
            </a:r>
            <a:r>
              <a:rPr sz="2000"/>
              <a:t>s'effectuer, …</a:t>
            </a:r>
            <a:r>
              <a:rPr sz="2000"/>
              <a:t> </a:t>
            </a:r>
            <a:r>
              <a:rPr sz="2000"/>
              <a:t>Si cette méthode retourne </a:t>
            </a:r>
            <a:r>
              <a:rPr sz="2000" i="1"/>
              <a:t>false</a:t>
            </a:r>
            <a:r>
              <a:rPr sz="2000"/>
              <a:t>, les bas de groupe, bas </a:t>
            </a:r>
            <a:r>
              <a:rPr sz="2000"/>
              <a:t>de colonne, la section de dernière page et le résumé </a:t>
            </a:r>
            <a:r>
              <a:rPr sz="2000"/>
              <a:t>sont imprimés.</a:t>
            </a:r>
          </a:p>
          <a:p>
            <a:pPr lvl="1"/>
            <a:r>
              <a:rPr sz="2000" b="1" i="1"/>
              <a:t>public Object getFieldValue(JRField jrField)</a:t>
            </a:r>
            <a:r>
              <a:rPr sz="2000"/>
              <a:t> </a:t>
            </a:r>
            <a:r>
              <a:rPr sz="2000"/>
              <a:t>Cette méthode retourne la valeur du champ passé en </a:t>
            </a:r>
            <a:r>
              <a:rPr sz="2000"/>
              <a:t>paramètre pour l'enregistrement courant.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Collection de JavaBeans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300"/>
              <a:t>Un ensemble de JavaBeans implémente un </a:t>
            </a:r>
            <a:r>
              <a:rPr sz="2300" i="1"/>
              <a:t>JRDataSource</a:t>
            </a:r>
          </a:p>
          <a:p>
            <a:pPr/>
            <a:r>
              <a:rPr sz="2300"/>
              <a:t>Un JavaBean est une classe Java qui expose ses </a:t>
            </a:r>
            <a:r>
              <a:rPr sz="2300"/>
              <a:t>attributs avec des méthodes getter : </a:t>
            </a:r>
          </a:p>
          <a:p>
            <a:pPr marL="0" indent="0">
              <a:buNone/>
            </a:pPr>
            <a:r>
              <a:rPr sz="2300" b="1" i="1">
                <a:latin typeface="Courier New"/>
              </a:rPr>
              <a:t>public &lt;returnType&gt; getXXX()</a:t>
            </a:r>
          </a:p>
          <a:p>
            <a:pPr marL="0" indent="0">
              <a:buNone/>
            </a:pPr>
            <a:r>
              <a:rPr sz="2300" i="1"/>
              <a:t>XXX</a:t>
            </a:r>
            <a:r>
              <a:rPr sz="2300"/>
              <a:t> est le nom du champ;</a:t>
            </a:r>
          </a:p>
          <a:p>
            <a:pPr/>
            <a:r>
              <a:rPr sz="2300"/>
              <a:t>Si le type de </a:t>
            </a:r>
            <a:r>
              <a:rPr sz="2300" i="1"/>
              <a:t>XXX</a:t>
            </a:r>
            <a:r>
              <a:rPr sz="2300"/>
              <a:t> est également un JavaBean. Il est </a:t>
            </a:r>
            <a:r>
              <a:rPr sz="2300"/>
              <a:t>possible d'utiliser la notation :</a:t>
            </a:r>
            <a:r>
              <a:rPr sz="2300"/>
              <a:t> </a:t>
            </a:r>
            <a:r>
              <a:rPr sz="2300" i="1"/>
              <a:t>XXX.YYY</a:t>
            </a:r>
          </a:p>
          <a:p>
            <a:pPr/>
            <a:r>
              <a:rPr sz="2300"/>
              <a:t>Le flag </a:t>
            </a:r>
            <a:r>
              <a:rPr sz="2300" i="1"/>
              <a:t>Use Field description</a:t>
            </a:r>
            <a:r>
              <a:rPr sz="2300"/>
              <a:t> permet d'utiliser la </a:t>
            </a:r>
            <a:r>
              <a:rPr sz="2300"/>
              <a:t>description du champ plutôt que son nom.</a:t>
            </a:r>
          </a:p>
          <a:p>
            <a:pPr/>
            <a:r>
              <a:rPr sz="2300"/>
              <a:t>La collection ou le tableau de JavaBeans doit être </a:t>
            </a:r>
            <a:r>
              <a:rPr sz="2300"/>
              <a:t>retourné par une méthode </a:t>
            </a:r>
            <a:r>
              <a:rPr sz="2300" i="1"/>
              <a:t>static</a:t>
            </a:r>
            <a:r>
              <a:rPr sz="2300"/>
              <a:t> d'une classe </a:t>
            </a:r>
            <a:r>
              <a:rPr sz="2300"/>
              <a:t>fournie (factory).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Exemple JavaBean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sz="2000">
                <a:latin typeface="Courier New"/>
              </a:rPr>
              <a:t>public class PersonBean {</a:t>
            </a:r>
          </a:p>
          <a:p>
            <a:pPr marL="0" indent="0">
              <a:buNone/>
            </a:pPr>
            <a:r>
              <a:rPr sz="2000">
                <a:latin typeface="Courier New"/>
              </a:rPr>
              <a:t>  private String name = "";</a:t>
            </a:r>
          </a:p>
          <a:p>
            <a:pPr marL="0" indent="0">
              <a:buNone/>
            </a:pPr>
            <a:r>
              <a:rPr sz="2000">
                <a:latin typeface="Courier New"/>
              </a:rPr>
              <a:t>  private int age = 0;</a:t>
            </a:r>
          </a:p>
          <a:p>
            <a:pPr marL="0" indent="0">
              <a:buNone/>
            </a:pPr>
            <a:r>
              <a:rPr sz="2000">
                <a:latin typeface="Courier New"/>
              </a:rPr>
              <a:t>  public PersonBean(String name, int age){</a:t>
            </a:r>
          </a:p>
          <a:p>
            <a:pPr marL="0" indent="0">
              <a:buNone/>
            </a:pPr>
            <a:r>
              <a:rPr sz="2000">
                <a:latin typeface="Courier New"/>
              </a:rPr>
              <a:t>    this.name = name;</a:t>
            </a:r>
          </a:p>
          <a:p>
            <a:pPr marL="0" indent="0">
              <a:buNone/>
            </a:pPr>
            <a:r>
              <a:rPr sz="2000">
                <a:latin typeface="Courier New"/>
              </a:rPr>
              <a:t>    this.age = age;</a:t>
            </a:r>
          </a:p>
          <a:p>
            <a:pPr marL="0" indent="0">
              <a:buNone/>
            </a:pPr>
            <a:r>
              <a:rPr sz="2000">
                <a:latin typeface="Courier New"/>
              </a:rPr>
              <a:t>  }</a:t>
            </a:r>
          </a:p>
          <a:p>
            <a:pPr marL="0" indent="0">
              <a:buNone/>
            </a:pPr>
            <a:r>
              <a:rPr sz="2000">
                <a:latin typeface="Courier New"/>
              </a:rPr>
              <a:t>  public int getAge() {</a:t>
            </a:r>
          </a:p>
          <a:p>
            <a:pPr marL="0" indent="0">
              <a:buNone/>
            </a:pPr>
            <a:r>
              <a:rPr sz="2000">
                <a:latin typeface="Courier New"/>
              </a:rPr>
              <a:t>    return age;</a:t>
            </a:r>
          </a:p>
          <a:p>
            <a:pPr marL="0" indent="0">
              <a:buNone/>
            </a:pPr>
            <a:r>
              <a:rPr sz="2000">
                <a:latin typeface="Courier New"/>
              </a:rPr>
              <a:t>  }</a:t>
            </a:r>
          </a:p>
          <a:p>
            <a:pPr marL="0" indent="0">
              <a:buNone/>
            </a:pPr>
            <a:r>
              <a:rPr sz="2000">
                <a:latin typeface="Courier New"/>
              </a:rPr>
              <a:t>  public String getName(){</a:t>
            </a:r>
          </a:p>
          <a:p>
            <a:pPr marL="0" indent="0">
              <a:buNone/>
            </a:pPr>
            <a:r>
              <a:rPr sz="2000">
                <a:latin typeface="Courier New"/>
              </a:rPr>
              <a:t>    return name;</a:t>
            </a:r>
          </a:p>
          <a:p>
            <a:pPr marL="0" indent="0">
              <a:buNone/>
            </a:pPr>
            <a:r>
              <a:rPr sz="2000">
                <a:latin typeface="Courier New"/>
              </a:rPr>
              <a:t>  }</a:t>
            </a:r>
          </a:p>
          <a:p>
            <a:pPr marL="0" indent="0">
              <a:buNone/>
            </a:pPr>
            <a:r>
              <a:rPr sz="2000"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Exemple Factory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sz="1800">
                <a:latin typeface="Courier New"/>
              </a:rPr>
              <a:t>public class SampleFactory {</a:t>
            </a:r>
          </a:p>
          <a:p>
            <a:pPr marL="0" indent="0">
              <a:buNone/>
            </a:pPr>
            <a:r>
              <a:rPr sz="1800">
                <a:latin typeface="Courier New"/>
              </a:rPr>
              <a:t>  public static java.util.Collection generateCollection() {</a:t>
            </a:r>
          </a:p>
          <a:p>
            <a:pPr marL="0" indent="0">
              <a:buNone/>
            </a:pPr>
            <a:r>
              <a:rPr sz="1800">
                <a:latin typeface="Courier New"/>
              </a:rPr>
              <a:t>    java.util.Vector collection = new java.util.Vector();</a:t>
            </a:r>
          </a:p>
          <a:p>
            <a:pPr marL="0" indent="0">
              <a:buNone/>
            </a:pPr>
            <a:r>
              <a:rPr sz="1800">
                <a:latin typeface="Courier New"/>
              </a:rPr>
              <a:t>    collection.add(new PersonBean("Ted", 20) );</a:t>
            </a:r>
          </a:p>
          <a:p>
            <a:pPr marL="0" indent="0">
              <a:buNone/>
            </a:pPr>
            <a:r>
              <a:rPr sz="1800">
                <a:latin typeface="Courier New"/>
              </a:rPr>
              <a:t>    collection.add(new PersonBean("Jack", 34) );</a:t>
            </a:r>
          </a:p>
          <a:p>
            <a:pPr marL="0" indent="0">
              <a:buNone/>
            </a:pPr>
            <a:r>
              <a:rPr sz="1800">
                <a:latin typeface="Courier New"/>
              </a:rPr>
              <a:t>    collection.add(new PersonBean("Bob", 56) );</a:t>
            </a:r>
          </a:p>
          <a:p>
            <a:pPr marL="0" indent="0">
              <a:buNone/>
            </a:pPr>
            <a:r>
              <a:rPr sz="1800">
                <a:latin typeface="Courier New"/>
              </a:rPr>
              <a:t>    collection.add(new PersonBean("Alice",12) );</a:t>
            </a:r>
          </a:p>
          <a:p>
            <a:pPr marL="0" indent="0">
              <a:buNone/>
            </a:pPr>
            <a:r>
              <a:rPr sz="1800">
                <a:latin typeface="Courier New"/>
              </a:rPr>
              <a:t>    collection.add(new PersonBean("Robin",22) );</a:t>
            </a:r>
          </a:p>
          <a:p>
            <a:pPr marL="0" indent="0">
              <a:buNone/>
            </a:pPr>
            <a:r>
              <a:rPr sz="1800">
                <a:latin typeface="Courier New"/>
              </a:rPr>
              <a:t>    collection.add(new PersonBean("Peter",28) );</a:t>
            </a:r>
          </a:p>
          <a:p>
            <a:pPr marL="0" indent="0">
              <a:buNone/>
            </a:pPr>
            <a:r>
              <a:rPr sz="1800">
                <a:latin typeface="Courier New"/>
              </a:rPr>
              <a:t>    return collection;</a:t>
            </a:r>
          </a:p>
          <a:p>
            <a:pPr marL="0" indent="0">
              <a:buNone/>
            </a:pPr>
            <a:r>
              <a:rPr sz="1800">
                <a:latin typeface="Courier New"/>
              </a:rPr>
              <a:t>  }</a:t>
            </a:r>
          </a:p>
          <a:p>
            <a:pPr marL="0" indent="0">
              <a:buNone/>
            </a:pPr>
            <a:r>
              <a:rPr sz="1800"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XML DataSource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400"/>
              <a:t>A la différence du format « table » voulu par </a:t>
            </a:r>
            <a:r>
              <a:rPr sz="2400"/>
              <a:t>Jasper, un document XML est organisé </a:t>
            </a:r>
            <a:r>
              <a:rPr sz="2400"/>
              <a:t>hiérarchiquement en forme d'arbre</a:t>
            </a:r>
          </a:p>
          <a:p>
            <a:pPr/>
            <a:r>
              <a:rPr sz="2400"/>
              <a:t>Une expression </a:t>
            </a:r>
            <a:r>
              <a:rPr sz="2400" i="1"/>
              <a:t>XPath</a:t>
            </a:r>
            <a:r>
              <a:rPr sz="2400"/>
              <a:t> est alors nécessaire pour </a:t>
            </a:r>
            <a:r>
              <a:rPr sz="2400"/>
              <a:t>extraire un ensemble de nœuds du document. </a:t>
            </a:r>
          </a:p>
          <a:p>
            <a:pPr/>
            <a:r>
              <a:rPr sz="2400"/>
              <a:t>L'expression </a:t>
            </a:r>
            <a:r>
              <a:rPr sz="2400" i="1"/>
              <a:t>XPath</a:t>
            </a:r>
            <a:r>
              <a:rPr sz="2400"/>
              <a:t> peut être fournie :</a:t>
            </a:r>
          </a:p>
          <a:p>
            <a:pPr lvl="1"/>
            <a:r>
              <a:rPr sz="2400"/>
              <a:t>dans le rapport; dans ce cas il est possible </a:t>
            </a:r>
            <a:r>
              <a:rPr sz="2400"/>
              <a:t>d'utiliser les paramètres du rapport dans </a:t>
            </a:r>
            <a:r>
              <a:rPr sz="2400"/>
              <a:t>l'expression </a:t>
            </a:r>
            <a:r>
              <a:rPr sz="2400" i="1"/>
              <a:t>XPath</a:t>
            </a:r>
          </a:p>
          <a:p>
            <a:pPr lvl="1"/>
            <a:r>
              <a:rPr sz="2400"/>
              <a:t>Au moment de la création de la datasource.</a:t>
            </a:r>
          </a:p>
          <a:p>
            <a:pPr/>
            <a:r>
              <a:rPr sz="2400"/>
              <a:t>Au moment de la création du datasource, il est </a:t>
            </a:r>
            <a:r>
              <a:rPr sz="2400"/>
              <a:t>également possible de spécifier des patterns Java </a:t>
            </a:r>
            <a:r>
              <a:rPr sz="2400"/>
              <a:t>pour convertir les chaînes de caractères XML en </a:t>
            </a:r>
            <a:r>
              <a:rPr sz="2400"/>
              <a:t>dates ou nombres 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Champs XML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38" y="2223023"/>
            <a:ext cx="9323127" cy="3011573"/>
          </a:xfrm>
        </p:spPr>
        <p:txBody>
          <a:bodyPr wrap="square">
            <a:normAutofit/>
          </a:bodyPr>
          <a:lstStyle/>
          <a:p>
            <a:pPr/>
            <a:r>
              <a:rPr sz="2800"/>
              <a:t>La syntaxe </a:t>
            </a:r>
            <a:r>
              <a:rPr sz="2800" i="1"/>
              <a:t>XPath</a:t>
            </a:r>
            <a:r>
              <a:rPr sz="2800"/>
              <a:t> est également utilisée </a:t>
            </a:r>
            <a:r>
              <a:rPr sz="2800"/>
              <a:t>pour définir les champs. L'expression étant </a:t>
            </a:r>
            <a:r>
              <a:rPr sz="2800"/>
              <a:t>évaluée à partir du nœud courant. Elle se </a:t>
            </a:r>
            <a:r>
              <a:rPr sz="2800"/>
              <a:t>spécifie dans la description du champ. </a:t>
            </a:r>
          </a:p>
          <a:p>
            <a:pPr/>
            <a:r>
              <a:rPr sz="2800" i="1"/>
              <a:t>IReport</a:t>
            </a:r>
            <a:r>
              <a:rPr sz="2800"/>
              <a:t> propose un outil visuel pour la </a:t>
            </a:r>
            <a:r>
              <a:rPr sz="2800"/>
              <a:t>sélection des champs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62036" y="5272209"/>
          <a:ext cx="7919998" cy="2275289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27440"/>
                <a:gridCol w="2865247"/>
                <a:gridCol w="3127311"/>
              </a:tblGrid>
              <a:tr h="459358">
                <a:tc>
                  <a:txBody>
                    <a:bodyPr wrap="square"/>
                    <a:lstStyle/>
                    <a:p>
                      <a:r>
                        <a:rPr sz="1800" b="1"/>
                        <a:t>Nom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 b="1"/>
                        <a:t/>
                      </a:r>
                    </a:p>
                  </a:txBody>
                  <a:tcPr marL="50800" marR="50800" marT="25400" marB="25400"/>
                </a:tc>
              </a:tr>
              <a:tr h="459359">
                <a:tc>
                  <a:txBody>
                    <a:bodyPr wrap="square"/>
                    <a:lstStyle/>
                    <a:p>
                      <a:r>
                        <a:rPr sz="1800"/>
                        <a:t>id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@id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L'attribut id</a:t>
                      </a:r>
                    </a:p>
                  </a:txBody>
                  <a:tcPr marL="50800" marR="50800" marT="25400" marB="25400"/>
                </a:tc>
              </a:tr>
              <a:tr h="676084">
                <a:tc>
                  <a:txBody>
                    <a:bodyPr wrap="square"/>
                    <a:lstStyle/>
                    <a:p>
                      <a:r>
                        <a:rPr sz="1800"/>
                        <a:t>lastname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lastname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La valeur du noeud-enfant lastname</a:t>
                      </a:r>
                    </a:p>
                  </a:txBody>
                  <a:tcPr marL="50800" marR="50800" marT="25400" marB="25400"/>
                </a:tc>
              </a:tr>
              <a:tr h="680488">
                <a:tc>
                  <a:txBody>
                    <a:bodyPr wrap="square"/>
                    <a:lstStyle/>
                    <a:p>
                      <a:r>
                        <a:rPr sz="1800"/>
                        <a:t>categoryName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ancestor::category/ @name</a:t>
                      </a:r>
                    </a:p>
                  </a:txBody>
                  <a:tcPr marL="50800" marR="50800" marT="25400" marB="25400"/>
                </a:tc>
                <a:tc>
                  <a:txBody>
                    <a:bodyPr wrap="square"/>
                    <a:lstStyle/>
                    <a:p>
                      <a:r>
                        <a:rPr sz="1800"/>
                        <a:t>L'attribut name du noeud ancêtre category</a:t>
                      </a:r>
                    </a:p>
                  </a:txBody>
                  <a:tcPr marL="50800" marR="50800" marT="25400" marB="25400"/>
                </a:tc>
              </a:tr>
            </a:tbl>
          </a:graphicData>
        </a:graphic>
      </p:graphicFrame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Documents XML et sous- rapport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200"/>
              <a:t>L'organisation hiérarchique des documents est très </a:t>
            </a:r>
            <a:r>
              <a:rPr sz="2200"/>
              <a:t>adaptée à la notion de sous-rapport de JasperReport</a:t>
            </a:r>
          </a:p>
          <a:p>
            <a:pPr/>
            <a:r>
              <a:rPr sz="2200"/>
              <a:t>Une </a:t>
            </a:r>
            <a:r>
              <a:rPr sz="2200" i="1"/>
              <a:t>JRXmlDataSource</a:t>
            </a:r>
            <a:r>
              <a:rPr sz="2200"/>
              <a:t> expose 2 méthodes </a:t>
            </a:r>
            <a:r>
              <a:rPr sz="2200"/>
              <a:t>supplémentaires :</a:t>
            </a:r>
          </a:p>
          <a:p>
            <a:pPr lvl="1"/>
            <a:r>
              <a:rPr sz="2000" i="1"/>
              <a:t>public JRXmlDataSource dataSource(String </a:t>
            </a:r>
            <a:r>
              <a:rPr sz="2000" i="1"/>
              <a:t>selectExpression)</a:t>
            </a:r>
          </a:p>
          <a:p>
            <a:pPr lvl="1"/>
            <a:r>
              <a:rPr sz="2000" i="1"/>
              <a:t>public JRXmlDataSource subDataSource(String </a:t>
            </a:r>
            <a:r>
              <a:rPr sz="2000" i="1"/>
              <a:t>selectExpression) </a:t>
            </a:r>
          </a:p>
          <a:p>
            <a:pPr marL="0" indent="0">
              <a:buNone/>
            </a:pPr>
            <a:r>
              <a:rPr sz="2200"/>
              <a:t>La première méthode applique une expression </a:t>
            </a:r>
            <a:r>
              <a:rPr sz="2200" i="1"/>
              <a:t>XPath</a:t>
            </a:r>
            <a:r>
              <a:rPr sz="2200"/>
              <a:t> à </a:t>
            </a:r>
            <a:r>
              <a:rPr sz="2200"/>
              <a:t>partir du nœud racine du document XML. La seconde </a:t>
            </a:r>
            <a:r>
              <a:rPr sz="2200"/>
              <a:t>applique l'expression sur le nœud courant.</a:t>
            </a:r>
          </a:p>
          <a:p>
            <a:pPr marL="0" indent="0">
              <a:buNone/>
            </a:pPr>
            <a:r>
              <a:rPr sz="2200"/>
              <a:t>L'expression pour spécifier les données d'un sous rapport </a:t>
            </a:r>
            <a:r>
              <a:rPr sz="2200"/>
              <a:t>est alors :</a:t>
            </a:r>
          </a:p>
          <a:p>
            <a:pPr marL="0" indent="0">
              <a:buNone/>
            </a:pPr>
            <a:r>
              <a:rPr sz="1600" i="1">
                <a:latin typeface="Courier New"/>
              </a:rPr>
              <a:t>((JRXmlDataSource)</a:t>
            </a:r>
          </a:p>
          <a:p>
            <a:pPr marL="0" indent="0">
              <a:buNone/>
            </a:pPr>
            <a:r>
              <a:rPr sz="1600" i="1"/>
              <a:t>$P{REPORT_DATA_SOURCE}).subDataSource(xExpression)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CSV DataSource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400"/>
              <a:t>Les fichiers CSV sont un format naturel pour une </a:t>
            </a:r>
            <a:r>
              <a:rPr sz="2400"/>
              <a:t>source de données Jasper.</a:t>
            </a:r>
          </a:p>
          <a:p>
            <a:pPr/>
            <a:r>
              <a:rPr sz="2400"/>
              <a:t>Les noms des champs sont :</a:t>
            </a:r>
          </a:p>
          <a:p>
            <a:pPr lvl="1"/>
            <a:r>
              <a:rPr sz="2400"/>
              <a:t>Soit obtenus à partir de la première ligne du </a:t>
            </a:r>
            <a:r>
              <a:rPr sz="2400"/>
              <a:t>fichier </a:t>
            </a:r>
          </a:p>
          <a:p>
            <a:pPr lvl="1"/>
            <a:r>
              <a:rPr sz="2400"/>
              <a:t>Soit spécifié un à un </a:t>
            </a:r>
          </a:p>
          <a:p>
            <a:pPr/>
            <a:r>
              <a:rPr sz="2400"/>
              <a:t>Il est possible également de spécifier le caractère </a:t>
            </a:r>
            <a:r>
              <a:rPr sz="2400"/>
              <a:t>délimiteur 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JREmptyDataSource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800"/>
              <a:t>JasperRepoprt fournit une datasource </a:t>
            </a:r>
            <a:r>
              <a:rPr sz="2800"/>
              <a:t>spéciale permettant d'effectuer des </a:t>
            </a:r>
            <a:r>
              <a:rPr sz="2800"/>
              <a:t>itérations sur des enregistrements dont la </a:t>
            </a:r>
            <a:r>
              <a:rPr sz="2800"/>
              <a:t>valeur de champ est </a:t>
            </a:r>
            <a:r>
              <a:rPr sz="2800" i="1"/>
              <a:t>null</a:t>
            </a:r>
          </a:p>
          <a:p>
            <a:pPr/>
            <a:r>
              <a:rPr sz="2800"/>
              <a:t>L'interface iReport permet de spécifier le </a:t>
            </a:r>
            <a:r>
              <a:rPr sz="2800"/>
              <a:t>nombre d'itérations voulues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Hibernate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400"/>
              <a:t>Avec Jasper, il est possible d'utiliser une requête </a:t>
            </a:r>
            <a:r>
              <a:rPr sz="2400"/>
              <a:t>HQL. </a:t>
            </a:r>
          </a:p>
          <a:p>
            <a:pPr/>
            <a:r>
              <a:rPr sz="2400"/>
              <a:t>La connexion hibernate (</a:t>
            </a:r>
            <a:r>
              <a:rPr sz="2400" i="1"/>
              <a:t>hibernate.cfg.xml</a:t>
            </a:r>
            <a:r>
              <a:rPr sz="2400"/>
              <a:t>) et les </a:t>
            </a:r>
            <a:r>
              <a:rPr sz="2400"/>
              <a:t>fichiers de mapping (</a:t>
            </a:r>
            <a:r>
              <a:rPr sz="2400" i="1"/>
              <a:t>*.hbm.xml</a:t>
            </a:r>
            <a:r>
              <a:rPr sz="2400"/>
              <a:t>) doivent être dans </a:t>
            </a:r>
            <a:r>
              <a:rPr sz="2400"/>
              <a:t>le classpath.</a:t>
            </a:r>
          </a:p>
          <a:p>
            <a:pPr/>
            <a:r>
              <a:rPr sz="2400"/>
              <a:t>La requête est exprimée alors via HQL.</a:t>
            </a:r>
          </a:p>
          <a:p>
            <a:pPr/>
            <a:r>
              <a:rPr sz="2400"/>
              <a:t>En fonction du résultat retourné par la requête, les </a:t>
            </a:r>
            <a:r>
              <a:rPr sz="2400"/>
              <a:t>champs du rapport sont alors des entités </a:t>
            </a:r>
            <a:r>
              <a:rPr sz="2400"/>
              <a:t>Hibernate ou des objets simples Java.</a:t>
            </a:r>
          </a:p>
          <a:p>
            <a:pPr/>
            <a:r>
              <a:rPr sz="2400"/>
              <a:t>Il est possible de naviguer dans les objets entités </a:t>
            </a:r>
            <a:r>
              <a:rPr sz="2400"/>
              <a:t>avec la notation « . »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Datasources personnalisées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3200"/>
              <a:t>Fournir une classe implémentant </a:t>
            </a:r>
            <a:r>
              <a:rPr sz="3200"/>
              <a:t>l'interface </a:t>
            </a:r>
            <a:r>
              <a:rPr sz="3200" i="1"/>
              <a:t>JRDataSource</a:t>
            </a:r>
          </a:p>
          <a:p>
            <a:pPr/>
            <a:r>
              <a:rPr sz="3200"/>
              <a:t>Fournir une factory ayant une </a:t>
            </a:r>
            <a:r>
              <a:rPr sz="3200"/>
              <a:t>méthode statique retournant la </a:t>
            </a:r>
            <a:r>
              <a:rPr sz="3200"/>
              <a:t>datasource personnalisée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 marL="0" indent="0" algn="ctr">
              <a:buNone/>
            </a:pPr>
            <a:r>
              <a:rPr sz="3200"/>
              <a:t>Gabarits et assistant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200"/>
              <a:t>Avec </a:t>
            </a:r>
            <a:r>
              <a:rPr sz="2200" i="1"/>
              <a:t>jasperStudio</a:t>
            </a:r>
            <a:r>
              <a:rPr sz="2200"/>
              <a:t>, il est possible de définir des</a:t>
            </a:r>
            <a:r>
              <a:rPr sz="2200" b="1"/>
              <a:t> </a:t>
            </a:r>
            <a:r>
              <a:rPr sz="2200" b="1"/>
              <a:t>gabarits de rapport </a:t>
            </a:r>
            <a:r>
              <a:rPr sz="2200"/>
              <a:t>(template) permettant la </a:t>
            </a:r>
            <a:r>
              <a:rPr sz="2200"/>
              <a:t>réutilisation de disposition et de présentation </a:t>
            </a:r>
          </a:p>
          <a:p>
            <a:pPr lvl="1"/>
            <a:r>
              <a:rPr sz="2200"/>
              <a:t>Ces gabarits peuvent être associés à des assistants </a:t>
            </a:r>
            <a:r>
              <a:rPr sz="2200"/>
              <a:t>pour faciliter alors la création de rapport. </a:t>
            </a:r>
          </a:p>
          <a:p>
            <a:pPr lvl="1"/>
            <a:r>
              <a:rPr sz="2200" i="1"/>
              <a:t>JasperStudio </a:t>
            </a:r>
            <a:r>
              <a:rPr sz="2200"/>
              <a:t>proposent quelques gabarits dans sa </a:t>
            </a:r>
            <a:r>
              <a:rPr sz="2200"/>
              <a:t>distribution.</a:t>
            </a:r>
          </a:p>
          <a:p>
            <a:pPr/>
            <a:r>
              <a:rPr sz="2200"/>
              <a:t>Les fichiers gabarits sont de simples fichiers JRXML </a:t>
            </a:r>
            <a:r>
              <a:rPr sz="2200"/>
              <a:t>stockés dans le répertoire de son choix</a:t>
            </a:r>
            <a:r>
              <a:rPr sz="2200"/>
              <a:t> </a:t>
            </a:r>
            <a:r>
              <a:rPr sz="1800" i="1"/>
              <a:t>Windows → Preferences → Resource Folder → Template location</a:t>
            </a:r>
          </a:p>
          <a:p>
            <a:pPr/>
            <a:r>
              <a:rPr sz="2200"/>
              <a:t>Lorsqu'un nouveau rapport est créé en utilisant un </a:t>
            </a:r>
            <a:r>
              <a:rPr sz="2200"/>
              <a:t>template, l'utilisateur a le choix entre :</a:t>
            </a:r>
          </a:p>
          <a:p>
            <a:pPr lvl="1"/>
            <a:r>
              <a:rPr sz="1800"/>
              <a:t>Démarrer l'assistant associé au template qui lui permettra </a:t>
            </a:r>
            <a:r>
              <a:rPr sz="1800"/>
              <a:t>de renseigner les informations prévues</a:t>
            </a:r>
          </a:p>
          <a:p>
            <a:pPr lvl="1"/>
            <a:r>
              <a:rPr sz="1800"/>
              <a:t>D'utiliser directement le fichier JRXML du template 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Assistant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400"/>
              <a:t>L'assistant est capable de créer à partir d'une liste </a:t>
            </a:r>
            <a:r>
              <a:rPr sz="2400"/>
              <a:t>de champs sélectionnés par l'utilisateur d'ajouter </a:t>
            </a:r>
            <a:r>
              <a:rPr sz="2400"/>
              <a:t>des éléments textes permettant d'afficher les </a:t>
            </a:r>
            <a:r>
              <a:rPr sz="2400"/>
              <a:t>enregistrements. </a:t>
            </a:r>
          </a:p>
          <a:p>
            <a:pPr/>
            <a:r>
              <a:rPr sz="2400"/>
              <a:t>Ces derniers peuvent également être groupés.</a:t>
            </a:r>
          </a:p>
          <a:p>
            <a:pPr/>
            <a:r>
              <a:rPr sz="2400"/>
              <a:t>Deux types de disposition sont disponibles :</a:t>
            </a:r>
          </a:p>
          <a:p>
            <a:pPr lvl="1"/>
            <a:r>
              <a:rPr sz="2400" b="1"/>
              <a:t>Colonnes</a:t>
            </a:r>
            <a:r>
              <a:rPr sz="2400"/>
              <a:t> : Pour chaque enregistrement, on </a:t>
            </a:r>
            <a:r>
              <a:rPr sz="2400"/>
              <a:t>obtient deux colonnes pour le label du </a:t>
            </a:r>
            <a:r>
              <a:rPr sz="2400"/>
              <a:t>champ et sa valeur</a:t>
            </a:r>
          </a:p>
          <a:p>
            <a:pPr lvl="1"/>
            <a:r>
              <a:rPr sz="2400" b="1"/>
              <a:t>Tabulaire</a:t>
            </a:r>
            <a:r>
              <a:rPr sz="2400"/>
              <a:t> (défaut) : Les enregistrements </a:t>
            </a:r>
            <a:r>
              <a:rPr sz="2400"/>
              <a:t>sont affichés en tableau, en utilisant les </a:t>
            </a:r>
            <a:r>
              <a:rPr sz="2400"/>
              <a:t>column header comme titre de colonne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Colonne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1900" y="2661901"/>
            <a:ext cx="6016561" cy="4175162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Tableau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1900" y="2330450"/>
            <a:ext cx="6376924" cy="5046263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Groupes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400"/>
              <a:t>L'utilisateur peut choisir de grouper les données. </a:t>
            </a:r>
            <a:r>
              <a:rPr sz="2400"/>
              <a:t>(4 groupes au maximum)</a:t>
            </a:r>
            <a:r>
              <a:rPr sz="2400"/>
              <a:t> </a:t>
            </a:r>
            <a:r>
              <a:rPr sz="2400"/>
              <a:t>=&gt; Les entêtes et bas de groupe sont alors </a:t>
            </a:r>
            <a:r>
              <a:rPr sz="2400"/>
              <a:t>créés pour chaque groupe </a:t>
            </a:r>
            <a:r>
              <a:rPr sz="2400"/>
              <a:t>=&gt; Pour chaque groupe, l’assistant positionne </a:t>
            </a:r>
            <a:r>
              <a:rPr sz="2400"/>
              <a:t>l'expression et ajoute un label et un champ </a:t>
            </a:r>
            <a:r>
              <a:rPr sz="2400"/>
              <a:t>texte permettant d'afficher la valeur.</a:t>
            </a:r>
          </a:p>
          <a:p>
            <a:pPr/>
            <a:r>
              <a:rPr sz="2400"/>
              <a:t>L'expression est obligatoirement réduite à un nom </a:t>
            </a:r>
            <a:r>
              <a:rPr sz="2400"/>
              <a:t>de champ 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Mise au 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400"/>
              <a:t>Pour mettre un point un gabarit compatible avec </a:t>
            </a:r>
            <a:r>
              <a:rPr sz="2400"/>
              <a:t>l'assistant. Il est nécessaire de respecter certaines </a:t>
            </a:r>
            <a:r>
              <a:rPr sz="2400" b="1"/>
              <a:t>règles de nommage</a:t>
            </a:r>
            <a:r>
              <a:rPr sz="2400"/>
              <a:t>.</a:t>
            </a:r>
          </a:p>
          <a:p>
            <a:pPr/>
            <a:r>
              <a:rPr sz="2400"/>
              <a:t>Le gabarit définit à priori :</a:t>
            </a:r>
          </a:p>
          <a:p>
            <a:pPr lvl="1"/>
            <a:r>
              <a:rPr sz="2200"/>
              <a:t>Le maximum de groupe possible (4)</a:t>
            </a:r>
          </a:p>
          <a:p>
            <a:pPr lvl="1"/>
            <a:r>
              <a:rPr sz="2200"/>
              <a:t>L'entête de colonne</a:t>
            </a:r>
          </a:p>
          <a:p>
            <a:pPr lvl="1"/>
            <a:r>
              <a:rPr sz="2200"/>
              <a:t>La bande de détail</a:t>
            </a:r>
          </a:p>
          <a:p>
            <a:pPr/>
            <a:r>
              <a:rPr sz="2400"/>
              <a:t>Ces bandes sont analysées par l'assistant afin de </a:t>
            </a:r>
            <a:r>
              <a:rPr sz="2400"/>
              <a:t>remplacer ou de créer certains éléments textes.</a:t>
            </a:r>
          </a:p>
          <a:p>
            <a:pPr/>
            <a:r>
              <a:rPr sz="2400"/>
              <a:t>Les autres bandes ne sont pas modifiées par </a:t>
            </a:r>
            <a:r>
              <a:rPr sz="2400"/>
              <a:t>l'assistant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Groupes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800"/>
              <a:t>Les éléments des entêtes de groupes sont </a:t>
            </a:r>
            <a:r>
              <a:rPr sz="2800"/>
              <a:t>analysés et si une de leur valeur </a:t>
            </a:r>
            <a:r>
              <a:rPr sz="2800"/>
              <a:t>correspond à une valeur prédéfinie, elle est </a:t>
            </a:r>
            <a:r>
              <a:rPr sz="2800"/>
              <a:t>remplacée soit par le nom du critère de </a:t>
            </a:r>
            <a:r>
              <a:rPr sz="2800"/>
              <a:t>groupe (Textes statiques) soit par la valeur </a:t>
            </a:r>
            <a:r>
              <a:rPr sz="2800"/>
              <a:t>de l'expression (Champs textes)</a:t>
            </a:r>
          </a:p>
          <a:p>
            <a:pPr lvl="1"/>
            <a:r>
              <a:rPr sz="2600"/>
              <a:t>Textes statiques : </a:t>
            </a:r>
            <a:r>
              <a:rPr sz="2600" i="1"/>
              <a:t>GroupLabel, Group </a:t>
            </a:r>
            <a:r>
              <a:rPr sz="2600" i="1"/>
              <a:t>Label, Label, Group name, GnLabel</a:t>
            </a:r>
            <a:r>
              <a:rPr sz="2600"/>
              <a:t> (avec </a:t>
            </a:r>
            <a:r>
              <a:rPr sz="2600"/>
              <a:t>n le n° de groupe) </a:t>
            </a:r>
          </a:p>
          <a:p>
            <a:pPr lvl="1"/>
            <a:r>
              <a:rPr sz="2600"/>
              <a:t>Champs textes : </a:t>
            </a:r>
            <a:r>
              <a:rPr sz="2600" i="1"/>
              <a:t>GroupField, Group Field, </a:t>
            </a:r>
            <a:r>
              <a:rPr sz="2600" i="1"/>
              <a:t>Field, GnField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Colonne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400"/>
              <a:t>L'entête de colonne est analysée par l'assistant </a:t>
            </a:r>
            <a:r>
              <a:rPr sz="2400"/>
              <a:t>lors d'une disposition en table. </a:t>
            </a:r>
          </a:p>
          <a:p>
            <a:pPr/>
            <a:r>
              <a:rPr sz="2400"/>
              <a:t>Si il trouve des textes statiques contenant des </a:t>
            </a:r>
            <a:r>
              <a:rPr sz="2400"/>
              <a:t>chaînes prédéfinies, l'assistant créera un label </a:t>
            </a:r>
            <a:r>
              <a:rPr sz="2400"/>
              <a:t>pour chaque champ.</a:t>
            </a:r>
          </a:p>
          <a:p>
            <a:pPr/>
            <a:r>
              <a:rPr sz="2400"/>
              <a:t>Les valeurs prédéfinies étant :</a:t>
            </a:r>
          </a:p>
          <a:p>
            <a:pPr lvl="1"/>
            <a:r>
              <a:rPr sz="2400" i="1"/>
              <a:t>DetailLabel</a:t>
            </a:r>
            <a:r>
              <a:rPr sz="2400"/>
              <a:t>, </a:t>
            </a:r>
            <a:r>
              <a:rPr sz="2400" i="1"/>
              <a:t>Label</a:t>
            </a:r>
            <a:r>
              <a:rPr sz="2400"/>
              <a:t> ou </a:t>
            </a:r>
            <a:r>
              <a:rPr sz="2400" i="1"/>
              <a:t>Header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Détail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400"/>
              <a:t>Si le rapport à une disposition en table, l'assistant </a:t>
            </a:r>
            <a:r>
              <a:rPr sz="2400"/>
              <a:t>analysera la section détail afin de rechercher les </a:t>
            </a:r>
            <a:r>
              <a:rPr sz="2400"/>
              <a:t>champs textes contenant des valeurs prédéfinies.</a:t>
            </a:r>
          </a:p>
          <a:p>
            <a:pPr/>
            <a:r>
              <a:rPr sz="2400"/>
              <a:t>Il créera alors un champs texte pour chaque </a:t>
            </a:r>
            <a:r>
              <a:rPr sz="2400"/>
              <a:t>champs des enregistrements. Les valeurs </a:t>
            </a:r>
            <a:r>
              <a:rPr sz="2400"/>
              <a:t>prédéfinies étant : </a:t>
            </a:r>
          </a:p>
          <a:p>
            <a:pPr lvl="1"/>
            <a:r>
              <a:rPr sz="2400"/>
              <a:t>“</a:t>
            </a:r>
            <a:r>
              <a:rPr sz="2400" i="1"/>
              <a:t>DetailField</a:t>
            </a:r>
            <a:r>
              <a:rPr sz="2400"/>
              <a:t>”, “</a:t>
            </a:r>
            <a:r>
              <a:rPr sz="2400" i="1"/>
              <a:t>Field</a:t>
            </a:r>
            <a:r>
              <a:rPr sz="2400"/>
              <a:t>”</a:t>
            </a:r>
          </a:p>
          <a:p>
            <a:pPr/>
            <a:r>
              <a:rPr sz="2400"/>
              <a:t>Si le rapport est en colonne, l'assistant </a:t>
            </a:r>
            <a:r>
              <a:rPr sz="2400"/>
              <a:t>recherchera dans la bande détail, les champs </a:t>
            </a:r>
            <a:r>
              <a:rPr sz="2400"/>
              <a:t>statiques avec les mêmes critères que l'entête de </a:t>
            </a:r>
            <a:r>
              <a:rPr sz="2400"/>
              <a:t>colonne. 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Type de disposition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3200"/>
              <a:t>Pour choisir entre la disposition </a:t>
            </a:r>
            <a:r>
              <a:rPr sz="3200"/>
              <a:t>colonne et la disposition table, il suffit </a:t>
            </a:r>
            <a:r>
              <a:rPr sz="3200"/>
              <a:t>de spécifier dans le gabarit la </a:t>
            </a:r>
            <a:r>
              <a:rPr sz="3200"/>
              <a:t>propriété </a:t>
            </a:r>
            <a:r>
              <a:rPr sz="3200" b="1" i="1"/>
              <a:t>template.type</a:t>
            </a:r>
            <a:r>
              <a:rPr sz="3200"/>
              <a:t> qui peut </a:t>
            </a:r>
            <a:r>
              <a:rPr sz="3200"/>
              <a:t>prendre 2 valeurs :</a:t>
            </a:r>
          </a:p>
          <a:p>
            <a:pPr lvl="1"/>
            <a:r>
              <a:rPr sz="2800" i="1"/>
              <a:t>tabular</a:t>
            </a:r>
          </a:p>
          <a:p>
            <a:pPr lvl="1"/>
            <a:r>
              <a:rPr sz="2800" i="1"/>
              <a:t>columnar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Exemple cherry.jrxml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sz="1100">
                <a:latin typeface="Courier New"/>
              </a:rPr>
              <a:t>&lt;jasperReport  name="Cherry" language="groovy" pageWidth="595" pageHeight="842" columnWidth="535" </a:t>
            </a:r>
          </a:p>
          <a:p>
            <a:pPr marL="0" indent="0">
              <a:buNone/>
            </a:pPr>
            <a:r>
              <a:rPr sz="1100">
                <a:latin typeface="Courier New"/>
              </a:rPr>
              <a:t>leftMargin="20" rightMargin="20" topMargin="20" bottomMargin="20"&gt;</a:t>
            </a:r>
          </a:p>
          <a:p>
            <a:pPr marL="0" indent="0">
              <a:buNone/>
            </a:pPr>
            <a:r>
              <a:rPr sz="1100">
                <a:latin typeface="Courier New"/>
              </a:rPr>
              <a:t>&lt;style name="Row" mode="Transparent" fontName="Times New Roman" pdfFontName="Times-Roman"&gt;</a:t>
            </a:r>
          </a:p>
          <a:p>
            <a:pPr marL="0" indent="0">
              <a:buNone/>
            </a:pPr>
            <a:r>
              <a:rPr sz="1100">
                <a:latin typeface="Courier New"/>
              </a:rPr>
              <a:t>&lt;conditionalStyle&gt;&lt;conditionExpression&gt;&lt;![CDATA[$V{REPORT_COUNT}%2 == 0]]&gt;&lt;/conditionExpression&gt;</a:t>
            </a:r>
          </a:p>
          <a:p>
            <a:pPr marL="0" indent="0">
              <a:buNone/>
            </a:pPr>
            <a:r>
              <a:rPr sz="1100">
                <a:latin typeface="Courier New"/>
              </a:rPr>
              <a:t>&lt;style style="Row" mode="Opaque" backcolor="#F0EFEF"/&gt;</a:t>
            </a:r>
          </a:p>
          <a:p>
            <a:pPr marL="0" indent="0">
              <a:buNone/>
            </a:pPr>
            <a:r>
              <a:rPr sz="1100">
                <a:latin typeface="Courier New"/>
              </a:rPr>
              <a:t>&lt;/conditionalStyle&gt;&lt;/style&gt;</a:t>
            </a:r>
          </a:p>
          <a:p>
            <a:pPr marL="0" indent="0">
              <a:buNone/>
            </a:pPr>
            <a:r>
              <a:rPr sz="1100">
                <a:latin typeface="Courier New"/>
              </a:rPr>
              <a:t>&lt;group name="Group1"&gt;</a:t>
            </a:r>
          </a:p>
          <a:p>
            <a:pPr marL="0" indent="0">
              <a:buNone/>
            </a:pPr>
            <a:r>
              <a:rPr sz="1100">
                <a:latin typeface="Courier New"/>
              </a:rPr>
              <a:t>&lt;groupExpression&gt;&lt;![CDATA[(int)($V{REPORT_COUNT}/15)]]&gt;&lt;/groupExpression&gt;</a:t>
            </a:r>
          </a:p>
          <a:p>
            <a:pPr marL="0" indent="0">
              <a:buNone/>
            </a:pPr>
            <a:r>
              <a:rPr sz="1100">
                <a:latin typeface="Courier New"/>
              </a:rPr>
              <a:t>&lt;groupHeader&gt;</a:t>
            </a:r>
          </a:p>
          <a:p>
            <a:pPr marL="0" indent="0">
              <a:buNone/>
            </a:pPr>
            <a:r>
              <a:rPr sz="1100">
                <a:latin typeface="Courier New"/>
              </a:rPr>
              <a:t>&lt;band height="37"&gt;</a:t>
            </a:r>
          </a:p>
          <a:p>
            <a:pPr marL="0" indent="0">
              <a:buNone/>
            </a:pPr>
            <a:r>
              <a:rPr sz="1100">
                <a:latin typeface="Courier New"/>
              </a:rPr>
              <a:t>&lt;frame&gt;&lt;reportElement mode="Opaque" x="0" y="7" width="555" height="24" forecolor="#B89F7D" </a:t>
            </a:r>
          </a:p>
          <a:p>
            <a:pPr marL="0" indent="0">
              <a:buNone/>
            </a:pPr>
            <a:r>
              <a:rPr sz="1100">
                <a:latin typeface="Courier New"/>
              </a:rPr>
              <a:t>backcolor="#000000"/&gt;</a:t>
            </a:r>
          </a:p>
          <a:p>
            <a:pPr marL="0" indent="0">
              <a:buNone/>
            </a:pPr>
            <a:r>
              <a:rPr sz="1100">
                <a:latin typeface="Courier New"/>
              </a:rPr>
              <a:t>&lt;textField isStretchWithOverflow="true"&gt;</a:t>
            </a:r>
          </a:p>
          <a:p>
            <a:pPr marL="0" indent="0">
              <a:buNone/>
            </a:pPr>
            <a:r>
              <a:rPr sz="1100">
                <a:latin typeface="Courier New"/>
              </a:rPr>
              <a:t>&lt;reportElement style="SubTitle" isPrintRepeatedValues="false" x="2" y="0" width="479" height="24" </a:t>
            </a:r>
          </a:p>
          <a:p>
            <a:pPr marL="0" indent="0">
              <a:buNone/>
            </a:pPr>
            <a:r>
              <a:rPr sz="1100">
                <a:latin typeface="Courier New"/>
              </a:rPr>
              <a:t>forecolor="#FFFFFF"/&gt;</a:t>
            </a:r>
          </a:p>
          <a:p>
            <a:pPr marL="0" indent="0">
              <a:buNone/>
            </a:pPr>
            <a:r>
              <a:rPr sz="1100">
                <a:latin typeface="Courier New"/>
              </a:rPr>
              <a:t>&lt;textFieldExpression class="java.lang.String"&gt;&lt;![CDATA["</a:t>
            </a:r>
            <a:r>
              <a:rPr sz="1100" b="1">
                <a:latin typeface="Courier New"/>
              </a:rPr>
              <a:t>GroupField</a:t>
            </a:r>
            <a:r>
              <a:rPr sz="1100">
                <a:latin typeface="Courier New"/>
              </a:rPr>
              <a:t>"]]&gt;&lt;/textFieldExpression&gt;</a:t>
            </a:r>
          </a:p>
          <a:p>
            <a:pPr marL="0" indent="0">
              <a:buNone/>
            </a:pPr>
            <a:r>
              <a:rPr sz="1100">
                <a:latin typeface="Courier New"/>
              </a:rPr>
              <a:t>&lt;/textField&gt;</a:t>
            </a:r>
          </a:p>
          <a:p>
            <a:pPr marL="0" indent="0">
              <a:buNone/>
            </a:pPr>
            <a:r>
              <a:rPr sz="1100">
                <a:latin typeface="Courier New"/>
              </a:rPr>
              <a:t>&lt;/frame&gt;</a:t>
            </a:r>
          </a:p>
          <a:p>
            <a:pPr marL="0" indent="0">
              <a:buNone/>
            </a:pPr>
            <a:r>
              <a:rPr sz="1100">
                <a:latin typeface="Courier New"/>
              </a:rPr>
              <a:t>&lt;/band&gt;</a:t>
            </a:r>
          </a:p>
          <a:p>
            <a:pPr marL="0" indent="0">
              <a:buNone/>
            </a:pPr>
            <a:r>
              <a:rPr sz="1100">
                <a:latin typeface="Courier New"/>
              </a:rPr>
              <a:t>&lt;/groupHeader&gt;</a:t>
            </a:r>
          </a:p>
          <a:p>
            <a:pPr marL="0" indent="0">
              <a:buNone/>
            </a:pPr>
            <a:r>
              <a:rPr sz="1100">
                <a:latin typeface="Courier New"/>
              </a:rPr>
              <a:t>...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TP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3200"/>
              <a:t>Création et utilisation d'un gabarit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 marL="0" indent="0" algn="ctr">
              <a:buNone/>
            </a:pPr>
            <a:r>
              <a:rPr sz="3200"/>
              <a:t>Report Books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sz="2600"/>
              <a:t>Un </a:t>
            </a:r>
            <a:r>
              <a:rPr sz="2600" b="1"/>
              <a:t>report book</a:t>
            </a:r>
            <a:r>
              <a:rPr sz="2600"/>
              <a:t> est un unique fichier </a:t>
            </a:r>
            <a:r>
              <a:rPr sz="2600" i="1"/>
              <a:t>.jrxml</a:t>
            </a:r>
            <a:r>
              <a:rPr sz="2600"/>
              <a:t> qui </a:t>
            </a:r>
            <a:r>
              <a:rPr sz="2600"/>
              <a:t>englobe plusieurs rapports dans une unique </a:t>
            </a:r>
            <a:r>
              <a:rPr sz="2600"/>
              <a:t>objet.</a:t>
            </a:r>
          </a:p>
          <a:p>
            <a:pPr marL="0" indent="0">
              <a:buNone/>
            </a:pPr>
            <a:r>
              <a:rPr sz="2600"/>
              <a:t>Le livre a ses paramètres, ses variables, sa </a:t>
            </a:r>
            <a:r>
              <a:rPr sz="2600"/>
              <a:t>requête et ses champs</a:t>
            </a:r>
          </a:p>
          <a:p>
            <a:pPr marL="0" indent="0">
              <a:buNone/>
            </a:pPr>
            <a:r>
              <a:rPr sz="2600"/>
              <a:t>Le livre introduit la notion de </a:t>
            </a:r>
            <a:r>
              <a:rPr sz="2600" b="1" i="1"/>
              <a:t>master</a:t>
            </a:r>
            <a:r>
              <a:rPr sz="2600"/>
              <a:t> qui </a:t>
            </a:r>
            <a:r>
              <a:rPr sz="2600"/>
              <a:t>correspond au niveau livre :</a:t>
            </a:r>
          </a:p>
          <a:p>
            <a:pPr lvl="1"/>
            <a:r>
              <a:rPr sz="2300"/>
              <a:t>MASTER_PAGE : Le numéro de la « partie » du livre</a:t>
            </a:r>
          </a:p>
          <a:p>
            <a:pPr lvl="1"/>
            <a:r>
              <a:rPr sz="2300"/>
              <a:t>Réinitialisation MASTER : Réinitialisation d’une </a:t>
            </a:r>
            <a:r>
              <a:rPr sz="2300"/>
              <a:t>variable à un changement de « partie »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Apports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sz="3200"/>
              <a:t>Les report book permettent de :</a:t>
            </a:r>
          </a:p>
          <a:p>
            <a:pPr lvl="1"/>
            <a:r>
              <a:rPr sz="2800"/>
              <a:t>Générer un sommaire avec les </a:t>
            </a:r>
            <a:r>
              <a:rPr sz="2800"/>
              <a:t>différentes signets des parties du livre </a:t>
            </a:r>
            <a:r>
              <a:rPr sz="2800"/>
              <a:t>(i.e les sous-rapports associés)</a:t>
            </a:r>
          </a:p>
          <a:p>
            <a:pPr lvl="1"/>
            <a:r>
              <a:rPr sz="2800"/>
              <a:t>Paginiation spécifique incluant le n° de </a:t>
            </a:r>
            <a:r>
              <a:rPr sz="2800"/>
              <a:t>la partie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 marL="0" indent="0" algn="ctr">
              <a:buNone/>
            </a:pPr>
            <a:r>
              <a:rPr sz="3200"/>
              <a:t>Création programmatique de rapport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3200"/>
              <a:t>Dans certains cas, l'application Java </a:t>
            </a:r>
            <a:r>
              <a:rPr sz="3200"/>
              <a:t>finale peut vouloir mettre au point un </a:t>
            </a:r>
            <a:r>
              <a:rPr sz="3200"/>
              <a:t>design Jasper à la volée.</a:t>
            </a:r>
          </a:p>
          <a:p>
            <a:pPr/>
            <a:r>
              <a:rPr sz="3200"/>
              <a:t>L'API de JasperReport permet alors </a:t>
            </a:r>
            <a:r>
              <a:rPr sz="3200"/>
              <a:t>toutes les opérations sur une instance </a:t>
            </a:r>
            <a:r>
              <a:rPr sz="3200"/>
              <a:t>de </a:t>
            </a:r>
            <a:r>
              <a:rPr sz="3200" i="1"/>
              <a:t>JasperDesign</a:t>
            </a:r>
            <a:r>
              <a:rPr sz="3200"/>
              <a:t> :</a:t>
            </a:r>
          </a:p>
          <a:p>
            <a:pPr lvl="1"/>
            <a:r>
              <a:rPr sz="2800"/>
              <a:t>Création</a:t>
            </a:r>
          </a:p>
          <a:p>
            <a:pPr lvl="1"/>
            <a:r>
              <a:rPr sz="2800"/>
              <a:t>Ajout de champs, variables, groupes</a:t>
            </a:r>
          </a:p>
          <a:p>
            <a:pPr lvl="1"/>
            <a:r>
              <a:rPr sz="2800"/>
              <a:t>Manipulation de bandes, sections</a:t>
            </a:r>
          </a:p>
          <a:p>
            <a:pPr lvl="1"/>
            <a:r>
              <a:rPr sz="2800"/>
              <a:t>Ajouts d'éléments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Cas d'utilisation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3200"/>
              <a:t>Il est, cependant fastidieux de créer </a:t>
            </a:r>
            <a:r>
              <a:rPr sz="3200"/>
              <a:t>un </a:t>
            </a:r>
            <a:r>
              <a:rPr sz="3200" i="1"/>
              <a:t>JasperDesign</a:t>
            </a:r>
            <a:r>
              <a:rPr sz="3200"/>
              <a:t> complet à partir de </a:t>
            </a:r>
            <a:r>
              <a:rPr sz="3200"/>
              <a:t>zéro.</a:t>
            </a:r>
          </a:p>
          <a:p>
            <a:pPr/>
            <a:r>
              <a:rPr sz="3200"/>
              <a:t>En général, on part d'un fichier JRXML </a:t>
            </a:r>
            <a:r>
              <a:rPr sz="3200"/>
              <a:t>incomplet que l'on complète avec les </a:t>
            </a:r>
            <a:r>
              <a:rPr sz="3200"/>
              <a:t>informations récoltées de l'interface </a:t>
            </a:r>
            <a:r>
              <a:rPr sz="3200"/>
              <a:t>utilisateur. Par exemple, la requête </a:t>
            </a:r>
            <a:r>
              <a:rPr sz="3200"/>
              <a:t>les champs, les groupes, etc..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Interface et classe d’implémentation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3200"/>
              <a:t>L’API fournit deux types d’objets Java </a:t>
            </a:r>
          </a:p>
          <a:p>
            <a:pPr lvl="1"/>
            <a:r>
              <a:rPr sz="2800"/>
              <a:t>Des </a:t>
            </a:r>
            <a:r>
              <a:rPr sz="2800" b="1"/>
              <a:t>interfaces</a:t>
            </a:r>
            <a:r>
              <a:rPr sz="2800"/>
              <a:t> qui permettent d’accèder </a:t>
            </a:r>
            <a:r>
              <a:rPr sz="2800"/>
              <a:t>en lecture aux éléments du rapport.</a:t>
            </a:r>
            <a:r>
              <a:rPr sz="2800"/>
              <a:t> </a:t>
            </a:r>
            <a:r>
              <a:rPr sz="2800"/>
              <a:t>Exemple, </a:t>
            </a:r>
            <a:r>
              <a:rPr sz="2800" i="1"/>
              <a:t>JRGroup, JRBand, JRField</a:t>
            </a:r>
          </a:p>
          <a:p>
            <a:pPr lvl="1"/>
            <a:r>
              <a:rPr sz="2800"/>
              <a:t>Des </a:t>
            </a:r>
            <a:r>
              <a:rPr sz="2800" b="1"/>
              <a:t>implémentations</a:t>
            </a:r>
            <a:r>
              <a:rPr sz="2800"/>
              <a:t> qui peuvent elles </a:t>
            </a:r>
            <a:r>
              <a:rPr sz="2800"/>
              <a:t>être instanciées et modifiées</a:t>
            </a:r>
            <a:r>
              <a:rPr sz="2800"/>
              <a:t> </a:t>
            </a:r>
            <a:r>
              <a:rPr sz="2800"/>
              <a:t>Exemple : </a:t>
            </a:r>
            <a:r>
              <a:rPr sz="2800" i="1"/>
              <a:t>JRDesignGroup</a:t>
            </a:r>
            <a:r>
              <a:rPr sz="2800"/>
              <a:t>, </a:t>
            </a:r>
            <a:r>
              <a:rPr sz="2800" i="1"/>
              <a:t>JRDesignBand</a:t>
            </a:r>
            <a:r>
              <a:rPr sz="2800"/>
              <a:t>, </a:t>
            </a:r>
            <a:r>
              <a:rPr sz="2800" i="1"/>
              <a:t>JRDesignField</a:t>
            </a:r>
          </a:p>
          <a:p>
            <a:pPr/>
            <a:r>
              <a:rPr sz="3200"/>
              <a:t>Les méthodes disponibles renvoient </a:t>
            </a:r>
            <a:r>
              <a:rPr sz="3200"/>
              <a:t>des interfaces qu’il est nécessaire de </a:t>
            </a:r>
            <a:r>
              <a:rPr sz="3200" i="1"/>
              <a:t>caster</a:t>
            </a:r>
            <a:r>
              <a:rPr sz="3200"/>
              <a:t> afin de pouvoir les manipuler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Hiérarchie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3200"/>
              <a:t>La classe </a:t>
            </a:r>
            <a:r>
              <a:rPr sz="3200" i="1"/>
              <a:t>JasperDesign</a:t>
            </a:r>
            <a:r>
              <a:rPr sz="3200"/>
              <a:t> hérite de </a:t>
            </a:r>
            <a:r>
              <a:rPr sz="3200" i="1"/>
              <a:t>JRBaseReport</a:t>
            </a:r>
            <a:r>
              <a:rPr sz="3200"/>
              <a:t>.</a:t>
            </a:r>
          </a:p>
          <a:p>
            <a:pPr lvl="1"/>
            <a:r>
              <a:rPr sz="2800" b="1" i="1"/>
              <a:t>JRBaseReport</a:t>
            </a:r>
            <a:r>
              <a:rPr sz="2800"/>
              <a:t> encapsule toutes les </a:t>
            </a:r>
            <a:r>
              <a:rPr sz="2800"/>
              <a:t>données concernant la structure du </a:t>
            </a:r>
            <a:r>
              <a:rPr sz="2800"/>
              <a:t>rapport (</a:t>
            </a:r>
            <a:r>
              <a:rPr sz="2800" i="1"/>
              <a:t>JRSection</a:t>
            </a:r>
            <a:r>
              <a:rPr sz="2800"/>
              <a:t> et </a:t>
            </a:r>
            <a:r>
              <a:rPr sz="2800" i="1"/>
              <a:t>JRBand</a:t>
            </a:r>
            <a:r>
              <a:rPr sz="2800"/>
              <a:t>)</a:t>
            </a:r>
          </a:p>
          <a:p>
            <a:pPr lvl="1"/>
            <a:r>
              <a:rPr sz="2800" b="1" i="1"/>
              <a:t>JasperDesign</a:t>
            </a:r>
            <a:r>
              <a:rPr sz="2800"/>
              <a:t> complète la classe parente </a:t>
            </a:r>
            <a:r>
              <a:rPr sz="2800"/>
              <a:t>avec tous les concepts extérieurs à la </a:t>
            </a:r>
            <a:r>
              <a:rPr sz="2800"/>
              <a:t>structure : champs, variables, groupes, </a:t>
            </a:r>
            <a:r>
              <a:rPr sz="2800"/>
              <a:t>scriptlets, styles, ...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JRBaseReport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600" i="1"/>
              <a:t>JRBaseReport</a:t>
            </a:r>
            <a:r>
              <a:rPr sz="2600"/>
              <a:t> permet d’accéder aux éléments </a:t>
            </a:r>
            <a:r>
              <a:rPr sz="2600"/>
              <a:t>structurels du rapport :</a:t>
            </a:r>
          </a:p>
          <a:p>
            <a:pPr lvl="1"/>
            <a:r>
              <a:rPr sz="2200" b="1" i="1"/>
              <a:t>JRSection</a:t>
            </a:r>
            <a:r>
              <a:rPr sz="2200"/>
              <a:t> : Une section peut contenir plusieurs </a:t>
            </a:r>
            <a:r>
              <a:rPr sz="2200"/>
              <a:t>bandes. Il existe trois types de sections dans un </a:t>
            </a:r>
            <a:r>
              <a:rPr sz="2200"/>
              <a:t>rapport </a:t>
            </a:r>
          </a:p>
          <a:p>
            <a:pPr lvl="1"/>
            <a:r>
              <a:rPr sz="1800"/>
              <a:t>La section détail : </a:t>
            </a:r>
            <a:r>
              <a:rPr sz="1800" i="1"/>
              <a:t>JRSection getDetailSection()</a:t>
            </a:r>
          </a:p>
          <a:p>
            <a:pPr lvl="1"/>
            <a:r>
              <a:rPr sz="1800"/>
              <a:t>Les sections relatives aux groupe : </a:t>
            </a:r>
            <a:r>
              <a:rPr sz="1800" i="1"/>
              <a:t>groupHeaderSection</a:t>
            </a:r>
            <a:r>
              <a:rPr sz="1800"/>
              <a:t> et </a:t>
            </a:r>
            <a:r>
              <a:rPr sz="1800" i="1"/>
              <a:t>groupFooterSection</a:t>
            </a:r>
            <a:r>
              <a:rPr sz="1800"/>
              <a:t> obtenues à partir de la classe </a:t>
            </a:r>
            <a:r>
              <a:rPr sz="1800" i="1"/>
              <a:t>JGroup</a:t>
            </a:r>
          </a:p>
          <a:p>
            <a:pPr lvl="1"/>
            <a:r>
              <a:rPr sz="2200" b="1" i="1"/>
              <a:t>JRBand</a:t>
            </a:r>
            <a:r>
              <a:rPr sz="2200"/>
              <a:t> : Une bande contenant des éléments </a:t>
            </a:r>
          </a:p>
          <a:p>
            <a:pPr lvl="1"/>
            <a:r>
              <a:rPr sz="1800" i="1"/>
              <a:t>JRBand getTitle(); </a:t>
            </a:r>
          </a:p>
          <a:p>
            <a:pPr lvl="1"/>
            <a:r>
              <a:rPr sz="1800" i="1"/>
              <a:t>JRBand getBackground();</a:t>
            </a:r>
          </a:p>
          <a:p>
            <a:pPr lvl="1"/>
            <a:r>
              <a:rPr sz="1800" i="1"/>
              <a:t>JRBand getColumnHeader() , getColumnFooter()</a:t>
            </a:r>
          </a:p>
          <a:p>
            <a:pPr lvl="1"/>
            <a:r>
              <a:rPr sz="1800" i="1"/>
              <a:t>JRBand getPageHeader(), getPageFooter(), getLastPageFooter()</a:t>
            </a:r>
          </a:p>
          <a:p>
            <a:pPr lvl="1"/>
            <a:r>
              <a:rPr sz="1800" i="1"/>
              <a:t>JRBand getSummary()</a:t>
            </a:r>
          </a:p>
          <a:p>
            <a:pPr lvl="1"/>
            <a:r>
              <a:rPr sz="1800" i="1"/>
              <a:t>JRBand getNoData()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JRDesignBand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800"/>
              <a:t>A partir d’une instance de </a:t>
            </a:r>
            <a:r>
              <a:rPr sz="2800" i="1"/>
              <a:t>JRDesignBand</a:t>
            </a:r>
            <a:r>
              <a:rPr sz="2800"/>
              <a:t>, il </a:t>
            </a:r>
            <a:r>
              <a:rPr sz="2800"/>
              <a:t>est possible d’ajouter des éléments dans une </a:t>
            </a:r>
            <a:r>
              <a:rPr sz="2800"/>
              <a:t>bande du rapport via les méthodes :</a:t>
            </a:r>
          </a:p>
          <a:p>
            <a:pPr lvl="1"/>
            <a:r>
              <a:rPr sz="2600" i="1"/>
              <a:t>addElement(JRDesignElement element)</a:t>
            </a:r>
          </a:p>
          <a:p>
            <a:pPr lvl="1"/>
            <a:r>
              <a:rPr sz="2600" i="1"/>
              <a:t>addElementGroup(JRDesignElementGroup </a:t>
            </a:r>
            <a:r>
              <a:rPr sz="2600" i="1"/>
              <a:t>group)</a:t>
            </a:r>
          </a:p>
          <a:p>
            <a:pPr/>
            <a:r>
              <a:rPr sz="2800" b="1" i="1"/>
              <a:t>JRDesignElement</a:t>
            </a:r>
            <a:r>
              <a:rPr sz="2800"/>
              <a:t> est un élément simple qui </a:t>
            </a:r>
            <a:r>
              <a:rPr sz="2800"/>
              <a:t>ne contient pas d’autre élément</a:t>
            </a:r>
          </a:p>
          <a:p>
            <a:pPr/>
            <a:r>
              <a:rPr sz="2800" b="1" i="1"/>
              <a:t>JRDesignElementGroup</a:t>
            </a:r>
            <a:r>
              <a:rPr sz="2800"/>
              <a:t> est un container </a:t>
            </a:r>
            <a:r>
              <a:rPr sz="2800"/>
              <a:t>d’éléments (Ex </a:t>
            </a:r>
            <a:r>
              <a:rPr sz="2800" i="1"/>
              <a:t>JRDesignBand</a:t>
            </a:r>
            <a:r>
              <a:rPr sz="2800"/>
              <a:t>)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JRDesignElement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3200"/>
              <a:t>Les classes implémentant </a:t>
            </a:r>
            <a:r>
              <a:rPr sz="3200" i="1"/>
              <a:t>JRDesignElement</a:t>
            </a:r>
            <a:r>
              <a:rPr sz="3200"/>
              <a:t> correspondent à tous </a:t>
            </a:r>
            <a:r>
              <a:rPr sz="3200"/>
              <a:t>les éléments qu’il est possible d’ajouter </a:t>
            </a:r>
            <a:r>
              <a:rPr sz="3200"/>
              <a:t>dans une bande :</a:t>
            </a:r>
          </a:p>
          <a:p>
            <a:pPr lvl="1"/>
            <a:r>
              <a:rPr sz="2400" i="1"/>
              <a:t>JRDesignTextElement, JRDesignCrosstab, </a:t>
            </a:r>
            <a:r>
              <a:rPr sz="2400" i="1"/>
              <a:t>JRDesignGraphicElement, JRDesignChart, </a:t>
            </a:r>
            <a:r>
              <a:rPr sz="2400" i="1"/>
              <a:t>JRDesignFrame, JRDesignSubreport, …</a:t>
            </a:r>
          </a:p>
          <a:p>
            <a:pPr/>
            <a:r>
              <a:rPr sz="3200"/>
              <a:t>Sur chaque élément, il est possible </a:t>
            </a:r>
            <a:r>
              <a:rPr sz="3200"/>
              <a:t>d’accéder à ses propriétés spécifiques </a:t>
            </a:r>
            <a:r>
              <a:rPr sz="3200"/>
              <a:t>(police, radius, dataset, etc.)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Méthodes de lecture JasperDesign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200"/>
              <a:t>En dehors de la structure, des méthodes de type </a:t>
            </a:r>
            <a:r>
              <a:rPr sz="2200" i="1"/>
              <a:t>getter</a:t>
            </a:r>
            <a:r>
              <a:rPr sz="2200"/>
              <a:t> </a:t>
            </a:r>
            <a:r>
              <a:rPr sz="2200"/>
              <a:t>permettent de récupérer toutes les autres propriétés </a:t>
            </a:r>
            <a:r>
              <a:rPr sz="2200"/>
              <a:t>du design :</a:t>
            </a:r>
          </a:p>
          <a:p>
            <a:pPr lvl="1"/>
            <a:r>
              <a:rPr sz="2000"/>
              <a:t>Toutes les expressions utilisées :</a:t>
            </a:r>
          </a:p>
          <a:p>
            <a:pPr lvl="2"/>
            <a:r>
              <a:rPr sz="1800">
                <a:latin typeface="Courier New"/>
              </a:rPr>
              <a:t>Collection getExpressions(), JRExpression </a:t>
            </a:r>
          </a:p>
          <a:p>
            <a:pPr marL="0" indent="0">
              <a:buNone/>
            </a:pPr>
            <a:r>
              <a:rPr sz="1800">
                <a:latin typeface="Courier New"/>
              </a:rPr>
              <a:t>getFilterExpression()</a:t>
            </a:r>
          </a:p>
          <a:p>
            <a:pPr lvl="1"/>
            <a:r>
              <a:rPr sz="2000"/>
              <a:t>Les champs :</a:t>
            </a:r>
          </a:p>
          <a:p>
            <a:pPr lvl="2"/>
            <a:r>
              <a:rPr sz="1800">
                <a:latin typeface="Courier New"/>
              </a:rPr>
              <a:t>List getFieldsList(), Map getFieldsMap()</a:t>
            </a:r>
          </a:p>
          <a:p>
            <a:pPr lvl="1"/>
            <a:r>
              <a:rPr sz="2000"/>
              <a:t>Les paramètres :</a:t>
            </a:r>
          </a:p>
          <a:p>
            <a:pPr lvl="2"/>
            <a:r>
              <a:rPr sz="1800">
                <a:latin typeface="Courier New"/>
              </a:rPr>
              <a:t>List getParametersList(), Map </a:t>
            </a:r>
          </a:p>
          <a:p>
            <a:pPr marL="0" indent="0">
              <a:buNone/>
            </a:pPr>
            <a:r>
              <a:rPr sz="1800">
                <a:latin typeface="Courier New"/>
              </a:rPr>
              <a:t>getParametersMap()</a:t>
            </a:r>
          </a:p>
          <a:p>
            <a:pPr lvl="1"/>
            <a:r>
              <a:rPr sz="2000"/>
              <a:t>Les variables :</a:t>
            </a:r>
          </a:p>
          <a:p>
            <a:pPr lvl="2"/>
            <a:r>
              <a:rPr sz="1800">
                <a:latin typeface="Courier New"/>
              </a:rPr>
              <a:t>List getVariablesList(), Map </a:t>
            </a:r>
          </a:p>
          <a:p>
            <a:pPr marL="0" indent="0">
              <a:buNone/>
            </a:pPr>
            <a:r>
              <a:rPr sz="1800">
                <a:latin typeface="Courier New"/>
              </a:rPr>
              <a:t>getVariablesMap()</a:t>
            </a:r>
          </a:p>
          <a:p>
            <a:pPr lvl="1"/>
            <a:r>
              <a:rPr sz="2000"/>
              <a:t>Les groupes : </a:t>
            </a:r>
          </a:p>
          <a:p>
            <a:pPr lvl="2"/>
            <a:r>
              <a:rPr sz="1800">
                <a:latin typeface="Courier New"/>
              </a:rPr>
              <a:t>List getGroupsList(), Map getGroupsMap()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Méthodes de lecture JasperDesign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200"/>
              <a:t>Les scriptlets :</a:t>
            </a:r>
          </a:p>
          <a:p>
            <a:pPr lvl="1"/>
            <a:r>
              <a:rPr sz="2000">
                <a:latin typeface="Courier New"/>
              </a:rPr>
              <a:t>List getScriptletsList(), Map getScriptletsMap()</a:t>
            </a:r>
          </a:p>
          <a:p>
            <a:pPr/>
            <a:r>
              <a:rPr sz="2200"/>
              <a:t>Les styles</a:t>
            </a:r>
          </a:p>
          <a:p>
            <a:pPr lvl="1"/>
            <a:r>
              <a:rPr sz="2000">
                <a:latin typeface="Courier New"/>
              </a:rPr>
              <a:t>List getStylesList(), Map getStylesMap()</a:t>
            </a:r>
          </a:p>
          <a:p>
            <a:pPr/>
            <a:r>
              <a:rPr sz="2200"/>
              <a:t>Les tableaux croisés : </a:t>
            </a:r>
          </a:p>
          <a:p>
            <a:pPr lvl="1"/>
            <a:r>
              <a:rPr sz="2000">
                <a:latin typeface="Courier New"/>
              </a:rPr>
              <a:t>List getCrosstabs()</a:t>
            </a:r>
          </a:p>
          <a:p>
            <a:pPr/>
            <a:r>
              <a:rPr sz="2200"/>
              <a:t>Les datasets :</a:t>
            </a:r>
          </a:p>
          <a:p>
            <a:pPr lvl="1"/>
            <a:r>
              <a:rPr sz="2000">
                <a:latin typeface="Courier New"/>
              </a:rPr>
              <a:t>JRDesignDataset </a:t>
            </a:r>
          </a:p>
          <a:p>
            <a:pPr marL="0" indent="0">
              <a:buNone/>
            </a:pPr>
            <a:r>
              <a:rPr sz="2000">
                <a:latin typeface="Courier New"/>
              </a:rPr>
              <a:t>getMainDesignDataset(), Map </a:t>
            </a:r>
          </a:p>
          <a:p>
            <a:pPr marL="0" indent="0">
              <a:buNone/>
            </a:pPr>
            <a:r>
              <a:rPr sz="2000">
                <a:latin typeface="Courier New"/>
              </a:rPr>
              <a:t>getDatasetMap(),  JRDataset[] getDatasets(), </a:t>
            </a:r>
          </a:p>
          <a:p>
            <a:pPr marL="0" indent="0">
              <a:buNone/>
            </a:pPr>
            <a:r>
              <a:rPr sz="2000">
                <a:latin typeface="Courier New"/>
              </a:rPr>
              <a:t>List </a:t>
            </a:r>
          </a:p>
          <a:p>
            <a:pPr marL="0" indent="0">
              <a:buNone/>
            </a:pPr>
            <a:r>
              <a:rPr sz="2000">
                <a:latin typeface="Courier New"/>
              </a:rPr>
              <a:t>getDatasetsList()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Méthode d'ajout d'éléments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800"/>
              <a:t>Méthodes d’ajouts :</a:t>
            </a:r>
          </a:p>
          <a:p>
            <a:pPr lvl="1"/>
            <a:r>
              <a:rPr sz="1600">
                <a:latin typeface="Courier New"/>
              </a:rPr>
              <a:t>void addField(JRField field)</a:t>
            </a:r>
          </a:p>
          <a:p>
            <a:pPr lvl="1"/>
            <a:r>
              <a:rPr sz="1600">
                <a:latin typeface="Courier New"/>
              </a:rPr>
              <a:t>void addParameter(JRParameter parameter)</a:t>
            </a:r>
          </a:p>
          <a:p>
            <a:pPr lvl="1"/>
            <a:r>
              <a:rPr sz="1600">
                <a:latin typeface="Courier New"/>
              </a:rPr>
              <a:t>void addGroup(JRDesignGroup group)</a:t>
            </a:r>
          </a:p>
          <a:p>
            <a:pPr lvl="1"/>
            <a:r>
              <a:rPr sz="1600">
                <a:latin typeface="Courier New"/>
              </a:rPr>
              <a:t>void addVariable(JRDesignVariable variable)</a:t>
            </a:r>
          </a:p>
          <a:p>
            <a:pPr lvl="1"/>
            <a:r>
              <a:rPr sz="1600">
                <a:latin typeface="Courier New"/>
              </a:rPr>
              <a:t>void addScriptlet(JRScriptlet scriptlet)</a:t>
            </a:r>
          </a:p>
          <a:p>
            <a:pPr lvl="1"/>
            <a:r>
              <a:rPr sz="1500">
                <a:latin typeface="Courier New"/>
              </a:rPr>
              <a:t>void addStyle(JRStyle style)</a:t>
            </a:r>
          </a:p>
          <a:p>
            <a:pPr/>
            <a:r>
              <a:rPr sz="2800"/>
              <a:t>Les méthodes </a:t>
            </a:r>
            <a:r>
              <a:rPr sz="2800" i="1"/>
              <a:t>remove</a:t>
            </a:r>
            <a:r>
              <a:rPr sz="2800"/>
              <a:t> équivalentes sont </a:t>
            </a:r>
            <a:r>
              <a:rPr sz="2800"/>
              <a:t>bien évidemment accessibles</a:t>
            </a:r>
          </a:p>
          <a:p>
            <a:pPr/>
            <a:r>
              <a:rPr sz="2800"/>
              <a:t>La méthode pour spécifier la requête :</a:t>
            </a:r>
          </a:p>
          <a:p>
            <a:pPr marL="0" indent="0">
              <a:buNone/>
            </a:pPr>
            <a:r>
              <a:rPr sz="1600">
                <a:latin typeface="Courier New"/>
              </a:rPr>
              <a:t>setQuery(JRDesignQuery query) 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Expressions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3200"/>
              <a:t>En dehors de leurs attributs </a:t>
            </a:r>
            <a:r>
              <a:rPr sz="3200"/>
              <a:t>spécifiques, les éléments ont en </a:t>
            </a:r>
            <a:r>
              <a:rPr sz="3200"/>
              <a:t>général besoin de définir leur </a:t>
            </a:r>
            <a:r>
              <a:rPr sz="3200"/>
              <a:t>expression et la classe associée.</a:t>
            </a:r>
          </a:p>
          <a:p>
            <a:pPr/>
            <a:r>
              <a:rPr sz="3200"/>
              <a:t>La classe peut être précisée soit par </a:t>
            </a:r>
            <a:r>
              <a:rPr sz="3200"/>
              <a:t>une </a:t>
            </a:r>
            <a:r>
              <a:rPr sz="3200" i="1"/>
              <a:t>String</a:t>
            </a:r>
            <a:r>
              <a:rPr sz="3200"/>
              <a:t> (</a:t>
            </a:r>
            <a:r>
              <a:rPr sz="3200" i="1"/>
              <a:t>classname</a:t>
            </a:r>
            <a:r>
              <a:rPr sz="3200"/>
              <a:t>), soit </a:t>
            </a:r>
            <a:r>
              <a:rPr sz="3200"/>
              <a:t>directement par une instance de </a:t>
            </a:r>
            <a:r>
              <a:rPr sz="3200" i="1"/>
              <a:t>java.lang.Class</a:t>
            </a:r>
          </a:p>
          <a:p>
            <a:pPr/>
            <a:r>
              <a:rPr sz="3200"/>
              <a:t>L’expression est elle fournie par une </a:t>
            </a:r>
            <a:r>
              <a:rPr sz="3200"/>
              <a:t>instance de </a:t>
            </a:r>
            <a:r>
              <a:rPr sz="3200" b="1" i="1"/>
              <a:t>JRExpression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Composition d’une expression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2800"/>
              <a:t>Une expression est découpée en morceau </a:t>
            </a:r>
            <a:r>
              <a:rPr sz="2800"/>
              <a:t>(</a:t>
            </a:r>
            <a:r>
              <a:rPr sz="2800" b="1" i="1"/>
              <a:t>JRChunkExpression</a:t>
            </a:r>
            <a:r>
              <a:rPr sz="2800"/>
              <a:t>) </a:t>
            </a:r>
          </a:p>
          <a:p>
            <a:pPr/>
            <a:r>
              <a:rPr sz="2800"/>
              <a:t>Chaque morceau étant constitué d’une </a:t>
            </a:r>
            <a:r>
              <a:rPr sz="2800"/>
              <a:t>chaîne de caractère et d’un type.</a:t>
            </a:r>
          </a:p>
          <a:p>
            <a:pPr/>
            <a:r>
              <a:rPr sz="2800"/>
              <a:t>Les types possibles étant :</a:t>
            </a:r>
          </a:p>
          <a:p>
            <a:pPr lvl="1"/>
            <a:r>
              <a:rPr sz="2400" i="1"/>
              <a:t>JRExpressionChunk.TYPE_TEXT</a:t>
            </a:r>
          </a:p>
          <a:p>
            <a:pPr lvl="1"/>
            <a:r>
              <a:rPr sz="2400" i="1"/>
              <a:t>JRExpressionChunk.TYPE_PARAMETER</a:t>
            </a:r>
          </a:p>
          <a:p>
            <a:pPr lvl="1"/>
            <a:r>
              <a:rPr sz="2400" i="1"/>
              <a:t>JRExpressionChunk.TYPE_FIELD</a:t>
            </a:r>
          </a:p>
          <a:p>
            <a:pPr lvl="1"/>
            <a:r>
              <a:rPr sz="2400" i="1"/>
              <a:t>JRExpressionChunk.TYPE_VARIABLE</a:t>
            </a:r>
          </a:p>
          <a:p>
            <a:pPr lvl="1"/>
            <a:r>
              <a:rPr sz="2400" i="1"/>
              <a:t>JRExpressionChunk.TYPE_RESOURCE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8000"/>
            <a:ext cx="9169400" cy="1397000"/>
          </a:xfrm>
        </p:spPr>
        <p:txBody>
          <a:bodyPr/>
          <a:lstStyle/>
          <a:p>
            <a:r>
              <a:rPr sz="3600"/>
              <a:t>TP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59000"/>
            <a:ext cx="9398000" cy="4826000"/>
          </a:xfrm>
        </p:spPr>
        <p:txBody>
          <a:bodyPr wrap="square">
            <a:normAutofit/>
          </a:bodyPr>
          <a:lstStyle/>
          <a:p>
            <a:pPr/>
            <a:r>
              <a:rPr sz="3200"/>
              <a:t>Compléter un gabarit JRXML </a:t>
            </a:r>
            <a:r>
              <a:rPr sz="3200"/>
              <a:t>programmatiquement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