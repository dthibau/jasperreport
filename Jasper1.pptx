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</p:sldIdLst>
  <p:sldSz cx="10692000" cy="7559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Reporting avec Jasper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David THIBAU – 2022</a:t>
            </a:r>
          </a:p>
          <a:p>
            <a:pPr marL="0" indent="0" algn="ctr">
              <a:buNone/>
            </a:pPr>
            <a:r>
              <a:rPr sz="3200"/>
              <a:t>david.thibau@gmail.com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274952"/>
          </a:xfrm>
        </p:spPr>
        <p:txBody>
          <a:bodyPr wrap="square" numCol="2" spcCol="304800">
            <a:normAutofit/>
          </a:bodyPr>
          <a:lstStyle/>
          <a:p>
            <a:pPr/>
            <a:r>
              <a:rPr sz="2000"/>
              <a:t>Introduction</a:t>
            </a:r>
          </a:p>
          <a:p>
            <a:pPr lvl="1"/>
            <a:r>
              <a:rPr sz="1200"/>
              <a:t>Business Intelligence</a:t>
            </a:r>
          </a:p>
          <a:p>
            <a:pPr lvl="1"/>
            <a:r>
              <a:rPr sz="1200"/>
              <a:t>Modèle OpenSource de la suite </a:t>
            </a:r>
            <a:r>
              <a:rPr sz="1200"/>
              <a:t>Jaspersoft</a:t>
            </a:r>
          </a:p>
          <a:p>
            <a:pPr/>
            <a:r>
              <a:rPr sz="2000"/>
              <a:t>La librairie </a:t>
            </a:r>
            <a:r>
              <a:rPr sz="2000" i="1"/>
              <a:t>JasperReport</a:t>
            </a:r>
          </a:p>
          <a:p>
            <a:pPr lvl="1"/>
            <a:r>
              <a:rPr sz="1200"/>
              <a:t>Modèle de génération</a:t>
            </a:r>
          </a:p>
          <a:p>
            <a:pPr lvl="1"/>
            <a:r>
              <a:rPr sz="1200"/>
              <a:t>Le fichier JRXML</a:t>
            </a:r>
          </a:p>
          <a:p>
            <a:pPr lvl="1"/>
            <a:r>
              <a:rPr sz="1200"/>
              <a:t>Distribution et Exemples</a:t>
            </a:r>
          </a:p>
          <a:p>
            <a:pPr/>
            <a:r>
              <a:rPr sz="2000" i="1"/>
              <a:t>JasperStudio</a:t>
            </a:r>
            <a:r>
              <a:rPr sz="1600" i="1"/>
              <a:t> :</a:t>
            </a:r>
            <a:r>
              <a:rPr sz="1600"/>
              <a:t> </a:t>
            </a:r>
            <a:r>
              <a:rPr sz="2000"/>
              <a:t>Mise</a:t>
            </a:r>
            <a:r>
              <a:rPr sz="1600"/>
              <a:t> </a:t>
            </a:r>
            <a:r>
              <a:rPr sz="2000"/>
              <a:t>en</a:t>
            </a:r>
            <a:r>
              <a:rPr sz="1600"/>
              <a:t> </a:t>
            </a:r>
            <a:r>
              <a:rPr sz="2000"/>
              <a:t>route</a:t>
            </a:r>
          </a:p>
          <a:p>
            <a:pPr lvl="1"/>
            <a:r>
              <a:rPr sz="1200"/>
              <a:t>Présentation / Installation</a:t>
            </a:r>
          </a:p>
          <a:p>
            <a:pPr lvl="1"/>
            <a:r>
              <a:rPr sz="1200"/>
              <a:t>Sources de données</a:t>
            </a:r>
          </a:p>
          <a:p>
            <a:pPr lvl="1"/>
            <a:r>
              <a:rPr sz="1200"/>
              <a:t>Champs</a:t>
            </a:r>
          </a:p>
          <a:p>
            <a:pPr lvl="1"/>
            <a:r>
              <a:rPr sz="1200"/>
              <a:t>Assistants</a:t>
            </a:r>
          </a:p>
          <a:p>
            <a:pPr/>
            <a:r>
              <a:rPr sz="2000"/>
              <a:t>Composition</a:t>
            </a:r>
            <a:r>
              <a:rPr sz="1600" i="1"/>
              <a:t> </a:t>
            </a:r>
            <a:r>
              <a:rPr sz="2000"/>
              <a:t>de</a:t>
            </a:r>
            <a:r>
              <a:rPr sz="1600" i="1"/>
              <a:t> </a:t>
            </a:r>
            <a:r>
              <a:rPr sz="2000"/>
              <a:t>rapport</a:t>
            </a:r>
          </a:p>
          <a:p>
            <a:pPr lvl="1"/>
            <a:r>
              <a:rPr sz="1200"/>
              <a:t>Dimension et bandes d'un rapport</a:t>
            </a:r>
          </a:p>
          <a:p>
            <a:pPr lvl="1"/>
            <a:r>
              <a:rPr sz="1200"/>
              <a:t>Éléments simples</a:t>
            </a:r>
          </a:p>
          <a:p>
            <a:pPr lvl="1"/>
            <a:r>
              <a:rPr sz="1200"/>
              <a:t>Paramètres, Variable, Expressions</a:t>
            </a:r>
          </a:p>
          <a:p>
            <a:pPr/>
            <a:r>
              <a:rPr sz="2000"/>
              <a:t>Éléments</a:t>
            </a:r>
            <a:r>
              <a:rPr sz="1400"/>
              <a:t> </a:t>
            </a:r>
            <a:r>
              <a:rPr sz="2000"/>
              <a:t>avancés</a:t>
            </a:r>
          </a:p>
          <a:p>
            <a:pPr lvl="1"/>
            <a:r>
              <a:rPr sz="1000"/>
              <a:t>Groupes</a:t>
            </a:r>
          </a:p>
          <a:p>
            <a:pPr lvl="1"/>
            <a:r>
              <a:rPr sz="1000"/>
              <a:t>Sous-rapports</a:t>
            </a:r>
          </a:p>
          <a:p>
            <a:pPr lvl="1"/>
            <a:r>
              <a:rPr sz="1000"/>
              <a:t>Datasets, Listes et tableaux</a:t>
            </a:r>
          </a:p>
          <a:p>
            <a:pPr lvl="1"/>
            <a:r>
              <a:rPr sz="1000"/>
              <a:t>Graphiques </a:t>
            </a:r>
          </a:p>
          <a:p>
            <a:pPr lvl="1"/>
            <a:r>
              <a:rPr sz="1000"/>
              <a:t>Tableaux croisés</a:t>
            </a:r>
          </a:p>
          <a:p>
            <a:pPr/>
            <a:r>
              <a:rPr sz="2000"/>
              <a:t>Java</a:t>
            </a:r>
            <a:r>
              <a:rPr sz="1400"/>
              <a:t> </a:t>
            </a:r>
            <a:r>
              <a:rPr sz="2000"/>
              <a:t>et</a:t>
            </a:r>
            <a:r>
              <a:rPr sz="1400"/>
              <a:t> </a:t>
            </a:r>
            <a:r>
              <a:rPr sz="2000"/>
              <a:t>JasperReport</a:t>
            </a:r>
          </a:p>
          <a:p>
            <a:pPr lvl="1"/>
            <a:r>
              <a:rPr sz="1000"/>
              <a:t>API de </a:t>
            </a:r>
            <a:r>
              <a:rPr sz="1000" i="1"/>
              <a:t>JasperReport</a:t>
            </a:r>
          </a:p>
          <a:p>
            <a:pPr lvl="1"/>
            <a:r>
              <a:rPr sz="1000"/>
              <a:t>Scriptlets</a:t>
            </a:r>
          </a:p>
          <a:p>
            <a:pPr lvl="1"/>
            <a:r>
              <a:rPr sz="1000"/>
              <a:t>Outils de build</a:t>
            </a:r>
          </a:p>
          <a:p>
            <a:pPr/>
            <a:r>
              <a:rPr sz="2000"/>
              <a:t>Annexes</a:t>
            </a:r>
          </a:p>
          <a:p>
            <a:pPr lvl="1"/>
            <a:r>
              <a:rPr sz="1000"/>
              <a:t>Autres Data Adapters</a:t>
            </a:r>
          </a:p>
          <a:p>
            <a:pPr lvl="1"/>
            <a:r>
              <a:rPr sz="1000"/>
              <a:t>Gabarits et assistants</a:t>
            </a:r>
          </a:p>
          <a:p>
            <a:pPr lvl="1"/>
            <a:r>
              <a:rPr sz="1000"/>
              <a:t>Report Books</a:t>
            </a:r>
          </a:p>
          <a:p>
            <a:pPr lvl="1"/>
            <a:r>
              <a:rPr sz="1000"/>
              <a:t>Edition du design via l ‘API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2600" b="1"/>
              <a:t>Business Intelligence</a:t>
            </a:r>
          </a:p>
          <a:p>
            <a:pPr marL="0" indent="0" algn="ctr">
              <a:buNone/>
            </a:pPr>
            <a:r>
              <a:rPr sz="2600"/>
              <a:t>Modèle Opensource et suite TIBCO JasperSoft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Business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1800"/>
              <a:t>La </a:t>
            </a:r>
            <a:r>
              <a:rPr sz="1800" b="1"/>
              <a:t>Business Intelligence</a:t>
            </a:r>
            <a:r>
              <a:rPr sz="1800"/>
              <a:t> (BI) : Technologies et applications qui </a:t>
            </a:r>
            <a:r>
              <a:rPr sz="1800"/>
              <a:t>permettent aux sociétés de mieux comprendre leur activité </a:t>
            </a:r>
            <a:r>
              <a:rPr sz="1800"/>
              <a:t>=&gt; proposer des historiques, des vues courantes ou </a:t>
            </a:r>
            <a:r>
              <a:rPr sz="1800"/>
              <a:t>prévisionnelles de l'activité de l 'entreprise</a:t>
            </a:r>
          </a:p>
          <a:p>
            <a:pPr/>
            <a:r>
              <a:rPr sz="1800"/>
              <a:t>Les fonctions communes du BI sont :</a:t>
            </a:r>
          </a:p>
          <a:p>
            <a:pPr lvl="1"/>
            <a:r>
              <a:rPr sz="1600"/>
              <a:t>Le data mining (L'extraction de données)</a:t>
            </a:r>
          </a:p>
          <a:p>
            <a:pPr lvl="1"/>
            <a:r>
              <a:rPr sz="1600"/>
              <a:t>Le reporting</a:t>
            </a:r>
          </a:p>
          <a:p>
            <a:pPr lvl="1"/>
            <a:r>
              <a:rPr sz="1600"/>
              <a:t>L'OLAP (Online Analytic Processing) </a:t>
            </a:r>
          </a:p>
          <a:p>
            <a:pPr lvl="1"/>
            <a:r>
              <a:rPr sz="1600"/>
              <a:t>L'analyse de données (Agrégation)</a:t>
            </a:r>
          </a:p>
          <a:p>
            <a:pPr lvl="1"/>
            <a:r>
              <a:rPr sz="1600"/>
              <a:t>L'analyse prévisionnelle</a:t>
            </a:r>
          </a:p>
          <a:p>
            <a:pPr lvl="1"/>
            <a:r>
              <a:rPr sz="1600"/>
              <a:t>Le BigData, Le Machine Learning</a:t>
            </a:r>
          </a:p>
          <a:p>
            <a:pPr/>
            <a:r>
              <a:rPr sz="1800"/>
              <a:t>L'objectif étant l'aide à la décision.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Entrepôt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Les outils et applications du BI manipulent de </a:t>
            </a:r>
            <a:r>
              <a:rPr sz="2400"/>
              <a:t>large volume de données. </a:t>
            </a:r>
            <a:r>
              <a:rPr sz="2400"/>
              <a:t>On parle d’</a:t>
            </a:r>
            <a:r>
              <a:rPr sz="2400" b="1"/>
              <a:t>entrepôts de données </a:t>
            </a:r>
            <a:r>
              <a:rPr sz="2400"/>
              <a:t>(</a:t>
            </a:r>
            <a:r>
              <a:rPr sz="2400" i="1"/>
              <a:t>datawarehouse</a:t>
            </a:r>
            <a:r>
              <a:rPr sz="2400"/>
              <a:t>) </a:t>
            </a:r>
          </a:p>
          <a:p>
            <a:pPr/>
            <a:r>
              <a:rPr sz="2400"/>
              <a:t>Ces entrepôts sont construits grâce à des outils </a:t>
            </a:r>
            <a:r>
              <a:rPr sz="2400"/>
              <a:t>d'</a:t>
            </a:r>
            <a:r>
              <a:rPr sz="2400" b="1"/>
              <a:t>ETL</a:t>
            </a:r>
            <a:r>
              <a:rPr sz="2400"/>
              <a:t> (</a:t>
            </a:r>
            <a:r>
              <a:rPr sz="2400" i="1"/>
              <a:t>Extract</a:t>
            </a:r>
            <a:r>
              <a:rPr sz="2400"/>
              <a:t> </a:t>
            </a:r>
            <a:r>
              <a:rPr sz="2400" i="1"/>
              <a:t>Transform</a:t>
            </a:r>
            <a:r>
              <a:rPr sz="2400"/>
              <a:t> </a:t>
            </a:r>
            <a:r>
              <a:rPr sz="2400" i="1"/>
              <a:t>Load</a:t>
            </a:r>
            <a:r>
              <a:rPr sz="2400"/>
              <a:t> ou </a:t>
            </a:r>
            <a:r>
              <a:rPr sz="2400" i="1"/>
              <a:t>datapumping</a:t>
            </a:r>
            <a:r>
              <a:rPr sz="2400"/>
              <a:t>) </a:t>
            </a:r>
            <a:r>
              <a:rPr sz="2400"/>
              <a:t>qui extraient et transforment les données issues </a:t>
            </a:r>
            <a:r>
              <a:rPr sz="2400"/>
              <a:t>de plusieurs sources hétérogènes </a:t>
            </a:r>
          </a:p>
          <a:p>
            <a:pPr lvl="1"/>
            <a:r>
              <a:rPr sz="2200"/>
              <a:t>A un degré de moindre, les activités de reporting </a:t>
            </a:r>
            <a:r>
              <a:rPr sz="2200"/>
              <a:t>utilisent les </a:t>
            </a:r>
            <a:r>
              <a:rPr sz="2200" b="1"/>
              <a:t>bases de données relationnelles </a:t>
            </a:r>
            <a:r>
              <a:rPr sz="2200" b="1"/>
              <a:t>de production</a:t>
            </a:r>
            <a:r>
              <a:rPr sz="220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2600"/>
              <a:t>Business Intelligence</a:t>
            </a:r>
          </a:p>
          <a:p>
            <a:pPr marL="0" indent="0" algn="ctr">
              <a:buNone/>
            </a:pPr>
            <a:r>
              <a:rPr sz="2600" b="1"/>
              <a:t>Modèle Opensource et suite TIBCO </a:t>
            </a:r>
          </a:p>
          <a:p>
            <a:pPr marL="0" indent="0" algn="ctr">
              <a:buNone/>
            </a:pPr>
            <a:r>
              <a:rPr sz="2600" b="1"/>
              <a:t>JasperSoft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Acteurs du marché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Les acteurs traditionnels du marché datant des </a:t>
            </a:r>
            <a:r>
              <a:rPr sz="2400"/>
              <a:t>années 1970 ont souvent été intégrés dans les </a:t>
            </a:r>
            <a:r>
              <a:rPr sz="2400"/>
              <a:t>géants de l'informatique :</a:t>
            </a:r>
          </a:p>
          <a:p>
            <a:pPr lvl="1"/>
            <a:r>
              <a:rPr sz="2000"/>
              <a:t>Business Objects → SAP</a:t>
            </a:r>
          </a:p>
          <a:p>
            <a:pPr lvl="1"/>
            <a:r>
              <a:rPr sz="2000"/>
              <a:t>Cognos → IBM</a:t>
            </a:r>
          </a:p>
          <a:p>
            <a:pPr lvl="1"/>
            <a:r>
              <a:rPr sz="2000"/>
              <a:t>Hyperion → Oracle</a:t>
            </a:r>
          </a:p>
          <a:p>
            <a:pPr lvl="1"/>
            <a:r>
              <a:rPr sz="2000"/>
              <a:t>SAS</a:t>
            </a:r>
          </a:p>
          <a:p>
            <a:pPr lvl="1"/>
            <a:r>
              <a:rPr sz="2000"/>
              <a:t>Microstrategy </a:t>
            </a:r>
          </a:p>
          <a:p>
            <a:pPr lvl="1"/>
            <a:r>
              <a:rPr sz="2000"/>
              <a:t>Information Builders </a:t>
            </a:r>
          </a:p>
          <a:p>
            <a:pPr/>
            <a:r>
              <a:rPr sz="2400"/>
              <a:t>Ces acteurs sont désormais concurrencés par des </a:t>
            </a:r>
            <a:r>
              <a:rPr sz="2400"/>
              <a:t>solutions plus légères et moins onéreuses, basées </a:t>
            </a:r>
            <a:r>
              <a:rPr sz="2400"/>
              <a:t>généralement sur des modèles OpenSource : La </a:t>
            </a:r>
            <a:r>
              <a:rPr sz="2400"/>
              <a:t>suite Jaspersoft, L’outil Birt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TIBCO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500"/>
              <a:t>La société TIBCO a racheté les projets </a:t>
            </a:r>
            <a:r>
              <a:rPr sz="2500" i="1"/>
              <a:t>JasperReport</a:t>
            </a:r>
            <a:r>
              <a:rPr sz="2500"/>
              <a:t> </a:t>
            </a:r>
            <a:r>
              <a:rPr sz="2500"/>
              <a:t>afin de proposer une offre OpenSource </a:t>
            </a:r>
            <a:r>
              <a:rPr sz="2500"/>
              <a:t>Commerciale autour du BI : </a:t>
            </a:r>
            <a:r>
              <a:rPr sz="2500" b="1"/>
              <a:t>La suite JasperSoft</a:t>
            </a:r>
          </a:p>
          <a:p>
            <a:pPr marL="0" indent="0">
              <a:buNone/>
            </a:pPr>
            <a:r>
              <a:rPr sz="2500"/>
              <a:t>Pour les composants de la suite, 2 éditions sont </a:t>
            </a:r>
            <a:r>
              <a:rPr sz="2500"/>
              <a:t>proposées </a:t>
            </a:r>
          </a:p>
          <a:p>
            <a:pPr lvl="1"/>
            <a:r>
              <a:rPr sz="2200" b="1"/>
              <a:t>Edition communautaire</a:t>
            </a:r>
            <a:r>
              <a:rPr sz="2200"/>
              <a:t> : Entièrement gratuite, elle </a:t>
            </a:r>
            <a:r>
              <a:rPr sz="2200"/>
              <a:t>profite de la communauté pour contribuer et tester </a:t>
            </a:r>
            <a:r>
              <a:rPr sz="2200"/>
              <a:t>les nouvelles fonctionnalités</a:t>
            </a:r>
          </a:p>
          <a:p>
            <a:pPr lvl="1"/>
            <a:r>
              <a:rPr sz="2200" b="1"/>
              <a:t>Edition commerciale</a:t>
            </a:r>
            <a:r>
              <a:rPr sz="2200"/>
              <a:t> : Offre des versions plus </a:t>
            </a:r>
            <a:r>
              <a:rPr sz="2200"/>
              <a:t>testées, donne accès au support et à un </a:t>
            </a:r>
            <a:r>
              <a:rPr sz="2200"/>
              <a:t>engagement légal de TIBCO (certification) , offre </a:t>
            </a:r>
            <a:r>
              <a:rPr sz="2200"/>
              <a:t>certaines fonctionnalités supplémentaires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Partenariat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 i="1"/>
              <a:t>TIBCO Jaspersoft</a:t>
            </a:r>
            <a:r>
              <a:rPr sz="2800"/>
              <a:t> développe également des </a:t>
            </a:r>
            <a:r>
              <a:rPr sz="2800"/>
              <a:t>partenariats avec les intégrateurs ainsi </a:t>
            </a:r>
            <a:r>
              <a:rPr sz="2800"/>
              <a:t>qu’avec d'autres éditeurs </a:t>
            </a:r>
          </a:p>
          <a:p>
            <a:pPr lvl="1"/>
            <a:r>
              <a:rPr sz="2400"/>
              <a:t>Il certifie les intégrateurs qui proposent donc </a:t>
            </a:r>
            <a:r>
              <a:rPr sz="2400"/>
              <a:t>sa solution à leurs clients</a:t>
            </a:r>
          </a:p>
          <a:p>
            <a:pPr lvl="1"/>
            <a:r>
              <a:rPr sz="2400"/>
              <a:t>Il est partenaire d'un certain nombre </a:t>
            </a:r>
            <a:r>
              <a:rPr sz="2400"/>
              <a:t>d'éditeurs connexes : Serveur Java EE, BD, </a:t>
            </a:r>
            <a:r>
              <a:rPr sz="2400"/>
              <a:t>BigData ...</a:t>
            </a:r>
          </a:p>
          <a:p>
            <a:pPr lvl="1"/>
            <a:r>
              <a:rPr sz="2400"/>
              <a:t>Il s'intègre dans d'autres produits (Novell, </a:t>
            </a:r>
            <a:r>
              <a:rPr sz="2400"/>
              <a:t>SalesForce.com)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Objectifs de la suite Jaspersoft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Les objectifs de TIBCO avec la suite Jaspersoft </a:t>
            </a:r>
          </a:p>
          <a:p>
            <a:pPr lvl="1"/>
            <a:r>
              <a:rPr sz="2200"/>
              <a:t>Une suite BI complète prête à l'emploi avec offre </a:t>
            </a:r>
            <a:r>
              <a:rPr sz="2200"/>
              <a:t>Cloud</a:t>
            </a:r>
          </a:p>
          <a:p>
            <a:pPr lvl="1"/>
            <a:r>
              <a:rPr sz="2200"/>
              <a:t>Facilement intégrable dans des applications </a:t>
            </a:r>
            <a:r>
              <a:rPr sz="2200"/>
              <a:t>métier </a:t>
            </a:r>
          </a:p>
          <a:p>
            <a:pPr lvl="1"/>
            <a:r>
              <a:rPr sz="2200"/>
              <a:t>Fonctionnelle mais abordable en terme de </a:t>
            </a:r>
            <a:r>
              <a:rPr sz="2200"/>
              <a:t>complexité</a:t>
            </a:r>
          </a:p>
          <a:p>
            <a:pPr lvl="1"/>
            <a:r>
              <a:rPr sz="2200"/>
              <a:t>Compétitive en terme de coût de déploiement</a:t>
            </a:r>
          </a:p>
          <a:p>
            <a:pPr lvl="1"/>
            <a:r>
              <a:rPr sz="2200"/>
              <a:t>Interopérable avec des systèmes existants </a:t>
            </a:r>
          </a:p>
          <a:p>
            <a:pPr lvl="1"/>
            <a:r>
              <a:rPr sz="2200"/>
              <a:t>Viralisation via un mode OpenSource</a:t>
            </a:r>
          </a:p>
          <a:p>
            <a:pPr lvl="1"/>
            <a:r>
              <a:rPr sz="2200"/>
              <a:t>Support des devices mobiles, des technologies </a:t>
            </a:r>
            <a:r>
              <a:rPr sz="2200"/>
              <a:t>Javascript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Les différents composants de la suite JasperSoft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 b="1"/>
              <a:t>JasperReport </a:t>
            </a:r>
            <a:r>
              <a:rPr sz="2200"/>
              <a:t>:</a:t>
            </a:r>
            <a:br/>
            <a:r>
              <a:rPr sz="1800"/>
              <a:t>Bibliothèque Java au cœur de la suite capable de générer des </a:t>
            </a:r>
            <a:br/>
            <a:r>
              <a:rPr sz="1800"/>
              <a:t>rapports en différent formats à partir d'une description XML. </a:t>
            </a:r>
          </a:p>
          <a:p>
            <a:pPr/>
            <a:r>
              <a:rPr sz="2200" b="1"/>
              <a:t>IReport / JasperStudio</a:t>
            </a:r>
            <a:r>
              <a:rPr sz="2200"/>
              <a:t> : </a:t>
            </a:r>
            <a:br/>
            <a:r>
              <a:rPr sz="1800"/>
              <a:t>Outil graphique WYSIWYG permettant l'élaboration de rapports </a:t>
            </a:r>
            <a:br/>
            <a:r>
              <a:rPr sz="1800"/>
              <a:t>destinés au développeurs comme aux fonctionnels métier</a:t>
            </a:r>
          </a:p>
          <a:p>
            <a:pPr/>
            <a:r>
              <a:rPr sz="2200" b="1"/>
              <a:t>JasperServer</a:t>
            </a:r>
            <a:r>
              <a:rPr sz="2200"/>
              <a:t> : </a:t>
            </a:r>
            <a:br/>
            <a:r>
              <a:rPr sz="1800"/>
              <a:t>Serveur de publication de rapport destinés aux fonctionnels métier. </a:t>
            </a:r>
            <a:br/>
            <a:r>
              <a:rPr sz="1800"/>
              <a:t>Déploiement de rapport, Droits d'accès, Programmation de tâches </a:t>
            </a:r>
            <a:br/>
            <a:r>
              <a:rPr sz="1800"/>
              <a:t>de génération, Envoi de rapports, Interface REST </a:t>
            </a:r>
          </a:p>
          <a:p>
            <a:pPr/>
            <a:r>
              <a:rPr sz="2200" b="1"/>
              <a:t>JasperAnalysis</a:t>
            </a:r>
            <a:r>
              <a:rPr sz="2200"/>
              <a:t> : </a:t>
            </a:r>
            <a:br/>
            <a:r>
              <a:rPr sz="1800"/>
              <a:t>Application d'analyse de données OLAP interactive destinée aux </a:t>
            </a:r>
            <a:br/>
            <a:r>
              <a:rPr sz="1800"/>
              <a:t>fonctionnels métier.</a:t>
            </a:r>
          </a:p>
          <a:p>
            <a:pPr/>
            <a:r>
              <a:rPr sz="2200" b="1"/>
              <a:t>JasperETL</a:t>
            </a:r>
            <a:r>
              <a:rPr sz="2200"/>
              <a:t> : </a:t>
            </a:r>
            <a:br/>
            <a:r>
              <a:rPr sz="1800"/>
              <a:t>Outil d'intégration de données basé sur Talend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Suite Jaspersoft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61" y="2330450"/>
            <a:ext cx="10236124" cy="42114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Modes de licences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3 types de licences :</a:t>
            </a:r>
          </a:p>
          <a:p>
            <a:pPr lvl="1"/>
            <a:r>
              <a:rPr sz="2000" b="1"/>
              <a:t>JasperSoft OEM</a:t>
            </a:r>
            <a:r>
              <a:rPr sz="2000"/>
              <a:t> destiné aux revendeurs ou aux </a:t>
            </a:r>
            <a:r>
              <a:rPr sz="2000"/>
              <a:t>intégrateurs des produits JasperSoft dans les </a:t>
            </a:r>
            <a:r>
              <a:rPr sz="2000"/>
              <a:t>applications qu'ils réalisent </a:t>
            </a:r>
          </a:p>
          <a:p>
            <a:pPr lvl="1"/>
            <a:r>
              <a:rPr sz="2000" b="1"/>
              <a:t>Commerciale</a:t>
            </a:r>
            <a:r>
              <a:rPr sz="2000"/>
              <a:t> : Destiné aux utilisateurs finaux des </a:t>
            </a:r>
            <a:r>
              <a:rPr sz="2000"/>
              <a:t>produits JasperSoft, en particulier </a:t>
            </a:r>
            <a:r>
              <a:rPr sz="2000" i="1"/>
              <a:t>jasperStudio</a:t>
            </a:r>
            <a:r>
              <a:rPr sz="2000"/>
              <a:t>, </a:t>
            </a:r>
            <a:r>
              <a:rPr sz="2000" i="1"/>
              <a:t>JasperServer</a:t>
            </a:r>
            <a:r>
              <a:rPr sz="2000"/>
              <a:t> et </a:t>
            </a:r>
            <a:r>
              <a:rPr sz="2000" i="1"/>
              <a:t>JasperAnalysis</a:t>
            </a:r>
          </a:p>
          <a:p>
            <a:pPr lvl="1"/>
            <a:r>
              <a:rPr sz="2000" b="1"/>
              <a:t>Licence OpenSource </a:t>
            </a:r>
          </a:p>
          <a:p>
            <a:pPr lvl="2"/>
            <a:r>
              <a:rPr sz="1800" b="1"/>
              <a:t>GPL</a:t>
            </a:r>
            <a:r>
              <a:rPr sz="1800"/>
              <a:t> : Licence contaminante, l'application contenant </a:t>
            </a:r>
            <a:r>
              <a:rPr sz="1800"/>
              <a:t>le produit JasperSoft doit être également OpenSource</a:t>
            </a:r>
          </a:p>
          <a:p>
            <a:pPr lvl="2"/>
            <a:r>
              <a:rPr sz="1800" b="1"/>
              <a:t>LGPL</a:t>
            </a:r>
            <a:r>
              <a:rPr sz="1800"/>
              <a:t> : Licence non-contaminante, l'application </a:t>
            </a:r>
            <a:r>
              <a:rPr sz="1800"/>
              <a:t>contenant le produit JasperSoft peut être </a:t>
            </a:r>
            <a:r>
              <a:rPr sz="1800"/>
              <a:t>commerciale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Comparatif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1882" y="2266655"/>
          <a:ext cx="8011082" cy="35469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8754"/>
                <a:gridCol w="2745358"/>
                <a:gridCol w="3396970"/>
              </a:tblGrid>
              <a:tr h="363877">
                <a:tc>
                  <a:txBody>
                    <a:bodyPr wrap="square"/>
                    <a:lstStyle/>
                    <a:p>
                      <a:r>
                        <a:rPr sz="1800" b="1"/>
                        <a:t/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Communautaire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Commerciale / Cloud</a:t>
                      </a:r>
                    </a:p>
                  </a:txBody>
                  <a:tcPr marL="50800" marR="50800" marT="25400" marB="25400"/>
                </a:tc>
              </a:tr>
              <a:tr h="660590">
                <a:tc>
                  <a:txBody>
                    <a:bodyPr wrap="square"/>
                    <a:lstStyle/>
                    <a:p>
                      <a:r>
                        <a:rPr sz="1800"/>
                        <a:t>JasperReport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LGPL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Identique</a:t>
                      </a:r>
                    </a:p>
                  </a:txBody>
                  <a:tcPr marL="50800" marR="50800" marT="25400" marB="25400"/>
                </a:tc>
              </a:tr>
              <a:tr h="764285">
                <a:tc>
                  <a:txBody>
                    <a:bodyPr wrap="square"/>
                    <a:lstStyle/>
                    <a:p>
                      <a:r>
                        <a:rPr sz="1800"/>
                        <a:t>JasperStudio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GPL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Palette augmentée</a:t>
                      </a:r>
                    </a:p>
                  </a:txBody>
                  <a:tcPr marL="50800" marR="50800" marT="25400" marB="25400"/>
                </a:tc>
              </a:tr>
              <a:tr h="1122832">
                <a:tc>
                  <a:txBody>
                    <a:bodyPr wrap="square"/>
                    <a:lstStyle/>
                    <a:p>
                      <a:r>
                        <a:rPr sz="1800"/>
                        <a:t>JasperServer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GPL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Plus métier, Multiple Sources de données, Cache mémoire ; BigData,</a:t>
                      </a:r>
                    </a:p>
                  </a:txBody>
                  <a:tcPr marL="50800" marR="50800" marT="25400" marB="25400"/>
                </a:tc>
              </a:tr>
              <a:tr h="635406">
                <a:tc>
                  <a:txBody>
                    <a:bodyPr wrap="square"/>
                    <a:lstStyle/>
                    <a:p>
                      <a:r>
                        <a:rPr sz="1800"/>
                        <a:t>JasperAnalysis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GPL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Quelques Add-ons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JasperReport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 b="1"/>
              <a:t>Modèle de génération</a:t>
            </a:r>
          </a:p>
          <a:p>
            <a:pPr marL="0" indent="0" algn="ctr">
              <a:buNone/>
            </a:pPr>
            <a:r>
              <a:rPr sz="3200"/>
              <a:t>Distribution et exemples</a:t>
            </a:r>
          </a:p>
          <a:p>
            <a:pPr marL="0" indent="0" algn="ctr">
              <a:buNone/>
            </a:pPr>
            <a:r>
              <a:rPr sz="3200"/>
              <a:t>Le fichier JRXML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 i="1"/>
              <a:t>JasperReport</a:t>
            </a:r>
            <a:r>
              <a:rPr sz="2000"/>
              <a:t> est une librairie entièrement Java . </a:t>
            </a:r>
          </a:p>
          <a:p>
            <a:pPr/>
            <a:r>
              <a:rPr sz="2000"/>
              <a:t>Disponible sous forme de jar, elle peut être intégrée à toute </a:t>
            </a:r>
            <a:r>
              <a:rPr sz="2000"/>
              <a:t>application Java :</a:t>
            </a:r>
          </a:p>
          <a:p>
            <a:pPr lvl="1"/>
            <a:r>
              <a:rPr sz="1800"/>
              <a:t>Application desktop</a:t>
            </a:r>
          </a:p>
          <a:p>
            <a:pPr lvl="1"/>
            <a:r>
              <a:rPr sz="1800"/>
              <a:t>Application web</a:t>
            </a:r>
          </a:p>
          <a:p>
            <a:pPr/>
            <a:r>
              <a:rPr sz="2000"/>
              <a:t>La librairie est capable de générer des rapports à partir d'un </a:t>
            </a:r>
            <a:r>
              <a:rPr sz="2000"/>
              <a:t>design au format XML et d’une source de données (base </a:t>
            </a:r>
            <a:r>
              <a:rPr sz="2000"/>
              <a:t>relationnelle ou autre)</a:t>
            </a:r>
          </a:p>
          <a:p>
            <a:pPr/>
            <a:r>
              <a:rPr sz="2000"/>
              <a:t>Le rapport généré peut être dirigé vers différents media :</a:t>
            </a:r>
          </a:p>
          <a:p>
            <a:pPr lvl="1"/>
            <a:r>
              <a:rPr sz="1800"/>
              <a:t>Ecran</a:t>
            </a:r>
          </a:p>
          <a:p>
            <a:pPr lvl="1"/>
            <a:r>
              <a:rPr sz="1800"/>
              <a:t>Imprimante</a:t>
            </a:r>
          </a:p>
          <a:p>
            <a:pPr lvl="1"/>
            <a:r>
              <a:rPr sz="1800"/>
              <a:t>Fichiers (PDF, HTML, XLS, RTF, ODT, CSV, TXT et XML)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Modèle de génération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200"/>
              <a:t>La génération du rapport s'effectue en 4 étapes principales :</a:t>
            </a:r>
          </a:p>
          <a:p>
            <a:pPr marL="0" indent="0">
              <a:buNone/>
            </a:pPr>
            <a:r>
              <a:rPr sz="2200"/>
              <a:t>1. Mise au point d'un fichier </a:t>
            </a:r>
            <a:r>
              <a:rPr sz="2200" b="1"/>
              <a:t>JRXML</a:t>
            </a:r>
            <a:r>
              <a:rPr sz="2200"/>
              <a:t> définissant </a:t>
            </a:r>
          </a:p>
          <a:p>
            <a:pPr lvl="1"/>
            <a:r>
              <a:rPr sz="1800"/>
              <a:t>La structure du rapport </a:t>
            </a:r>
          </a:p>
          <a:p>
            <a:pPr lvl="1"/>
            <a:r>
              <a:rPr sz="1800"/>
              <a:t>Sa disposition et son rendu visuel</a:t>
            </a:r>
          </a:p>
          <a:p>
            <a:pPr lvl="1"/>
            <a:r>
              <a:rPr sz="1800"/>
              <a:t>Les données dynamiques provenant d'une source de </a:t>
            </a:r>
            <a:r>
              <a:rPr sz="1800"/>
              <a:t>données (Requête, calcul, ...).</a:t>
            </a:r>
          </a:p>
          <a:p>
            <a:pPr marL="0" indent="0">
              <a:buNone/>
            </a:pPr>
            <a:r>
              <a:rPr sz="2200"/>
              <a:t>2.</a:t>
            </a:r>
            <a:r>
              <a:rPr sz="2200" b="1"/>
              <a:t> Compilation</a:t>
            </a:r>
            <a:r>
              <a:rPr sz="2200"/>
              <a:t> du rapport. Résultat : Fichier binaire </a:t>
            </a:r>
            <a:r>
              <a:rPr sz="2200" i="1"/>
              <a:t>.jasper</a:t>
            </a:r>
          </a:p>
          <a:p>
            <a:pPr marL="0" indent="0">
              <a:buNone/>
            </a:pPr>
            <a:r>
              <a:rPr sz="2200"/>
              <a:t>3. </a:t>
            </a:r>
            <a:r>
              <a:rPr sz="2200" b="1"/>
              <a:t>Fusion :</a:t>
            </a:r>
            <a:r>
              <a:rPr sz="2200"/>
              <a:t> Production du rapport avec récupération </a:t>
            </a:r>
          </a:p>
          <a:p>
            <a:pPr marL="0" indent="0">
              <a:buNone/>
            </a:pPr>
            <a:r>
              <a:rPr sz="2200"/>
              <a:t>dynamique des données à partir de la source de données. </a:t>
            </a:r>
          </a:p>
          <a:p>
            <a:pPr marL="0" indent="0">
              <a:buNone/>
            </a:pPr>
            <a:r>
              <a:rPr sz="2200"/>
              <a:t>Résultat : Fichier binaire </a:t>
            </a:r>
            <a:r>
              <a:rPr sz="2200" i="1"/>
              <a:t>.jrprint</a:t>
            </a:r>
          </a:p>
          <a:p>
            <a:pPr marL="0" indent="0">
              <a:buNone/>
            </a:pPr>
            <a:r>
              <a:rPr sz="2200"/>
              <a:t>4. </a:t>
            </a:r>
            <a:r>
              <a:rPr sz="2200" b="1"/>
              <a:t>Exportation</a:t>
            </a:r>
            <a:r>
              <a:rPr sz="2200"/>
              <a:t> du rapport dans un format visualisable par </a:t>
            </a:r>
          </a:p>
          <a:p>
            <a:pPr marL="0" indent="0">
              <a:buNone/>
            </a:pPr>
            <a:r>
              <a:rPr sz="2200"/>
              <a:t>un viewer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Cycle de vie d'un rapport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80" y="3243307"/>
            <a:ext cx="10400284" cy="37651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3100"/>
              <a:t>1) Les développeurs mettent au point un </a:t>
            </a:r>
            <a:r>
              <a:rPr sz="3100"/>
              <a:t>rapport dans leur environnement en </a:t>
            </a:r>
            <a:r>
              <a:rPr sz="3100"/>
              <a:t>utilisant </a:t>
            </a:r>
            <a:r>
              <a:rPr sz="3100" i="1"/>
              <a:t>JasperStudio</a:t>
            </a:r>
          </a:p>
          <a:p>
            <a:pPr marL="0" indent="0">
              <a:buNone/>
            </a:pPr>
            <a:r>
              <a:rPr sz="3100"/>
              <a:t>2) Le rapport compilé est déployé dans </a:t>
            </a:r>
            <a:r>
              <a:rPr sz="3100" i="1"/>
              <a:t>JasperServer</a:t>
            </a:r>
            <a:r>
              <a:rPr sz="3100"/>
              <a:t> ou dans une application </a:t>
            </a:r>
            <a:r>
              <a:rPr sz="3100"/>
              <a:t>métier intégrant la librairie </a:t>
            </a:r>
            <a:r>
              <a:rPr sz="3100" i="1"/>
              <a:t>JasperReport</a:t>
            </a:r>
          </a:p>
          <a:p>
            <a:pPr marL="0" indent="0">
              <a:buNone/>
            </a:pPr>
            <a:r>
              <a:rPr sz="3100"/>
              <a:t>3) Les rapports sont générés </a:t>
            </a:r>
            <a:r>
              <a:rPr sz="3100"/>
              <a:t>dynamiquement par les utilisateurs </a:t>
            </a:r>
            <a:r>
              <a:rPr sz="3100"/>
              <a:t>finaux ou des traitements batch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JasperReport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Modèle de génération</a:t>
            </a:r>
          </a:p>
          <a:p>
            <a:pPr marL="0" indent="0" algn="ctr">
              <a:buNone/>
            </a:pPr>
            <a:r>
              <a:rPr sz="3200" b="1"/>
              <a:t>Distribution et exemples</a:t>
            </a:r>
          </a:p>
          <a:p>
            <a:pPr marL="0" indent="0" algn="ctr">
              <a:buNone/>
            </a:pPr>
            <a:r>
              <a:rPr sz="3200"/>
              <a:t>Le fichier JRXML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Pré-requis :</a:t>
            </a:r>
          </a:p>
          <a:p>
            <a:pPr lvl="1"/>
            <a:r>
              <a:rPr sz="2600"/>
              <a:t>Java installé </a:t>
            </a:r>
          </a:p>
          <a:p>
            <a:pPr lvl="1"/>
            <a:r>
              <a:rPr sz="2600"/>
              <a:t>Outil </a:t>
            </a:r>
            <a:r>
              <a:rPr sz="2600" i="1"/>
              <a:t>ant/ivy</a:t>
            </a:r>
            <a:r>
              <a:rPr sz="2600"/>
              <a:t> permettant d'exécuter les </a:t>
            </a:r>
            <a:r>
              <a:rPr sz="2600"/>
              <a:t>exemples et de générer la documentation </a:t>
            </a:r>
            <a:r>
              <a:rPr sz="2600"/>
              <a:t>(utilisation de hsqldb) </a:t>
            </a:r>
          </a:p>
          <a:p>
            <a:pPr/>
            <a:r>
              <a:rPr sz="2800"/>
              <a:t>Téléchargement de la distribution au </a:t>
            </a:r>
            <a:r>
              <a:rPr sz="2800"/>
              <a:t>format zip ou tar.gz </a:t>
            </a:r>
            <a:r>
              <a:rPr sz="2800"/>
              <a:t>(</a:t>
            </a:r>
            <a:r>
              <a:rPr sz="2400" i="1"/>
              <a:t>http://sourceforge.net/projects/jasperreports/</a:t>
            </a:r>
            <a:r>
              <a:rPr sz="2800"/>
              <a:t>)</a:t>
            </a:r>
          </a:p>
          <a:p>
            <a:pPr/>
            <a:r>
              <a:rPr sz="2800"/>
              <a:t>Possibilité de consulter les sources et de </a:t>
            </a:r>
            <a:r>
              <a:rPr sz="2800"/>
              <a:t>construire la librairie à partir des sources </a:t>
            </a:r>
            <a:r>
              <a:rPr sz="2800"/>
              <a:t>via scripts </a:t>
            </a:r>
            <a:r>
              <a:rPr sz="2800" i="1"/>
              <a:t>ant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/>
              <a:t>La distribution contient les sources du projet et </a:t>
            </a:r>
            <a:r>
              <a:rPr sz="2600"/>
              <a:t>des fichiers de build </a:t>
            </a:r>
            <a:r>
              <a:rPr sz="2600" i="1"/>
              <a:t>Ant/Ivy</a:t>
            </a:r>
            <a:r>
              <a:rPr sz="2600"/>
              <a:t> et </a:t>
            </a:r>
            <a:r>
              <a:rPr sz="2600" i="1"/>
              <a:t>Maven</a:t>
            </a:r>
            <a:r>
              <a:rPr sz="2600"/>
              <a:t> </a:t>
            </a:r>
            <a:r>
              <a:rPr sz="2600"/>
              <a:t>permettant de construire la distribution et la </a:t>
            </a:r>
            <a:r>
              <a:rPr sz="2600"/>
              <a:t>documentation et d’exécuter les exemples</a:t>
            </a:r>
          </a:p>
          <a:p>
            <a:pPr lvl="1"/>
            <a:r>
              <a:rPr sz="2200" b="1" i="1"/>
              <a:t>src</a:t>
            </a:r>
            <a:r>
              <a:rPr sz="2200"/>
              <a:t> : Sources Java</a:t>
            </a:r>
          </a:p>
          <a:p>
            <a:pPr lvl="1"/>
            <a:r>
              <a:rPr sz="2200" b="1" i="1"/>
              <a:t>build</a:t>
            </a:r>
            <a:r>
              <a:rPr sz="2200"/>
              <a:t> : Répertoire de compilation</a:t>
            </a:r>
          </a:p>
          <a:p>
            <a:pPr lvl="1"/>
            <a:r>
              <a:rPr sz="2200" b="1" i="1"/>
              <a:t>demo</a:t>
            </a:r>
            <a:r>
              <a:rPr sz="2200"/>
              <a:t> : Exemples</a:t>
            </a:r>
          </a:p>
          <a:p>
            <a:pPr lvl="1"/>
            <a:r>
              <a:rPr sz="2200" b="1" i="1"/>
              <a:t>doc</a:t>
            </a:r>
            <a:r>
              <a:rPr sz="2200"/>
              <a:t> : Sources pour la documentation </a:t>
            </a:r>
            <a:r>
              <a:rPr sz="2200"/>
              <a:t>(configuration et schéma) </a:t>
            </a:r>
          </a:p>
          <a:p>
            <a:pPr lvl="1"/>
            <a:r>
              <a:rPr sz="2200" b="1" i="1"/>
              <a:t>lib</a:t>
            </a:r>
            <a:r>
              <a:rPr sz="2200"/>
              <a:t> : Librairies tierces</a:t>
            </a:r>
          </a:p>
          <a:p>
            <a:pPr lvl="1"/>
            <a:r>
              <a:rPr sz="2200" b="1" i="1"/>
              <a:t>dist</a:t>
            </a:r>
            <a:r>
              <a:rPr sz="2200"/>
              <a:t> : Génération de la distribution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Configuration du moteur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3200"/>
              <a:t>Lors de la génération, le moteur </a:t>
            </a:r>
            <a:r>
              <a:rPr sz="3200" i="1"/>
              <a:t>JasperReport</a:t>
            </a:r>
            <a:r>
              <a:rPr sz="3200"/>
              <a:t> lit sa configuration à </a:t>
            </a:r>
            <a:r>
              <a:rPr sz="3200"/>
              <a:t>partir d’un fichier </a:t>
            </a:r>
            <a:r>
              <a:rPr sz="3200" b="1" i="1"/>
              <a:t>jasperreport.properties</a:t>
            </a:r>
          </a:p>
          <a:p>
            <a:pPr lvl="1"/>
            <a:r>
              <a:rPr sz="2800"/>
              <a:t>De nombreuses options de </a:t>
            </a:r>
            <a:r>
              <a:rPr sz="2800"/>
              <a:t>configuration sont disponibles.</a:t>
            </a:r>
          </a:p>
          <a:p>
            <a:pPr lvl="1"/>
            <a:r>
              <a:rPr sz="2800"/>
              <a:t>La documentation peut être consultée </a:t>
            </a:r>
            <a:r>
              <a:rPr sz="2800"/>
              <a:t>dans </a:t>
            </a:r>
            <a:r>
              <a:rPr sz="2800" i="1"/>
              <a:t>dist/docs/config-reference.html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JasperReport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Modèle de génération</a:t>
            </a:r>
          </a:p>
          <a:p>
            <a:pPr marL="0" indent="0" algn="ctr">
              <a:buNone/>
            </a:pPr>
            <a:r>
              <a:rPr sz="3200"/>
              <a:t>Distribution et exemples</a:t>
            </a:r>
          </a:p>
          <a:p>
            <a:pPr marL="0" indent="0" algn="ctr">
              <a:buNone/>
            </a:pPr>
            <a:r>
              <a:rPr sz="3200" b="1"/>
              <a:t>Le fichier JRXML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Rappels sur 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Bien formé :</a:t>
            </a:r>
          </a:p>
          <a:p>
            <a:pPr lvl="1"/>
            <a:r>
              <a:rPr sz="2600"/>
              <a:t>1 seul élément racine : (</a:t>
            </a:r>
            <a:r>
              <a:rPr sz="2600" i="1"/>
              <a:t>&lt;jasperReport&gt;)</a:t>
            </a:r>
          </a:p>
          <a:p>
            <a:pPr lvl="1"/>
            <a:r>
              <a:rPr sz="2600"/>
              <a:t>Pas de balises imbriquées</a:t>
            </a:r>
          </a:p>
          <a:p>
            <a:pPr lvl="1"/>
            <a:r>
              <a:rPr sz="2600"/>
              <a:t>Attributs entre guillemets</a:t>
            </a:r>
          </a:p>
          <a:p>
            <a:pPr/>
            <a:r>
              <a:rPr sz="2800"/>
              <a:t>Référence à un schéma décrivant la </a:t>
            </a:r>
            <a:r>
              <a:rPr sz="2800"/>
              <a:t>syntaxe : </a:t>
            </a:r>
          </a:p>
          <a:p>
            <a:pPr lvl="1"/>
            <a:r>
              <a:rPr sz="2800"/>
              <a:t>Version 3.6 : </a:t>
            </a:r>
            <a:br/>
            <a:r>
              <a:rPr sz="1800" i="1"/>
              <a:t>http://jasperreports.sourceforge.net/xsd/jasperreport.xsd</a:t>
            </a:r>
          </a:p>
          <a:p>
            <a:pPr/>
            <a:r>
              <a:rPr sz="2800"/>
              <a:t>Documentation : </a:t>
            </a:r>
            <a:br/>
            <a:r>
              <a:rPr sz="1800" i="1"/>
              <a:t>dist/docs/schema.reference.html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Structure du fichier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3200"/>
              <a:t>Sous la balise racine, on trouve </a:t>
            </a:r>
            <a:r>
              <a:rPr sz="3200"/>
              <a:t>séquentiellement :</a:t>
            </a:r>
          </a:p>
          <a:p>
            <a:pPr lvl="1"/>
            <a:r>
              <a:rPr sz="2800"/>
              <a:t>Des éléments </a:t>
            </a:r>
            <a:r>
              <a:rPr sz="2800" b="1"/>
              <a:t>déclaratifs</a:t>
            </a:r>
          </a:p>
          <a:p>
            <a:pPr lvl="1"/>
            <a:r>
              <a:rPr sz="2800"/>
              <a:t>Des éléments </a:t>
            </a:r>
            <a:r>
              <a:rPr sz="2800" b="1"/>
              <a:t>structurels</a:t>
            </a:r>
            <a:r>
              <a:rPr sz="2800"/>
              <a:t> définissant </a:t>
            </a:r>
            <a:r>
              <a:rPr sz="2800"/>
              <a:t>des bandes horizontales d’une </a:t>
            </a:r>
            <a:r>
              <a:rPr sz="2800"/>
              <a:t>certaine hauteur</a:t>
            </a:r>
          </a:p>
          <a:p>
            <a:pPr lvl="1"/>
            <a:r>
              <a:rPr sz="2800"/>
              <a:t>A l’intérieur des bandes, des </a:t>
            </a:r>
            <a:r>
              <a:rPr sz="2800" b="1"/>
              <a:t>composants</a:t>
            </a:r>
            <a:r>
              <a:rPr sz="2800"/>
              <a:t> </a:t>
            </a:r>
            <a:r>
              <a:rPr sz="2800" b="1"/>
              <a:t>d’affichage</a:t>
            </a:r>
            <a:r>
              <a:rPr sz="2800"/>
              <a:t> issus de la </a:t>
            </a:r>
            <a:r>
              <a:rPr sz="2800"/>
              <a:t>palette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Éléments déclaratifs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1500" b="1" i="1"/>
              <a:t>style* : N définitions de styles</a:t>
            </a:r>
          </a:p>
          <a:p>
            <a:pPr/>
            <a:r>
              <a:rPr sz="1500" b="1" i="1"/>
              <a:t>queryString? : 1 seul requête principale (SQL ou autre)</a:t>
            </a:r>
          </a:p>
          <a:p>
            <a:pPr/>
            <a:r>
              <a:rPr sz="1500" b="1" i="1"/>
              <a:t>field* : N définition de champs</a:t>
            </a:r>
          </a:p>
          <a:p>
            <a:pPr/>
            <a:r>
              <a:rPr sz="1500" b="1" i="1"/>
              <a:t>sortField* : N champs de tri</a:t>
            </a:r>
          </a:p>
          <a:p>
            <a:pPr/>
            <a:r>
              <a:rPr sz="1400" b="1" i="1"/>
              <a:t>filterExpression? : 1 expression booléenne pour filtrer les données</a:t>
            </a:r>
          </a:p>
          <a:p>
            <a:pPr/>
            <a:r>
              <a:rPr sz="1500" b="1" i="1"/>
              <a:t>parameter* : N définitions de paramètres de rapport</a:t>
            </a:r>
          </a:p>
          <a:p>
            <a:pPr/>
            <a:r>
              <a:rPr sz="1400" b="1" i="1"/>
              <a:t>variable* : N définitions de variable</a:t>
            </a:r>
          </a:p>
          <a:p>
            <a:pPr/>
            <a:r>
              <a:rPr sz="1400" b="1" i="1"/>
              <a:t>group* : N définition de regroupement de données</a:t>
            </a:r>
          </a:p>
          <a:p>
            <a:pPr/>
            <a:r>
              <a:rPr sz="1500" b="1" i="1"/>
              <a:t>subDataset* : N références à des jeu de données (exemple : requêtes </a:t>
            </a:r>
            <a:r>
              <a:rPr sz="1500" b="1" i="1"/>
              <a:t>SQL)</a:t>
            </a:r>
          </a:p>
          <a:p>
            <a:pPr/>
            <a:r>
              <a:rPr sz="1500" b="1" i="1"/>
              <a:t>property*</a:t>
            </a:r>
            <a:r>
              <a:rPr sz="1500"/>
              <a:t> : N propriétés arbitraires globales au rapport</a:t>
            </a:r>
          </a:p>
          <a:p>
            <a:pPr/>
            <a:r>
              <a:rPr sz="1500" b="1" i="1"/>
              <a:t>import*</a:t>
            </a:r>
            <a:r>
              <a:rPr sz="1500"/>
              <a:t> : N importation de packages java</a:t>
            </a:r>
          </a:p>
          <a:p>
            <a:pPr/>
            <a:r>
              <a:rPr sz="1500" b="1" i="1"/>
              <a:t>scriptlet*</a:t>
            </a:r>
            <a:r>
              <a:rPr sz="1500"/>
              <a:t> : N références à des scriptlets (Code spécifique Java)</a:t>
            </a:r>
          </a:p>
          <a:p>
            <a:pPr/>
            <a:r>
              <a:rPr sz="1500" b="1" i="1"/>
              <a:t>template*</a:t>
            </a:r>
            <a:r>
              <a:rPr sz="1500"/>
              <a:t> : N références à des gabarits de styles</a:t>
            </a:r>
          </a:p>
          <a:p>
            <a:pPr/>
            <a:r>
              <a:rPr sz="1500" b="1" i="1"/>
              <a:t>reportFont*</a:t>
            </a:r>
            <a:r>
              <a:rPr sz="1500"/>
              <a:t> </a:t>
            </a:r>
            <a:r>
              <a:rPr sz="1500"/>
              <a:t>: N définitions de polices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Éléments structurels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1800" b="1" i="1"/>
              <a:t>background?</a:t>
            </a:r>
            <a:r>
              <a:rPr sz="1800" b="1"/>
              <a:t> </a:t>
            </a:r>
            <a:r>
              <a:rPr sz="1800"/>
              <a:t>: 1 fond de page</a:t>
            </a:r>
          </a:p>
          <a:p>
            <a:pPr/>
            <a:r>
              <a:rPr sz="1800" b="1" i="1"/>
              <a:t>title?</a:t>
            </a:r>
            <a:r>
              <a:rPr sz="1800"/>
              <a:t> : 1 bande de titre, affiché un seule fois en début de rapport</a:t>
            </a:r>
          </a:p>
          <a:p>
            <a:pPr/>
            <a:r>
              <a:rPr sz="1800" b="1" i="1"/>
              <a:t>pageHeader?</a:t>
            </a:r>
            <a:r>
              <a:rPr sz="1800"/>
              <a:t> : 1 entête de page affichée à chaque début de page</a:t>
            </a:r>
          </a:p>
          <a:p>
            <a:pPr/>
            <a:r>
              <a:rPr sz="1800" b="1" i="1"/>
              <a:t>columnHeader?</a:t>
            </a:r>
            <a:r>
              <a:rPr sz="1800"/>
              <a:t> : 1 entête de colonne (pour les rapports multi-</a:t>
            </a:r>
            <a:r>
              <a:rPr sz="1800"/>
              <a:t> </a:t>
            </a:r>
            <a:r>
              <a:rPr sz="1800"/>
              <a:t>colonnes) affichée à chaque changement de colonne</a:t>
            </a:r>
          </a:p>
          <a:p>
            <a:pPr/>
            <a:r>
              <a:rPr sz="1800" b="1" i="1"/>
              <a:t>detail*</a:t>
            </a:r>
            <a:r>
              <a:rPr sz="1800"/>
              <a:t> : 1 bande détail. Affichée autant de fois qu’il y a de résultat </a:t>
            </a:r>
            <a:r>
              <a:rPr sz="1800"/>
              <a:t>dans la requête principale</a:t>
            </a:r>
          </a:p>
          <a:p>
            <a:pPr/>
            <a:r>
              <a:rPr sz="1800" b="1" i="1"/>
              <a:t>columnFooter?</a:t>
            </a:r>
            <a:r>
              <a:rPr sz="1800"/>
              <a:t> : 1 pied de colonne (pour les rapports multi-</a:t>
            </a:r>
            <a:r>
              <a:rPr sz="1800"/>
              <a:t> </a:t>
            </a:r>
            <a:r>
              <a:rPr sz="1800"/>
              <a:t>colonnes)</a:t>
            </a:r>
          </a:p>
          <a:p>
            <a:pPr/>
            <a:r>
              <a:rPr sz="1800" b="1" i="1"/>
              <a:t>pageFooter?</a:t>
            </a:r>
            <a:r>
              <a:rPr sz="1800"/>
              <a:t> : 1 pied de page</a:t>
            </a:r>
          </a:p>
          <a:p>
            <a:pPr/>
            <a:r>
              <a:rPr sz="1800" b="1" i="1"/>
              <a:t>lastPageFooter?</a:t>
            </a:r>
            <a:r>
              <a:rPr sz="1800"/>
              <a:t> : Le pied de page de la dernière page</a:t>
            </a:r>
          </a:p>
          <a:p>
            <a:pPr/>
            <a:r>
              <a:rPr sz="1800" b="1" i="1"/>
              <a:t>summary?</a:t>
            </a:r>
            <a:r>
              <a:rPr sz="1800"/>
              <a:t> : 1 résumé affiché en fin de document</a:t>
            </a:r>
          </a:p>
          <a:p>
            <a:pPr/>
            <a:r>
              <a:rPr sz="1800" b="1" i="1"/>
              <a:t>noData?</a:t>
            </a:r>
            <a:r>
              <a:rPr sz="1800"/>
              <a:t> : Texte alternatif quand il n'y a pas de données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Exemple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900">
                <a:latin typeface="Courier New"/>
              </a:rPr>
              <a:t>&lt;?xml version="1.0" encoding="UTF-8"?&gt;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&lt;jasperReport 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xmlns="http://jasperreports.sourceforge.net/jasperreports" xmlns:xsi="http://www.w3.org/2001/XMLSchema-instance" 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xsi:schemaLocation="http://jasperreports.sourceforge.net/jasperreports </a:t>
            </a:r>
          </a:p>
          <a:p>
            <a:pPr marL="0" indent="0">
              <a:buNone/>
            </a:pPr>
            <a:r>
              <a:rPr sz="900" b="1">
                <a:latin typeface="Courier New"/>
              </a:rPr>
              <a:t>http://jasperreports.sourceforge.net/xsd/jasperreport.xsd</a:t>
            </a:r>
            <a:r>
              <a:rPr sz="900">
                <a:latin typeface="Courier New"/>
              </a:rPr>
              <a:t>" 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name="report2" pageWidth="612" pageHeight="792" leftMargin="20" rightMargin="20" topMargin="20" bottomMargin="20"&gt;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&lt;background&gt;  &lt;band splitType="Stretch"/&gt;  &lt;/background&gt;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&lt;title&gt;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&lt;band height="79" splitType="Stretch"&gt;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        &lt;staticText&gt; &lt;reportElement x="236" y="29" width="100" height="20"/&gt;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                &lt;text&gt;&lt;![CDATA[Mon titre centré]]&gt;&lt;/text&gt;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        &lt;/staticText&gt;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&lt;/band&gt;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&lt;/title&gt;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&lt;pageHeader&gt; &lt;band height="35" splitType="Stretch"/&gt; &lt;/pageHeader&gt;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&lt;detail&gt; &lt;band height="125" splitType="Stretch"/&gt; &lt;/detail&gt;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&lt;pageFooter&gt;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&lt;band height="54" splitType="Stretch"&gt;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   &lt;textField pattern="EEEEE dd MMMMM yyyy"&gt; &lt;reportElement x="472" y="34" width="100" height="20"/&gt;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      &lt;textFieldExpression class="java.util.Date"&gt;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    &lt;![CDATA[new  java.util.Date()]]&gt;&lt;/textFieldExpression&gt;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      &lt;/textField&gt;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      &lt;image&gt; &lt;reportElement x="0" y="46" width="78" height="8"/&gt;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         &lt;imageExpression class="java.lang.String"&gt;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          &lt;![CDATA["/home/Jasper/images/logo-plb-footer.gif"]]&gt;&lt;/imageExpression&gt;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        &lt;/image&gt;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        &lt;/band&gt;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        &lt;/pageFooter&gt;</a:t>
            </a:r>
          </a:p>
          <a:p>
            <a:pPr marL="0" indent="0">
              <a:buNone/>
            </a:pPr>
            <a:r>
              <a:rPr sz="900">
                <a:latin typeface="Courier New"/>
              </a:rPr>
              <a:t>    &lt;/jasperReport&gt;</a:t>
            </a:r>
          </a:p>
          <a:p>
            <a:pPr marL="0" indent="0">
              <a:buNone/>
            </a:pPr>
            <a:r>
              <a:rPr sz="2800" b="1" i="1"/>
              <a:t>TP 1 : Exécution exemples de JasperReport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Jasper Studio Mise en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 b="1"/>
              <a:t>Présentation et installation</a:t>
            </a:r>
          </a:p>
          <a:p>
            <a:pPr marL="0" indent="0" algn="ctr">
              <a:buNone/>
            </a:pPr>
            <a:r>
              <a:rPr sz="3200"/>
              <a:t>Source de données </a:t>
            </a:r>
          </a:p>
          <a:p>
            <a:pPr marL="0" indent="0" algn="ctr">
              <a:buNone/>
            </a:pPr>
            <a:r>
              <a:rPr sz="3200"/>
              <a:t>Champs</a:t>
            </a:r>
          </a:p>
          <a:p>
            <a:pPr marL="0" indent="0" algn="ctr">
              <a:buNone/>
            </a:pPr>
            <a:r>
              <a:rPr sz="3200"/>
              <a:t>Assistant de création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 i="1"/>
              <a:t>jasperStudio</a:t>
            </a:r>
            <a:r>
              <a:rPr sz="2000"/>
              <a:t> est un outil de design </a:t>
            </a:r>
            <a:r>
              <a:rPr sz="2000" b="1"/>
              <a:t>WYSWIG</a:t>
            </a:r>
            <a:r>
              <a:rPr sz="2000"/>
              <a:t> qui propose un </a:t>
            </a:r>
            <a:r>
              <a:rPr sz="2000"/>
              <a:t>environnement complet pour créer, tester, prévisualiser ou </a:t>
            </a:r>
            <a:r>
              <a:rPr sz="2000"/>
              <a:t>exporter les rapports JasperReport (S’appuie sur Eclipse)</a:t>
            </a:r>
          </a:p>
          <a:p>
            <a:pPr/>
            <a:r>
              <a:rPr sz="2000"/>
              <a:t>Les sources de données peuvent provenir de </a:t>
            </a:r>
            <a:r>
              <a:rPr sz="2000" b="1"/>
              <a:t>toutes les </a:t>
            </a:r>
            <a:r>
              <a:rPr sz="2000" b="1"/>
              <a:t>sources supportées par JasperReport</a:t>
            </a:r>
            <a:r>
              <a:rPr sz="2000"/>
              <a:t> : bases de </a:t>
            </a:r>
            <a:r>
              <a:rPr sz="2000"/>
              <a:t>données, connections OLAP XML/A, fichiers XML ou CSV </a:t>
            </a:r>
            <a:r>
              <a:rPr sz="2000"/>
              <a:t>collections de JavaBeans et même les sources spécifiques </a:t>
            </a:r>
          </a:p>
          <a:p>
            <a:pPr/>
            <a:r>
              <a:rPr sz="2000"/>
              <a:t>Il supporte </a:t>
            </a:r>
            <a:r>
              <a:rPr sz="2000" b="1"/>
              <a:t>différents langages de requête</a:t>
            </a:r>
            <a:r>
              <a:rPr sz="2000"/>
              <a:t> comme SQL, </a:t>
            </a:r>
            <a:r>
              <a:rPr sz="2000"/>
              <a:t>HQL, xPath, EJBQL et MDX et permet même de plugger </a:t>
            </a:r>
            <a:r>
              <a:rPr sz="2000"/>
              <a:t>d'autres langages si nécessaire (PL/SQL). </a:t>
            </a:r>
          </a:p>
          <a:p>
            <a:pPr/>
            <a:r>
              <a:rPr sz="2000"/>
              <a:t>Pour les développeurs, </a:t>
            </a:r>
            <a:r>
              <a:rPr sz="2000" i="1"/>
              <a:t>jasperStudio</a:t>
            </a:r>
            <a:r>
              <a:rPr sz="2000"/>
              <a:t> peut </a:t>
            </a:r>
            <a:r>
              <a:rPr sz="2000" b="1"/>
              <a:t>générer les </a:t>
            </a:r>
            <a:r>
              <a:rPr sz="2000" b="1"/>
              <a:t>fichiers </a:t>
            </a:r>
            <a:r>
              <a:rPr sz="2000" b="1" i="1"/>
              <a:t>.jasper</a:t>
            </a:r>
            <a:r>
              <a:rPr sz="2000"/>
              <a:t> qui peuvent être ensuite déployés dans les </a:t>
            </a:r>
            <a:r>
              <a:rPr sz="2000"/>
              <a:t>applications java </a:t>
            </a:r>
          </a:p>
          <a:p>
            <a:pPr/>
            <a:r>
              <a:rPr sz="2000" i="1"/>
              <a:t>jasperStudio</a:t>
            </a:r>
            <a:r>
              <a:rPr sz="2000"/>
              <a:t> peut également être utilisé pour déployer les </a:t>
            </a:r>
            <a:r>
              <a:rPr sz="2000"/>
              <a:t>rapports directement dans </a:t>
            </a:r>
            <a:r>
              <a:rPr sz="2000" b="1" i="1"/>
              <a:t>JasperServer</a:t>
            </a:r>
            <a:r>
              <a:rPr sz="2000"/>
              <a:t>.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Principales fonctionnalités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1400"/>
              <a:t>Compatibilité complète avec les balises XML JasperReports … si utilisation des bonnes </a:t>
            </a:r>
            <a:r>
              <a:rPr sz="1400"/>
              <a:t>versions</a:t>
            </a:r>
          </a:p>
          <a:p>
            <a:pPr/>
            <a:r>
              <a:rPr sz="1400"/>
              <a:t>Éditeur WYSIWYG, outils de dessin (rectangles, lignes, ellipses, labels, graphiques, </a:t>
            </a:r>
            <a:r>
              <a:rPr sz="1400"/>
              <a:t>sous-rapport, tableau croisé),</a:t>
            </a:r>
          </a:p>
          <a:p>
            <a:pPr/>
            <a:r>
              <a:rPr sz="1400"/>
              <a:t>Coloration syntaxique pour les expressions (Java, Javascript, Groovy)</a:t>
            </a:r>
          </a:p>
          <a:p>
            <a:pPr/>
            <a:r>
              <a:rPr sz="1400"/>
              <a:t>Support pour tous les langages Unicode (Russe, Chinois, Japonais, etc.). Support pour </a:t>
            </a:r>
            <a:r>
              <a:rPr sz="1400"/>
              <a:t>l'internationalisation</a:t>
            </a:r>
          </a:p>
          <a:p>
            <a:pPr/>
            <a:r>
              <a:rPr sz="1400"/>
              <a:t>Navigateur de la structure du document : </a:t>
            </a:r>
            <a:r>
              <a:rPr sz="1400" i="1"/>
              <a:t>Outiline</a:t>
            </a:r>
          </a:p>
          <a:p>
            <a:pPr/>
            <a:r>
              <a:rPr sz="1400"/>
              <a:t>Outils de compilation, fusion, exportation et prévisualisation intégrés</a:t>
            </a:r>
          </a:p>
          <a:p>
            <a:pPr/>
            <a:r>
              <a:rPr sz="1400"/>
              <a:t>Assistants pour créer les rapports, les sous-rapport, les tableaux croisés, les </a:t>
            </a:r>
            <a:r>
              <a:rPr sz="1400"/>
              <a:t>graphiques</a:t>
            </a:r>
          </a:p>
          <a:p>
            <a:pPr/>
            <a:r>
              <a:rPr sz="1400"/>
              <a:t>Support pour les gabarits de documents, les polices TrueType. Bibliothèques de Styles.</a:t>
            </a:r>
          </a:p>
          <a:p>
            <a:pPr/>
            <a:r>
              <a:rPr sz="1400"/>
              <a:t>Bibliothèque d'objets standards (par exemple le nombre de pages)</a:t>
            </a:r>
          </a:p>
          <a:p>
            <a:pPr/>
            <a:r>
              <a:rPr sz="1400"/>
              <a:t>Fonctionnalité Drag-and-drop, Undo/redo illimité</a:t>
            </a:r>
          </a:p>
          <a:p>
            <a:pPr/>
            <a:r>
              <a:rPr sz="1400"/>
              <a:t>Explorateur d’un repository </a:t>
            </a:r>
            <a:r>
              <a:rPr sz="1400" i="1"/>
              <a:t>JasperServer</a:t>
            </a:r>
            <a:r>
              <a:rPr sz="1400"/>
              <a:t>.</a:t>
            </a:r>
          </a:p>
          <a:p>
            <a:pPr/>
            <a:r>
              <a:rPr sz="1400"/>
              <a:t>Support de toutes les bases de données accessibles par JDBC, extensibles à d'autres </a:t>
            </a:r>
            <a:r>
              <a:rPr sz="1400"/>
              <a:t>types de sources de données</a:t>
            </a:r>
          </a:p>
          <a:p>
            <a:pPr/>
            <a:r>
              <a:rPr sz="1400"/>
              <a:t>Assistant de mise au point de requêtes SQL, MDX, XPath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Documentation disponible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Site web </a:t>
            </a:r>
            <a:br/>
            <a:r>
              <a:rPr sz="1800"/>
              <a:t>https://community.jaspersoft.com/documentation?version=49176</a:t>
            </a:r>
          </a:p>
          <a:p>
            <a:pPr/>
            <a:r>
              <a:rPr sz="3200"/>
              <a:t>En particulier :</a:t>
            </a:r>
            <a:r>
              <a:rPr sz="3200"/>
              <a:t> </a:t>
            </a:r>
            <a:r>
              <a:rPr sz="3200" i="1"/>
              <a:t>« JasperStudio User Guide »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Pré-requis :</a:t>
            </a:r>
          </a:p>
          <a:p>
            <a:pPr lvl="1"/>
            <a:r>
              <a:rPr sz="2200"/>
              <a:t>Java 1.8+</a:t>
            </a:r>
          </a:p>
          <a:p>
            <a:pPr lvl="1"/>
            <a:r>
              <a:rPr sz="2200"/>
              <a:t>256MB RAM disponible + 50MB d'espace libre </a:t>
            </a:r>
          </a:p>
          <a:p>
            <a:pPr/>
            <a:r>
              <a:rPr sz="2400"/>
              <a:t>Distributions binaires disponibles :</a:t>
            </a:r>
          </a:p>
          <a:p>
            <a:pPr lvl="1"/>
            <a:r>
              <a:rPr sz="2400" i="1"/>
              <a:t>TIBCOJaspersoftStudio-x.x.x.tgz</a:t>
            </a:r>
            <a:r>
              <a:rPr sz="2400"/>
              <a:t> : Binaire au </a:t>
            </a:r>
            <a:r>
              <a:rPr sz="2400"/>
              <a:t>format TAR GZ pour une distribution Linux</a:t>
            </a:r>
          </a:p>
          <a:p>
            <a:pPr lvl="1"/>
            <a:r>
              <a:rPr sz="2400" i="1"/>
              <a:t>TIBCOJaspersoftStudio-x.x.x-windows-</a:t>
            </a:r>
            <a:r>
              <a:rPr sz="2400"/>
              <a:t> </a:t>
            </a:r>
            <a:r>
              <a:rPr sz="2400" i="1"/>
              <a:t>installer.exe</a:t>
            </a:r>
            <a:r>
              <a:rPr sz="2400"/>
              <a:t> : Installeur pour Windows.</a:t>
            </a:r>
          </a:p>
          <a:p>
            <a:pPr/>
            <a:r>
              <a:rPr sz="2400"/>
              <a:t>Également disponible sous forme de plugin pour </a:t>
            </a:r>
            <a:r>
              <a:rPr sz="2400"/>
              <a:t>l'environnement de développement </a:t>
            </a:r>
            <a:r>
              <a:rPr sz="2400" i="1"/>
              <a:t>Eclipse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A partir de la version binaire, il suffit </a:t>
            </a:r>
            <a:r>
              <a:rPr sz="3200"/>
              <a:t>de la décompresser, puis de lancer </a:t>
            </a:r>
            <a:r>
              <a:rPr sz="3200"/>
              <a:t>l’exécutable : </a:t>
            </a:r>
            <a:r>
              <a:rPr sz="3200" i="1"/>
              <a:t>Jasper Studio</a:t>
            </a:r>
          </a:p>
          <a:p>
            <a:pPr lvl="1"/>
            <a:r>
              <a:rPr sz="2800"/>
              <a:t>Avec certaines releases d’Ubuntu </a:t>
            </a:r>
            <a:r>
              <a:rPr sz="2800"/>
              <a:t>utiliser le script </a:t>
            </a:r>
            <a:r>
              <a:rPr sz="2800" i="1"/>
              <a:t>./runubuntu.sh</a:t>
            </a:r>
            <a:r>
              <a:rPr sz="2800"/>
              <a:t> </a:t>
            </a:r>
            <a:r>
              <a:rPr sz="2800"/>
              <a:t>(Ubuntu)</a:t>
            </a:r>
          </a:p>
          <a:p>
            <a:pPr/>
            <a:r>
              <a:rPr sz="3200"/>
              <a:t>L'installeur Windows, ajoute une </a:t>
            </a:r>
            <a:r>
              <a:rPr sz="3200"/>
              <a:t>entrée dans « Mes programmes » + </a:t>
            </a:r>
            <a:r>
              <a:rPr sz="3200"/>
              <a:t>un raccourci sur le bureau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Présentation JasperStudio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458" y="2330450"/>
            <a:ext cx="7968844" cy="435434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Multi-fenêtrage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L'espace de travail de </a:t>
            </a:r>
            <a:r>
              <a:rPr sz="2000" i="1"/>
              <a:t>jasperStudio</a:t>
            </a:r>
            <a:r>
              <a:rPr sz="2000"/>
              <a:t> est multi-fenêtre :</a:t>
            </a:r>
          </a:p>
          <a:p>
            <a:pPr lvl="1"/>
            <a:r>
              <a:rPr sz="1800" b="1"/>
              <a:t>Espace de design central</a:t>
            </a:r>
            <a:r>
              <a:rPr sz="1800"/>
              <a:t> permettant d'éditer les </a:t>
            </a:r>
            <a:r>
              <a:rPr sz="1800"/>
              <a:t>rapports, de visualiser le XML et de prévisualiser</a:t>
            </a:r>
          </a:p>
          <a:p>
            <a:pPr lvl="1"/>
            <a:r>
              <a:rPr sz="1800" b="1"/>
              <a:t>Outline</a:t>
            </a:r>
            <a:r>
              <a:rPr sz="1800"/>
              <a:t> : Vue hiérarchique du rapport, permettant de </a:t>
            </a:r>
            <a:r>
              <a:rPr sz="1800"/>
              <a:t>sélectionner ses éléments</a:t>
            </a:r>
          </a:p>
          <a:p>
            <a:pPr lvl="1"/>
            <a:r>
              <a:rPr sz="1800" b="1"/>
              <a:t>Vue propriété</a:t>
            </a:r>
            <a:r>
              <a:rPr sz="1800"/>
              <a:t> : Permet d'éditer les propriétés de l'élément </a:t>
            </a:r>
            <a:r>
              <a:rPr sz="1800"/>
              <a:t>sélectionné</a:t>
            </a:r>
          </a:p>
          <a:p>
            <a:pPr lvl="1"/>
            <a:r>
              <a:rPr sz="1800" b="1"/>
              <a:t>Palette</a:t>
            </a:r>
            <a:r>
              <a:rPr sz="1800"/>
              <a:t> : Placer des éléments sur le rapport</a:t>
            </a:r>
          </a:p>
          <a:p>
            <a:pPr lvl="1"/>
            <a:r>
              <a:rPr sz="1800" b="1"/>
              <a:t>Outils de positionnement</a:t>
            </a:r>
            <a:r>
              <a:rPr sz="1800"/>
              <a:t> : Alignement des éléments </a:t>
            </a:r>
          </a:p>
          <a:p>
            <a:pPr lvl="1"/>
            <a:r>
              <a:rPr sz="1800" b="1"/>
              <a:t>Problems</a:t>
            </a:r>
            <a:r>
              <a:rPr sz="1800"/>
              <a:t> : Avertissements, Problème de parsing XML, de </a:t>
            </a:r>
            <a:r>
              <a:rPr sz="1800"/>
              <a:t>positionnement</a:t>
            </a:r>
          </a:p>
          <a:p>
            <a:pPr lvl="1"/>
            <a:r>
              <a:rPr sz="1800" b="1"/>
              <a:t>Report state</a:t>
            </a:r>
            <a:r>
              <a:rPr sz="1800"/>
              <a:t> : Résultat des programmes internes </a:t>
            </a:r>
            <a:r>
              <a:rPr sz="1800"/>
              <a:t>(Compilation, fusion de données, ..)</a:t>
            </a:r>
          </a:p>
          <a:p>
            <a:pPr lvl="1"/>
            <a:r>
              <a:rPr sz="1800" b="1"/>
              <a:t>Explorateur du repository</a:t>
            </a:r>
            <a:r>
              <a:rPr sz="1800"/>
              <a:t> JasperServer</a:t>
            </a:r>
          </a:p>
          <a:p>
            <a:pPr/>
            <a:r>
              <a:rPr sz="2000"/>
              <a:t>Accès à la configuration générale via </a:t>
            </a:r>
            <a:r>
              <a:rPr sz="1800" i="1"/>
              <a:t>Windows→ Preferences→ JasperSoft Studio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Test de la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Tester la configuration en créant un </a:t>
            </a:r>
            <a:r>
              <a:rPr sz="3200"/>
              <a:t>rapport vide :</a:t>
            </a:r>
            <a:br/>
            <a:r>
              <a:rPr sz="2800"/>
              <a:t>1. </a:t>
            </a:r>
            <a:r>
              <a:rPr sz="2000" i="1"/>
              <a:t>File → New → Jasper Studio → JasperReports Project</a:t>
            </a:r>
            <a:r>
              <a:rPr sz="2800"/>
              <a:t> </a:t>
            </a:r>
            <a:br/>
            <a:r>
              <a:rPr sz="2800"/>
              <a:t>2. </a:t>
            </a:r>
            <a:r>
              <a:rPr sz="2000" i="1"/>
              <a:t>File → New → JasperReport</a:t>
            </a:r>
            <a:br/>
            <a:r>
              <a:rPr sz="2000" i="1"/>
              <a:t>3. Choix du gabarit « blank »</a:t>
            </a:r>
            <a:br/>
            <a:r>
              <a:rPr sz="2000" i="1"/>
              <a:t>4. Choix du nom de fichier.</a:t>
            </a:r>
          </a:p>
          <a:p>
            <a:pPr/>
            <a:r>
              <a:rPr sz="3200"/>
              <a:t>Si tout est normal, </a:t>
            </a:r>
            <a:r>
              <a:rPr sz="3200" i="1"/>
              <a:t>jasperStudio </a:t>
            </a:r>
            <a:r>
              <a:rPr sz="3200"/>
              <a:t> </a:t>
            </a:r>
            <a:r>
              <a:rPr sz="3200"/>
              <a:t>génère un fichier </a:t>
            </a:r>
            <a:r>
              <a:rPr sz="3200" i="1"/>
              <a:t>.jasper</a:t>
            </a:r>
            <a:r>
              <a:rPr sz="3200"/>
              <a:t> et affiche </a:t>
            </a:r>
            <a:r>
              <a:rPr sz="3200"/>
              <a:t>une prévisualisation d'une page </a:t>
            </a:r>
            <a:r>
              <a:rPr sz="3200"/>
              <a:t>blanche</a:t>
            </a:r>
          </a:p>
          <a:p>
            <a:pPr marL="0" indent="0">
              <a:buNone/>
            </a:pPr>
            <a:r>
              <a:rPr sz="2800" b="1" i="1"/>
              <a:t>TP 2.1 : Installation JasperStudio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Jasper Studio Mise en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Présentation et installation</a:t>
            </a:r>
          </a:p>
          <a:p>
            <a:pPr marL="0" indent="0" algn="ctr">
              <a:buNone/>
            </a:pPr>
            <a:r>
              <a:rPr sz="3200" b="1"/>
              <a:t>Source de données </a:t>
            </a:r>
          </a:p>
          <a:p>
            <a:pPr marL="0" indent="0" algn="ctr">
              <a:buNone/>
            </a:pPr>
            <a:r>
              <a:rPr sz="3200"/>
              <a:t>Champs</a:t>
            </a:r>
          </a:p>
          <a:p>
            <a:pPr marL="0" indent="0" algn="ctr">
              <a:buNone/>
            </a:pPr>
            <a:r>
              <a:rPr sz="3200"/>
              <a:t>Assistant de création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 i="1"/>
              <a:t>JasperReport</a:t>
            </a:r>
            <a:r>
              <a:rPr sz="3200"/>
              <a:t> supporte différents types de </a:t>
            </a:r>
            <a:r>
              <a:rPr sz="3200"/>
              <a:t>source de données ou </a:t>
            </a:r>
            <a:r>
              <a:rPr sz="3200" b="1" i="1"/>
              <a:t>Data Adapter</a:t>
            </a:r>
            <a:r>
              <a:rPr sz="3200"/>
              <a:t> </a:t>
            </a:r>
            <a:br/>
            <a:r>
              <a:rPr sz="2200" i="1"/>
              <a:t>(via son interface Java JRDataSource)</a:t>
            </a:r>
          </a:p>
          <a:p>
            <a:pPr/>
            <a:r>
              <a:rPr sz="3200"/>
              <a:t>L'implémentation la plus utilisée est une </a:t>
            </a:r>
            <a:r>
              <a:rPr sz="3200"/>
              <a:t>base de données relationnelles via JDBC</a:t>
            </a:r>
            <a:br/>
            <a:r>
              <a:rPr sz="2200" i="1"/>
              <a:t>(implémentation JRResultSetDataSource qui encapsule un objet </a:t>
            </a:r>
            <a:br/>
            <a:r>
              <a:rPr sz="2200" i="1"/>
              <a:t>java.sql.ResultSet)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Itération JRDataSource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Une source est tout simplement un </a:t>
            </a:r>
            <a:r>
              <a:rPr sz="3200"/>
              <a:t>objet capable d’itérer sur un </a:t>
            </a:r>
            <a:r>
              <a:rPr sz="3200"/>
              <a:t>ensemble d'enregistrements : les </a:t>
            </a:r>
            <a:r>
              <a:rPr sz="3200"/>
              <a:t>lignes. </a:t>
            </a:r>
          </a:p>
          <a:p>
            <a:pPr/>
            <a:r>
              <a:rPr sz="3200"/>
              <a:t>C'est un objet </a:t>
            </a:r>
            <a:r>
              <a:rPr sz="3200" b="1" i="1"/>
              <a:t>consommable</a:t>
            </a:r>
            <a:r>
              <a:rPr sz="3200"/>
              <a:t> : Lors </a:t>
            </a:r>
            <a:r>
              <a:rPr sz="3200"/>
              <a:t>de la génération, les lignes sont lues </a:t>
            </a:r>
            <a:r>
              <a:rPr sz="3200"/>
              <a:t>une à une et il n'est pas possible de </a:t>
            </a:r>
            <a:r>
              <a:rPr sz="3200"/>
              <a:t>revenir en arrière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Illustration JRDataSource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115" y="2223957"/>
            <a:ext cx="9403268" cy="1106269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3200"/>
              <a:t>A tout moment de la génération, il y a un </a:t>
            </a:r>
            <a:r>
              <a:rPr sz="3200"/>
              <a:t>enregistrement courant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3355626"/>
            <a:ext cx="5840514" cy="406247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Data Adapter supportés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 b="1"/>
              <a:t>JDBC connection</a:t>
            </a:r>
            <a:r>
              <a:rPr sz="2200"/>
              <a:t> / </a:t>
            </a:r>
            <a:r>
              <a:rPr sz="2200" b="1"/>
              <a:t>JNDI</a:t>
            </a:r>
            <a:r>
              <a:rPr sz="2200"/>
              <a:t> </a:t>
            </a:r>
            <a:r>
              <a:rPr sz="2200" b="1"/>
              <a:t>Data</a:t>
            </a:r>
            <a:r>
              <a:rPr sz="2200"/>
              <a:t> </a:t>
            </a:r>
            <a:r>
              <a:rPr sz="2200" b="1"/>
              <a:t>Source</a:t>
            </a:r>
            <a:r>
              <a:rPr sz="2200"/>
              <a:t>: Connexion à </a:t>
            </a:r>
            <a:r>
              <a:rPr sz="2200"/>
              <a:t>une base de données relationnelles en Java</a:t>
            </a:r>
          </a:p>
          <a:p>
            <a:pPr/>
            <a:r>
              <a:rPr sz="2200" b="1"/>
              <a:t>Code Java : </a:t>
            </a:r>
            <a:r>
              <a:rPr sz="2200"/>
              <a:t>Collection de JavaBeans, Hibernate, EJB, </a:t>
            </a:r>
            <a:r>
              <a:rPr sz="2200"/>
              <a:t>Implémentation custom de </a:t>
            </a:r>
            <a:r>
              <a:rPr sz="2200" i="1"/>
              <a:t>JRDataSource</a:t>
            </a:r>
          </a:p>
          <a:p>
            <a:pPr/>
            <a:r>
              <a:rPr sz="2200" b="1"/>
              <a:t>Fichier simple : </a:t>
            </a:r>
            <a:r>
              <a:rPr sz="2200"/>
              <a:t>XML, CSV, JSON, Excel </a:t>
            </a:r>
          </a:p>
          <a:p>
            <a:pPr/>
            <a:r>
              <a:rPr sz="2200" b="1"/>
              <a:t>NOSQL</a:t>
            </a:r>
            <a:r>
              <a:rPr sz="2200"/>
              <a:t> : Cassandra, MongoDB</a:t>
            </a:r>
          </a:p>
          <a:p>
            <a:pPr/>
            <a:r>
              <a:rPr sz="2200" b="1"/>
              <a:t>Connexion OLAP Mondrian ou XMLA</a:t>
            </a:r>
            <a:r>
              <a:rPr sz="2200"/>
              <a:t> : Connexion </a:t>
            </a:r>
            <a:r>
              <a:rPr sz="2200"/>
              <a:t>utilisé pour l'analyse de données</a:t>
            </a:r>
          </a:p>
          <a:p>
            <a:pPr/>
            <a:r>
              <a:rPr sz="2200" b="1"/>
              <a:t>Source</a:t>
            </a:r>
            <a:r>
              <a:rPr sz="2200" b="1"/>
              <a:t> </a:t>
            </a:r>
            <a:r>
              <a:rPr sz="2200" b="1"/>
              <a:t>de</a:t>
            </a:r>
            <a:r>
              <a:rPr sz="2200" b="1"/>
              <a:t> </a:t>
            </a:r>
            <a:r>
              <a:rPr sz="2200" b="1"/>
              <a:t>données</a:t>
            </a:r>
            <a:r>
              <a:rPr sz="2200" b="1"/>
              <a:t> </a:t>
            </a:r>
            <a:r>
              <a:rPr sz="2200" b="1"/>
              <a:t>vide</a:t>
            </a:r>
            <a:r>
              <a:rPr sz="2200"/>
              <a:t> : Le rapport n’a pas de </a:t>
            </a:r>
            <a:r>
              <a:rPr sz="2200"/>
              <a:t>données dynamique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File → New Data Adapter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895" y="2481549"/>
            <a:ext cx="5079479" cy="446100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Rappels sur JDBC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Une connexion JDBC permet à un programme Java de </a:t>
            </a:r>
            <a:r>
              <a:rPr sz="2200"/>
              <a:t>se connecter à une base de données relationnelles </a:t>
            </a:r>
            <a:r>
              <a:rPr sz="2200"/>
              <a:t>(toutes les bases sont supportées)</a:t>
            </a:r>
          </a:p>
          <a:p>
            <a:pPr/>
            <a:r>
              <a:rPr sz="2200"/>
              <a:t>Pour cela, il est nécessaire d'utiliser les pilotes JDBC </a:t>
            </a:r>
            <a:r>
              <a:rPr sz="2200"/>
              <a:t>(librairie Java) fournis par l'éditeur de base. </a:t>
            </a:r>
          </a:p>
          <a:p>
            <a:pPr/>
            <a:r>
              <a:rPr sz="2200"/>
              <a:t>Configurer une connexions JDBC consiste à</a:t>
            </a:r>
            <a:r>
              <a:rPr sz="2200"/>
              <a:t> </a:t>
            </a:r>
            <a:r>
              <a:rPr sz="2200"/>
              <a:t> fournir :</a:t>
            </a:r>
          </a:p>
          <a:p>
            <a:pPr lvl="1"/>
            <a:r>
              <a:rPr sz="1800"/>
              <a:t>La </a:t>
            </a:r>
            <a:r>
              <a:rPr sz="1800" b="1"/>
              <a:t>classe principale</a:t>
            </a:r>
            <a:r>
              <a:rPr sz="1800"/>
              <a:t> du Driver</a:t>
            </a:r>
          </a:p>
          <a:p>
            <a:pPr lvl="1"/>
            <a:r>
              <a:rPr sz="1800"/>
              <a:t>L'</a:t>
            </a:r>
            <a:r>
              <a:rPr sz="1800" b="1"/>
              <a:t>URL</a:t>
            </a:r>
            <a:r>
              <a:rPr sz="1800"/>
              <a:t> d'accès à la base (syntaxe dépendante de l'éditeur)</a:t>
            </a:r>
          </a:p>
          <a:p>
            <a:pPr lvl="1"/>
            <a:r>
              <a:rPr sz="1800"/>
              <a:t>Un </a:t>
            </a:r>
            <a:r>
              <a:rPr sz="1800" b="1"/>
              <a:t>compte</a:t>
            </a:r>
            <a:r>
              <a:rPr sz="1800"/>
              <a:t> base de données valide (login/mot de passe)</a:t>
            </a:r>
          </a:p>
          <a:p>
            <a:pPr marL="0" indent="0">
              <a:buNone/>
            </a:pPr>
            <a:r>
              <a:rPr sz="2200" i="1"/>
              <a:t>jasperStudio</a:t>
            </a:r>
            <a:r>
              <a:rPr sz="2200"/>
              <a:t> fournit les drivers JDBC pour </a:t>
            </a:r>
            <a:r>
              <a:rPr sz="2200" i="1"/>
              <a:t>HyperSonic. </a:t>
            </a:r>
          </a:p>
          <a:p>
            <a:pPr/>
            <a:r>
              <a:rPr sz="2200"/>
              <a:t>Les autres doivent être installés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Installation Driver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38" y="2195412"/>
            <a:ext cx="8951689" cy="2115172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600"/>
              <a:t>La bibliothèque du driver JDBC doit être trouvée </a:t>
            </a:r>
            <a:r>
              <a:rPr sz="2600"/>
              <a:t>par </a:t>
            </a:r>
            <a:r>
              <a:rPr sz="2600" i="1"/>
              <a:t>jasperStudio</a:t>
            </a:r>
            <a:r>
              <a:rPr sz="2600"/>
              <a:t>. </a:t>
            </a:r>
          </a:p>
          <a:p>
            <a:pPr marL="0" indent="0">
              <a:buNone/>
            </a:pPr>
            <a:r>
              <a:rPr sz="2600"/>
              <a:t>Lors de la création d’un DataAdapter, on lui </a:t>
            </a:r>
            <a:r>
              <a:rPr sz="2600"/>
              <a:t>indique ou se trouve le .jar contenant le Driver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422" y="4473798"/>
            <a:ext cx="4623714" cy="303179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Dissociation rapport et source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Il n'y a pas d'association stricte entre </a:t>
            </a:r>
            <a:r>
              <a:rPr sz="3200"/>
              <a:t>un rapport et une source de données. </a:t>
            </a:r>
          </a:p>
          <a:p>
            <a:pPr/>
            <a:r>
              <a:rPr sz="3200"/>
              <a:t>Lors de la génération, la source de </a:t>
            </a:r>
            <a:r>
              <a:rPr sz="3200"/>
              <a:t>données est fournie en paramètre</a:t>
            </a:r>
          </a:p>
          <a:p>
            <a:pPr/>
            <a:r>
              <a:rPr sz="3200"/>
              <a:t>Il est ainsi possible de réutiliser le </a:t>
            </a:r>
            <a:r>
              <a:rPr sz="3200"/>
              <a:t>même design sur différentes sources.</a:t>
            </a:r>
          </a:p>
          <a:p>
            <a:pPr lvl="1"/>
            <a:r>
              <a:rPr sz="2800"/>
              <a:t>Exemple : Base de données de </a:t>
            </a:r>
            <a:r>
              <a:rPr sz="2800"/>
              <a:t>développement et base de données de </a:t>
            </a:r>
            <a:r>
              <a:rPr sz="2800"/>
              <a:t>production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Erreurs communes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3 types d'erreurs peuvent survenir lorsque </a:t>
            </a:r>
            <a:r>
              <a:rPr sz="2800"/>
              <a:t>l'on configure une connexion JDBC :</a:t>
            </a:r>
          </a:p>
          <a:p>
            <a:pPr lvl="1"/>
            <a:r>
              <a:rPr sz="2600" b="1" i="1"/>
              <a:t>ClassNotFoundError</a:t>
            </a:r>
            <a:r>
              <a:rPr sz="2600"/>
              <a:t> : </a:t>
            </a:r>
            <a:r>
              <a:rPr sz="2600"/>
              <a:t>Le driver n'est pas dans le classpath</a:t>
            </a:r>
          </a:p>
          <a:p>
            <a:pPr lvl="1"/>
            <a:r>
              <a:rPr sz="2600" b="1"/>
              <a:t>L'URL</a:t>
            </a:r>
            <a:r>
              <a:rPr sz="2600"/>
              <a:t> n'est pas correcte. </a:t>
            </a:r>
            <a:r>
              <a:rPr sz="2600"/>
              <a:t>Utiliser l'assistant de JasperStudio pour </a:t>
            </a:r>
            <a:r>
              <a:rPr sz="2600"/>
              <a:t>définir l'URL ou se référer au site de </a:t>
            </a:r>
            <a:r>
              <a:rPr sz="2600"/>
              <a:t>l'éditeur</a:t>
            </a:r>
          </a:p>
          <a:p>
            <a:pPr lvl="1"/>
            <a:r>
              <a:rPr sz="2600"/>
              <a:t>Les </a:t>
            </a:r>
            <a:r>
              <a:rPr sz="2600" b="1"/>
              <a:t>paramètres de connexion</a:t>
            </a:r>
            <a:r>
              <a:rPr sz="2600"/>
              <a:t> ne sont </a:t>
            </a:r>
            <a:r>
              <a:rPr sz="2600"/>
              <a:t>pas corrects. </a:t>
            </a:r>
            <a:r>
              <a:rPr sz="2600"/>
              <a:t>Vérifier le nom de la base, l'utilisateur et </a:t>
            </a:r>
            <a:r>
              <a:rPr sz="2600"/>
              <a:t>le mot de passe.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Requêtes SQL définies dans le 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 i="1"/>
              <a:t>jasperStudio</a:t>
            </a:r>
            <a:r>
              <a:rPr sz="2800"/>
              <a:t> fournit plusieurs outils pour </a:t>
            </a:r>
            <a:r>
              <a:rPr sz="2800"/>
              <a:t>travailler avec JDBC et SQL </a:t>
            </a:r>
          </a:p>
          <a:p>
            <a:pPr lvl="1"/>
            <a:r>
              <a:rPr sz="2600"/>
              <a:t>Test de la connexion JDBC</a:t>
            </a:r>
          </a:p>
          <a:p>
            <a:pPr lvl="1"/>
            <a:r>
              <a:rPr sz="2600"/>
              <a:t>Découverte automatique des champs </a:t>
            </a:r>
            <a:r>
              <a:rPr sz="2600"/>
              <a:t>possibles avec leur type</a:t>
            </a:r>
          </a:p>
          <a:p>
            <a:pPr lvl="1"/>
            <a:r>
              <a:rPr sz="2600"/>
              <a:t>Possibilité d'enregistrer automatiquement </a:t>
            </a:r>
            <a:r>
              <a:rPr sz="2600"/>
              <a:t>les champs</a:t>
            </a:r>
          </a:p>
          <a:p>
            <a:pPr lvl="1"/>
            <a:r>
              <a:rPr sz="2600"/>
              <a:t>Un assistant pour mettre au point les </a:t>
            </a:r>
            <a:r>
              <a:rPr sz="2600"/>
              <a:t>requêtes (</a:t>
            </a:r>
            <a:r>
              <a:rPr sz="2600" i="1"/>
              <a:t>Query Designer</a:t>
            </a:r>
            <a:r>
              <a:rPr sz="2600"/>
              <a:t>)</a:t>
            </a:r>
          </a:p>
          <a:p>
            <a:pPr lvl="1"/>
            <a:r>
              <a:rPr sz="2600"/>
              <a:t>Un prévisualiseur des données renvoyées </a:t>
            </a:r>
            <a:r>
              <a:rPr sz="2600"/>
              <a:t>par la requête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DataSet Dialog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056" y="2330450"/>
            <a:ext cx="5770320" cy="522954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Tri et filtre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Les enregistrements récupérés d'une </a:t>
            </a:r>
            <a:r>
              <a:rPr sz="2800"/>
              <a:t>source de données peuvent être triés et </a:t>
            </a:r>
            <a:r>
              <a:rPr sz="2800"/>
              <a:t>filtrés programmatiquement par </a:t>
            </a:r>
            <a:r>
              <a:rPr sz="2800"/>
              <a:t>JasperReport</a:t>
            </a:r>
          </a:p>
          <a:p>
            <a:pPr lvl="1"/>
            <a:r>
              <a:rPr sz="2400"/>
              <a:t>L'expression du filtre doit retourner un booléen </a:t>
            </a:r>
          </a:p>
          <a:p>
            <a:pPr lvl="1"/>
            <a:r>
              <a:rPr sz="2400"/>
              <a:t>Le tri est basé sur un ou plusieurs champs en </a:t>
            </a:r>
            <a:r>
              <a:rPr sz="2400"/>
              <a:t>pouvant indiquer pour chaque la direction du </a:t>
            </a:r>
            <a:r>
              <a:rPr sz="2400"/>
              <a:t>tri</a:t>
            </a:r>
          </a:p>
          <a:p>
            <a:pPr/>
            <a:r>
              <a:rPr sz="2800"/>
              <a:t>Lorsque l'on utilise des bases de données </a:t>
            </a:r>
            <a:r>
              <a:rPr sz="2800"/>
              <a:t>relationnelles, il est en général plus </a:t>
            </a:r>
            <a:r>
              <a:rPr sz="2800"/>
              <a:t>performant d'utiliser les clauses SQL </a:t>
            </a:r>
            <a:r>
              <a:rPr sz="2800"/>
              <a:t>appropriées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Jasper Studio Mise en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Présentation et installation</a:t>
            </a:r>
          </a:p>
          <a:p>
            <a:pPr marL="0" indent="0" algn="ctr">
              <a:buNone/>
            </a:pPr>
            <a:r>
              <a:rPr sz="3200"/>
              <a:t>Source de données </a:t>
            </a:r>
          </a:p>
          <a:p>
            <a:pPr marL="0" indent="0" algn="ctr">
              <a:buNone/>
            </a:pPr>
            <a:r>
              <a:rPr sz="3200" b="1"/>
              <a:t>Champs</a:t>
            </a:r>
          </a:p>
          <a:p>
            <a:pPr marL="0" indent="0" algn="ctr">
              <a:buNone/>
            </a:pPr>
            <a:r>
              <a:rPr sz="3200"/>
              <a:t>Assistant de création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Champs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Les champs représentent l'unique façon de faire </a:t>
            </a:r>
            <a:r>
              <a:rPr sz="2400"/>
              <a:t>correspondre les données de la source avec les données </a:t>
            </a:r>
            <a:r>
              <a:rPr sz="2400"/>
              <a:t>du rapport. </a:t>
            </a:r>
          </a:p>
          <a:p>
            <a:pPr/>
            <a:r>
              <a:rPr sz="2400"/>
              <a:t>Les champs doivent être déclarés dans le rapport via </a:t>
            </a:r>
            <a:r>
              <a:rPr sz="2400"/>
              <a:t>l'élément </a:t>
            </a:r>
            <a:r>
              <a:rPr sz="2400" b="1" i="1"/>
              <a:t>&lt;field&gt;</a:t>
            </a:r>
            <a:r>
              <a:rPr sz="2400"/>
              <a:t> en indiquant </a:t>
            </a:r>
          </a:p>
          <a:p>
            <a:pPr/>
            <a:r>
              <a:rPr sz="2400"/>
              <a:t>L'attribut </a:t>
            </a:r>
            <a:r>
              <a:rPr sz="2400" b="1" i="1"/>
              <a:t>name</a:t>
            </a:r>
            <a:r>
              <a:rPr sz="2400"/>
              <a:t> : le nom de la colonne récupérée par la </a:t>
            </a:r>
            <a:r>
              <a:rPr sz="2400"/>
              <a:t>requêtes. Il doit être unique dans le rapport. </a:t>
            </a:r>
            <a:r>
              <a:rPr sz="2400"/>
              <a:t>Si plusieurs champs de la base ont le même nom, il </a:t>
            </a:r>
            <a:r>
              <a:rPr sz="2400"/>
              <a:t>faut utiliser des alias dans la requête SQL.</a:t>
            </a:r>
          </a:p>
          <a:p>
            <a:pPr/>
            <a:r>
              <a:rPr sz="2400"/>
              <a:t>L'attribut </a:t>
            </a:r>
            <a:r>
              <a:rPr sz="2400" b="1" i="1"/>
              <a:t>class</a:t>
            </a:r>
            <a:r>
              <a:rPr sz="2400"/>
              <a:t> : Indiquant la classe de l'objet pouvant </a:t>
            </a:r>
            <a:r>
              <a:rPr sz="2400"/>
              <a:t>être utilisé dans le rapport.</a:t>
            </a:r>
          </a:p>
          <a:p>
            <a:pPr/>
            <a:r>
              <a:rPr sz="2400"/>
              <a:t>Les éléments </a:t>
            </a:r>
            <a:r>
              <a:rPr sz="2400" i="1"/>
              <a:t>&lt;field&gt;</a:t>
            </a:r>
            <a:r>
              <a:rPr sz="2400"/>
              <a:t> sont placés sous l'élément </a:t>
            </a:r>
            <a:r>
              <a:rPr sz="2400" i="1"/>
              <a:t>&lt;jasperReport&gt;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Correspondance de type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1877" y="1838048"/>
          <a:ext cx="8611919" cy="55574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6286"/>
                <a:gridCol w="2546273"/>
                <a:gridCol w="2387523"/>
                <a:gridCol w="2301837"/>
              </a:tblGrid>
              <a:tr h="654244">
                <a:tc>
                  <a:txBody>
                    <a:bodyPr wrap="square"/>
                    <a:lstStyle/>
                    <a:p>
                      <a:r>
                        <a:rPr sz="1800" b="1"/>
                        <a:t>Type SQL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Objet Java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Type SQL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Objet Java</a:t>
                      </a:r>
                    </a:p>
                  </a:txBody>
                  <a:tcPr marL="50800" marR="50800" marT="25400" marB="25400"/>
                </a:tc>
              </a:tr>
              <a:tr h="654113">
                <a:tc>
                  <a:txBody>
                    <a:bodyPr wrap="square"/>
                    <a:lstStyle/>
                    <a:p>
                      <a:r>
                        <a:rPr sz="1800"/>
                        <a:t>CHAR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String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REAL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Float</a:t>
                      </a:r>
                    </a:p>
                  </a:txBody>
                  <a:tcPr marL="50800" marR="50800" marT="25400" marB="25400"/>
                </a:tc>
              </a:tr>
              <a:tr h="654126">
                <a:tc>
                  <a:txBody>
                    <a:bodyPr wrap="square"/>
                    <a:lstStyle/>
                    <a:p>
                      <a:r>
                        <a:rPr sz="1800"/>
                        <a:t>VARCHAR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String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FLOAT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Double</a:t>
                      </a:r>
                    </a:p>
                  </a:txBody>
                  <a:tcPr marL="50800" marR="50800" marT="25400" marB="25400"/>
                </a:tc>
              </a:tr>
              <a:tr h="978471">
                <a:tc>
                  <a:txBody>
                    <a:bodyPr wrap="square"/>
                    <a:lstStyle/>
                    <a:p>
                      <a:r>
                        <a:rPr sz="1800"/>
                        <a:t>LONGVAR CHAR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String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DOUBLE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Double</a:t>
                      </a:r>
                    </a:p>
                  </a:txBody>
                  <a:tcPr marL="50800" marR="50800" marT="25400" marB="25400"/>
                </a:tc>
              </a:tr>
              <a:tr h="654126">
                <a:tc>
                  <a:txBody>
                    <a:bodyPr wrap="square"/>
                    <a:lstStyle/>
                    <a:p>
                      <a:r>
                        <a:rPr sz="1800"/>
                        <a:t>NUMERIC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java.math.BigDecimal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BINARY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byte[]</a:t>
                      </a:r>
                    </a:p>
                  </a:txBody>
                  <a:tcPr marL="50800" marR="50800" marT="25400" marB="25400"/>
                </a:tc>
              </a:tr>
              <a:tr h="654113">
                <a:tc>
                  <a:txBody>
                    <a:bodyPr wrap="square"/>
                    <a:lstStyle/>
                    <a:p>
                      <a:r>
                        <a:rPr sz="1800"/>
                        <a:t>DECIMAL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java.math.BigDecimal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VARBINARY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byte[]</a:t>
                      </a:r>
                    </a:p>
                  </a:txBody>
                  <a:tcPr marL="50800" marR="50800" marT="25400" marB="25400"/>
                </a:tc>
              </a:tr>
              <a:tr h="654126">
                <a:tc>
                  <a:txBody>
                    <a:bodyPr wrap="square"/>
                    <a:lstStyle/>
                    <a:p>
                      <a:r>
                        <a:rPr sz="1800"/>
                        <a:t>BIT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Boolean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LONGVARBINARY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byte[]</a:t>
                      </a:r>
                    </a:p>
                  </a:txBody>
                  <a:tcPr marL="50800" marR="50800" marT="25400" marB="25400"/>
                </a:tc>
              </a:tr>
              <a:tr h="654113">
                <a:tc>
                  <a:txBody>
                    <a:bodyPr wrap="square"/>
                    <a:lstStyle/>
                    <a:p>
                      <a:r>
                        <a:rPr sz="1800"/>
                        <a:t>TINYINT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Integer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DATE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java.sql.Date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Exemple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600" i="1"/>
              <a:t>&lt;jasperReport&gt;</a:t>
            </a:r>
          </a:p>
          <a:p>
            <a:pPr marL="0" indent="0">
              <a:buNone/>
            </a:pPr>
            <a:r>
              <a:rPr sz="2600" i="1"/>
              <a:t>&lt;field name="id" class="java.lang.Integer"/&gt;</a:t>
            </a:r>
          </a:p>
          <a:p>
            <a:pPr marL="0" indent="0">
              <a:buNone/>
            </a:pPr>
            <a:r>
              <a:rPr sz="2600" i="1"/>
              <a:t>&lt;field name="name" </a:t>
            </a:r>
            <a:r>
              <a:rPr sz="2600" i="1"/>
              <a:t>class="java.lang.String"/&gt;</a:t>
            </a:r>
          </a:p>
          <a:p>
            <a:pPr marL="0" indent="0">
              <a:buNone/>
            </a:pPr>
            <a:r>
              <a:rPr sz="2600" i="1"/>
              <a:t>&lt;field name="city" class="java.lang.String"&gt;</a:t>
            </a:r>
          </a:p>
          <a:p>
            <a:pPr marL="0" indent="0">
              <a:buNone/>
            </a:pPr>
            <a:r>
              <a:rPr sz="2600" i="1"/>
              <a:t>&lt;fieldDescription&gt;</a:t>
            </a:r>
            <a:r>
              <a:rPr sz="2600"/>
              <a:t> </a:t>
            </a:r>
            <a:r>
              <a:rPr sz="2600" i="1"/>
              <a:t> Ville de naissance</a:t>
            </a:r>
            <a:r>
              <a:rPr sz="2600"/>
              <a:t> </a:t>
            </a:r>
            <a:r>
              <a:rPr sz="2600" i="1"/>
              <a:t> &lt;/fieldDescription&gt;</a:t>
            </a:r>
          </a:p>
          <a:p>
            <a:pPr marL="0" indent="0">
              <a:buNone/>
            </a:pPr>
            <a:r>
              <a:rPr sz="2600" i="1"/>
              <a:t>&lt;/field&gt;</a:t>
            </a:r>
          </a:p>
          <a:p>
            <a:pPr marL="0" indent="0">
              <a:buNone/>
            </a:pPr>
            <a:r>
              <a:rPr sz="2600" i="1"/>
              <a:t>....</a:t>
            </a:r>
          </a:p>
          <a:p>
            <a:pPr marL="0" indent="0">
              <a:buNone/>
            </a:pPr>
            <a:r>
              <a:rPr sz="2600" i="1"/>
              <a:t>&lt;/japserReport&gt;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Règles sur les champs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Chaque champ doit correspondre alors à </a:t>
            </a:r>
            <a:r>
              <a:rPr sz="3200"/>
              <a:t>une colonne du </a:t>
            </a:r>
            <a:r>
              <a:rPr sz="3200" i="1"/>
              <a:t>ResultSet</a:t>
            </a:r>
            <a:r>
              <a:rPr sz="3200"/>
              <a:t>. </a:t>
            </a:r>
            <a:r>
              <a:rPr sz="3200"/>
              <a:t>C'est à dire avoir le </a:t>
            </a:r>
            <a:r>
              <a:rPr sz="3200" b="1"/>
              <a:t>même nom et un </a:t>
            </a:r>
            <a:r>
              <a:rPr sz="3200" b="1"/>
              <a:t>type compatible</a:t>
            </a:r>
            <a:r>
              <a:rPr sz="3200"/>
              <a:t> avec la colonne de la </a:t>
            </a:r>
            <a:r>
              <a:rPr sz="3200"/>
              <a:t>base. </a:t>
            </a:r>
          </a:p>
          <a:p>
            <a:pPr lvl="1"/>
            <a:r>
              <a:rPr sz="2800"/>
              <a:t>Si le nom indiqué ne correspond pas à une </a:t>
            </a:r>
            <a:r>
              <a:rPr sz="2800"/>
              <a:t>colonne du </a:t>
            </a:r>
            <a:r>
              <a:rPr sz="2800" i="1"/>
              <a:t>ResultSet</a:t>
            </a:r>
            <a:r>
              <a:rPr sz="2800"/>
              <a:t>, un exception sera </a:t>
            </a:r>
            <a:r>
              <a:rPr sz="2800"/>
              <a:t>lancée au moment de l'exécution</a:t>
            </a:r>
          </a:p>
          <a:p>
            <a:pPr lvl="1"/>
            <a:r>
              <a:rPr sz="2800"/>
              <a:t>Les colonnes présentes dans le </a:t>
            </a:r>
            <a:r>
              <a:rPr sz="2800" i="1"/>
              <a:t>ResultSet</a:t>
            </a:r>
            <a:r>
              <a:rPr sz="2800"/>
              <a:t> </a:t>
            </a:r>
            <a:r>
              <a:rPr sz="2800"/>
              <a:t>mais n'ayant pas de champs associés ne </a:t>
            </a:r>
            <a:r>
              <a:rPr sz="2800"/>
              <a:t>seront pas accessibles dans le rapport.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Jasper Studio Mise en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Présentation et installation</a:t>
            </a:r>
          </a:p>
          <a:p>
            <a:pPr marL="0" indent="0" algn="ctr">
              <a:buNone/>
            </a:pPr>
            <a:r>
              <a:rPr sz="3200"/>
              <a:t>Source de données </a:t>
            </a:r>
          </a:p>
          <a:p>
            <a:pPr marL="0" indent="0" algn="ctr">
              <a:buNone/>
            </a:pPr>
            <a:r>
              <a:rPr sz="3200"/>
              <a:t>Champs</a:t>
            </a:r>
          </a:p>
          <a:p>
            <a:pPr marL="0" indent="0" algn="ctr">
              <a:buNone/>
            </a:pPr>
            <a:r>
              <a:rPr sz="3200" b="1"/>
              <a:t>Assistant de création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Création de 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 i="1"/>
              <a:t>jasperStudio</a:t>
            </a:r>
            <a:r>
              <a:rPr sz="2800"/>
              <a:t> propose un assistant pour </a:t>
            </a:r>
            <a:r>
              <a:rPr sz="2800"/>
              <a:t>créer un rapport. L'assistant est basé sur </a:t>
            </a:r>
            <a:r>
              <a:rPr sz="2800"/>
              <a:t>des </a:t>
            </a:r>
            <a:r>
              <a:rPr sz="2800" b="1"/>
              <a:t>gabarits</a:t>
            </a:r>
            <a:r>
              <a:rPr sz="2800"/>
              <a:t> (</a:t>
            </a:r>
            <a:r>
              <a:rPr sz="2800" i="1"/>
              <a:t>template</a:t>
            </a:r>
            <a:r>
              <a:rPr sz="2800"/>
              <a:t>) ; il est possible de </a:t>
            </a:r>
            <a:r>
              <a:rPr sz="2800"/>
              <a:t>définir ses propres gabarits</a:t>
            </a:r>
          </a:p>
          <a:p>
            <a:pPr/>
            <a:r>
              <a:rPr sz="2800"/>
              <a:t>L’assistant s 'effectue en 5 étapes :</a:t>
            </a:r>
          </a:p>
          <a:p>
            <a:pPr lvl="1"/>
            <a:r>
              <a:rPr sz="2600"/>
              <a:t>Sélection d'un modèle</a:t>
            </a:r>
          </a:p>
          <a:p>
            <a:pPr lvl="1"/>
            <a:r>
              <a:rPr sz="2600"/>
              <a:t>Nom et emplacement du rapport</a:t>
            </a:r>
          </a:p>
          <a:p>
            <a:pPr lvl="1"/>
            <a:r>
              <a:rPr sz="2600"/>
              <a:t>Source de données et requête SQL</a:t>
            </a:r>
          </a:p>
          <a:p>
            <a:pPr lvl="1"/>
            <a:r>
              <a:rPr sz="2600"/>
              <a:t>Champs utilisés</a:t>
            </a:r>
          </a:p>
          <a:p>
            <a:pPr lvl="1"/>
            <a:r>
              <a:rPr sz="2600"/>
              <a:t>Les groupes éventuels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Etape 2 : Fichier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661" y="2480838"/>
            <a:ext cx="6227876" cy="457691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Etape 3 : Requête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14" y="2101742"/>
            <a:ext cx="6866877" cy="53516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Etape 4 : Champs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144" y="2590261"/>
            <a:ext cx="6110884" cy="472776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Etape 5 : Groupe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881" y="6914543"/>
            <a:ext cx="6794856" cy="508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800" b="1" i="1"/>
              <a:t>TP 2.2 : Premier rapport avec l’assistant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899" y="2330450"/>
            <a:ext cx="5874714" cy="450589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Composition de 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 b="1"/>
              <a:t>Dimension et bandes </a:t>
            </a:r>
          </a:p>
          <a:p>
            <a:pPr marL="0" indent="0" algn="ctr">
              <a:buNone/>
            </a:pPr>
            <a:r>
              <a:rPr sz="3200"/>
              <a:t>Éléments simples</a:t>
            </a:r>
          </a:p>
          <a:p>
            <a:pPr marL="0" indent="0" algn="ctr">
              <a:buNone/>
            </a:pPr>
            <a:r>
              <a:rPr sz="3200"/>
              <a:t>Paramètres, expressions, variables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Unité de mesure et attribut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/>
              <a:t>Les premières propriétés d'un rapport sont ses </a:t>
            </a:r>
            <a:r>
              <a:rPr sz="2600"/>
              <a:t>dimensions</a:t>
            </a:r>
          </a:p>
          <a:p>
            <a:pPr/>
            <a:r>
              <a:rPr sz="2600"/>
              <a:t>L'unité par défaut est le pixel et peut être </a:t>
            </a:r>
            <a:r>
              <a:rPr sz="2600"/>
              <a:t>changée</a:t>
            </a:r>
          </a:p>
          <a:p>
            <a:pPr/>
            <a:r>
              <a:rPr sz="2600"/>
              <a:t>Les attributs concernent la dimension de la </a:t>
            </a:r>
            <a:r>
              <a:rPr sz="2600"/>
              <a:t>zone de dessin :</a:t>
            </a:r>
          </a:p>
          <a:p>
            <a:pPr lvl="1"/>
            <a:r>
              <a:rPr sz="2600"/>
              <a:t>Largeur et hauteur de page. </a:t>
            </a:r>
          </a:p>
          <a:p>
            <a:pPr lvl="1"/>
            <a:r>
              <a:rPr sz="2600"/>
              <a:t>Largeur et hauteur des différentes marges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Bandes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Un rapport est divisé en </a:t>
            </a:r>
            <a:r>
              <a:rPr sz="2000" b="1"/>
              <a:t>bandes horizontales</a:t>
            </a:r>
            <a:r>
              <a:rPr sz="2000"/>
              <a:t>. </a:t>
            </a:r>
          </a:p>
          <a:p>
            <a:pPr lvl="1"/>
            <a:r>
              <a:rPr sz="2000"/>
              <a:t>La construction d'un rapport consiste à définir le </a:t>
            </a:r>
            <a:r>
              <a:rPr sz="2000"/>
              <a:t>contenu et les dimensions de ses bandes.</a:t>
            </a:r>
          </a:p>
          <a:p>
            <a:pPr lvl="1"/>
            <a:r>
              <a:rPr sz="2000"/>
              <a:t>Chaque bande contient des éléments de rapport comme </a:t>
            </a:r>
            <a:r>
              <a:rPr sz="2000"/>
              <a:t>des lignes, des rectangles, des images ou des champs </a:t>
            </a:r>
            <a:r>
              <a:rPr sz="2000"/>
              <a:t>texte.</a:t>
            </a:r>
          </a:p>
          <a:p>
            <a:pPr lvl="1"/>
            <a:r>
              <a:rPr sz="2000"/>
              <a:t>La structure d'un document Jasper est prédéfini avec un </a:t>
            </a:r>
            <a:r>
              <a:rPr sz="2000"/>
              <a:t>ensemble de bandes de départ</a:t>
            </a:r>
          </a:p>
          <a:p>
            <a:pPr lvl="1"/>
            <a:r>
              <a:rPr sz="2000"/>
              <a:t>Les bandes peuvent être ajoutées/supprimées du </a:t>
            </a:r>
            <a:r>
              <a:rPr sz="2000"/>
              <a:t>rapport</a:t>
            </a:r>
          </a:p>
          <a:p>
            <a:pPr lvl="1"/>
            <a:r>
              <a:rPr sz="2000"/>
              <a:t>Une bande correspond section à l'élément </a:t>
            </a:r>
            <a:r>
              <a:rPr sz="2000" i="1"/>
              <a:t>&lt;band&gt; </a:t>
            </a:r>
            <a:r>
              <a:rPr sz="2000"/>
              <a:t>dans </a:t>
            </a:r>
            <a:r>
              <a:rPr sz="2000"/>
              <a:t>le fichier </a:t>
            </a:r>
            <a:r>
              <a:rPr sz="2000" i="1"/>
              <a:t>.jrxml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Structure d'un 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La structure d'un rapport est basée sur les bandes </a:t>
            </a:r>
            <a:r>
              <a:rPr sz="2000"/>
              <a:t>suivantes : </a:t>
            </a:r>
          </a:p>
          <a:p>
            <a:pPr lvl="1"/>
            <a:r>
              <a:rPr sz="1800" b="1" i="1"/>
              <a:t>&lt;background&gt;</a:t>
            </a:r>
            <a:r>
              <a:rPr sz="1800"/>
              <a:t> : Fond de page appliqué sur toutes les </a:t>
            </a:r>
            <a:r>
              <a:rPr sz="1800"/>
              <a:t>pages</a:t>
            </a:r>
          </a:p>
          <a:p>
            <a:pPr lvl="1"/>
            <a:r>
              <a:rPr sz="1800" b="1" i="1"/>
              <a:t>&lt;title&gt;</a:t>
            </a:r>
            <a:r>
              <a:rPr sz="1800"/>
              <a:t> : Titre apparaissant une seule fois au début</a:t>
            </a:r>
          </a:p>
          <a:p>
            <a:pPr lvl="1"/>
            <a:r>
              <a:rPr sz="1800" b="1" i="1"/>
              <a:t>&lt;pageHeader&gt;</a:t>
            </a:r>
            <a:r>
              <a:rPr sz="1800"/>
              <a:t>, </a:t>
            </a:r>
            <a:r>
              <a:rPr sz="1800" b="1" i="1"/>
              <a:t>&lt;pageFooter&gt;</a:t>
            </a:r>
            <a:r>
              <a:rPr sz="1800"/>
              <a:t> : Entête et pied de page</a:t>
            </a:r>
          </a:p>
          <a:p>
            <a:pPr lvl="1"/>
            <a:r>
              <a:rPr sz="1800" b="1" i="1"/>
              <a:t>&lt;columnHeader&gt;</a:t>
            </a:r>
            <a:r>
              <a:rPr sz="1800"/>
              <a:t>, </a:t>
            </a:r>
            <a:r>
              <a:rPr sz="1800" b="1" i="1"/>
              <a:t>&lt;</a:t>
            </a:r>
            <a:r>
              <a:rPr sz="1800" b="1" i="1"/>
              <a:t>columnFooter</a:t>
            </a:r>
            <a:r>
              <a:rPr sz="1800" b="1" i="1"/>
              <a:t>&gt;</a:t>
            </a:r>
            <a:r>
              <a:rPr sz="1800"/>
              <a:t> : Pour les rapports </a:t>
            </a:r>
            <a:r>
              <a:rPr sz="1800"/>
              <a:t>multi-colonnes, entête et pied des détails de colonne</a:t>
            </a:r>
          </a:p>
          <a:p>
            <a:pPr lvl="1"/>
            <a:r>
              <a:rPr sz="1800" b="1" i="1"/>
              <a:t>&lt;groupHeader&gt;</a:t>
            </a:r>
            <a:r>
              <a:rPr sz="1800"/>
              <a:t>, </a:t>
            </a:r>
            <a:r>
              <a:rPr sz="1800" b="1" i="1"/>
              <a:t>&lt;groupFooter&gt;</a:t>
            </a:r>
            <a:r>
              <a:rPr sz="1800"/>
              <a:t> : Entête et pied d'un </a:t>
            </a:r>
            <a:r>
              <a:rPr sz="1800"/>
              <a:t>groupe (0 ou plusieurs)</a:t>
            </a:r>
          </a:p>
          <a:p>
            <a:pPr lvl="1"/>
            <a:r>
              <a:rPr sz="1800" b="1" i="1"/>
              <a:t>&lt;detail&gt;</a:t>
            </a:r>
            <a:r>
              <a:rPr sz="1800"/>
              <a:t> : Zone répétée pour chaque donnée. Possibilité de </a:t>
            </a:r>
            <a:r>
              <a:rPr sz="1800"/>
              <a:t>définir plusieurs sections </a:t>
            </a:r>
            <a:r>
              <a:rPr sz="1800" i="1"/>
              <a:t>&lt;detail&gt;</a:t>
            </a:r>
          </a:p>
          <a:p>
            <a:pPr lvl="1"/>
            <a:r>
              <a:rPr sz="1800" b="1" i="1"/>
              <a:t>&lt;lastPageFooter&gt;</a:t>
            </a:r>
            <a:r>
              <a:rPr sz="1800" b="1"/>
              <a:t> </a:t>
            </a:r>
            <a:r>
              <a:rPr sz="1800"/>
              <a:t>: Pied de page pour la dernière page</a:t>
            </a:r>
          </a:p>
          <a:p>
            <a:pPr lvl="1"/>
            <a:r>
              <a:rPr sz="1800" b="1" i="1"/>
              <a:t>&lt;summary&gt;</a:t>
            </a:r>
            <a:r>
              <a:rPr sz="1800"/>
              <a:t> : Affiché à la fin du rapport</a:t>
            </a:r>
          </a:p>
          <a:p>
            <a:pPr lvl="1"/>
            <a:r>
              <a:rPr sz="1800" b="1" i="1"/>
              <a:t>&lt;noData&gt;</a:t>
            </a:r>
            <a:r>
              <a:rPr sz="1800"/>
              <a:t> : Texte alternatif lorsqu'il n'y a pas de données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Bandes par défaut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215" y="2661901"/>
            <a:ext cx="5886233" cy="400992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Attributs d'une bande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1600"/>
              <a:t>Attribut </a:t>
            </a:r>
            <a:r>
              <a:rPr sz="1600" b="1" i="1"/>
              <a:t>height</a:t>
            </a:r>
          </a:p>
          <a:p>
            <a:pPr lvl="1"/>
            <a:r>
              <a:rPr sz="1600"/>
              <a:t>C'est la hauteur de la bande dans la vue design. Cette hauteur peut varier </a:t>
            </a:r>
            <a:r>
              <a:rPr sz="1600"/>
              <a:t>lors de la fusion de données (si les données dépassent la hauteur spécifiée). </a:t>
            </a:r>
            <a:r>
              <a:rPr sz="1600"/>
              <a:t>C'est donc la hauteur minimale de la bande à la génération. </a:t>
            </a:r>
          </a:p>
          <a:p>
            <a:pPr lvl="1"/>
            <a:r>
              <a:rPr sz="1600"/>
              <a:t>Lorsque cette valeur est modifiée, </a:t>
            </a:r>
            <a:r>
              <a:rPr sz="1600" i="1"/>
              <a:t>JasperStudio</a:t>
            </a:r>
            <a:r>
              <a:rPr sz="1600"/>
              <a:t> vérifie si la valeur est </a:t>
            </a:r>
            <a:r>
              <a:rPr sz="1600"/>
              <a:t>acceptable en fonction des éléments que la bande contient.</a:t>
            </a:r>
          </a:p>
          <a:p>
            <a:pPr/>
            <a:r>
              <a:rPr sz="1600"/>
              <a:t>Attribut </a:t>
            </a:r>
            <a:r>
              <a:rPr sz="1600" b="1" i="1"/>
              <a:t>printWhenExpression</a:t>
            </a:r>
          </a:p>
          <a:p>
            <a:pPr lvl="1"/>
            <a:r>
              <a:rPr sz="1600"/>
              <a:t>Expression booléenne permettant de cacher la bande </a:t>
            </a:r>
          </a:p>
          <a:p>
            <a:pPr lvl="1"/>
            <a:r>
              <a:rPr sz="1600"/>
              <a:t>L'expression est évaluée à chaque fois que la bande est utilisée lors de la </a:t>
            </a:r>
            <a:r>
              <a:rPr sz="1600"/>
              <a:t>génération. (1 fois pour le titre, à chaque page pour l'entête de page, à </a:t>
            </a:r>
            <a:r>
              <a:rPr sz="1600"/>
              <a:t>chaque enregistrement pour le détail).</a:t>
            </a:r>
          </a:p>
          <a:p>
            <a:pPr/>
            <a:r>
              <a:rPr sz="1600"/>
              <a:t>Attribut </a:t>
            </a:r>
            <a:r>
              <a:rPr sz="1600" b="1" i="1"/>
              <a:t>splitType</a:t>
            </a:r>
            <a:r>
              <a:rPr sz="1600"/>
              <a:t> (anciennement </a:t>
            </a:r>
            <a:r>
              <a:rPr sz="1600" b="1" i="1"/>
              <a:t>isSplitAllowed</a:t>
            </a:r>
            <a:r>
              <a:rPr sz="1600"/>
              <a:t>)</a:t>
            </a:r>
          </a:p>
          <a:p>
            <a:pPr lvl="1"/>
            <a:r>
              <a:rPr sz="1600" b="1" i="1"/>
              <a:t>stretch</a:t>
            </a:r>
            <a:r>
              <a:rPr sz="1600"/>
              <a:t>: La bande est divisée sur différentes pages seulement si son </a:t>
            </a:r>
            <a:r>
              <a:rPr sz="1600"/>
              <a:t>contenu dépasse la hauteur précisée.</a:t>
            </a:r>
          </a:p>
          <a:p>
            <a:pPr lvl="1"/>
            <a:r>
              <a:rPr sz="1600" b="1" i="1"/>
              <a:t>prevent</a:t>
            </a:r>
            <a:r>
              <a:rPr sz="1600"/>
              <a:t> : La bande n'est pas divisée. (Seulement si sa taille dépasse la </a:t>
            </a:r>
            <a:r>
              <a:rPr sz="1600"/>
              <a:t>taille d'une page) </a:t>
            </a:r>
          </a:p>
          <a:p>
            <a:pPr lvl="1"/>
            <a:r>
              <a:rPr sz="1600" b="1" i="1"/>
              <a:t>immediate</a:t>
            </a:r>
            <a:r>
              <a:rPr sz="1600"/>
              <a:t> : La bande peut être divisée.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Colonnes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Les bandes pilotées par les enregistrements de la source de </a:t>
            </a:r>
            <a:r>
              <a:rPr sz="2000"/>
              <a:t>données (détail, groupe, sous-rapport, …) peuvent être </a:t>
            </a:r>
            <a:r>
              <a:rPr sz="2000"/>
              <a:t>organisées en colonnes afin d'optimiser l'espace disponible. </a:t>
            </a:r>
          </a:p>
          <a:p>
            <a:pPr/>
            <a:r>
              <a:rPr sz="2000"/>
              <a:t>L'attribut </a:t>
            </a:r>
            <a:r>
              <a:rPr sz="2000" b="1" i="1"/>
              <a:t>columnCount</a:t>
            </a:r>
            <a:r>
              <a:rPr sz="2000"/>
              <a:t> du rapport permet donc de fixer le </a:t>
            </a:r>
            <a:r>
              <a:rPr sz="2000"/>
              <a:t>nombre de colonnes : </a:t>
            </a:r>
          </a:p>
          <a:p>
            <a:pPr lvl="1"/>
            <a:r>
              <a:rPr sz="2000"/>
              <a:t>Le remplissage des colonnes peut alors être vertical </a:t>
            </a:r>
            <a:r>
              <a:rPr sz="2000"/>
              <a:t>ou horizontal (Orientation)</a:t>
            </a:r>
          </a:p>
          <a:p>
            <a:pPr lvl="1"/>
            <a:r>
              <a:rPr sz="2000"/>
              <a:t>La somme des marges, des largeurs de colonnes </a:t>
            </a:r>
            <a:r>
              <a:rPr sz="2000"/>
              <a:t>(</a:t>
            </a:r>
            <a:r>
              <a:rPr sz="2000" i="1"/>
              <a:t>columnWidth</a:t>
            </a:r>
            <a:r>
              <a:rPr sz="2000"/>
              <a:t>) et de chaque espace entre les </a:t>
            </a:r>
            <a:r>
              <a:rPr sz="2000"/>
              <a:t>colonnes doit être inférieure à la largeur de la page, </a:t>
            </a:r>
            <a:r>
              <a:rPr sz="2000"/>
              <a:t>sinon des erreurs de compilation peuvent apparaître.</a:t>
            </a:r>
          </a:p>
          <a:p>
            <a:pPr lvl="1"/>
            <a:r>
              <a:rPr sz="2000"/>
              <a:t>Lors du design, les éléments (champs, images, etc...) </a:t>
            </a:r>
            <a:r>
              <a:rPr sz="2000"/>
              <a:t>sont placés uniquement dans la première colonne.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Design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62" y="2330450"/>
            <a:ext cx="9357360" cy="4678331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536" y="625024"/>
            <a:ext cx="4991278" cy="693497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Composition de 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Dimension et bandes </a:t>
            </a:r>
          </a:p>
          <a:p>
            <a:pPr marL="0" indent="0" algn="ctr">
              <a:buNone/>
            </a:pPr>
            <a:r>
              <a:rPr sz="3200" b="1"/>
              <a:t>Éléments simples</a:t>
            </a:r>
          </a:p>
          <a:p>
            <a:pPr marL="0" indent="0" algn="ctr">
              <a:buNone/>
            </a:pPr>
            <a:r>
              <a:rPr sz="3200"/>
              <a:t>Paramètres, expressions, variables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Les éléments d'un rapport sont des objets </a:t>
            </a:r>
            <a:r>
              <a:rPr sz="2400"/>
              <a:t>d’affichage (Texte, Image, Forme, Graphique, …) </a:t>
            </a:r>
            <a:r>
              <a:rPr sz="2400"/>
              <a:t>qui peuvent être dimensionnés, alignés, formatés </a:t>
            </a:r>
            <a:r>
              <a:rPr sz="2400"/>
              <a:t>etc. </a:t>
            </a:r>
          </a:p>
          <a:p>
            <a:pPr/>
            <a:r>
              <a:rPr sz="2400"/>
              <a:t>Tout contenu est créé via ces éléments.</a:t>
            </a:r>
          </a:p>
          <a:p>
            <a:pPr/>
            <a:r>
              <a:rPr sz="2400"/>
              <a:t>La palette de </a:t>
            </a:r>
            <a:r>
              <a:rPr sz="2400" i="1"/>
              <a:t>jasperStudio</a:t>
            </a:r>
            <a:r>
              <a:rPr sz="2400"/>
              <a:t> proposent un certain </a:t>
            </a:r>
            <a:r>
              <a:rPr sz="2400"/>
              <a:t>nombres d'éléments :</a:t>
            </a:r>
          </a:p>
          <a:p>
            <a:pPr lvl="1"/>
            <a:r>
              <a:rPr sz="2000"/>
              <a:t>Ligne, Rectangle, Ellipse, Texte statique, Champ texte, </a:t>
            </a:r>
            <a:r>
              <a:rPr sz="2000"/>
              <a:t>Image, Cadre, Sous-rapport, Tableau, Liste, Tableau </a:t>
            </a:r>
            <a:r>
              <a:rPr sz="2000"/>
              <a:t>croisé, Graphique, Saut de page ou colonne </a:t>
            </a:r>
          </a:p>
          <a:p>
            <a:pPr/>
            <a:r>
              <a:rPr sz="2400"/>
              <a:t>Finalement, il est également possible d'étendre la </a:t>
            </a:r>
            <a:r>
              <a:rPr sz="2400"/>
              <a:t>bibliothèque d'éléments avec du code java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Hiérarchie des éléments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115" y="2229246"/>
            <a:ext cx="9352108" cy="1111787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400"/>
              <a:t>Les éléments sont organisés hiérarchiquement ; ils ont </a:t>
            </a:r>
            <a:r>
              <a:rPr sz="2400"/>
              <a:t>tous des propriétés communes et chaque niveau de </a:t>
            </a:r>
            <a:r>
              <a:rPr sz="2400"/>
              <a:t>la hiérarchie apporte ses spécificités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37" y="3366434"/>
            <a:ext cx="8031835" cy="419356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Positionnement et taille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Les éléments sont positionnés via </a:t>
            </a:r>
            <a:r>
              <a:rPr sz="3200"/>
              <a:t>leurs attributs </a:t>
            </a:r>
            <a:r>
              <a:rPr sz="3200" b="1" i="1"/>
              <a:t>top</a:t>
            </a:r>
            <a:r>
              <a:rPr sz="3200"/>
              <a:t> et </a:t>
            </a:r>
            <a:r>
              <a:rPr sz="3200" b="1" i="1"/>
              <a:t>left</a:t>
            </a:r>
          </a:p>
          <a:p>
            <a:pPr lvl="1"/>
            <a:r>
              <a:rPr sz="2800"/>
              <a:t>Ces valeurs sont relatives au container </a:t>
            </a:r>
            <a:r>
              <a:rPr sz="2800"/>
              <a:t>parent (bande ou frame)</a:t>
            </a:r>
          </a:p>
          <a:p>
            <a:pPr marL="0" indent="0">
              <a:buNone/>
            </a:pPr>
            <a:r>
              <a:rPr sz="3200"/>
              <a:t>=&gt; Il est impossible de positionner un </a:t>
            </a:r>
          </a:p>
          <a:p>
            <a:pPr marL="0" indent="0">
              <a:buNone/>
            </a:pPr>
            <a:r>
              <a:rPr sz="3200"/>
              <a:t>élément à cheval sur deux bandes</a:t>
            </a:r>
          </a:p>
          <a:p>
            <a:pPr/>
            <a:r>
              <a:rPr sz="3200"/>
              <a:t>La taille de l’élément est spécifié par </a:t>
            </a:r>
            <a:r>
              <a:rPr sz="3200"/>
              <a:t>les attributs </a:t>
            </a:r>
            <a:r>
              <a:rPr sz="3200" b="1" i="1"/>
              <a:t>width</a:t>
            </a:r>
            <a:r>
              <a:rPr sz="3200"/>
              <a:t> et </a:t>
            </a:r>
            <a:r>
              <a:rPr sz="3200" b="1" i="1"/>
              <a:t>height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3200"/>
              <a:t>Les éléments pouvant contenir d’autres </a:t>
            </a:r>
            <a:r>
              <a:rPr sz="3200"/>
              <a:t>éléments comme les bandes, les </a:t>
            </a:r>
            <a:r>
              <a:rPr sz="3200"/>
              <a:t>cadres, les cellules de table ou de </a:t>
            </a:r>
            <a:r>
              <a:rPr sz="3200"/>
              <a:t>tableau croisé peuvent être associés à </a:t>
            </a:r>
            <a:r>
              <a:rPr sz="3200"/>
              <a:t>des </a:t>
            </a:r>
            <a:r>
              <a:rPr sz="3200" b="1" i="1"/>
              <a:t>layouts</a:t>
            </a:r>
            <a:r>
              <a:rPr sz="3200"/>
              <a:t>.</a:t>
            </a:r>
          </a:p>
          <a:p>
            <a:pPr marL="0" indent="0">
              <a:buNone/>
            </a:pPr>
            <a:r>
              <a:rPr sz="3200"/>
              <a:t>Les layouts ont des impacts sur la taille </a:t>
            </a:r>
            <a:r>
              <a:rPr sz="3200"/>
              <a:t>et le positionnement des éléments à </a:t>
            </a:r>
            <a:r>
              <a:rPr sz="3200"/>
              <a:t>l’intérieur du conteneur. 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Types de layouts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400"/>
              <a:t>JasperStudio propose 4 types de layout :</a:t>
            </a:r>
          </a:p>
          <a:p>
            <a:pPr lvl="1"/>
            <a:r>
              <a:rPr sz="2100" b="1" i="1"/>
              <a:t>Free layout (défaut)</a:t>
            </a:r>
            <a:r>
              <a:rPr sz="2100"/>
              <a:t> : Le développeur chosit </a:t>
            </a:r>
            <a:r>
              <a:rPr sz="2100"/>
              <a:t>librement la taille et la position des sous-éléments</a:t>
            </a:r>
          </a:p>
          <a:p>
            <a:pPr lvl="1"/>
            <a:r>
              <a:rPr sz="2100" b="1" i="1"/>
              <a:t>Horizontal</a:t>
            </a:r>
            <a:r>
              <a:rPr sz="2100"/>
              <a:t> </a:t>
            </a:r>
            <a:r>
              <a:rPr sz="2100" b="1" i="1"/>
              <a:t>layout</a:t>
            </a:r>
            <a:r>
              <a:rPr sz="2100"/>
              <a:t> : Les éléments sont disposés </a:t>
            </a:r>
            <a:r>
              <a:rPr sz="2100"/>
              <a:t>horizontalement dans le conteneur. Ils ont tous la </a:t>
            </a:r>
            <a:r>
              <a:rPr sz="2100"/>
              <a:t>même largeur </a:t>
            </a:r>
          </a:p>
          <a:p>
            <a:pPr lvl="1"/>
            <a:r>
              <a:rPr sz="2100" b="1" i="1"/>
              <a:t>Vertical</a:t>
            </a:r>
            <a:r>
              <a:rPr sz="2100"/>
              <a:t> </a:t>
            </a:r>
            <a:r>
              <a:rPr sz="2100" b="1" i="1"/>
              <a:t>layout</a:t>
            </a:r>
            <a:r>
              <a:rPr sz="2100"/>
              <a:t> : Les éléments sont disposés </a:t>
            </a:r>
            <a:r>
              <a:rPr sz="2100"/>
              <a:t>verticalement dans le conteneur. Ils ont tous la même </a:t>
            </a:r>
            <a:r>
              <a:rPr sz="2100"/>
              <a:t>hauteur</a:t>
            </a:r>
          </a:p>
          <a:p>
            <a:pPr lvl="1"/>
            <a:r>
              <a:rPr sz="2100" b="1" i="1"/>
              <a:t>Grid</a:t>
            </a:r>
            <a:r>
              <a:rPr sz="2100"/>
              <a:t> </a:t>
            </a:r>
            <a:r>
              <a:rPr sz="2100" b="1" i="1"/>
              <a:t>layout</a:t>
            </a:r>
            <a:r>
              <a:rPr sz="2100"/>
              <a:t> : Le conteneur spécifie un nombre de </a:t>
            </a:r>
            <a:r>
              <a:rPr sz="2100"/>
              <a:t>lignes et de colonnes et chaque élément indique sa </a:t>
            </a:r>
            <a:r>
              <a:rPr sz="2100"/>
              <a:t>position vis à vis de cette grille. Les cellules de la </a:t>
            </a:r>
            <a:r>
              <a:rPr sz="2100"/>
              <a:t>grille peuvent être fusionnées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Outils de formattage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536" y="2330450"/>
            <a:ext cx="4576915" cy="4906576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Outils de formattage (2)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1882" y="2266655"/>
          <a:ext cx="8747632" cy="467919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19399"/>
                <a:gridCol w="4264914"/>
                <a:gridCol w="1363319"/>
              </a:tblGrid>
              <a:tr h="455317">
                <a:tc>
                  <a:txBody>
                    <a:bodyPr wrap="square"/>
                    <a:lstStyle/>
                    <a:p>
                      <a:r>
                        <a:rPr sz="1800" b="1"/>
                        <a:t>Outil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Multi</a:t>
                      </a:r>
                    </a:p>
                  </a:txBody>
                  <a:tcPr marL="50800" marR="50800" marT="25400" marB="25400"/>
                </a:tc>
              </a:tr>
              <a:tr h="642594">
                <a:tc>
                  <a:txBody>
                    <a:bodyPr wrap="square"/>
                    <a:lstStyle/>
                    <a:p>
                      <a:r>
                        <a:rPr sz="1800"/>
                        <a:t>Align (left, right, top, bottom)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Aligne en fonction des côtés du 1er élément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X</a:t>
                      </a:r>
                    </a:p>
                  </a:txBody>
                  <a:tcPr marL="50800" marR="50800" marT="25400" marB="25400"/>
                </a:tc>
              </a:tr>
              <a:tr h="642594">
                <a:tc>
                  <a:txBody>
                    <a:bodyPr wrap="square"/>
                    <a:lstStyle/>
                    <a:p>
                      <a:r>
                        <a:rPr sz="1800"/>
                        <a:t>Align Axis (horizontal, vertical)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Aligne en fonction des axes du 1er élément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X</a:t>
                      </a:r>
                    </a:p>
                  </a:txBody>
                  <a:tcPr marL="50800" marR="50800" marT="25400" marB="25400"/>
                </a:tc>
              </a:tr>
              <a:tr h="368287">
                <a:tc>
                  <a:txBody>
                    <a:bodyPr wrap="square"/>
                    <a:lstStyle/>
                    <a:p>
                      <a:r>
                        <a:rPr sz="1800"/>
                        <a:t>Align band (top, bottom)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Aligne en fonction de la bande parente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/>
                      </a:r>
                    </a:p>
                  </a:txBody>
                  <a:tcPr marL="50800" marR="50800" marT="25400" marB="25400"/>
                </a:tc>
              </a:tr>
              <a:tr h="642594">
                <a:tc>
                  <a:txBody>
                    <a:bodyPr wrap="square"/>
                    <a:lstStyle/>
                    <a:p>
                      <a:r>
                        <a:rPr sz="1800"/>
                        <a:t>Same (width, height, size)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Fixe les dimensions par rapport au 1er élément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x</a:t>
                      </a:r>
                    </a:p>
                  </a:txBody>
                  <a:tcPr marL="50800" marR="50800" marT="25400" marB="25400"/>
                </a:tc>
              </a:tr>
              <a:tr h="642607">
                <a:tc>
                  <a:txBody>
                    <a:bodyPr wrap="square"/>
                    <a:lstStyle/>
                    <a:p>
                      <a:r>
                        <a:rPr sz="1800"/>
                        <a:t>Same max (width,height)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Fixe les dimensions par rapport à l'élément le plus grand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x</a:t>
                      </a:r>
                    </a:p>
                  </a:txBody>
                  <a:tcPr marL="50800" marR="50800" marT="25400" marB="25400"/>
                </a:tc>
              </a:tr>
              <a:tr h="642594">
                <a:tc>
                  <a:txBody>
                    <a:bodyPr wrap="square"/>
                    <a:lstStyle/>
                    <a:p>
                      <a:r>
                        <a:rPr sz="1800"/>
                        <a:t>Same min (width,height)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Fixe les dimensions par rapport à l'élément le plus petit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x</a:t>
                      </a:r>
                    </a:p>
                  </a:txBody>
                  <a:tcPr marL="50800" marR="50800" marT="25400" marB="25400"/>
                </a:tc>
              </a:tr>
              <a:tr h="642607">
                <a:tc>
                  <a:txBody>
                    <a:bodyPr wrap="square"/>
                    <a:lstStyle/>
                    <a:p>
                      <a:r>
                        <a:rPr sz="1800"/>
                        <a:t>Center (horizontally, vertically)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Centre par rapport au container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/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Outils de formattage (3)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1882" y="2266655"/>
          <a:ext cx="8442362" cy="348794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14116"/>
                <a:gridCol w="4303077"/>
                <a:gridCol w="1325169"/>
              </a:tblGrid>
              <a:tr h="455317">
                <a:tc>
                  <a:txBody>
                    <a:bodyPr wrap="square"/>
                    <a:lstStyle/>
                    <a:p>
                      <a:r>
                        <a:rPr sz="1800" b="1"/>
                        <a:t>Outil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Multi</a:t>
                      </a:r>
                    </a:p>
                  </a:txBody>
                  <a:tcPr marL="50800" marR="50800" marT="25400" marB="25400"/>
                </a:tc>
              </a:tr>
              <a:tr h="642594">
                <a:tc>
                  <a:txBody>
                    <a:bodyPr wrap="square"/>
                    <a:lstStyle/>
                    <a:p>
                      <a:r>
                        <a:rPr sz="1800"/>
                        <a:t>Center in background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Centre par rapport à la page et positionne dans le fond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/>
                      </a:r>
                    </a:p>
                  </a:txBody>
                  <a:tcPr marL="50800" marR="50800" marT="25400" marB="25400"/>
                </a:tc>
              </a:tr>
              <a:tr h="368274">
                <a:tc>
                  <a:txBody>
                    <a:bodyPr wrap="square"/>
                    <a:lstStyle/>
                    <a:p>
                      <a:r>
                        <a:rPr sz="1800"/>
                        <a:t>Join sides (right, left)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Juxtapose horizontalement les éléments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x</a:t>
                      </a:r>
                    </a:p>
                  </a:txBody>
                  <a:tcPr marL="50800" marR="50800" marT="25400" marB="25400"/>
                </a:tc>
              </a:tr>
              <a:tr h="642607">
                <a:tc>
                  <a:txBody>
                    <a:bodyPr wrap="square"/>
                    <a:lstStyle/>
                    <a:p>
                      <a:r>
                        <a:rPr sz="1800"/>
                        <a:t>Horizontal space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Modifie les espaces horizontaux entre éléments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x</a:t>
                      </a:r>
                    </a:p>
                  </a:txBody>
                  <a:tcPr marL="50800" marR="50800" marT="25400" marB="25400"/>
                </a:tc>
              </a:tr>
              <a:tr h="642594">
                <a:tc>
                  <a:txBody>
                    <a:bodyPr wrap="square"/>
                    <a:lstStyle/>
                    <a:p>
                      <a:r>
                        <a:rPr sz="1800"/>
                        <a:t>Vertical space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Modifie les espaces verticaux entre éléments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x</a:t>
                      </a:r>
                    </a:p>
                  </a:txBody>
                  <a:tcPr marL="50800" marR="50800" marT="25400" marB="25400"/>
                </a:tc>
              </a:tr>
              <a:tr h="368287">
                <a:tc>
                  <a:txBody>
                    <a:bodyPr wrap="square"/>
                    <a:lstStyle/>
                    <a:p>
                      <a:r>
                        <a:rPr sz="1800"/>
                        <a:t>Adapt to parent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Redimensionne en fonction du parent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/>
                      </a:r>
                    </a:p>
                  </a:txBody>
                  <a:tcPr marL="50800" marR="50800" marT="25400" marB="25400"/>
                </a:tc>
              </a:tr>
              <a:tr h="368274">
                <a:tc>
                  <a:txBody>
                    <a:bodyPr wrap="square"/>
                    <a:lstStyle/>
                    <a:p>
                      <a:r>
                        <a:rPr sz="1800"/>
                        <a:t>Organize as table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Espace les éléments de façon égale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x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Axe 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L'ordre des éléments d'une bande est important </a:t>
            </a:r>
            <a:r>
              <a:rPr sz="2400"/>
              <a:t>car il définit l'ordre d'impression. </a:t>
            </a:r>
            <a:r>
              <a:rPr sz="2400"/>
              <a:t>C'est le </a:t>
            </a:r>
            <a:r>
              <a:rPr sz="2400" b="1"/>
              <a:t>z-index</a:t>
            </a:r>
            <a:r>
              <a:rPr sz="2400"/>
              <a:t>.</a:t>
            </a:r>
          </a:p>
          <a:p>
            <a:pPr lvl="1"/>
            <a:r>
              <a:rPr sz="2400"/>
              <a:t>Si les postions d'un élément se superposent </a:t>
            </a:r>
            <a:r>
              <a:rPr sz="2400"/>
              <a:t>avec celles d'un de ces prédécesseurs, il </a:t>
            </a:r>
            <a:r>
              <a:rPr sz="2400"/>
              <a:t>risque de le recouvrir lors de l'impression. </a:t>
            </a:r>
          </a:p>
          <a:p>
            <a:pPr lvl="1"/>
            <a:r>
              <a:rPr sz="2400"/>
              <a:t>Dans d'autres situations, on peut prévoir deux </a:t>
            </a:r>
            <a:r>
              <a:rPr sz="2400"/>
              <a:t>éléments à la même position mais un seul </a:t>
            </a:r>
            <a:r>
              <a:rPr sz="2400"/>
              <a:t>est affiché grâce à l'attribut </a:t>
            </a:r>
            <a:r>
              <a:rPr sz="2400" i="1"/>
              <a:t>printWhenExpression.</a:t>
            </a:r>
          </a:p>
          <a:p>
            <a:pPr lvl="1"/>
            <a:r>
              <a:rPr sz="2400"/>
              <a:t>Certains exporters, comme l'exporter HTML ne </a:t>
            </a:r>
            <a:r>
              <a:rPr sz="2400"/>
              <a:t>supportent pas les éléments superposés et </a:t>
            </a:r>
            <a:r>
              <a:rPr sz="2400"/>
              <a:t>donc les ignore.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Attributs des éléments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 b="1" i="1"/>
              <a:t>key</a:t>
            </a:r>
            <a:r>
              <a:rPr sz="2800" i="1"/>
              <a:t> : </a:t>
            </a:r>
            <a:r>
              <a:rPr sz="2800"/>
              <a:t>Nom unique de l'élément </a:t>
            </a:r>
          </a:p>
          <a:p>
            <a:pPr/>
            <a:r>
              <a:rPr sz="2800" b="1" i="1"/>
              <a:t>x, y</a:t>
            </a:r>
            <a:r>
              <a:rPr sz="2800" b="1"/>
              <a:t>, </a:t>
            </a:r>
            <a:r>
              <a:rPr sz="2800" b="1" i="1"/>
              <a:t>width</a:t>
            </a:r>
            <a:r>
              <a:rPr sz="2800" b="1"/>
              <a:t>, </a:t>
            </a:r>
            <a:r>
              <a:rPr sz="2800" b="1" i="1"/>
              <a:t>height </a:t>
            </a:r>
            <a:r>
              <a:rPr sz="2800" i="1"/>
              <a:t>: </a:t>
            </a:r>
            <a:r>
              <a:rPr sz="2800"/>
              <a:t>Positions </a:t>
            </a:r>
          </a:p>
          <a:p>
            <a:pPr/>
            <a:r>
              <a:rPr sz="2800" b="1" i="1"/>
              <a:t>foreground</a:t>
            </a:r>
            <a:r>
              <a:rPr sz="2800" b="1"/>
              <a:t>, </a:t>
            </a:r>
            <a:r>
              <a:rPr sz="2800" b="1" i="1"/>
              <a:t>background</a:t>
            </a:r>
            <a:r>
              <a:rPr sz="2800" b="1"/>
              <a:t>, </a:t>
            </a:r>
            <a:r>
              <a:rPr sz="2800" b="1" i="1"/>
              <a:t>opaque</a:t>
            </a:r>
            <a:r>
              <a:rPr sz="2800" i="1"/>
              <a:t> : </a:t>
            </a:r>
            <a:r>
              <a:rPr sz="2800"/>
              <a:t>Couleurs </a:t>
            </a:r>
          </a:p>
          <a:p>
            <a:pPr/>
            <a:r>
              <a:rPr sz="2800" b="1" i="1"/>
              <a:t>style</a:t>
            </a:r>
            <a:r>
              <a:rPr sz="2800" i="1"/>
              <a:t> : </a:t>
            </a:r>
            <a:r>
              <a:rPr sz="2800"/>
              <a:t>Style de l'élément.</a:t>
            </a:r>
          </a:p>
          <a:p>
            <a:pPr/>
            <a:r>
              <a:rPr sz="2800" b="1" i="1"/>
              <a:t>isRemoveLineWhenBlank</a:t>
            </a:r>
            <a:r>
              <a:rPr sz="2800" i="1"/>
              <a:t> : </a:t>
            </a:r>
            <a:r>
              <a:rPr sz="2800"/>
              <a:t>Suppression </a:t>
            </a:r>
            <a:r>
              <a:rPr sz="2800"/>
              <a:t>de l'espace si l'élément est vide </a:t>
            </a:r>
          </a:p>
          <a:p>
            <a:pPr/>
            <a:r>
              <a:rPr sz="2800" b="1" i="1"/>
              <a:t>properties</a:t>
            </a:r>
            <a:r>
              <a:rPr sz="2800" i="1"/>
              <a:t> </a:t>
            </a:r>
            <a:r>
              <a:rPr sz="2800"/>
              <a:t>: Propriétés arbitraires de </a:t>
            </a:r>
            <a:r>
              <a:rPr sz="2800"/>
              <a:t>l'élément.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Type de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/>
              <a:t>L'attribut </a:t>
            </a:r>
            <a:r>
              <a:rPr sz="2600" b="1" i="1"/>
              <a:t>PositionType</a:t>
            </a:r>
            <a:r>
              <a:rPr sz="2600"/>
              <a:t> détermine comment </a:t>
            </a:r>
            <a:r>
              <a:rPr sz="2600"/>
              <a:t>les coordonnées sont modifiées lorsque la </a:t>
            </a:r>
            <a:r>
              <a:rPr sz="2600"/>
              <a:t>hauteur de la bande change (lors de la fusion </a:t>
            </a:r>
            <a:r>
              <a:rPr sz="2600"/>
              <a:t>de données).</a:t>
            </a:r>
          </a:p>
          <a:p>
            <a:pPr/>
            <a:r>
              <a:rPr sz="2600"/>
              <a:t>3 valeurs sont possibles :</a:t>
            </a:r>
          </a:p>
          <a:p>
            <a:pPr lvl="1"/>
            <a:r>
              <a:rPr sz="2200" b="1" i="1"/>
              <a:t>FixRelativeToTop</a:t>
            </a:r>
            <a:r>
              <a:rPr sz="2200"/>
              <a:t> : Valeur par défaut, les </a:t>
            </a:r>
            <a:r>
              <a:rPr sz="2200"/>
              <a:t>coordonnées ne changent jamais. </a:t>
            </a:r>
          </a:p>
          <a:p>
            <a:pPr lvl="1"/>
            <a:r>
              <a:rPr sz="2200" b="1" i="1"/>
              <a:t>Float</a:t>
            </a:r>
            <a:r>
              <a:rPr sz="2200"/>
              <a:t> : L'élément est progressivement déplacé </a:t>
            </a:r>
            <a:r>
              <a:rPr sz="2200"/>
              <a:t>vers le bas par les éléments précédents qui </a:t>
            </a:r>
            <a:r>
              <a:rPr sz="2200"/>
              <a:t>augmente leur taille</a:t>
            </a:r>
          </a:p>
          <a:p>
            <a:pPr lvl="1"/>
            <a:r>
              <a:rPr sz="2200" b="1" i="1"/>
              <a:t>FixRelativeToBot</a:t>
            </a:r>
            <a:r>
              <a:rPr sz="2200"/>
              <a:t> : La distance entre l'élément </a:t>
            </a:r>
            <a:r>
              <a:rPr sz="2200"/>
              <a:t>et le bas de la bande reste constant.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StretchType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L'attribut </a:t>
            </a:r>
            <a:r>
              <a:rPr sz="2200" b="1" i="1"/>
              <a:t>StretchType</a:t>
            </a:r>
            <a:r>
              <a:rPr sz="2200"/>
              <a:t> définit comment calculer la </a:t>
            </a:r>
            <a:r>
              <a:rPr sz="2200"/>
              <a:t>hauteur de l'élément durant l'impression.</a:t>
            </a:r>
          </a:p>
          <a:p>
            <a:pPr/>
            <a:r>
              <a:rPr sz="2200"/>
              <a:t>3 valeurs sont possibles :</a:t>
            </a:r>
          </a:p>
          <a:p>
            <a:pPr lvl="1"/>
            <a:r>
              <a:rPr sz="2200" b="1" i="1"/>
              <a:t>NoStretch</a:t>
            </a:r>
            <a:r>
              <a:rPr sz="2200"/>
              <a:t> : Valeur par défaut. La hauteur ne doit </a:t>
            </a:r>
            <a:r>
              <a:rPr sz="2200"/>
              <a:t>pas changer</a:t>
            </a:r>
          </a:p>
          <a:p>
            <a:pPr lvl="1"/>
            <a:r>
              <a:rPr sz="2200" b="1" i="1"/>
              <a:t>RelativeToBandHeight</a:t>
            </a:r>
            <a:r>
              <a:rPr sz="2200"/>
              <a:t> : La hauteur de l'élément </a:t>
            </a:r>
            <a:r>
              <a:rPr sz="2200"/>
              <a:t>est augmentée proportionnellement à </a:t>
            </a:r>
            <a:r>
              <a:rPr sz="2200"/>
              <a:t>l'augmentation de la hauteur de la bande. (Utile </a:t>
            </a:r>
            <a:r>
              <a:rPr sz="2200"/>
              <a:t>pour les lignes verticales simulant des bordures de </a:t>
            </a:r>
            <a:r>
              <a:rPr sz="2200"/>
              <a:t>tableau)</a:t>
            </a:r>
          </a:p>
          <a:p>
            <a:pPr lvl="1"/>
            <a:r>
              <a:rPr sz="2200" b="1" i="1"/>
              <a:t>RelativeToTallestObject</a:t>
            </a:r>
            <a:r>
              <a:rPr sz="2200"/>
              <a:t> : La hauteur de l'élément </a:t>
            </a:r>
            <a:r>
              <a:rPr sz="2200"/>
              <a:t>est modifiée en fonction de la déformation du plus </a:t>
            </a:r>
            <a:r>
              <a:rPr sz="2200"/>
              <a:t>grand élément.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 b="1" i="1"/>
              <a:t>isPrintRepeatedValues</a:t>
            </a:r>
            <a:r>
              <a:rPr sz="2400"/>
              <a:t> : Impression si valeur </a:t>
            </a:r>
            <a:r>
              <a:rPr sz="2400"/>
              <a:t>égale au précédent enregistrement</a:t>
            </a:r>
          </a:p>
          <a:p>
            <a:pPr/>
            <a:r>
              <a:rPr sz="2400" b="1" i="1"/>
              <a:t>isPrintInFirstWholeBand</a:t>
            </a:r>
            <a:r>
              <a:rPr sz="2400"/>
              <a:t> : Garantit l'impression </a:t>
            </a:r>
            <a:r>
              <a:rPr sz="2400"/>
              <a:t>de l'élément lors d'une nouvelle page ou nouvelle </a:t>
            </a:r>
            <a:r>
              <a:rPr sz="2400"/>
              <a:t>colonne. </a:t>
            </a:r>
          </a:p>
          <a:p>
            <a:pPr/>
            <a:r>
              <a:rPr sz="2400" b="1" i="1"/>
              <a:t>isPrintWhenDetailOverflows</a:t>
            </a:r>
            <a:r>
              <a:rPr sz="2400"/>
              <a:t> : Imprimé sur la </a:t>
            </a:r>
            <a:r>
              <a:rPr sz="2400"/>
              <a:t>page suivante, lorsque la bande ne tient pas sur la </a:t>
            </a:r>
            <a:r>
              <a:rPr sz="2400"/>
              <a:t>page courante</a:t>
            </a:r>
          </a:p>
          <a:p>
            <a:pPr/>
            <a:r>
              <a:rPr sz="2400" b="1" i="1"/>
              <a:t>printWhenGroupChanges</a:t>
            </a:r>
            <a:r>
              <a:rPr sz="2400"/>
              <a:t> : Imprimé lors d'une </a:t>
            </a:r>
            <a:r>
              <a:rPr sz="2400"/>
              <a:t>rupture de groupe</a:t>
            </a:r>
          </a:p>
          <a:p>
            <a:pPr/>
            <a:r>
              <a:rPr sz="2400" b="1" i="1"/>
              <a:t>printWhenExpression</a:t>
            </a:r>
            <a:r>
              <a:rPr sz="2400"/>
              <a:t> : Expression booléenne </a:t>
            </a:r>
            <a:r>
              <a:rPr sz="2400"/>
              <a:t>conditionnant l'impression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Éléments graphiques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Les éléments graphiques sont :</a:t>
            </a:r>
          </a:p>
          <a:p>
            <a:pPr lvl="1"/>
            <a:r>
              <a:rPr sz="2800"/>
              <a:t>Les ligne</a:t>
            </a:r>
          </a:p>
          <a:p>
            <a:pPr lvl="1"/>
            <a:r>
              <a:rPr sz="2800"/>
              <a:t>Les rectangles</a:t>
            </a:r>
          </a:p>
          <a:p>
            <a:pPr lvl="1"/>
            <a:r>
              <a:rPr sz="2800"/>
              <a:t>Les ellipses</a:t>
            </a:r>
          </a:p>
          <a:p>
            <a:pPr/>
            <a:r>
              <a:rPr sz="3200"/>
              <a:t>Ces éléments ont des attributs </a:t>
            </a:r>
            <a:r>
              <a:rPr sz="3200"/>
              <a:t>supplémentaires communs</a:t>
            </a:r>
          </a:p>
          <a:p>
            <a:pPr lvl="1"/>
            <a:r>
              <a:rPr sz="2800" b="1" i="1"/>
              <a:t>pen</a:t>
            </a:r>
            <a:r>
              <a:rPr sz="2800"/>
              <a:t> : Le trait dessinant la forme</a:t>
            </a:r>
          </a:p>
          <a:p>
            <a:pPr lvl="1"/>
            <a:r>
              <a:rPr sz="2800" b="1" i="1"/>
              <a:t>fill</a:t>
            </a:r>
            <a:r>
              <a:rPr sz="2800"/>
              <a:t> : Le remplissage de la forme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Ligne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38" y="2222435"/>
            <a:ext cx="9235617" cy="3567278"/>
          </a:xfrm>
        </p:spPr>
        <p:txBody>
          <a:bodyPr wrap="square">
            <a:normAutofit/>
          </a:bodyPr>
          <a:lstStyle/>
          <a:p>
            <a:pPr/>
            <a:r>
              <a:rPr sz="3200"/>
              <a:t>Une ligne est définie par la diagonale </a:t>
            </a:r>
            <a:r>
              <a:rPr sz="3200"/>
              <a:t>d'un rectangle</a:t>
            </a:r>
          </a:p>
          <a:p>
            <a:pPr/>
            <a:r>
              <a:rPr sz="3200"/>
              <a:t>L'attribut </a:t>
            </a:r>
            <a:r>
              <a:rPr sz="3200" b="1" i="1"/>
              <a:t>direction</a:t>
            </a:r>
            <a:r>
              <a:rPr sz="3200"/>
              <a:t> détermine la </a:t>
            </a:r>
            <a:r>
              <a:rPr sz="3200"/>
              <a:t>diagonale:</a:t>
            </a:r>
          </a:p>
          <a:p>
            <a:pPr lvl="1"/>
            <a:r>
              <a:rPr sz="2800" i="1"/>
              <a:t>TopDown</a:t>
            </a:r>
          </a:p>
          <a:p>
            <a:pPr lvl="1"/>
            <a:r>
              <a:rPr sz="2800" i="1"/>
              <a:t>BotttomUp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739" y="5901913"/>
            <a:ext cx="2733357" cy="117167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Rectangle / Rectangle arrondis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38" y="2222435"/>
            <a:ext cx="9014921" cy="1380685"/>
          </a:xfrm>
        </p:spPr>
        <p:txBody>
          <a:bodyPr wrap="square">
            <a:normAutofit/>
          </a:bodyPr>
          <a:lstStyle/>
          <a:p>
            <a:pPr/>
            <a:r>
              <a:rPr sz="3200"/>
              <a:t>Possibilité d'avoir des coins arrondis </a:t>
            </a:r>
            <a:r>
              <a:rPr sz="3200"/>
              <a:t>en utilisant l'attribut </a:t>
            </a:r>
            <a:r>
              <a:rPr sz="3200" b="1" i="1"/>
              <a:t>radius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739" y="5362264"/>
            <a:ext cx="2733357" cy="1171676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Ellipse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38" y="2222435"/>
            <a:ext cx="7850884" cy="1829249"/>
          </a:xfrm>
        </p:spPr>
        <p:txBody>
          <a:bodyPr wrap="square">
            <a:normAutofit/>
          </a:bodyPr>
          <a:lstStyle/>
          <a:p>
            <a:pPr/>
            <a:r>
              <a:rPr sz="3200"/>
              <a:t>Défini également à partir d'un </a:t>
            </a:r>
            <a:r>
              <a:rPr sz="3200"/>
              <a:t>rectangle, cet élément n'a pas </a:t>
            </a:r>
            <a:r>
              <a:rPr sz="3200"/>
              <a:t>d'attributs spécifiques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902" y="4820825"/>
            <a:ext cx="2733357" cy="1171676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Cadre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Un </a:t>
            </a:r>
            <a:r>
              <a:rPr sz="2400" b="1"/>
              <a:t>cadre</a:t>
            </a:r>
            <a:r>
              <a:rPr sz="2400"/>
              <a:t> (</a:t>
            </a:r>
            <a:r>
              <a:rPr sz="2400" i="1"/>
              <a:t>frame</a:t>
            </a:r>
            <a:r>
              <a:rPr sz="2400"/>
              <a:t>) est un élément qui contient </a:t>
            </a:r>
            <a:r>
              <a:rPr sz="2400"/>
              <a:t>d'autres éléments. Éventuellement, il peut définir </a:t>
            </a:r>
            <a:r>
              <a:rPr sz="2400"/>
              <a:t>une bordure </a:t>
            </a:r>
          </a:p>
          <a:p>
            <a:pPr/>
            <a:r>
              <a:rPr sz="2400"/>
              <a:t>On peut imbriquer autant de niveau que l'on veut.</a:t>
            </a:r>
          </a:p>
          <a:p>
            <a:pPr/>
            <a:r>
              <a:rPr sz="2400"/>
              <a:t>Par rapport à l'utilisation d'un rectangle, un cadre </a:t>
            </a:r>
            <a:r>
              <a:rPr sz="2400"/>
              <a:t>permet de :</a:t>
            </a:r>
          </a:p>
          <a:p>
            <a:pPr lvl="1"/>
            <a:r>
              <a:rPr sz="2000"/>
              <a:t>Déplacer tous les éléments du cadre en même temps</a:t>
            </a:r>
          </a:p>
          <a:p>
            <a:pPr lvl="1"/>
            <a:r>
              <a:rPr sz="2000"/>
              <a:t>Disposer automatiquement les éléments contenus via </a:t>
            </a:r>
            <a:r>
              <a:rPr sz="2000"/>
              <a:t>un layout particulier</a:t>
            </a:r>
          </a:p>
          <a:p>
            <a:pPr lvl="1"/>
            <a:r>
              <a:rPr sz="2000"/>
              <a:t>Pas besoin de jouer sur l'axe Z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C'est l'objet le plus complexe des </a:t>
            </a:r>
            <a:r>
              <a:rPr sz="3200"/>
              <a:t>objets graphiques. Il sert à :</a:t>
            </a:r>
          </a:p>
          <a:p>
            <a:pPr lvl="1"/>
            <a:r>
              <a:rPr sz="2800"/>
              <a:t>Insérer un fichier image binaire (JPEG, </a:t>
            </a:r>
            <a:r>
              <a:rPr sz="2800"/>
              <a:t>PNG, GIF)</a:t>
            </a:r>
          </a:p>
          <a:p>
            <a:pPr lvl="1"/>
            <a:r>
              <a:rPr sz="2800"/>
              <a:t>Ou définir une zone de </a:t>
            </a:r>
            <a:r>
              <a:rPr sz="2800" i="1"/>
              <a:t>Canvas</a:t>
            </a:r>
            <a:r>
              <a:rPr sz="2800"/>
              <a:t>. </a:t>
            </a:r>
            <a:r>
              <a:rPr sz="2800"/>
              <a:t>Un code Java pourra alors dessiner le </a:t>
            </a:r>
            <a:r>
              <a:rPr sz="2800"/>
              <a:t>graphique ou produire une image </a:t>
            </a:r>
            <a:r>
              <a:rPr sz="2800"/>
              <a:t>binaire.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ImageExpression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Les images ne sont pas stockées avec le rapport, seule sa </a:t>
            </a:r>
            <a:r>
              <a:rPr sz="2000"/>
              <a:t>référence via l'élément </a:t>
            </a:r>
            <a:r>
              <a:rPr sz="2000" b="1" i="1"/>
              <a:t>&lt;imageExpression&gt;</a:t>
            </a:r>
            <a:r>
              <a:rPr sz="2000"/>
              <a:t> y est </a:t>
            </a:r>
            <a:r>
              <a:rPr sz="2000"/>
              <a:t>présente.</a:t>
            </a:r>
          </a:p>
          <a:p>
            <a:pPr/>
            <a:r>
              <a:rPr sz="2000"/>
              <a:t>L'attribut </a:t>
            </a:r>
            <a:r>
              <a:rPr sz="2000" b="1" i="1"/>
              <a:t>class</a:t>
            </a:r>
            <a:r>
              <a:rPr sz="2000"/>
              <a:t> de la balise indique le type de l'expression ; </a:t>
            </a:r>
            <a:r>
              <a:rPr sz="2000"/>
              <a:t>les principales valeurs sont :</a:t>
            </a:r>
          </a:p>
          <a:p>
            <a:pPr lvl="1"/>
            <a:r>
              <a:rPr sz="2000" b="1" i="1"/>
              <a:t>java.lang.String</a:t>
            </a:r>
            <a:r>
              <a:rPr sz="2000"/>
              <a:t> : Emplacement et nom du fichier. </a:t>
            </a:r>
            <a:r>
              <a:rPr sz="2000"/>
              <a:t>Ex : </a:t>
            </a:r>
            <a:r>
              <a:rPr sz="2000" i="1"/>
              <a:t>/home/public/images/logo-footer.gif</a:t>
            </a:r>
          </a:p>
          <a:p>
            <a:pPr lvl="1"/>
            <a:r>
              <a:rPr sz="2000" b="1" i="1"/>
              <a:t>java.io.File</a:t>
            </a:r>
            <a:r>
              <a:rPr sz="2000"/>
              <a:t> : Objet Java File.</a:t>
            </a:r>
            <a:r>
              <a:rPr sz="2000"/>
              <a:t> </a:t>
            </a:r>
            <a:r>
              <a:rPr sz="2000"/>
              <a:t>Ex : </a:t>
            </a:r>
            <a:r>
              <a:rPr sz="2000" i="1"/>
              <a:t>new java.io.File(“c:\\myImage.jpg”)</a:t>
            </a:r>
          </a:p>
          <a:p>
            <a:pPr lvl="1"/>
            <a:r>
              <a:rPr sz="2000" b="1" i="1"/>
              <a:t>java.net.URL</a:t>
            </a:r>
            <a:r>
              <a:rPr sz="2000"/>
              <a:t> : L'URL de l'objet </a:t>
            </a:r>
            <a:r>
              <a:rPr sz="2000"/>
              <a:t>Ex : </a:t>
            </a:r>
            <a:r>
              <a:rPr sz="2000" i="1"/>
              <a:t>new java.net.URL(“http://127.0.0.1/test.jpg”)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Portabilité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Lorsque l'on définit une image en précisant son </a:t>
            </a:r>
            <a:r>
              <a:rPr sz="2000"/>
              <a:t>emplacement, il faut que cet emplacement soit valide dans </a:t>
            </a:r>
            <a:r>
              <a:rPr sz="2000"/>
              <a:t>l’environnement de développement </a:t>
            </a:r>
            <a:r>
              <a:rPr sz="2000" b="1"/>
              <a:t>ET</a:t>
            </a:r>
            <a:r>
              <a:rPr sz="2000"/>
              <a:t> de production</a:t>
            </a:r>
          </a:p>
          <a:p>
            <a:pPr/>
            <a:r>
              <a:rPr sz="2000"/>
              <a:t>Les meilleurs pratiques pour éviter les problèmes en </a:t>
            </a:r>
            <a:r>
              <a:rPr sz="2000"/>
              <a:t>production sont : </a:t>
            </a:r>
          </a:p>
          <a:p>
            <a:pPr lvl="1"/>
            <a:r>
              <a:rPr sz="1600"/>
              <a:t>Utiliser un </a:t>
            </a:r>
            <a:r>
              <a:rPr sz="1600" b="1"/>
              <a:t>paramètre</a:t>
            </a:r>
            <a:r>
              <a:rPr sz="1600"/>
              <a:t> dans l'expression indiquant le répertoire ou </a:t>
            </a:r>
            <a:r>
              <a:rPr sz="1600"/>
              <a:t>sont placées les images :</a:t>
            </a:r>
            <a:r>
              <a:rPr sz="1600"/>
              <a:t> </a:t>
            </a:r>
            <a:r>
              <a:rPr sz="1600" b="1" i="1"/>
              <a:t>$P{MY_IMAGES_DIRECTORY} + “myImage.png”</a:t>
            </a:r>
            <a:r>
              <a:rPr sz="1600"/>
              <a:t> </a:t>
            </a:r>
            <a:r>
              <a:rPr sz="1600"/>
              <a:t>Au moment de la génération, l'application métier ou jasperServer </a:t>
            </a:r>
            <a:r>
              <a:rPr sz="1600"/>
              <a:t>positionne ce paramètre.</a:t>
            </a:r>
          </a:p>
          <a:p>
            <a:pPr lvl="1"/>
            <a:r>
              <a:rPr sz="1600"/>
              <a:t>Utiliser le </a:t>
            </a:r>
            <a:r>
              <a:rPr sz="1600" b="1"/>
              <a:t>classpath</a:t>
            </a:r>
            <a:r>
              <a:rPr sz="1600"/>
              <a:t> JAVA. (Recommandé) </a:t>
            </a:r>
            <a:r>
              <a:rPr sz="1600"/>
              <a:t>Dans ce cas, l'expression de l'emplacement est relative au classpath </a:t>
            </a:r>
            <a:r>
              <a:rPr sz="1600"/>
              <a:t>et le déploiement de l'application inclut les images dans l’archive de </a:t>
            </a:r>
            <a:r>
              <a:rPr sz="1600"/>
              <a:t>l’application.</a:t>
            </a:r>
          </a:p>
          <a:p>
            <a:pPr marL="0" indent="0">
              <a:buNone/>
            </a:pPr>
            <a:r>
              <a:rPr sz="2000"/>
              <a:t>Ces méthodes sont utilisées pour les autres types de ressources </a:t>
            </a:r>
            <a:r>
              <a:rPr sz="2000"/>
              <a:t>externes (sous-rapport, police externe, scriptlet, ressource </a:t>
            </a:r>
            <a:r>
              <a:rPr sz="2000"/>
              <a:t>bundle, …)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Attributs de chargement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 b="1" i="1"/>
              <a:t>isLazy</a:t>
            </a:r>
            <a:r>
              <a:rPr sz="2600"/>
              <a:t> : L'image n'est chargée qu'à l'exécution </a:t>
            </a:r>
            <a:r>
              <a:rPr sz="2600"/>
              <a:t>du rapport</a:t>
            </a:r>
          </a:p>
          <a:p>
            <a:pPr/>
            <a:r>
              <a:rPr sz="2600" b="1" i="1"/>
              <a:t>isUsingCache</a:t>
            </a:r>
            <a:r>
              <a:rPr sz="2600"/>
              <a:t> : L'image est gardée en mémoire </a:t>
            </a:r>
            <a:r>
              <a:rPr sz="2600"/>
              <a:t>pour être réutilisée</a:t>
            </a:r>
          </a:p>
          <a:p>
            <a:pPr/>
            <a:r>
              <a:rPr sz="2800" b="1" i="1"/>
              <a:t>onErrorType</a:t>
            </a:r>
            <a:r>
              <a:rPr sz="2800"/>
              <a:t> : Spécifie le comportement si </a:t>
            </a:r>
            <a:r>
              <a:rPr sz="2800"/>
              <a:t>l'image ne peut pas être chargée :</a:t>
            </a:r>
          </a:p>
          <a:p>
            <a:pPr lvl="1"/>
            <a:r>
              <a:rPr sz="2800" b="1" i="1"/>
              <a:t>Error</a:t>
            </a:r>
            <a:r>
              <a:rPr sz="2800"/>
              <a:t> : Une exception Java est lancée.</a:t>
            </a:r>
          </a:p>
          <a:p>
            <a:pPr lvl="1"/>
            <a:r>
              <a:rPr sz="2800" b="1" i="1"/>
              <a:t>Blank</a:t>
            </a:r>
            <a:r>
              <a:rPr sz="2800"/>
              <a:t> </a:t>
            </a:r>
            <a:r>
              <a:rPr sz="2800"/>
              <a:t>: L'exception est ignorée et </a:t>
            </a:r>
            <a:r>
              <a:rPr sz="2800"/>
              <a:t>l'image est remplacée par un rectangle </a:t>
            </a:r>
            <a:r>
              <a:rPr sz="2800"/>
              <a:t>blanc.</a:t>
            </a:r>
          </a:p>
          <a:p>
            <a:pPr lvl="1"/>
            <a:r>
              <a:rPr sz="2800" b="1" i="1"/>
              <a:t>Icon</a:t>
            </a:r>
            <a:r>
              <a:rPr sz="2800"/>
              <a:t> : L'exception est ignorée et un icône </a:t>
            </a:r>
            <a:r>
              <a:rPr sz="2800"/>
              <a:t>de remplacement est affiché.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Autres attributs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 b="1" i="1"/>
              <a:t>Scale</a:t>
            </a:r>
            <a:r>
              <a:rPr sz="2400"/>
              <a:t> : Définit comment l'image se comporte par </a:t>
            </a:r>
            <a:r>
              <a:rPr sz="2400"/>
              <a:t>rapport aux dimensions de l'élément :</a:t>
            </a:r>
          </a:p>
          <a:p>
            <a:pPr lvl="1"/>
            <a:r>
              <a:rPr sz="2000" b="1" i="1"/>
              <a:t>Clip</a:t>
            </a:r>
            <a:r>
              <a:rPr sz="2000"/>
              <a:t> : L'image n'est pas modifiée, et seule la partie </a:t>
            </a:r>
            <a:r>
              <a:rPr sz="2000"/>
              <a:t>correspondant aux dimensions de l'élément est </a:t>
            </a:r>
            <a:r>
              <a:rPr sz="2000"/>
              <a:t>affichée </a:t>
            </a:r>
          </a:p>
          <a:p>
            <a:pPr lvl="1"/>
            <a:r>
              <a:rPr sz="2000" b="1" i="1"/>
              <a:t>FillFrame</a:t>
            </a:r>
            <a:r>
              <a:rPr sz="2000"/>
              <a:t> : L'image remplit le cadre</a:t>
            </a:r>
          </a:p>
          <a:p>
            <a:pPr lvl="1"/>
            <a:r>
              <a:rPr sz="2000" b="1" i="1"/>
              <a:t>RetainShape</a:t>
            </a:r>
            <a:r>
              <a:rPr sz="2000"/>
              <a:t> : L'image est adaptée en conservant les </a:t>
            </a:r>
            <a:r>
              <a:rPr sz="2000"/>
              <a:t>proportions</a:t>
            </a:r>
          </a:p>
          <a:p>
            <a:pPr lvl="1"/>
            <a:r>
              <a:rPr sz="2000" b="1" i="1"/>
              <a:t>RealHeight</a:t>
            </a:r>
            <a:r>
              <a:rPr sz="2000"/>
              <a:t> : Conserve la hauteur réelle de l'image </a:t>
            </a:r>
            <a:r>
              <a:rPr sz="2000"/>
              <a:t>(</a:t>
            </a:r>
            <a:r>
              <a:rPr sz="2000" i="1"/>
              <a:t>JRRenderable</a:t>
            </a:r>
            <a:r>
              <a:rPr sz="2000"/>
              <a:t>)</a:t>
            </a:r>
          </a:p>
          <a:p>
            <a:pPr lvl="1"/>
            <a:r>
              <a:rPr sz="2000" b="1" i="1"/>
              <a:t>RealSize</a:t>
            </a:r>
            <a:r>
              <a:rPr sz="2000"/>
              <a:t> : Conserve la taille réelle de l'image </a:t>
            </a:r>
            <a:r>
              <a:rPr sz="2000"/>
              <a:t>(</a:t>
            </a:r>
            <a:r>
              <a:rPr sz="2000" i="1"/>
              <a:t>JRRenderable</a:t>
            </a:r>
            <a:r>
              <a:rPr sz="2000"/>
              <a:t>)</a:t>
            </a:r>
          </a:p>
          <a:p>
            <a:pPr/>
            <a:r>
              <a:rPr sz="2400"/>
              <a:t>Alignements verticaux et horizontaux (</a:t>
            </a:r>
            <a:r>
              <a:rPr sz="2400" b="1" i="1"/>
              <a:t>halign</a:t>
            </a:r>
            <a:r>
              <a:rPr sz="2400"/>
              <a:t> et </a:t>
            </a:r>
            <a:r>
              <a:rPr sz="2400" b="1" i="1"/>
              <a:t>valign</a:t>
            </a:r>
            <a:r>
              <a:rPr sz="2400"/>
              <a:t>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Textes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Deux éléments sont prévus pour </a:t>
            </a:r>
            <a:r>
              <a:rPr sz="3200"/>
              <a:t>afficher du texte :</a:t>
            </a:r>
          </a:p>
          <a:p>
            <a:pPr lvl="1"/>
            <a:r>
              <a:rPr sz="3200"/>
              <a:t>Les </a:t>
            </a:r>
            <a:r>
              <a:rPr sz="3200" b="1"/>
              <a:t>textes statiques</a:t>
            </a:r>
            <a:r>
              <a:rPr sz="3200"/>
              <a:t> dont la </a:t>
            </a:r>
            <a:r>
              <a:rPr sz="3200"/>
              <a:t>valeur ne change pas et est connue </a:t>
            </a:r>
            <a:r>
              <a:rPr sz="3200"/>
              <a:t>au moment du design : </a:t>
            </a:r>
          </a:p>
          <a:p>
            <a:pPr marL="0" indent="0">
              <a:buNone/>
            </a:pPr>
            <a:r>
              <a:rPr sz="2800" i="1">
                <a:latin typeface="Courier New"/>
              </a:rPr>
              <a:t>&lt;staticText&gt;</a:t>
            </a:r>
          </a:p>
          <a:p>
            <a:pPr lvl="1"/>
            <a:r>
              <a:rPr sz="3200"/>
              <a:t>Les </a:t>
            </a:r>
            <a:r>
              <a:rPr sz="3200" b="1"/>
              <a:t>champs</a:t>
            </a:r>
            <a:r>
              <a:rPr sz="3200"/>
              <a:t> </a:t>
            </a:r>
            <a:r>
              <a:rPr sz="3200" b="1"/>
              <a:t>textes</a:t>
            </a:r>
            <a:r>
              <a:rPr sz="3200"/>
              <a:t> dont la valeur </a:t>
            </a:r>
            <a:r>
              <a:rPr sz="3200"/>
              <a:t>est fournie sous forme </a:t>
            </a:r>
            <a:r>
              <a:rPr sz="3200"/>
              <a:t>d'expression : </a:t>
            </a:r>
          </a:p>
          <a:p>
            <a:pPr marL="0" indent="0">
              <a:buNone/>
            </a:pPr>
            <a:r>
              <a:rPr sz="2800" i="1">
                <a:latin typeface="Courier New"/>
              </a:rPr>
              <a:t>&lt;textField&gt;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Attributs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/>
              <a:t>Police : </a:t>
            </a:r>
            <a:r>
              <a:rPr sz="2600" i="1"/>
              <a:t>jasperStudio</a:t>
            </a:r>
            <a:r>
              <a:rPr sz="2600"/>
              <a:t> présente toutes les </a:t>
            </a:r>
            <a:r>
              <a:rPr sz="2600"/>
              <a:t>polices trouvées dans le système mais </a:t>
            </a:r>
            <a:r>
              <a:rPr sz="2600"/>
              <a:t>attention à la compatibilité au moment de la </a:t>
            </a:r>
            <a:r>
              <a:rPr sz="2600"/>
              <a:t>génération. </a:t>
            </a:r>
          </a:p>
          <a:p>
            <a:pPr/>
            <a:r>
              <a:rPr sz="2600"/>
              <a:t>Taille de police (entier), Gras et italique, </a:t>
            </a:r>
            <a:r>
              <a:rPr sz="2600"/>
              <a:t>Souligné, Barré </a:t>
            </a:r>
          </a:p>
          <a:p>
            <a:pPr/>
            <a:r>
              <a:rPr sz="2600"/>
              <a:t>Alignements horizontaux et verticaux </a:t>
            </a:r>
          </a:p>
          <a:p>
            <a:pPr/>
            <a:r>
              <a:rPr sz="2600"/>
              <a:t>Rotation : None, Left , Right, UpsideDown</a:t>
            </a:r>
          </a:p>
          <a:p>
            <a:pPr/>
            <a:r>
              <a:rPr sz="2600"/>
              <a:t>Espacement des lignes : Simple, 1.5 ou Double</a:t>
            </a:r>
          </a:p>
          <a:p>
            <a:pPr/>
            <a:r>
              <a:rPr sz="2600"/>
              <a:t>Markup : Utilisation d'un langage de balise </a:t>
            </a:r>
            <a:r>
              <a:rPr sz="2600"/>
              <a:t>(HTML ou RTF)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Types d'expressions valides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Le type retourné par l'expression est indiqué dans </a:t>
            </a:r>
            <a:r>
              <a:rPr sz="2200"/>
              <a:t>l'attribut </a:t>
            </a:r>
            <a:r>
              <a:rPr sz="2200" i="1"/>
              <a:t>class </a:t>
            </a:r>
            <a:r>
              <a:rPr sz="2200"/>
              <a:t>de l'élément </a:t>
            </a:r>
            <a:r>
              <a:rPr sz="2200" i="1"/>
              <a:t>textFieldExpression</a:t>
            </a:r>
          </a:p>
          <a:p>
            <a:pPr/>
            <a:r>
              <a:rPr sz="2200"/>
              <a:t>Les types valides sont :</a:t>
            </a:r>
          </a:p>
          <a:p>
            <a:pPr lvl="1"/>
            <a:r>
              <a:rPr sz="1800" b="1" i="1"/>
              <a:t>java.lang.String</a:t>
            </a:r>
            <a:r>
              <a:rPr sz="1800"/>
              <a:t> : Chaînes de caractères</a:t>
            </a:r>
          </a:p>
          <a:p>
            <a:pPr lvl="1"/>
            <a:r>
              <a:rPr sz="1800" b="1" i="1"/>
              <a:t>java.util.Date, java.sql.Timestamp, java.sql.Time</a:t>
            </a:r>
            <a:r>
              <a:rPr sz="1800"/>
              <a:t> : </a:t>
            </a:r>
            <a:r>
              <a:rPr sz="1800"/>
              <a:t>Dates et heures</a:t>
            </a:r>
          </a:p>
          <a:p>
            <a:pPr lvl="1"/>
            <a:r>
              <a:rPr sz="1800" b="1" i="1"/>
              <a:t>java.lang.Boolean</a:t>
            </a:r>
            <a:r>
              <a:rPr sz="1800"/>
              <a:t> : Booléen</a:t>
            </a:r>
          </a:p>
          <a:p>
            <a:pPr lvl="1"/>
            <a:r>
              <a:rPr sz="1800" b="1" i="1"/>
              <a:t>java.lang.Long, java.lang.Double, java.lang.Short, , </a:t>
            </a:r>
            <a:r>
              <a:rPr sz="1800" b="1" i="1"/>
              <a:t>java.lang.Float, java.math.BigDecimal, , </a:t>
            </a:r>
            <a:r>
              <a:rPr sz="1800" b="1" i="1"/>
              <a:t>java.lang.Integer</a:t>
            </a:r>
            <a:r>
              <a:rPr sz="1800"/>
              <a:t> : Chiffres</a:t>
            </a:r>
          </a:p>
          <a:p>
            <a:pPr lvl="1"/>
            <a:r>
              <a:rPr sz="1800" b="1" i="1"/>
              <a:t>java.lang.Byte</a:t>
            </a:r>
            <a:r>
              <a:rPr sz="1800"/>
              <a:t> : Octet</a:t>
            </a:r>
          </a:p>
          <a:p>
            <a:pPr lvl="1"/>
            <a:r>
              <a:rPr sz="1800" b="1" i="1"/>
              <a:t>java.io.InputStream</a:t>
            </a:r>
            <a:r>
              <a:rPr sz="1800"/>
              <a:t> : Flux d'octets</a:t>
            </a:r>
          </a:p>
          <a:p>
            <a:pPr lvl="1"/>
            <a:r>
              <a:rPr sz="1800" b="1" i="1"/>
              <a:t>java.lang.Object</a:t>
            </a:r>
            <a:r>
              <a:rPr sz="1800"/>
              <a:t> : Objet Java 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Attributs d'un TextField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 b="1" i="1"/>
              <a:t>isBlankWhenNull</a:t>
            </a:r>
            <a:r>
              <a:rPr sz="2400"/>
              <a:t> : Si l'expression est </a:t>
            </a:r>
            <a:r>
              <a:rPr sz="2400" i="1"/>
              <a:t>null</a:t>
            </a:r>
            <a:r>
              <a:rPr sz="2400"/>
              <a:t>, la </a:t>
            </a:r>
            <a:r>
              <a:rPr sz="2400"/>
              <a:t>chaine vide est utilisée (à la place de «</a:t>
            </a:r>
            <a:r>
              <a:rPr sz="2400" i="1"/>
              <a:t> null </a:t>
            </a:r>
            <a:r>
              <a:rPr sz="2400"/>
              <a:t>»)</a:t>
            </a:r>
          </a:p>
          <a:p>
            <a:pPr/>
            <a:r>
              <a:rPr sz="2400" b="1" i="1"/>
              <a:t>evaluationTime</a:t>
            </a:r>
            <a:r>
              <a:rPr sz="2400" i="1"/>
              <a:t>, </a:t>
            </a:r>
            <a:r>
              <a:rPr sz="2400" b="1" i="1"/>
              <a:t>evaluationGroup</a:t>
            </a:r>
            <a:r>
              <a:rPr sz="2400"/>
              <a:t> : Détermine </a:t>
            </a:r>
            <a:r>
              <a:rPr sz="2400"/>
              <a:t>dans quelle phase l'expression est évaluée et </a:t>
            </a:r>
            <a:r>
              <a:rPr sz="2400"/>
              <a:t>éventuellement pour quel groupe</a:t>
            </a:r>
          </a:p>
          <a:p>
            <a:pPr/>
            <a:r>
              <a:rPr sz="2400" b="1" i="1"/>
              <a:t>isStretchWithOverflow</a:t>
            </a:r>
            <a:r>
              <a:rPr sz="2400"/>
              <a:t> : Le champ texte </a:t>
            </a:r>
            <a:r>
              <a:rPr sz="2400"/>
              <a:t>s'adapte au contenu en cas de dépassement </a:t>
            </a:r>
          </a:p>
          <a:p>
            <a:pPr/>
            <a:r>
              <a:rPr sz="2400" b="1" i="1"/>
              <a:t>pattern</a:t>
            </a:r>
            <a:r>
              <a:rPr sz="2400"/>
              <a:t> : Le pattern à appliquer pour formatter la </a:t>
            </a:r>
            <a:r>
              <a:rPr sz="2400"/>
              <a:t>valeur de l'expression. Dépend du type </a:t>
            </a:r>
          </a:p>
          <a:p>
            <a:pPr lvl="1"/>
            <a:r>
              <a:rPr sz="2400"/>
              <a:t>Par exemple pour une date : </a:t>
            </a:r>
            <a:r>
              <a:rPr sz="2400"/>
              <a:t>"dd/MM/yyyy 'à' HH:mm:ss z"</a:t>
            </a:r>
            <a:r>
              <a:rPr sz="2400"/>
              <a:t> </a:t>
            </a:r>
            <a:r>
              <a:rPr sz="2400"/>
              <a:t>04/07/2001 à 12:08:56 PDT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Polices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3200"/>
              <a:t>Java et donc JasperReport distingue 2 </a:t>
            </a:r>
            <a:r>
              <a:rPr sz="3200"/>
              <a:t>types de Police :</a:t>
            </a:r>
            <a:br/>
            <a:r>
              <a:rPr sz="2800"/>
              <a:t>Les polices physiques installées sur le </a:t>
            </a:r>
          </a:p>
          <a:p>
            <a:pPr lvl="1"/>
            <a:r>
              <a:rPr sz="2800"/>
              <a:t>système </a:t>
            </a:r>
            <a:br/>
            <a:r>
              <a:rPr sz="2800"/>
              <a:t>Les polices logiques : </a:t>
            </a:r>
            <a:r>
              <a:rPr sz="2800" i="1"/>
              <a:t>Serif</a:t>
            </a:r>
            <a:r>
              <a:rPr sz="2800"/>
              <a:t>, </a:t>
            </a:r>
            <a:r>
              <a:rPr sz="2800" i="1"/>
              <a:t>SansSerif</a:t>
            </a:r>
            <a:r>
              <a:rPr sz="2800"/>
              <a:t>, </a:t>
            </a:r>
          </a:p>
          <a:p>
            <a:pPr lvl="1"/>
            <a:r>
              <a:rPr sz="2800" i="1"/>
              <a:t>Monospaced</a:t>
            </a:r>
            <a:r>
              <a:rPr sz="2800"/>
              <a:t>, </a:t>
            </a:r>
            <a:r>
              <a:rPr sz="2800" i="1"/>
              <a:t>Dialog</a:t>
            </a:r>
            <a:r>
              <a:rPr sz="2800"/>
              <a:t> et </a:t>
            </a:r>
            <a:r>
              <a:rPr sz="2800" i="1"/>
              <a:t>DialogInput. </a:t>
            </a:r>
            <a:br/>
            <a:r>
              <a:rPr sz="2800"/>
              <a:t>Elles n'ont pas de fichier installé sur le </a:t>
            </a:r>
            <a:br/>
            <a:r>
              <a:rPr sz="2800"/>
              <a:t>système mais elles sont associés à </a:t>
            </a:r>
            <a:br/>
            <a:r>
              <a:rPr sz="2800"/>
              <a:t>une des polices physique. </a:t>
            </a:r>
            <a:br/>
            <a:r>
              <a:rPr sz="2800"/>
              <a:t>La correspondance peut dépendre du </a:t>
            </a:r>
            <a:br/>
            <a:r>
              <a:rPr sz="2800"/>
              <a:t>système !!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Bonne pratique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200"/>
              <a:t>L'utilisation de police système comporte toujours le risque </a:t>
            </a:r>
            <a:r>
              <a:rPr sz="2200"/>
              <a:t>qu'une police utilisée lors du développement ne soit pas </a:t>
            </a:r>
            <a:r>
              <a:rPr sz="2200"/>
              <a:t>présente dans l'environnement de production.</a:t>
            </a:r>
          </a:p>
          <a:p>
            <a:pPr marL="0" indent="0">
              <a:buNone/>
            </a:pPr>
            <a:r>
              <a:rPr sz="2200"/>
              <a:t>La bonne pratique est d'embarquer les fichiers de polices </a:t>
            </a:r>
            <a:r>
              <a:rPr sz="2200"/>
              <a:t>dans l'archive déployée.</a:t>
            </a:r>
          </a:p>
          <a:p>
            <a:pPr marL="0" indent="0">
              <a:buNone/>
            </a:pPr>
            <a:r>
              <a:rPr sz="2200"/>
              <a:t>Cette technique appelé « </a:t>
            </a:r>
            <a:r>
              <a:rPr sz="2200" b="1" i="1"/>
              <a:t>Font Extension</a:t>
            </a:r>
            <a:r>
              <a:rPr sz="2200"/>
              <a:t> » nécessite de </a:t>
            </a:r>
            <a:r>
              <a:rPr sz="2200"/>
              <a:t>fournir un fichier jar contenant les fichiers polices, un </a:t>
            </a:r>
            <a:r>
              <a:rPr sz="2200"/>
              <a:t>fichier </a:t>
            </a:r>
            <a:r>
              <a:rPr sz="2200" i="1"/>
              <a:t>properties</a:t>
            </a:r>
            <a:r>
              <a:rPr sz="2200"/>
              <a:t> et un descripteur XML associant les </a:t>
            </a:r>
            <a:r>
              <a:rPr sz="2200"/>
              <a:t>fichiers polices aux locales et style de police (italique, </a:t>
            </a:r>
            <a:r>
              <a:rPr sz="2200"/>
              <a:t>gras, …)</a:t>
            </a:r>
          </a:p>
          <a:p>
            <a:pPr marL="0" indent="0">
              <a:buNone/>
            </a:pPr>
            <a:r>
              <a:rPr sz="2200"/>
              <a:t>Le jar peut être généré directement à partir de </a:t>
            </a:r>
            <a:r>
              <a:rPr sz="2200" i="1"/>
              <a:t>jasperStudio</a:t>
            </a:r>
            <a:r>
              <a:rPr sz="2200"/>
              <a:t> </a:t>
            </a:r>
            <a:r>
              <a:rPr sz="2200"/>
              <a:t> après avoir ajouté la police voulue</a:t>
            </a:r>
          </a:p>
          <a:p>
            <a:pPr marL="0" indent="0">
              <a:buNone/>
            </a:pPr>
            <a:r>
              <a:rPr sz="2200"/>
              <a:t>Voir l'exemple dans </a:t>
            </a:r>
            <a:r>
              <a:rPr sz="2200" i="1"/>
              <a:t>/demo/samples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Ajout de Police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Pour utiliser une police TrueType </a:t>
            </a:r>
            <a:r>
              <a:rPr sz="3200"/>
              <a:t>spécifique, il faut l'installer : </a:t>
            </a:r>
            <a:br/>
            <a:r>
              <a:rPr sz="2800" i="1"/>
              <a:t>Windows → Preferences → Font</a:t>
            </a:r>
          </a:p>
          <a:p>
            <a:pPr/>
            <a:r>
              <a:rPr sz="3200"/>
              <a:t>Bien sûr, la police doit être présente </a:t>
            </a:r>
            <a:r>
              <a:rPr sz="3200"/>
              <a:t>au design </a:t>
            </a:r>
            <a:r>
              <a:rPr sz="3200" b="1"/>
              <a:t>et</a:t>
            </a:r>
            <a:r>
              <a:rPr sz="3200"/>
              <a:t> à la génération</a:t>
            </a:r>
          </a:p>
          <a:p>
            <a:pPr/>
            <a:r>
              <a:rPr sz="3200"/>
              <a:t>Il est également possible de saisir </a:t>
            </a:r>
            <a:r>
              <a:rPr sz="3200"/>
              <a:t>directement le nom d'une possible qui </a:t>
            </a:r>
            <a:r>
              <a:rPr sz="3200"/>
              <a:t>ne sera présente qu'au moment de la </a:t>
            </a:r>
            <a:r>
              <a:rPr sz="3200"/>
              <a:t>génération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Liens Hypertexte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Les éléments images, textes et graphiques peuvent </a:t>
            </a:r>
            <a:r>
              <a:rPr sz="2200"/>
              <a:t>être utilisés comme des ancres ou comme des liens </a:t>
            </a:r>
            <a:r>
              <a:rPr sz="2200"/>
              <a:t>hypertextes vers des URLs externes ou ancres internes</a:t>
            </a:r>
          </a:p>
          <a:p>
            <a:pPr/>
            <a:r>
              <a:rPr sz="2200"/>
              <a:t>Seuls les formats HTML et PDF permettent de créer des </a:t>
            </a:r>
            <a:r>
              <a:rPr sz="2200"/>
              <a:t>liens Hypertexte</a:t>
            </a:r>
          </a:p>
          <a:p>
            <a:pPr/>
            <a:r>
              <a:rPr sz="2200"/>
              <a:t>La fenêtre des dialogue « Hyperlink » permet de </a:t>
            </a:r>
            <a:r>
              <a:rPr sz="2200"/>
              <a:t>préciser :</a:t>
            </a:r>
          </a:p>
          <a:p>
            <a:pPr lvl="1"/>
            <a:r>
              <a:rPr sz="2000"/>
              <a:t>L'expression de l'ancre</a:t>
            </a:r>
          </a:p>
          <a:p>
            <a:pPr lvl="1"/>
            <a:r>
              <a:rPr sz="2000"/>
              <a:t>Un niveau de signet (utile pour l'exportation PDF)</a:t>
            </a:r>
          </a:p>
          <a:p>
            <a:pPr lvl="1"/>
            <a:r>
              <a:rPr sz="2000"/>
              <a:t>La cible du lien</a:t>
            </a:r>
          </a:p>
          <a:p>
            <a:pPr lvl="1"/>
            <a:r>
              <a:rPr sz="2000"/>
              <a:t>Le type de lien </a:t>
            </a:r>
          </a:p>
          <a:p>
            <a:pPr lvl="1"/>
            <a:r>
              <a:rPr sz="2000"/>
              <a:t>Une expression pour le tooltip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Propriété Hyperlink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622" y="2340795"/>
            <a:ext cx="5305920" cy="5026558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Type des hyperliens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JasperReport permet de définir différents types de </a:t>
            </a:r>
            <a:r>
              <a:rPr sz="2400"/>
              <a:t>liens :</a:t>
            </a:r>
          </a:p>
          <a:p>
            <a:pPr lvl="1"/>
            <a:r>
              <a:rPr sz="2200" b="1" i="1"/>
              <a:t>Reference</a:t>
            </a:r>
            <a:r>
              <a:rPr sz="2200"/>
              <a:t> : Indique une URL externe</a:t>
            </a:r>
          </a:p>
          <a:p>
            <a:pPr lvl="1"/>
            <a:r>
              <a:rPr sz="2200" b="1" i="1"/>
              <a:t>LocalAnchor</a:t>
            </a:r>
            <a:r>
              <a:rPr sz="2200"/>
              <a:t> : Lien vers une ancre interne</a:t>
            </a:r>
          </a:p>
          <a:p>
            <a:pPr lvl="1"/>
            <a:r>
              <a:rPr sz="2200" b="1" i="1"/>
              <a:t>LocalPage</a:t>
            </a:r>
            <a:r>
              <a:rPr sz="2200"/>
              <a:t> : Lien vers un n° de page</a:t>
            </a:r>
          </a:p>
          <a:p>
            <a:pPr lvl="1"/>
            <a:r>
              <a:rPr sz="2200" b="1" i="1"/>
              <a:t>RemoteAnchor</a:t>
            </a:r>
            <a:r>
              <a:rPr sz="2200"/>
              <a:t> : Lien vers une ancre externe</a:t>
            </a:r>
          </a:p>
          <a:p>
            <a:pPr lvl="1"/>
            <a:r>
              <a:rPr sz="2200" b="1" i="1"/>
              <a:t>RemotePage</a:t>
            </a:r>
            <a:r>
              <a:rPr sz="2200"/>
              <a:t> : Lien vers une n° de page d'un </a:t>
            </a:r>
            <a:r>
              <a:rPr sz="2200"/>
              <a:t>autre rapport</a:t>
            </a:r>
          </a:p>
          <a:p>
            <a:pPr lvl="1"/>
            <a:r>
              <a:rPr sz="2200" b="1" i="1"/>
              <a:t>ReportExecution</a:t>
            </a:r>
            <a:r>
              <a:rPr sz="2200"/>
              <a:t> : Utilisé pour lier vers un </a:t>
            </a:r>
            <a:r>
              <a:rPr sz="2200"/>
              <a:t>rapport déployé sur JasperServer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/>
              <a:t>Les styles sont utilisés pour regrouper un </a:t>
            </a:r>
            <a:r>
              <a:rPr sz="2600"/>
              <a:t>ensemble de propriétés de présentation et </a:t>
            </a:r>
            <a:r>
              <a:rPr sz="2600"/>
              <a:t>peuvent ensuite être appliqués aux éléments </a:t>
            </a:r>
            <a:r>
              <a:rPr sz="2600"/>
              <a:t>du rapport </a:t>
            </a:r>
          </a:p>
          <a:p>
            <a:pPr marL="0" indent="0">
              <a:buNone/>
            </a:pPr>
            <a:r>
              <a:rPr sz="2600"/>
              <a:t>=&gt; Ainsi, la modification d'un style peut affecter </a:t>
            </a:r>
            <a:r>
              <a:rPr sz="2600"/>
              <a:t>un ensemble d'éléments du rapport</a:t>
            </a:r>
          </a:p>
          <a:p>
            <a:pPr/>
            <a:r>
              <a:rPr sz="2600"/>
              <a:t>Les éléments peuvent individuellement </a:t>
            </a:r>
            <a:r>
              <a:rPr sz="2600"/>
              <a:t>surcharger les propriétés définis par leur style</a:t>
            </a:r>
          </a:p>
          <a:p>
            <a:pPr/>
            <a:r>
              <a:rPr sz="2600"/>
              <a:t>Il est possible de définir un style par défaut au </a:t>
            </a:r>
            <a:r>
              <a:rPr sz="2600"/>
              <a:t>niveau du rapport.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Ajout de style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826" y="2330450"/>
            <a:ext cx="2957283" cy="418729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Styles conditionnels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/>
              <a:t>Il est possible de créer des rapports où le style </a:t>
            </a:r>
            <a:r>
              <a:rPr sz="2600"/>
              <a:t>appliqué change dynamiquement en fonction </a:t>
            </a:r>
            <a:r>
              <a:rPr sz="2600"/>
              <a:t>de variable ou d'expression du rapport</a:t>
            </a:r>
            <a:r>
              <a:rPr sz="2400"/>
              <a:t> </a:t>
            </a:r>
            <a:r>
              <a:rPr sz="2400" i="1"/>
              <a:t>Exemple : Mettre en rouge un texte en fonction </a:t>
            </a:r>
            <a:r>
              <a:rPr sz="2400" i="1"/>
              <a:t>d'une condition</a:t>
            </a:r>
          </a:p>
          <a:p>
            <a:pPr/>
            <a:r>
              <a:rPr sz="2600" i="1"/>
              <a:t>jasperStudio</a:t>
            </a:r>
            <a:r>
              <a:rPr sz="2600"/>
              <a:t> permet d'associer à un style, un </a:t>
            </a:r>
            <a:r>
              <a:rPr sz="2600" b="1"/>
              <a:t>style conditionnel </a:t>
            </a:r>
            <a:r>
              <a:rPr sz="2600"/>
              <a:t>qui lorsque certaines </a:t>
            </a:r>
            <a:r>
              <a:rPr sz="2600"/>
              <a:t>conditions seront remplies surchargera </a:t>
            </a:r>
            <a:r>
              <a:rPr sz="2600"/>
              <a:t>certaines propriétés du style </a:t>
            </a:r>
          </a:p>
          <a:p>
            <a:pPr/>
            <a:r>
              <a:rPr sz="2600"/>
              <a:t>La condition peut s'exprimer en fonction de </a:t>
            </a:r>
            <a:r>
              <a:rPr sz="2600"/>
              <a:t>toutes les propriétés du rapport (paramètres, </a:t>
            </a:r>
            <a:r>
              <a:rPr sz="2600"/>
              <a:t>champs, variables, ...)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Ajout de style conditionnel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625" y="2661902"/>
            <a:ext cx="4278122" cy="3886085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Librairie de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3200"/>
              <a:t>Au lieu de définir les styles </a:t>
            </a:r>
            <a:r>
              <a:rPr sz="3200"/>
              <a:t>indépendamment dans chaque rapport.</a:t>
            </a:r>
          </a:p>
          <a:p>
            <a:pPr marL="0" indent="0">
              <a:buNone/>
            </a:pPr>
            <a:r>
              <a:rPr sz="3200"/>
              <a:t>Il est possible de référencer une librairie </a:t>
            </a:r>
            <a:r>
              <a:rPr sz="3200"/>
              <a:t>de style dans un rapport</a:t>
            </a:r>
          </a:p>
          <a:p>
            <a:pPr marL="0" indent="0">
              <a:buNone/>
            </a:pPr>
            <a:r>
              <a:rPr sz="3200"/>
              <a:t>La librairie de styles (</a:t>
            </a:r>
            <a:r>
              <a:rPr sz="3200" b="1"/>
              <a:t>Style Template </a:t>
            </a:r>
            <a:r>
              <a:rPr sz="3200" b="1"/>
              <a:t>File</a:t>
            </a:r>
            <a:r>
              <a:rPr sz="3200"/>
              <a:t>) est un fichier </a:t>
            </a:r>
            <a:r>
              <a:rPr sz="3200" b="1" i="1"/>
              <a:t>.jrtx</a:t>
            </a:r>
            <a:r>
              <a:rPr sz="3200"/>
              <a:t> complètement </a:t>
            </a:r>
            <a:r>
              <a:rPr sz="3200"/>
              <a:t>autonome et ayant un éditeur </a:t>
            </a:r>
            <a:r>
              <a:rPr sz="3200"/>
              <a:t>spécifique</a:t>
            </a:r>
          </a:p>
          <a:p>
            <a:pPr marL="0" indent="0">
              <a:buNone/>
            </a:pPr>
            <a:r>
              <a:rPr sz="2800" b="1" i="1"/>
              <a:t>TP 3 : Structure rapport, Eléments simples, Styles 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Composition de 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Dimension et bandes </a:t>
            </a:r>
          </a:p>
          <a:p>
            <a:pPr marL="0" indent="0" algn="ctr">
              <a:buNone/>
            </a:pPr>
            <a:r>
              <a:rPr sz="3200"/>
              <a:t>Éléments simples</a:t>
            </a:r>
          </a:p>
          <a:p>
            <a:pPr marL="0" indent="0">
              <a:buNone/>
            </a:pPr>
            <a:r>
              <a:rPr sz="3200" b="1"/>
              <a:t>Paramètres, expressions, variables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Paramètres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Les </a:t>
            </a:r>
            <a:r>
              <a:rPr sz="2800" b="1"/>
              <a:t>paramètres</a:t>
            </a:r>
            <a:r>
              <a:rPr sz="2800"/>
              <a:t> sont des données passées lors </a:t>
            </a:r>
            <a:r>
              <a:rPr sz="2800"/>
              <a:t>de la génération du document dynamique qui ne </a:t>
            </a:r>
            <a:r>
              <a:rPr sz="2800"/>
              <a:t>proviennent pas de la source de données:</a:t>
            </a:r>
          </a:p>
          <a:p>
            <a:pPr lvl="1"/>
            <a:r>
              <a:rPr sz="2400"/>
              <a:t>Par exemple des données de présentation comme le </a:t>
            </a:r>
            <a:r>
              <a:rPr sz="2400"/>
              <a:t>nom de l'utilisateur, le titre du rapport, ... </a:t>
            </a:r>
          </a:p>
          <a:p>
            <a:pPr lvl="1"/>
            <a:r>
              <a:rPr sz="2400"/>
              <a:t>Des paramètres de la requête SQL. Les paramètre </a:t>
            </a:r>
            <a:r>
              <a:rPr sz="2400"/>
              <a:t>agissent alors comme des filtres sur les données </a:t>
            </a:r>
            <a:r>
              <a:rPr sz="2400"/>
              <a:t>récupérées. </a:t>
            </a:r>
            <a:r>
              <a:rPr sz="2400"/>
              <a:t>Exemple : une période, un montant, etc …</a:t>
            </a:r>
          </a:p>
          <a:p>
            <a:pPr lvl="1"/>
            <a:r>
              <a:rPr sz="2400"/>
              <a:t>Des paramètres servant à l'évaluation d'expression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Déclaration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La déclaration d'un paramètre dans un </a:t>
            </a:r>
            <a:r>
              <a:rPr sz="3200"/>
              <a:t>design consiste à spécifier son </a:t>
            </a:r>
            <a:r>
              <a:rPr sz="3200" b="1"/>
              <a:t>nom</a:t>
            </a:r>
            <a:r>
              <a:rPr sz="3200"/>
              <a:t> et son </a:t>
            </a:r>
            <a:r>
              <a:rPr sz="3200" b="1"/>
              <a:t>type</a:t>
            </a:r>
            <a:r>
              <a:rPr sz="3200"/>
              <a:t> (classe Java):</a:t>
            </a:r>
          </a:p>
          <a:p>
            <a:pPr/>
            <a:r>
              <a:rPr sz="3200"/>
              <a:t>Dans le fichier </a:t>
            </a:r>
            <a:r>
              <a:rPr sz="3200" i="1"/>
              <a:t>.jrxml</a:t>
            </a:r>
            <a:r>
              <a:rPr sz="3200"/>
              <a:t>, cela donne :</a:t>
            </a:r>
          </a:p>
          <a:p>
            <a:pPr marL="0" indent="0">
              <a:buNone/>
            </a:pPr>
            <a:r>
              <a:rPr sz="2200" i="1"/>
              <a:t>&lt;parameter </a:t>
            </a:r>
            <a:r>
              <a:rPr sz="2200" b="1" i="1"/>
              <a:t>name</a:t>
            </a:r>
            <a:r>
              <a:rPr sz="2200" i="1"/>
              <a:t>="ReportTitle" </a:t>
            </a:r>
            <a:r>
              <a:rPr sz="2200" b="1" i="1"/>
              <a:t>class</a:t>
            </a:r>
            <a:r>
              <a:rPr sz="2200" i="1"/>
              <a:t>="java.lang.String"/&gt;</a:t>
            </a:r>
          </a:p>
          <a:p>
            <a:pPr marL="0" indent="0">
              <a:buNone/>
            </a:pPr>
            <a:r>
              <a:rPr sz="2200" i="1"/>
              <a:t>&lt;parameter </a:t>
            </a:r>
            <a:r>
              <a:rPr sz="2200" b="1" i="1"/>
              <a:t>name</a:t>
            </a:r>
            <a:r>
              <a:rPr sz="2200" i="1"/>
              <a:t>="MaxOrderID" </a:t>
            </a:r>
            <a:r>
              <a:rPr sz="2200" b="1" i="1"/>
              <a:t>class</a:t>
            </a:r>
            <a:r>
              <a:rPr sz="2200" i="1"/>
              <a:t>="java.lang.Integer"/&gt;</a:t>
            </a:r>
          </a:p>
          <a:p>
            <a:pPr marL="0" indent="0">
              <a:buNone/>
            </a:pPr>
            <a:r>
              <a:rPr sz="2200" i="1"/>
              <a:t>&lt;parameter </a:t>
            </a:r>
            <a:r>
              <a:rPr sz="2200" b="1" i="1"/>
              <a:t>name</a:t>
            </a:r>
            <a:r>
              <a:rPr sz="2200" i="1"/>
              <a:t>="SummaryImage" </a:t>
            </a:r>
            <a:r>
              <a:rPr sz="2200" b="1" i="1"/>
              <a:t>class</a:t>
            </a:r>
            <a:r>
              <a:rPr sz="2200" i="1"/>
              <a:t>="java.awt.Image"/&gt;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Attributs additionnels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L'élément </a:t>
            </a:r>
            <a:r>
              <a:rPr sz="2200" b="1" i="1"/>
              <a:t>defaultValueExpression</a:t>
            </a:r>
            <a:r>
              <a:rPr sz="2200"/>
              <a:t> permet de </a:t>
            </a:r>
            <a:r>
              <a:rPr sz="2200"/>
              <a:t>spécifier une valeur par défaut. </a:t>
            </a:r>
            <a:r>
              <a:rPr sz="2200"/>
              <a:t>Dans cette expression, il n'est pas possible d'utiliser </a:t>
            </a:r>
            <a:r>
              <a:rPr sz="2200"/>
              <a:t>des champs ou variables.</a:t>
            </a:r>
          </a:p>
          <a:p>
            <a:pPr/>
            <a:r>
              <a:rPr sz="2200"/>
              <a:t>Les attributs </a:t>
            </a:r>
            <a:r>
              <a:rPr sz="2200" b="1" i="1"/>
              <a:t>IsForPrompting</a:t>
            </a:r>
            <a:r>
              <a:rPr sz="2200" b="1" i="1"/>
              <a:t>, </a:t>
            </a:r>
            <a:r>
              <a:rPr sz="2200" b="1" i="1"/>
              <a:t>Description</a:t>
            </a:r>
            <a:r>
              <a:rPr sz="2200" b="1" i="1"/>
              <a:t> </a:t>
            </a:r>
            <a:r>
              <a:rPr sz="2200"/>
              <a:t>et </a:t>
            </a:r>
            <a:r>
              <a:rPr sz="2200" b="1" i="1"/>
              <a:t>properties</a:t>
            </a:r>
            <a:r>
              <a:rPr sz="2200" b="1" i="1"/>
              <a:t> </a:t>
            </a:r>
            <a:r>
              <a:rPr sz="2200"/>
              <a:t>ne sont pas utilisés directement par </a:t>
            </a:r>
            <a:r>
              <a:rPr sz="2200"/>
              <a:t>JasperReport mais peuvent être utilisés par d'autres </a:t>
            </a:r>
            <a:r>
              <a:rPr sz="2200"/>
              <a:t>applications externes :</a:t>
            </a:r>
          </a:p>
          <a:p>
            <a:pPr lvl="1"/>
            <a:r>
              <a:rPr sz="1800"/>
              <a:t>pour déterminer si ce paramètre doit être fourni </a:t>
            </a:r>
            <a:r>
              <a:rPr sz="1800"/>
              <a:t>interactivement.</a:t>
            </a:r>
          </a:p>
          <a:p>
            <a:pPr lvl="1"/>
            <a:r>
              <a:rPr sz="1800"/>
              <a:t>Une documentation</a:t>
            </a:r>
          </a:p>
          <a:p>
            <a:pPr lvl="1"/>
            <a:r>
              <a:rPr sz="1800"/>
              <a:t>Stockée un ensemble de propriétés liées au paramètre. Par </a:t>
            </a:r>
            <a:r>
              <a:rPr sz="1800"/>
              <a:t>exemple, la description du champ en différents langages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Utilisation dans une requête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Les paramètres peuvent être utilisés dans </a:t>
            </a:r>
            <a:r>
              <a:rPr sz="3200"/>
              <a:t>les requêtes SQL :</a:t>
            </a:r>
          </a:p>
          <a:p>
            <a:pPr lvl="1"/>
            <a:r>
              <a:rPr sz="2800"/>
              <a:t>Comme paramètres normaux d'un </a:t>
            </a:r>
            <a:r>
              <a:rPr sz="2800" i="1"/>
              <a:t>java.sql.PreparedStatement</a:t>
            </a:r>
            <a:r>
              <a:rPr sz="2800"/>
              <a:t> :</a:t>
            </a:r>
          </a:p>
          <a:p>
            <a:pPr marL="0" indent="0">
              <a:buNone/>
            </a:pPr>
            <a:r>
              <a:rPr sz="2000" i="1"/>
              <a:t>SELECT * FROM Orders WHERE CustomerID = </a:t>
            </a:r>
            <a:r>
              <a:rPr sz="2000" b="1" i="1"/>
              <a:t>$P{OrderCustomer}</a:t>
            </a:r>
          </a:p>
          <a:p>
            <a:pPr lvl="1"/>
            <a:r>
              <a:rPr sz="2800"/>
              <a:t>Ou comme tout ou partie de la requête SQL </a:t>
            </a:r>
          </a:p>
          <a:p>
            <a:pPr marL="0" indent="0">
              <a:buNone/>
            </a:pPr>
            <a:r>
              <a:rPr sz="2200" i="1"/>
              <a:t>SELECT * FROM </a:t>
            </a:r>
            <a:r>
              <a:rPr sz="2200" b="1" i="1"/>
              <a:t>$P!{TablesClause}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Clause IN et NOT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 i="1"/>
              <a:t>JasperReports</a:t>
            </a:r>
            <a:r>
              <a:rPr sz="2800"/>
              <a:t> propose une syntaxe </a:t>
            </a:r>
            <a:r>
              <a:rPr sz="2800"/>
              <a:t>spécifique à utiliser dans les clauses IN et </a:t>
            </a:r>
            <a:r>
              <a:rPr sz="2800"/>
              <a:t>NOT IN des requêtes SQL. </a:t>
            </a:r>
            <a:r>
              <a:rPr sz="2800"/>
              <a:t>Exemple :</a:t>
            </a:r>
          </a:p>
          <a:p>
            <a:pPr marL="0" indent="0">
              <a:buNone/>
            </a:pPr>
            <a:r>
              <a:rPr sz="2800">
                <a:latin typeface="Courier New"/>
              </a:rPr>
              <a:t>SELECT * FROM ORDERS WHERE </a:t>
            </a:r>
            <a:r>
              <a:rPr sz="2800" b="1">
                <a:latin typeface="Courier New"/>
              </a:rPr>
              <a:t>$X{IN, </a:t>
            </a:r>
          </a:p>
          <a:p>
            <a:pPr marL="0" indent="0">
              <a:buNone/>
            </a:pPr>
            <a:r>
              <a:rPr sz="2800" b="1">
                <a:latin typeface="Courier New"/>
              </a:rPr>
              <a:t>SHIPCOUNTRY,myCountries}</a:t>
            </a:r>
          </a:p>
          <a:p>
            <a:pPr/>
            <a:r>
              <a:rPr sz="2800"/>
              <a:t>La clause $X{} prend 3 paramètres :</a:t>
            </a:r>
          </a:p>
          <a:p>
            <a:pPr lvl="1"/>
            <a:r>
              <a:rPr sz="2400"/>
              <a:t>Le type de la fonction à appliquer (IN ou NOT </a:t>
            </a:r>
            <a:r>
              <a:rPr sz="2400"/>
              <a:t>IN)</a:t>
            </a:r>
          </a:p>
          <a:p>
            <a:pPr lvl="1"/>
            <a:r>
              <a:rPr sz="2400"/>
              <a:t>Le nom du champ à évaluer</a:t>
            </a:r>
          </a:p>
          <a:p>
            <a:pPr lvl="1"/>
            <a:r>
              <a:rPr sz="2400"/>
              <a:t>Le nom du paramètre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Paramètres prédéfinis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JasperReports propose également des paramètres </a:t>
            </a:r>
            <a:r>
              <a:rPr sz="2400"/>
              <a:t>prédéfinis directement utilisable dans les rapports</a:t>
            </a:r>
          </a:p>
          <a:p>
            <a:pPr lvl="1"/>
            <a:r>
              <a:rPr sz="2400" b="1"/>
              <a:t>REPORT_PARAMETERS_MAP</a:t>
            </a:r>
            <a:r>
              <a:rPr sz="2400"/>
              <a:t> : Une map contenant </a:t>
            </a:r>
            <a:r>
              <a:rPr sz="2400"/>
              <a:t>tous les paramètres prédéfinis.</a:t>
            </a:r>
          </a:p>
          <a:p>
            <a:pPr lvl="1"/>
            <a:r>
              <a:rPr sz="2400" b="1"/>
              <a:t>REPORT_CONNECTION</a:t>
            </a:r>
            <a:r>
              <a:rPr sz="2400"/>
              <a:t> : Contient la connexion </a:t>
            </a:r>
            <a:r>
              <a:rPr sz="2400"/>
              <a:t>JDBC fournie par l'application.</a:t>
            </a:r>
          </a:p>
          <a:p>
            <a:pPr lvl="1"/>
            <a:r>
              <a:rPr sz="2400" b="1"/>
              <a:t>REPORT_DATA_SOURCE</a:t>
            </a:r>
            <a:r>
              <a:rPr sz="2400"/>
              <a:t> : Contient l'instance de la </a:t>
            </a:r>
            <a:r>
              <a:rPr sz="2400"/>
              <a:t>source de données fournie par l'application</a:t>
            </a:r>
          </a:p>
          <a:p>
            <a:pPr lvl="1"/>
            <a:r>
              <a:rPr sz="2400" b="1"/>
              <a:t>REPORT_MAX_COUNT</a:t>
            </a:r>
            <a:r>
              <a:rPr sz="2400"/>
              <a:t> : Un entier permettant de </a:t>
            </a:r>
            <a:r>
              <a:rPr sz="2400"/>
              <a:t>limiter la taille de la source de données</a:t>
            </a:r>
          </a:p>
          <a:p>
            <a:pPr lvl="1"/>
            <a:r>
              <a:rPr sz="2400" b="1"/>
              <a:t>REPORT_SCRIPTLET</a:t>
            </a:r>
            <a:r>
              <a:rPr sz="2400"/>
              <a:t> : Contient l'instance d'un code </a:t>
            </a:r>
            <a:r>
              <a:rPr sz="2400"/>
              <a:t>Java éventuellement fournie par l'application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Paramètres prédéfinis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 b="1"/>
              <a:t>REPORT_LOCALE</a:t>
            </a:r>
            <a:r>
              <a:rPr sz="2400"/>
              <a:t> : La locale (</a:t>
            </a:r>
            <a:r>
              <a:rPr sz="2400" i="1"/>
              <a:t>java.util.Locale</a:t>
            </a:r>
            <a:r>
              <a:rPr sz="2400"/>
              <a:t>) </a:t>
            </a:r>
            <a:r>
              <a:rPr sz="2400"/>
              <a:t>utilisée pour la génération</a:t>
            </a:r>
          </a:p>
          <a:p>
            <a:pPr/>
            <a:r>
              <a:rPr sz="2400" b="1"/>
              <a:t>REPORT_RESOURCE_BUNDLE</a:t>
            </a:r>
            <a:r>
              <a:rPr sz="2400"/>
              <a:t> : Le bundle </a:t>
            </a:r>
            <a:r>
              <a:rPr sz="2400"/>
              <a:t>contenant les labels localisés du rapport</a:t>
            </a:r>
          </a:p>
          <a:p>
            <a:pPr/>
            <a:r>
              <a:rPr sz="2400" b="1"/>
              <a:t>REPORT_TIME_ZONE</a:t>
            </a:r>
            <a:r>
              <a:rPr sz="2400"/>
              <a:t> : Le fuseau horaire </a:t>
            </a:r>
            <a:r>
              <a:rPr sz="2400"/>
              <a:t>(</a:t>
            </a:r>
            <a:r>
              <a:rPr sz="2400" i="1"/>
              <a:t>java.util.TimeZone</a:t>
            </a:r>
            <a:r>
              <a:rPr sz="2400"/>
              <a:t>) à utiliser pour le formatage des </a:t>
            </a:r>
            <a:r>
              <a:rPr sz="2400"/>
              <a:t>dates</a:t>
            </a:r>
          </a:p>
          <a:p>
            <a:pPr/>
            <a:r>
              <a:rPr sz="2400" b="1"/>
              <a:t>REPORT_VIRTUALIZER</a:t>
            </a:r>
            <a:r>
              <a:rPr sz="2400"/>
              <a:t> : L'instance de type </a:t>
            </a:r>
            <a:r>
              <a:rPr sz="2400" i="1"/>
              <a:t>JRVirtualizer</a:t>
            </a:r>
            <a:r>
              <a:rPr sz="2400"/>
              <a:t> utilisé pour la pagination</a:t>
            </a:r>
          </a:p>
          <a:p>
            <a:pPr/>
            <a:r>
              <a:rPr sz="2400" b="1"/>
              <a:t>REPORT_CLASS_LOADER</a:t>
            </a:r>
            <a:r>
              <a:rPr sz="2400"/>
              <a:t> : Le classloader à utiliser </a:t>
            </a:r>
            <a:r>
              <a:rPr sz="2400"/>
              <a:t>pendant la génération du rapport</a:t>
            </a:r>
          </a:p>
          <a:p>
            <a:pPr/>
            <a:r>
              <a:rPr sz="2400" b="1"/>
              <a:t>IS_IGNORE_PAGINATION</a:t>
            </a:r>
            <a:r>
              <a:rPr sz="2400"/>
              <a:t> : Flag. Si </a:t>
            </a:r>
            <a:r>
              <a:rPr sz="2400" i="1"/>
              <a:t>true</a:t>
            </a:r>
            <a:r>
              <a:rPr sz="2400"/>
              <a:t> le rapport </a:t>
            </a:r>
            <a:r>
              <a:rPr sz="2400"/>
              <a:t>est généré sans saut de page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Une </a:t>
            </a:r>
            <a:r>
              <a:rPr sz="2800" b="1"/>
              <a:t>variable</a:t>
            </a:r>
            <a:r>
              <a:rPr sz="2800"/>
              <a:t> est un objet construit à partir d'une </a:t>
            </a:r>
            <a:r>
              <a:rPr sz="2800"/>
              <a:t>expression qui peut être réutilisée à plusieurs </a:t>
            </a:r>
            <a:r>
              <a:rPr sz="2800"/>
              <a:t>endroits dans un rapport en faisant référence à </a:t>
            </a:r>
            <a:r>
              <a:rPr sz="2800"/>
              <a:t>son nom.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&lt;variable name="FirstLetter" class="java.lang.String"&gt;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   &lt;variableExpression&gt;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      &lt;![CDATA[$F{ShipCountry}.substring(0, 1).toUpperCase()]]&gt;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&lt;/variableExpression&gt;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&lt;/variable&gt;</a:t>
            </a:r>
          </a:p>
          <a:p>
            <a:pPr/>
            <a:r>
              <a:rPr sz="2800"/>
              <a:t>Dans son expression, une variable peut </a:t>
            </a:r>
            <a:r>
              <a:rPr sz="2800"/>
              <a:t>référencer une autre variable si cette dernière a </a:t>
            </a:r>
            <a:r>
              <a:rPr sz="2800"/>
              <a:t>été déclarée auparavant. 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Calculs prédéfinis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 i="1"/>
              <a:t>JapsperReport</a:t>
            </a:r>
            <a:r>
              <a:rPr sz="2400"/>
              <a:t> permet d'effectuer certains types de </a:t>
            </a:r>
            <a:r>
              <a:rPr sz="2400"/>
              <a:t>calcul d’agrégation prédéfinis : </a:t>
            </a:r>
            <a:r>
              <a:rPr sz="2400" i="1"/>
              <a:t>count</a:t>
            </a:r>
            <a:r>
              <a:rPr sz="2400"/>
              <a:t>, </a:t>
            </a:r>
            <a:r>
              <a:rPr sz="2400" i="1"/>
              <a:t>sum</a:t>
            </a:r>
            <a:r>
              <a:rPr sz="2400"/>
              <a:t>, </a:t>
            </a:r>
            <a:r>
              <a:rPr sz="2400" i="1"/>
              <a:t>average</a:t>
            </a:r>
            <a:r>
              <a:rPr sz="2400"/>
              <a:t>, </a:t>
            </a:r>
            <a:r>
              <a:rPr sz="2400" i="1"/>
              <a:t>lowest</a:t>
            </a:r>
            <a:r>
              <a:rPr sz="2400"/>
              <a:t>, </a:t>
            </a:r>
            <a:r>
              <a:rPr sz="2400" i="1"/>
              <a:t>highest</a:t>
            </a:r>
            <a:r>
              <a:rPr sz="2400"/>
              <a:t>, </a:t>
            </a:r>
            <a:r>
              <a:rPr sz="2400" i="1"/>
              <a:t>variance</a:t>
            </a:r>
            <a:r>
              <a:rPr sz="2400"/>
              <a:t>, etc.</a:t>
            </a:r>
          </a:p>
          <a:p>
            <a:pPr/>
            <a:r>
              <a:rPr sz="2400"/>
              <a:t>Par exemple :</a:t>
            </a:r>
          </a:p>
          <a:p>
            <a:pPr marL="0" indent="0">
              <a:buNone/>
            </a:pPr>
            <a:r>
              <a:rPr sz="1800" i="1"/>
              <a:t>&lt;variable name="QuantitySum" </a:t>
            </a:r>
          </a:p>
          <a:p>
            <a:pPr marL="0" indent="0">
              <a:buNone/>
            </a:pPr>
            <a:r>
              <a:rPr sz="1800" i="1"/>
              <a:t>class="java.lang.Double" </a:t>
            </a:r>
            <a:r>
              <a:rPr sz="1800" b="1" i="1"/>
              <a:t>calculation="Sum"</a:t>
            </a:r>
            <a:r>
              <a:rPr sz="1800" i="1"/>
              <a:t>&gt;</a:t>
            </a:r>
          </a:p>
          <a:p>
            <a:pPr marL="0" indent="0">
              <a:buNone/>
            </a:pPr>
            <a:r>
              <a:rPr sz="1800" i="1"/>
              <a:t>&lt;variableExpression&gt;$F{Quantity}&lt;/variableExpression&gt;</a:t>
            </a:r>
          </a:p>
          <a:p>
            <a:pPr marL="0" indent="0">
              <a:buNone/>
            </a:pPr>
            <a:r>
              <a:rPr sz="1800" i="1"/>
              <a:t>&lt;/variable&gt;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Réinitialisation de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Il est possible d'indiquer un niveau pour lequel la variable </a:t>
            </a:r>
            <a:r>
              <a:rPr sz="2000"/>
              <a:t>sera réinitialisée via l'attribut </a:t>
            </a:r>
            <a:r>
              <a:rPr sz="2000" b="1" i="1"/>
              <a:t>resetType</a:t>
            </a:r>
            <a:r>
              <a:rPr sz="2000"/>
              <a:t>. Les niveaux </a:t>
            </a:r>
            <a:r>
              <a:rPr sz="2000"/>
              <a:t>possibles sont : </a:t>
            </a:r>
          </a:p>
          <a:p>
            <a:pPr lvl="1"/>
            <a:r>
              <a:rPr sz="1600" b="1" i="1"/>
              <a:t>report</a:t>
            </a:r>
            <a:r>
              <a:rPr sz="1600" i="1"/>
              <a:t> </a:t>
            </a:r>
            <a:r>
              <a:rPr sz="1600"/>
              <a:t>: Initialisé une fois au début du rapport (défaut)</a:t>
            </a:r>
          </a:p>
          <a:p>
            <a:pPr lvl="1"/>
            <a:r>
              <a:rPr sz="1600" b="1" i="1"/>
              <a:t>page</a:t>
            </a:r>
            <a:r>
              <a:rPr sz="1600" b="1" i="1"/>
              <a:t> </a:t>
            </a:r>
            <a:r>
              <a:rPr sz="1600"/>
              <a:t>: Réinitialisé à chaque page</a:t>
            </a:r>
          </a:p>
          <a:p>
            <a:pPr lvl="1"/>
            <a:r>
              <a:rPr sz="1600" b="1" i="1"/>
              <a:t>column</a:t>
            </a:r>
            <a:r>
              <a:rPr sz="1600" i="1"/>
              <a:t> </a:t>
            </a:r>
            <a:r>
              <a:rPr sz="1600"/>
              <a:t>: Réinitialisé à chaque colonne</a:t>
            </a:r>
          </a:p>
          <a:p>
            <a:pPr lvl="1"/>
            <a:r>
              <a:rPr sz="1600" b="1" i="1"/>
              <a:t>group</a:t>
            </a:r>
            <a:r>
              <a:rPr sz="1600" i="1"/>
              <a:t> </a:t>
            </a:r>
            <a:r>
              <a:rPr sz="1600"/>
              <a:t>: Réinitialisé à chaque groupe.</a:t>
            </a:r>
          </a:p>
          <a:p>
            <a:pPr/>
            <a:r>
              <a:rPr sz="2000"/>
              <a:t>Par exemple, pour calculer le total d'un champ quantité pour </a:t>
            </a:r>
            <a:r>
              <a:rPr sz="2000"/>
              <a:t>chaque page </a:t>
            </a:r>
          </a:p>
          <a:p>
            <a:pPr marL="0" indent="0">
              <a:buNone/>
            </a:pPr>
            <a:r>
              <a:rPr sz="1500" i="1"/>
              <a:t>&lt;variable name="QuantitySum" class="java.lang.Double" </a:t>
            </a:r>
          </a:p>
          <a:p>
            <a:pPr marL="0" indent="0">
              <a:buNone/>
            </a:pPr>
            <a:r>
              <a:rPr sz="1500" b="1" i="1"/>
              <a:t>resetType="Page"</a:t>
            </a:r>
            <a:r>
              <a:rPr sz="1500" i="1"/>
              <a:t> calculation="Sum"&gt;</a:t>
            </a:r>
          </a:p>
          <a:p>
            <a:pPr marL="0" indent="0">
              <a:buNone/>
            </a:pPr>
            <a:r>
              <a:rPr sz="1500" i="1"/>
              <a:t>&lt;variableExpression&gt;$F{Quantity}&lt;/variableExpression&gt;</a:t>
            </a:r>
          </a:p>
          <a:p>
            <a:pPr marL="0" indent="0">
              <a:buNone/>
            </a:pPr>
            <a:r>
              <a:rPr sz="1500" i="1"/>
              <a:t>&lt;initialValueExpression&gt;new Double(0) &lt;/initialValueExpression&gt;</a:t>
            </a:r>
          </a:p>
          <a:p>
            <a:pPr marL="0" indent="0">
              <a:buNone/>
            </a:pPr>
            <a:r>
              <a:rPr sz="1500" i="1"/>
              <a:t>&lt;/variable&gt;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Valeurs prenant part au calcul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Par défaut, toutes les valeurs du </a:t>
            </a:r>
            <a:r>
              <a:rPr sz="2400" i="1"/>
              <a:t>ResultSet</a:t>
            </a:r>
            <a:r>
              <a:rPr sz="2400"/>
              <a:t> sont </a:t>
            </a:r>
            <a:r>
              <a:rPr sz="2400"/>
              <a:t>prises en compte pour le calcul de la variable</a:t>
            </a:r>
          </a:p>
          <a:p>
            <a:pPr/>
            <a:r>
              <a:rPr sz="2400"/>
              <a:t>Quelquefois, il est nécessaire de modifier ce </a:t>
            </a:r>
            <a:r>
              <a:rPr sz="2400"/>
              <a:t>comportement en jouant sur l'attribut </a:t>
            </a:r>
            <a:r>
              <a:rPr sz="2400" b="1" i="1"/>
              <a:t>IncrementType</a:t>
            </a:r>
            <a:r>
              <a:rPr sz="2400"/>
              <a:t> qui peut prendre les valeurs </a:t>
            </a:r>
            <a:r>
              <a:rPr sz="2400"/>
              <a:t>suivantes :</a:t>
            </a:r>
          </a:p>
          <a:p>
            <a:pPr lvl="1"/>
            <a:r>
              <a:rPr sz="2200" b="1" i="1"/>
              <a:t>None</a:t>
            </a:r>
            <a:r>
              <a:rPr sz="2200"/>
              <a:t> : Pour chaque enregistrement</a:t>
            </a:r>
          </a:p>
          <a:p>
            <a:pPr lvl="1"/>
            <a:r>
              <a:rPr sz="2200" b="1" i="1"/>
              <a:t>Page</a:t>
            </a:r>
            <a:r>
              <a:rPr sz="2200"/>
              <a:t> : Pour chaque page</a:t>
            </a:r>
          </a:p>
          <a:p>
            <a:pPr lvl="1"/>
            <a:r>
              <a:rPr sz="2200" b="1" i="1"/>
              <a:t>Column</a:t>
            </a:r>
            <a:r>
              <a:rPr sz="2200"/>
              <a:t> : Pour chaque colonne</a:t>
            </a:r>
          </a:p>
          <a:p>
            <a:pPr lvl="1"/>
            <a:r>
              <a:rPr sz="2200" b="1" i="1"/>
              <a:t>Group</a:t>
            </a:r>
            <a:r>
              <a:rPr sz="2200"/>
              <a:t> : Pour un chaque rupture d'un groupe </a:t>
            </a:r>
            <a:r>
              <a:rPr sz="2200"/>
              <a:t>particulier</a:t>
            </a:r>
          </a:p>
          <a:p>
            <a:pPr lvl="1"/>
            <a:r>
              <a:rPr sz="2200" b="1" i="1"/>
              <a:t>Report</a:t>
            </a:r>
            <a:r>
              <a:rPr sz="2200"/>
              <a:t> : A la fin du rapport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Variables prédéfinies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JasperReport fournit des variables prédéfinies. </a:t>
            </a:r>
            <a:r>
              <a:rPr sz="2400"/>
              <a:t>Citons :</a:t>
            </a:r>
          </a:p>
          <a:p>
            <a:pPr lvl="1"/>
            <a:r>
              <a:rPr sz="2200" b="1" i="1"/>
              <a:t>PAGE_NUMBER</a:t>
            </a:r>
            <a:r>
              <a:rPr sz="2200"/>
              <a:t> : Le numéro de la page courante</a:t>
            </a:r>
          </a:p>
          <a:p>
            <a:pPr lvl="1"/>
            <a:r>
              <a:rPr sz="2200" b="1" i="1"/>
              <a:t>COLUMN_NUMBER</a:t>
            </a:r>
            <a:r>
              <a:rPr sz="2200"/>
              <a:t> : Le numéro de la colonne </a:t>
            </a:r>
            <a:r>
              <a:rPr sz="2200"/>
              <a:t>courante</a:t>
            </a:r>
          </a:p>
          <a:p>
            <a:pPr lvl="1"/>
            <a:r>
              <a:rPr sz="2200" b="1" i="1"/>
              <a:t>REPORT_COUNT</a:t>
            </a:r>
            <a:r>
              <a:rPr sz="2200"/>
              <a:t> : Nombre total </a:t>
            </a:r>
            <a:r>
              <a:rPr sz="2200"/>
              <a:t>d'enregistrements de la source de données</a:t>
            </a:r>
          </a:p>
          <a:p>
            <a:pPr lvl="1"/>
            <a:r>
              <a:rPr sz="2200" b="1" i="1"/>
              <a:t>PAGE_COUNT</a:t>
            </a:r>
            <a:r>
              <a:rPr sz="2200"/>
              <a:t> : Nombre total d'enregistrements </a:t>
            </a:r>
            <a:r>
              <a:rPr sz="2200"/>
              <a:t>pour la génération de la page courante</a:t>
            </a:r>
          </a:p>
          <a:p>
            <a:pPr lvl="1"/>
            <a:r>
              <a:rPr sz="2200" b="1" i="1"/>
              <a:t>COLUMN_COUNT</a:t>
            </a:r>
            <a:r>
              <a:rPr sz="2200"/>
              <a:t> : Nombre total </a:t>
            </a:r>
            <a:r>
              <a:rPr sz="2200"/>
              <a:t>d'enregistrements pour la génération de la </a:t>
            </a:r>
            <a:r>
              <a:rPr sz="2200"/>
              <a:t>colonne courante</a:t>
            </a:r>
          </a:p>
          <a:p>
            <a:pPr lvl="1"/>
            <a:r>
              <a:rPr sz="2200" b="1" i="1"/>
              <a:t>GroupName_COUNT</a:t>
            </a:r>
            <a:r>
              <a:rPr sz="2200"/>
              <a:t> : Nombre total </a:t>
            </a:r>
            <a:r>
              <a:rPr sz="2200"/>
              <a:t>d'enregistrements pour la génération du groupe </a:t>
            </a:r>
            <a:r>
              <a:rPr sz="2200"/>
              <a:t>courant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Les </a:t>
            </a:r>
            <a:r>
              <a:rPr sz="2800" b="1"/>
              <a:t>expressions</a:t>
            </a:r>
            <a:r>
              <a:rPr sz="2800"/>
              <a:t> sont utilisées pour exprimer la </a:t>
            </a:r>
            <a:r>
              <a:rPr sz="2800"/>
              <a:t>valeur de certains éléments du rapport : </a:t>
            </a:r>
            <a:r>
              <a:rPr sz="2800"/>
              <a:t>variables, critère de regroupement, ou même tout </a:t>
            </a:r>
            <a:r>
              <a:rPr sz="2800"/>
              <a:t>simplement paramètre visuel du rapport </a:t>
            </a:r>
          </a:p>
          <a:p>
            <a:pPr/>
            <a:r>
              <a:rPr sz="2800"/>
              <a:t>Elles peuvent utiliser des opérateurs et les </a:t>
            </a:r>
            <a:r>
              <a:rPr sz="2800"/>
              <a:t>méthodes du langages</a:t>
            </a:r>
          </a:p>
          <a:p>
            <a:pPr/>
            <a:r>
              <a:rPr sz="2800"/>
              <a:t>Les langages disponibles sont Java, Javascript et </a:t>
            </a:r>
            <a:r>
              <a:rPr sz="2800"/>
              <a:t>Groovy</a:t>
            </a:r>
          </a:p>
          <a:p>
            <a:pPr/>
            <a:r>
              <a:rPr sz="2800"/>
              <a:t>Les expressions peuvent faire référence à des </a:t>
            </a:r>
            <a:r>
              <a:rPr sz="2800"/>
              <a:t>paramètres, des champs ou des variables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Spécification des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La notation </a:t>
            </a:r>
            <a:r>
              <a:rPr sz="3200" b="1"/>
              <a:t>${}</a:t>
            </a:r>
            <a:r>
              <a:rPr sz="3200"/>
              <a:t> permet de faire référence </a:t>
            </a:r>
            <a:r>
              <a:rPr sz="3200"/>
              <a:t>à des champs, des variables, des </a:t>
            </a:r>
            <a:r>
              <a:rPr sz="3200"/>
              <a:t>paramètres ou des clés de ressources </a:t>
            </a:r>
          </a:p>
          <a:p>
            <a:pPr lvl="1"/>
            <a:r>
              <a:rPr sz="2800" b="1" i="1"/>
              <a:t>$F{ &lt;fieldName&gt; }</a:t>
            </a:r>
            <a:r>
              <a:rPr sz="2800"/>
              <a:t> pour un champ </a:t>
            </a:r>
          </a:p>
          <a:p>
            <a:pPr lvl="1"/>
            <a:r>
              <a:rPr sz="2800" b="1" i="1"/>
              <a:t>$V{variableName}</a:t>
            </a:r>
            <a:r>
              <a:rPr sz="2800"/>
              <a:t> pour une variable </a:t>
            </a:r>
          </a:p>
          <a:p>
            <a:pPr lvl="1"/>
            <a:r>
              <a:rPr sz="2800" b="1" i="1"/>
              <a:t>$P{parameterName}</a:t>
            </a:r>
            <a:r>
              <a:rPr sz="2800"/>
              <a:t> ou </a:t>
            </a:r>
            <a:r>
              <a:rPr sz="2800" b="1" i="1"/>
              <a:t>$P!{parameterName}</a:t>
            </a:r>
            <a:r>
              <a:rPr sz="2800"/>
              <a:t> pour un paramètre. </a:t>
            </a:r>
          </a:p>
          <a:p>
            <a:pPr lvl="1"/>
            <a:r>
              <a:rPr sz="2800" b="1" i="1"/>
              <a:t>$R{resourceKey}</a:t>
            </a:r>
            <a:r>
              <a:rPr sz="2800"/>
              <a:t> pour la localisation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Types des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Le type de l'expression est souvent </a:t>
            </a:r>
            <a:r>
              <a:rPr sz="3200"/>
              <a:t>déterminé par son contexte </a:t>
            </a:r>
            <a:r>
              <a:rPr sz="3200"/>
              <a:t>d'utilisation (condition, calcul, texte, </a:t>
            </a:r>
            <a:r>
              <a:rPr sz="3200"/>
              <a:t>…)</a:t>
            </a:r>
          </a:p>
          <a:p>
            <a:pPr lvl="1"/>
            <a:r>
              <a:rPr sz="2800"/>
              <a:t>Si le langage est Java, les types </a:t>
            </a:r>
            <a:r>
              <a:rPr sz="2800"/>
              <a:t>supportés sont : </a:t>
            </a:r>
            <a:r>
              <a:rPr sz="2800" i="1"/>
              <a:t>Boolean</a:t>
            </a:r>
            <a:r>
              <a:rPr sz="2800"/>
              <a:t>, </a:t>
            </a:r>
            <a:r>
              <a:rPr sz="2800" i="1"/>
              <a:t>Byte</a:t>
            </a:r>
            <a:r>
              <a:rPr sz="2800"/>
              <a:t>, </a:t>
            </a:r>
            <a:r>
              <a:rPr sz="2800" i="1"/>
              <a:t>Integer</a:t>
            </a:r>
            <a:r>
              <a:rPr sz="2800"/>
              <a:t>, </a:t>
            </a:r>
            <a:r>
              <a:rPr sz="2800" i="1"/>
              <a:t>Long</a:t>
            </a:r>
            <a:r>
              <a:rPr sz="2800"/>
              <a:t>, </a:t>
            </a:r>
            <a:r>
              <a:rPr sz="2800" i="1"/>
              <a:t>Float</a:t>
            </a:r>
            <a:r>
              <a:rPr sz="2800"/>
              <a:t>, </a:t>
            </a:r>
            <a:r>
              <a:rPr sz="2800" i="1"/>
              <a:t>Double</a:t>
            </a:r>
            <a:r>
              <a:rPr sz="2800"/>
              <a:t>, </a:t>
            </a:r>
            <a:r>
              <a:rPr sz="2800" i="1"/>
              <a:t>String</a:t>
            </a:r>
            <a:r>
              <a:rPr sz="2800"/>
              <a:t>, </a:t>
            </a:r>
            <a:r>
              <a:rPr sz="2800" i="1"/>
              <a:t>Date</a:t>
            </a:r>
            <a:r>
              <a:rPr sz="2800"/>
              <a:t> et </a:t>
            </a:r>
            <a:r>
              <a:rPr sz="2800" i="1"/>
              <a:t>Object</a:t>
            </a:r>
          </a:p>
          <a:p>
            <a:pPr lvl="1"/>
            <a:r>
              <a:rPr sz="2800"/>
              <a:t>En Javascript et Groovy, les expressions </a:t>
            </a:r>
            <a:r>
              <a:rPr sz="2800"/>
              <a:t>ne sont pas typées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Opérateurs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1882" y="2268125"/>
          <a:ext cx="8741155" cy="402179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61071"/>
                <a:gridCol w="7480084"/>
              </a:tblGrid>
              <a:tr h="801243">
                <a:tc>
                  <a:txBody>
                    <a:bodyPr wrap="square"/>
                    <a:lstStyle/>
                    <a:p>
                      <a:r>
                        <a:rPr sz="1800" b="1"/>
                        <a:t>Opérateur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50800" marR="50800" marT="25400" marB="25400"/>
                </a:tc>
              </a:tr>
              <a:tr h="368274">
                <a:tc>
                  <a:txBody>
                    <a:bodyPr wrap="square"/>
                    <a:lstStyle/>
                    <a:p>
                      <a:r>
                        <a:rPr sz="1800"/>
                        <a:t>+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Ajout de 2 nombres ou concaténation de 2 chaînes de caractères</a:t>
                      </a:r>
                    </a:p>
                  </a:txBody>
                  <a:tcPr marL="50800" marR="50800" marT="25400" marB="25400"/>
                </a:tc>
              </a:tr>
              <a:tr h="368287">
                <a:tc>
                  <a:txBody>
                    <a:bodyPr wrap="square"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Soustraction</a:t>
                      </a:r>
                    </a:p>
                  </a:txBody>
                  <a:tcPr marL="50800" marR="50800" marT="25400" marB="25400"/>
                </a:tc>
              </a:tr>
              <a:tr h="368274">
                <a:tc>
                  <a:txBody>
                    <a:bodyPr wrap="square"/>
                    <a:lstStyle/>
                    <a:p>
                      <a:r>
                        <a:rPr sz="1800"/>
                        <a:t>*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Multiplication</a:t>
                      </a:r>
                    </a:p>
                  </a:txBody>
                  <a:tcPr marL="50800" marR="50800" marT="25400" marB="25400"/>
                </a:tc>
              </a:tr>
              <a:tr h="368287">
                <a:tc>
                  <a:txBody>
                    <a:bodyPr wrap="square"/>
                    <a:lstStyle/>
                    <a:p>
                      <a:r>
                        <a:rPr sz="1800"/>
                        <a:t>/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Division</a:t>
                      </a:r>
                    </a:p>
                  </a:txBody>
                  <a:tcPr marL="50800" marR="50800" marT="25400" marB="25400"/>
                </a:tc>
              </a:tr>
              <a:tr h="368274">
                <a:tc>
                  <a:txBody>
                    <a:bodyPr wrap="square"/>
                    <a:lstStyle/>
                    <a:p>
                      <a:r>
                        <a:rPr sz="1800"/>
                        <a:t>%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Modulo (Reste d'une division entière)</a:t>
                      </a:r>
                    </a:p>
                  </a:txBody>
                  <a:tcPr marL="50800" marR="50800" marT="25400" marB="25400"/>
                </a:tc>
              </a:tr>
              <a:tr h="368274">
                <a:tc>
                  <a:txBody>
                    <a:bodyPr wrap="square"/>
                    <a:lstStyle/>
                    <a:p>
                      <a:r>
                        <a:rPr sz="1800"/>
                        <a:t>||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Opérateur logique OU</a:t>
                      </a:r>
                    </a:p>
                  </a:txBody>
                  <a:tcPr marL="50800" marR="50800" marT="25400" marB="25400"/>
                </a:tc>
              </a:tr>
              <a:tr h="368287">
                <a:tc>
                  <a:txBody>
                    <a:bodyPr wrap="square"/>
                    <a:lstStyle/>
                    <a:p>
                      <a:r>
                        <a:rPr sz="1800"/>
                        <a:t>&amp;&amp;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Opérateur logique ET</a:t>
                      </a:r>
                    </a:p>
                  </a:txBody>
                  <a:tcPr marL="50800" marR="50800" marT="25400" marB="25400"/>
                </a:tc>
              </a:tr>
              <a:tr h="642594">
                <a:tc>
                  <a:txBody>
                    <a:bodyPr wrap="square"/>
                    <a:lstStyle/>
                    <a:p>
                      <a:r>
                        <a:rPr sz="1800"/>
                        <a:t>== et !=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Test d'égalité ou de différence (Attention en Java, différent de la méthode equals()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Expression conditionnelle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Les expressions de type « </a:t>
            </a:r>
            <a:r>
              <a:rPr sz="2000" i="1"/>
              <a:t>if-else »</a:t>
            </a:r>
            <a:r>
              <a:rPr sz="2000"/>
              <a:t> peuvent être spécifiées </a:t>
            </a:r>
            <a:r>
              <a:rPr sz="2000"/>
              <a:t>en utilisant la syntaxe :</a:t>
            </a:r>
            <a:r>
              <a:rPr sz="2000"/>
              <a:t> </a:t>
            </a:r>
            <a:r>
              <a:rPr sz="2000" b="1" i="1"/>
              <a:t>(&lt;condition&gt;) ? &lt;value on true&gt; : &lt;value on false&gt;</a:t>
            </a:r>
          </a:p>
          <a:p>
            <a:pPr/>
            <a:r>
              <a:rPr sz="2000"/>
              <a:t>Exemple : </a:t>
            </a:r>
          </a:p>
          <a:p>
            <a:pPr marL="0" indent="0">
              <a:buNone/>
            </a:pPr>
            <a:r>
              <a:rPr sz="1800" b="1" i="1">
                <a:latin typeface="Courier New"/>
              </a:rPr>
              <a:t>(($F{name}.length() &gt; 50) ? $F{name}.substring(0,50) : </a:t>
            </a:r>
          </a:p>
          <a:p>
            <a:pPr marL="0" indent="0">
              <a:buNone/>
            </a:pPr>
            <a:r>
              <a:rPr sz="1800" b="1" i="1">
                <a:latin typeface="Courier New"/>
              </a:rPr>
              <a:t>$F{name})</a:t>
            </a:r>
          </a:p>
          <a:p>
            <a:pPr/>
            <a:r>
              <a:rPr sz="2000"/>
              <a:t>Cette syntaxe est récursive comme dans :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(($F{name}.length() &gt; 50) ? 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(($F{name}.startsWidth(“A”)) ? “AAAA” : “BBB”) : 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$F{name})</a:t>
            </a:r>
          </a:p>
          <a:p>
            <a:pPr/>
            <a:r>
              <a:rPr sz="2000"/>
              <a:t>Il est toujours possible de déléguer des expressions plus </a:t>
            </a:r>
            <a:r>
              <a:rPr sz="2000"/>
              <a:t>complexes à une méthode statique d'une classe Java</a:t>
            </a:r>
          </a:p>
          <a:p>
            <a:pPr marL="0" indent="0">
              <a:buNone/>
            </a:pPr>
            <a:r>
              <a:rPr sz="2000" i="1">
                <a:latin typeface="Courier New"/>
              </a:rPr>
              <a:t>MyFormatter.toRomanNumber( $F{MyInteger}.intValue()</a:t>
            </a:r>
            <a:r>
              <a:rPr sz="2000"/>
              <a:t> )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Éléments des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Différents éléments XML peuvent définir des expressions :</a:t>
            </a:r>
          </a:p>
          <a:p>
            <a:pPr/>
            <a:r>
              <a:rPr sz="2000" b="1" i="1"/>
              <a:t>&lt;variableExpression&gt;</a:t>
            </a:r>
            <a:r>
              <a:rPr sz="2000"/>
              <a:t> : Définir la valeur d'une variable. Se place à </a:t>
            </a:r>
            <a:r>
              <a:rPr sz="2000"/>
              <a:t>l'intérieur d'un élément </a:t>
            </a:r>
            <a:r>
              <a:rPr sz="2000" i="1"/>
              <a:t>&lt;variable&gt;</a:t>
            </a:r>
          </a:p>
          <a:p>
            <a:pPr/>
            <a:r>
              <a:rPr sz="2000" b="1" i="1"/>
              <a:t>&lt;initialValueExpression&gt;</a:t>
            </a:r>
            <a:r>
              <a:rPr sz="2000"/>
              <a:t> : Définir la valeur initiale d'une variable. </a:t>
            </a:r>
            <a:r>
              <a:rPr sz="2000"/>
              <a:t>Se place à l'intérieur d'un élément </a:t>
            </a:r>
            <a:r>
              <a:rPr sz="2000" i="1"/>
              <a:t>&lt;variable&gt;</a:t>
            </a:r>
          </a:p>
          <a:p>
            <a:pPr/>
            <a:r>
              <a:rPr sz="2000" b="1" i="1"/>
              <a:t>&lt;groupExpression&gt;</a:t>
            </a:r>
            <a:r>
              <a:rPr sz="2000"/>
              <a:t> : Critère de regroupement (ou de rupture) </a:t>
            </a:r>
            <a:r>
              <a:rPr sz="2000"/>
              <a:t>pour les groupes. Se place à l'intérieur d'un élément </a:t>
            </a:r>
            <a:r>
              <a:rPr sz="2000" i="1"/>
              <a:t>&lt;group&gt;.</a:t>
            </a:r>
          </a:p>
          <a:p>
            <a:pPr/>
            <a:r>
              <a:rPr sz="2000" b="1" i="1"/>
              <a:t>&lt;printWhenExpression&gt;</a:t>
            </a:r>
            <a:r>
              <a:rPr sz="2000"/>
              <a:t> : Expression booléenne agissant sur </a:t>
            </a:r>
            <a:r>
              <a:rPr sz="2000"/>
              <a:t>l'impression. Se place à l'intérieur des éléments </a:t>
            </a:r>
            <a:r>
              <a:rPr sz="2000" i="1"/>
              <a:t>&lt;band&gt;</a:t>
            </a:r>
            <a:r>
              <a:rPr sz="2000"/>
              <a:t>, </a:t>
            </a:r>
            <a:r>
              <a:rPr sz="2000" i="1"/>
              <a:t>&lt;reportElement&gt;.</a:t>
            </a:r>
          </a:p>
          <a:p>
            <a:pPr/>
            <a:r>
              <a:rPr sz="2000" b="1" i="1"/>
              <a:t>&lt;imageExpression&gt;</a:t>
            </a:r>
            <a:r>
              <a:rPr sz="2000"/>
              <a:t> : Expression déterminant l'image à insérer. Se </a:t>
            </a:r>
            <a:r>
              <a:rPr sz="2000"/>
              <a:t>place à l'intérieur d'un élément </a:t>
            </a:r>
            <a:r>
              <a:rPr sz="2000" i="1"/>
              <a:t>&lt;image&gt;</a:t>
            </a:r>
          </a:p>
          <a:p>
            <a:pPr/>
            <a:r>
              <a:rPr sz="2000" b="1" i="1"/>
              <a:t>&lt;textFieldExpression&gt;</a:t>
            </a:r>
            <a:r>
              <a:rPr sz="2000"/>
              <a:t> : Expression déterminant une valeur texte. </a:t>
            </a:r>
            <a:r>
              <a:rPr sz="2000"/>
              <a:t>Se place à l'intérieur d'un élément </a:t>
            </a:r>
            <a:r>
              <a:rPr sz="2000" i="1"/>
              <a:t>&lt;textField&gt;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Évaluation des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1800"/>
              <a:t>Par défaut, les expressions sont évaluées immédiatement lorsque </a:t>
            </a:r>
            <a:r>
              <a:rPr sz="1800"/>
              <a:t>la moteur génère le rapport.</a:t>
            </a:r>
          </a:p>
          <a:p>
            <a:pPr/>
            <a:r>
              <a:rPr sz="1800"/>
              <a:t>On peut modifier ce comportement en modifiant l'attribut </a:t>
            </a:r>
            <a:r>
              <a:rPr sz="1800" b="1" i="1"/>
              <a:t>evaluationTime</a:t>
            </a:r>
            <a:r>
              <a:rPr sz="1800"/>
              <a:t> qui peut prendre les valeurs suivantes :</a:t>
            </a:r>
          </a:p>
          <a:p>
            <a:pPr lvl="2"/>
            <a:r>
              <a:rPr sz="1600" b="1" i="1"/>
              <a:t>Now</a:t>
            </a:r>
            <a:r>
              <a:rPr sz="1600"/>
              <a:t> : Immédiatement (valeur par défaut)</a:t>
            </a:r>
          </a:p>
          <a:p>
            <a:pPr lvl="2"/>
            <a:r>
              <a:rPr sz="1600" b="1" i="1"/>
              <a:t>Report</a:t>
            </a:r>
            <a:r>
              <a:rPr sz="1600"/>
              <a:t> : A la fin de la génération</a:t>
            </a:r>
          </a:p>
          <a:p>
            <a:pPr lvl="2"/>
            <a:r>
              <a:rPr sz="1600" b="1" i="1"/>
              <a:t>Page</a:t>
            </a:r>
            <a:r>
              <a:rPr sz="1600"/>
              <a:t> : A la fin de la page</a:t>
            </a:r>
          </a:p>
          <a:p>
            <a:pPr lvl="2"/>
            <a:r>
              <a:rPr sz="1600" b="1" i="1"/>
              <a:t>Column</a:t>
            </a:r>
            <a:r>
              <a:rPr sz="1600"/>
              <a:t> : A la fin de la colonne</a:t>
            </a:r>
          </a:p>
          <a:p>
            <a:pPr lvl="2"/>
            <a:r>
              <a:rPr sz="1600" b="1" i="1"/>
              <a:t>Group</a:t>
            </a:r>
            <a:r>
              <a:rPr sz="1600"/>
              <a:t> : A la fin de la groupe</a:t>
            </a:r>
          </a:p>
          <a:p>
            <a:pPr lvl="2"/>
            <a:r>
              <a:rPr sz="1600" b="1" i="1"/>
              <a:t>Band</a:t>
            </a:r>
            <a:r>
              <a:rPr sz="1600"/>
              <a:t> : A la fin de la bande dans laquelle se trouve l'expression</a:t>
            </a:r>
          </a:p>
          <a:p>
            <a:pPr lvl="2"/>
            <a:r>
              <a:rPr sz="1600" b="1" i="1"/>
              <a:t>Auto</a:t>
            </a:r>
            <a:r>
              <a:rPr sz="1600"/>
              <a:t> : Lorsque l'expression dépend de variables interdépendantes, </a:t>
            </a:r>
            <a:r>
              <a:rPr sz="1600"/>
              <a:t>on laisse le choix au moteur pour choisir le bon moment pour </a:t>
            </a:r>
            <a:r>
              <a:rPr sz="1600"/>
              <a:t>l'évaluation</a:t>
            </a:r>
          </a:p>
          <a:p>
            <a:pPr marL="0" indent="0">
              <a:buNone/>
            </a:pPr>
            <a:r>
              <a:rPr sz="2800" b="1" i="1"/>
              <a:t>TP 4.1 : Paramètres, variables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Propriétés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Les </a:t>
            </a:r>
            <a:r>
              <a:rPr sz="2800" b="1"/>
              <a:t>propriétés</a:t>
            </a:r>
            <a:r>
              <a:rPr sz="2800"/>
              <a:t> sont des paires nom/valeur </a:t>
            </a:r>
            <a:r>
              <a:rPr sz="2800"/>
              <a:t>qui peuvent être associées au rapport ou </a:t>
            </a:r>
            <a:r>
              <a:rPr sz="2800"/>
              <a:t>aux éléments du rapport.</a:t>
            </a:r>
          </a:p>
          <a:p>
            <a:pPr/>
            <a:r>
              <a:rPr sz="2800"/>
              <a:t>Elles peuvent être utilisées à toutes sortes </a:t>
            </a:r>
            <a:r>
              <a:rPr sz="2800"/>
              <a:t>de propos : configurer un exporter, préciser </a:t>
            </a:r>
            <a:r>
              <a:rPr sz="2800"/>
              <a:t>un thème pour un graphique, crypter un </a:t>
            </a:r>
            <a:r>
              <a:rPr sz="2800"/>
              <a:t>PDF, …</a:t>
            </a:r>
          </a:p>
          <a:p>
            <a:pPr/>
            <a:r>
              <a:rPr sz="2800"/>
              <a:t>JasperReport utilise déjà un certains </a:t>
            </a:r>
            <a:r>
              <a:rPr sz="2800"/>
              <a:t>nombre de propriétés dont la valeur par </a:t>
            </a:r>
            <a:r>
              <a:rPr sz="2800"/>
              <a:t>défaut peut être redéfinie. </a:t>
            </a:r>
          </a:p>
          <a:p>
            <a:pPr lvl="1"/>
            <a:r>
              <a:rPr sz="2400"/>
              <a:t>Par exemple : </a:t>
            </a:r>
            <a:r>
              <a:rPr sz="2400" i="1"/>
              <a:t>net.sf.jasperreports.text.truncate.at.char</a:t>
            </a:r>
            <a:r>
              <a:rPr sz="2400"/>
              <a:t> </a:t>
            </a:r>
            <a:r>
              <a:rPr sz="2400"/>
              <a:t>définit comment un texte est coupé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Ressource Bundle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Les </a:t>
            </a:r>
            <a:r>
              <a:rPr sz="2000" b="1" i="1"/>
              <a:t>resource bundles</a:t>
            </a:r>
            <a:r>
              <a:rPr sz="2000"/>
              <a:t> sont utilisés pour internationaliser un </a:t>
            </a:r>
            <a:r>
              <a:rPr sz="2000"/>
              <a:t>rapport, cela consiste en un ensemble de fichiers (1 par </a:t>
            </a:r>
            <a:r>
              <a:rPr sz="2000"/>
              <a:t>langue) contenant les traductions des textes apparaissant </a:t>
            </a:r>
            <a:r>
              <a:rPr sz="2000"/>
              <a:t>dans le rapport. </a:t>
            </a:r>
          </a:p>
          <a:p>
            <a:pPr/>
            <a:r>
              <a:rPr sz="2000"/>
              <a:t>Les fichiers respectent une norme de nommage :</a:t>
            </a:r>
          </a:p>
          <a:p>
            <a:pPr lvl="1"/>
            <a:r>
              <a:rPr sz="1600"/>
              <a:t>Ils sont suffixés par le code pays et éventuellement langue (par </a:t>
            </a:r>
            <a:r>
              <a:rPr sz="1600"/>
              <a:t>exemple, _fr_FR pour Français/France) </a:t>
            </a:r>
          </a:p>
          <a:p>
            <a:pPr lvl="1"/>
            <a:r>
              <a:rPr sz="1600"/>
              <a:t>Ils ont l'extension </a:t>
            </a:r>
            <a:r>
              <a:rPr sz="1600" i="1"/>
              <a:t>.properties </a:t>
            </a:r>
            <a:r>
              <a:rPr sz="1600"/>
              <a:t>Exemple :</a:t>
            </a:r>
            <a:r>
              <a:rPr sz="1600" i="1"/>
              <a:t> labels_fr_FR.properties </a:t>
            </a:r>
            <a:r>
              <a:rPr sz="1600"/>
              <a:t>ou</a:t>
            </a:r>
            <a:r>
              <a:rPr sz="1600" i="1"/>
              <a:t> labels_fr.properties</a:t>
            </a:r>
          </a:p>
          <a:p>
            <a:pPr/>
            <a:r>
              <a:rPr sz="2000"/>
              <a:t>Le contenu du fichier est composé de lignes : </a:t>
            </a:r>
            <a:r>
              <a:rPr sz="2000" i="1"/>
              <a:t>resourceKey= translated_label</a:t>
            </a:r>
          </a:p>
          <a:p>
            <a:pPr lvl="1"/>
            <a:r>
              <a:rPr sz="1600" b="1" i="1"/>
              <a:t>labels_fr.properties :</a:t>
            </a:r>
            <a:r>
              <a:rPr sz="1600"/>
              <a:t> </a:t>
            </a:r>
            <a:r>
              <a:rPr sz="1600" i="1"/>
              <a:t>footer.confidential = Ces données sont confidentielles</a:t>
            </a:r>
            <a:r>
              <a:rPr sz="1600"/>
              <a:t> </a:t>
            </a:r>
            <a:r>
              <a:rPr sz="1600" i="1"/>
              <a:t>generated.by = Généré par {0}</a:t>
            </a:r>
          </a:p>
          <a:p>
            <a:pPr lvl="1"/>
            <a:r>
              <a:rPr sz="1600" b="1" i="1"/>
              <a:t>labels_en.properties</a:t>
            </a:r>
            <a:r>
              <a:rPr sz="1600"/>
              <a:t> :</a:t>
            </a:r>
            <a:r>
              <a:rPr sz="1600"/>
              <a:t> </a:t>
            </a:r>
            <a:r>
              <a:rPr sz="1600" i="1"/>
              <a:t>footer.confidential = These data are confidential</a:t>
            </a:r>
            <a:r>
              <a:rPr sz="1600"/>
              <a:t> </a:t>
            </a:r>
            <a:r>
              <a:rPr sz="1600" i="1"/>
              <a:t>generated.by = Generated by {0}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Assocation avec le 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L'association d'un </a:t>
            </a:r>
            <a:r>
              <a:rPr sz="2200" i="1"/>
              <a:t>ResourceBundle</a:t>
            </a:r>
            <a:r>
              <a:rPr sz="2200"/>
              <a:t> avec un rapport </a:t>
            </a:r>
            <a:r>
              <a:rPr sz="2200"/>
              <a:t>s'effectue :</a:t>
            </a:r>
          </a:p>
          <a:p>
            <a:pPr lvl="1"/>
            <a:r>
              <a:rPr sz="2200"/>
              <a:t>Soit en utilisant l'attribut </a:t>
            </a:r>
            <a:r>
              <a:rPr sz="2200" b="1" i="1"/>
              <a:t>resourceBundle</a:t>
            </a:r>
            <a:r>
              <a:rPr sz="2200"/>
              <a:t> du </a:t>
            </a:r>
            <a:r>
              <a:rPr sz="2200"/>
              <a:t>rapport</a:t>
            </a:r>
          </a:p>
          <a:p>
            <a:pPr lvl="1"/>
            <a:r>
              <a:rPr sz="2200"/>
              <a:t>Soit à l'exécution en fournissant une valeur pour </a:t>
            </a:r>
            <a:r>
              <a:rPr sz="2200"/>
              <a:t>le paramètre prédéfini </a:t>
            </a:r>
            <a:r>
              <a:rPr sz="2200" b="1"/>
              <a:t>$P{REPORT_RESOURCE_BUNDLE}</a:t>
            </a:r>
            <a:r>
              <a:rPr sz="2200"/>
              <a:t>.</a:t>
            </a:r>
          </a:p>
          <a:p>
            <a:pPr/>
            <a:r>
              <a:rPr sz="2200"/>
              <a:t>La langue courante quant à elle peut être surchargée </a:t>
            </a:r>
            <a:r>
              <a:rPr sz="2200"/>
              <a:t>par le paramètre</a:t>
            </a:r>
            <a:r>
              <a:rPr sz="2200" b="1"/>
              <a:t> $P{REPORT_LOCALE}</a:t>
            </a:r>
            <a:r>
              <a:rPr sz="2200"/>
              <a:t>.</a:t>
            </a:r>
          </a:p>
          <a:p>
            <a:pPr/>
            <a:r>
              <a:rPr sz="2200"/>
              <a:t>Dans le résultat généré, la librairie préserve </a:t>
            </a:r>
            <a:r>
              <a:rPr sz="2200"/>
              <a:t>l'information de direction du texte afin que les </a:t>
            </a:r>
            <a:r>
              <a:rPr sz="2200"/>
              <a:t>documents générés dans des langages comme l'Arabe </a:t>
            </a:r>
            <a:r>
              <a:rPr sz="2200"/>
              <a:t>ou l'hébreu puissent être correctement rendus.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Utilisation dans Jasper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Pour localiser un label, on utilise :</a:t>
            </a:r>
          </a:p>
          <a:p>
            <a:pPr lvl="2"/>
            <a:r>
              <a:rPr sz="2200"/>
              <a:t>la syntaxe </a:t>
            </a:r>
            <a:r>
              <a:rPr sz="2200" b="1"/>
              <a:t>$R{&lt;bundleKey&gt;}</a:t>
            </a:r>
            <a:r>
              <a:rPr sz="2200"/>
              <a:t> dans les </a:t>
            </a:r>
            <a:r>
              <a:rPr sz="2200"/>
              <a:t>expressions.</a:t>
            </a:r>
          </a:p>
          <a:p>
            <a:pPr lvl="2"/>
            <a:r>
              <a:rPr sz="2200"/>
              <a:t>Ou la méthode </a:t>
            </a:r>
            <a:r>
              <a:rPr sz="2200" b="1" i="1"/>
              <a:t>msg()</a:t>
            </a:r>
            <a:r>
              <a:rPr sz="2200"/>
              <a:t> qui offre des </a:t>
            </a:r>
            <a:r>
              <a:rPr sz="2200"/>
              <a:t>fonctionnalités similaires à la classe </a:t>
            </a:r>
            <a:r>
              <a:rPr sz="2200" i="1"/>
              <a:t>java.text.MessageFormat</a:t>
            </a:r>
            <a:r>
              <a:rPr sz="2200"/>
              <a:t> en autorisant 3 </a:t>
            </a:r>
            <a:r>
              <a:rPr sz="2200"/>
              <a:t>paramètres de messages.</a:t>
            </a:r>
          </a:p>
          <a:p>
            <a:pPr marL="0" indent="0">
              <a:buNone/>
            </a:pPr>
            <a:r>
              <a:rPr sz="2200"/>
              <a:t>Exemples </a:t>
            </a:r>
          </a:p>
          <a:p>
            <a:pPr marL="0" indent="0">
              <a:buNone/>
            </a:pPr>
            <a:r>
              <a:rPr sz="2200" i="1"/>
              <a:t>- $R{footer.confidential} </a:t>
            </a:r>
          </a:p>
          <a:p>
            <a:pPr marL="0" indent="0">
              <a:buNone/>
            </a:pPr>
            <a:r>
              <a:rPr sz="2200" i="1"/>
              <a:t>- msg($R{generated.by},$P{USER_LASTNAME})</a:t>
            </a:r>
          </a:p>
          <a:p>
            <a:pPr marL="0" indent="0">
              <a:buNone/>
            </a:pPr>
            <a:r>
              <a:rPr sz="2800" b="1" i="1"/>
              <a:t>TP 4.2 : Localisation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