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2.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78.xml.rels" ContentType="application/vnd.openxmlformats-package.relationships+xml"/>
  <Override PartName="/ppt/slides/_rels/slide123.xml.rels" ContentType="application/vnd.openxmlformats-package.relationships+xml"/>
  <Override PartName="/ppt/slides/_rels/slide77.xml.rels" ContentType="application/vnd.openxmlformats-package.relationships+xml"/>
  <Override PartName="/ppt/slides/_rels/slide122.xml.rels" ContentType="application/vnd.openxmlformats-package.relationships+xml"/>
  <Override PartName="/ppt/slides/_rels/slide76.xml.rels" ContentType="application/vnd.openxmlformats-package.relationships+xml"/>
  <Override PartName="/ppt/slides/_rels/slide121.xml.rels" ContentType="application/vnd.openxmlformats-package.relationships+xml"/>
  <Override PartName="/ppt/slides/_rels/slide75.xml.rels" ContentType="application/vnd.openxmlformats-package.relationships+xml"/>
  <Override PartName="/ppt/slides/_rels/slide120.xml.rels" ContentType="application/vnd.openxmlformats-package.relationships+xml"/>
  <Override PartName="/ppt/slides/_rels/slide74.xml.rels" ContentType="application/vnd.openxmlformats-package.relationships+xml"/>
  <Override PartName="/ppt/slides/_rels/slide73.xml.rels" ContentType="application/vnd.openxmlformats-package.relationships+xml"/>
  <Override PartName="/ppt/slides/_rels/slide72.xml.rels" ContentType="application/vnd.openxmlformats-package.relationships+xml"/>
  <Override PartName="/ppt/slides/_rels/slide71.xml.rels" ContentType="application/vnd.openxmlformats-package.relationships+xml"/>
  <Override PartName="/ppt/slides/_rels/slide70.xml.rels" ContentType="application/vnd.openxmlformats-package.relationships+xml"/>
  <Override PartName="/ppt/slides/_rels/slide61.xml.rels" ContentType="application/vnd.openxmlformats-package.relationships+xml"/>
  <Override PartName="/ppt/slides/_rels/slide60.xml.rels" ContentType="application/vnd.openxmlformats-package.relationships+xml"/>
  <Override PartName="/ppt/slides/_rels/slide93.xml.rels" ContentType="application/vnd.openxmlformats-package.relationships+xml"/>
  <Override PartName="/ppt/slides/_rels/slide25.xml.rels" ContentType="application/vnd.openxmlformats-package.relationships+xml"/>
  <Override PartName="/ppt/slides/_rels/slide28.xml.rels" ContentType="application/vnd.openxmlformats-package.relationships+xml"/>
  <Override PartName="/ppt/slides/_rels/slide96.xml.rels" ContentType="application/vnd.openxmlformats-package.relationships+xml"/>
  <Override PartName="/ppt/slides/_rels/slide141.xml.rels" ContentType="application/vnd.openxmlformats-package.relationships+xml"/>
  <Override PartName="/ppt/slides/_rels/slide14.xml.rels" ContentType="application/vnd.openxmlformats-package.relationships+xml"/>
  <Override PartName="/ppt/slides/_rels/slide82.xml.rels" ContentType="application/vnd.openxmlformats-package.relationships+xml"/>
  <Override PartName="/ppt/slides/_rels/slide44.xml.rels" ContentType="application/vnd.openxmlformats-package.relationships+xml"/>
  <Override PartName="/ppt/slides/_rels/slide138.xml.rels" ContentType="application/vnd.openxmlformats-package.relationships+xml"/>
  <Override PartName="/ppt/slides/_rels/slide45.xml.rels" ContentType="application/vnd.openxmlformats-package.relationships+xml"/>
  <Override PartName="/ppt/slides/_rels/slide136.xml.rels" ContentType="application/vnd.openxmlformats-package.relationships+xml"/>
  <Override PartName="/ppt/slides/_rels/slide149.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39.xml.rels" ContentType="application/vnd.openxmlformats-package.relationships+xml"/>
  <Override PartName="/ppt/slides/_rels/slide58.xml.rels" ContentType="application/vnd.openxmlformats-package.relationships+xml"/>
  <Override PartName="/ppt/slides/_rels/slide103.xml.rels" ContentType="application/vnd.openxmlformats-package.relationships+xml"/>
  <Override PartName="/ppt/slides/_rels/slide148.xml.rels" ContentType="application/vnd.openxmlformats-package.relationships+xml"/>
  <Override PartName="/ppt/slides/_rels/slide65.xml.rels" ContentType="application/vnd.openxmlformats-package.relationships+xml"/>
  <Override PartName="/ppt/slides/_rels/slide110.xml.rels" ContentType="application/vnd.openxmlformats-package.relationships+xml"/>
  <Override PartName="/ppt/slides/_rels/slide32.xml.rels" ContentType="application/vnd.openxmlformats-package.relationships+xml"/>
  <Override PartName="/ppt/slides/_rels/slide143.xml.rels" ContentType="application/vnd.openxmlformats-package.relationships+xml"/>
  <Override PartName="/ppt/slides/_rels/slide98.xml.rels" ContentType="application/vnd.openxmlformats-package.relationships+xml"/>
  <Override PartName="/ppt/slides/_rels/slide5.xml.rels" ContentType="application/vnd.openxmlformats-package.relationships+xml"/>
  <Override PartName="/ppt/slides/_rels/slide52.xml.rels" ContentType="application/vnd.openxmlformats-package.relationships+xml"/>
  <Override PartName="/ppt/slides/_rels/slide64.xml.rels" ContentType="application/vnd.openxmlformats-package.relationships+xml"/>
  <Override PartName="/ppt/slides/_rels/slide51.xml.rels" ContentType="application/vnd.openxmlformats-package.relationships+xml"/>
  <Override PartName="/ppt/slides/_rels/slide63.xml.rels" ContentType="application/vnd.openxmlformats-package.relationships+xml"/>
  <Override PartName="/ppt/slides/_rels/slide50.xml.rels" ContentType="application/vnd.openxmlformats-package.relationships+xml"/>
  <Override PartName="/ppt/slides/_rels/slide62.xml.rels" ContentType="application/vnd.openxmlformats-package.relationships+xml"/>
  <Override PartName="/ppt/slides/_rels/slide49.xml.rels" ContentType="application/vnd.openxmlformats-package.relationships+xml"/>
  <Override PartName="/ppt/slides/_rels/slide127.xml.rels" ContentType="application/vnd.openxmlformats-package.relationships+xml"/>
  <Override PartName="/ppt/slides/_rels/slide130.xml.rels" ContentType="application/vnd.openxmlformats-package.relationships+xml"/>
  <Override PartName="/ppt/slides/_rels/slide85.xml.rels" ContentType="application/vnd.openxmlformats-package.relationships+xml"/>
  <Override PartName="/ppt/slides/_rels/slide17.xml.rels" ContentType="application/vnd.openxmlformats-package.relationships+xml"/>
  <Override PartName="/ppt/slides/_rels/slide108.xml.rels" ContentType="application/vnd.openxmlformats-package.relationships+xml"/>
  <Override PartName="/ppt/slides/_rels/slide2.xml.rels" ContentType="application/vnd.openxmlformats-package.relationships+xml"/>
  <Override PartName="/ppt/slides/_rels/slide91.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105.xml.rels" ContentType="application/vnd.openxmlformats-package.relationships+xml"/>
  <Override PartName="/ppt/slides/_rels/slide140.xml.rels" ContentType="application/vnd.openxmlformats-package.relationships+xml"/>
  <Override PartName="/ppt/slides/_rels/slide95.xml.rels" ContentType="application/vnd.openxmlformats-package.relationships+xml"/>
  <Override PartName="/ppt/slides/_rels/slide27.xml.rels" ContentType="application/vnd.openxmlformats-package.relationships+xml"/>
  <Override PartName="/ppt/slides/_rels/slide24.xml.rels" ContentType="application/vnd.openxmlformats-package.relationships+xml"/>
  <Override PartName="/ppt/slides/_rels/slide92.xml.rels" ContentType="application/vnd.openxmlformats-package.relationships+xml"/>
  <Override PartName="/ppt/slides/_rels/slide109.xml.rels" ContentType="application/vnd.openxmlformats-package.relationships+xml"/>
  <Override PartName="/ppt/slides/_rels/slide3.xml.rels" ContentType="application/vnd.openxmlformats-package.relationships+xml"/>
  <Override PartName="/ppt/slides/_rels/slide116.xml.rels" ContentType="application/vnd.openxmlformats-package.relationships+xml"/>
  <Override PartName="/ppt/slides/_rels/slide38.xml.rels" ContentType="application/vnd.openxmlformats-package.relationships+xml"/>
  <Override PartName="/ppt/slides/_rels/slide117.xml.rels" ContentType="application/vnd.openxmlformats-package.relationships+xml"/>
  <Override PartName="/ppt/slides/_rels/slide39.xml.rels" ContentType="application/vnd.openxmlformats-package.relationships+xml"/>
  <Override PartName="/ppt/slides/_rels/slide106.xml.rels" ContentType="application/vnd.openxmlformats-package.relationships+xml"/>
  <Override PartName="/ppt/slides/_rels/slide119.xml.rels" ContentType="application/vnd.openxmlformats-package.relationships+xml"/>
  <Override PartName="/ppt/slides/_rels/slide118.xml.rels" ContentType="application/vnd.openxmlformats-package.relationships+xml"/>
  <Override PartName="/ppt/slides/_rels/slide30.xml.rels" ContentType="application/vnd.openxmlformats-package.relationships+xml"/>
  <Override PartName="/ppt/slides/_rels/slide90.xml.rels" ContentType="application/vnd.openxmlformats-package.relationships+xml"/>
  <Override PartName="/ppt/slides/_rels/slide22.xml.rels" ContentType="application/vnd.openxmlformats-package.relationships+xml"/>
  <Override PartName="/ppt/slides/_rels/slide104.xml.rels" ContentType="application/vnd.openxmlformats-package.relationships+xml"/>
  <Override PartName="/ppt/slides/_rels/slide59.xml.rels" ContentType="application/vnd.openxmlformats-package.relationships+xml"/>
  <Override PartName="/ppt/slides/_rels/slide137.xml.rels" ContentType="application/vnd.openxmlformats-package.relationships+xml"/>
  <Override PartName="/ppt/slides/_rels/slide31.xml.rels" ContentType="application/vnd.openxmlformats-package.relationships+xml"/>
  <Override PartName="/ppt/slides/_rels/slide33.xml.rels" ContentType="application/vnd.openxmlformats-package.relationships+xml"/>
  <Override PartName="/ppt/slides/_rels/slide125.xml.rels" ContentType="application/vnd.openxmlformats-package.relationships+xml"/>
  <Override PartName="/ppt/slides/_rels/slide47.xml.rels" ContentType="application/vnd.openxmlformats-package.relationships+xml"/>
  <Override PartName="/ppt/slides/_rels/slide34.xml.rels" ContentType="application/vnd.openxmlformats-package.relationships+xml"/>
  <Override PartName="/ppt/slides/_rels/slide126.xml.rels" ContentType="application/vnd.openxmlformats-package.relationships+xml"/>
  <Override PartName="/ppt/slides/_rels/slide48.xml.rels" ContentType="application/vnd.openxmlformats-package.relationships+xml"/>
  <Override PartName="/ppt/slides/_rels/slide35.xml.rels" ContentType="application/vnd.openxmlformats-package.relationships+xml"/>
  <Override PartName="/ppt/slides/_rels/slide36.xml.rels" ContentType="application/vnd.openxmlformats-package.relationships+xml"/>
  <Override PartName="/ppt/slides/_rels/slide107.xml.rels" ContentType="application/vnd.openxmlformats-package.relationships+xml"/>
  <Override PartName="/ppt/slides/_rels/slide97.xml.rels" ContentType="application/vnd.openxmlformats-package.relationships+xml"/>
  <Override PartName="/ppt/slides/_rels/slide142.xml.rels" ContentType="application/vnd.openxmlformats-package.relationships+xml"/>
  <Override PartName="/ppt/slides/_rels/slide29.xml.rels" ContentType="application/vnd.openxmlformats-package.relationships+xml"/>
  <Override PartName="/ppt/slides/_rels/slide26.xml.rels" ContentType="application/vnd.openxmlformats-package.relationships+xml"/>
  <Override PartName="/ppt/slides/_rels/slide94.xml.rels" ContentType="application/vnd.openxmlformats-package.relationships+xml"/>
  <Override PartName="/ppt/slides/_rels/slide135.xml.rels" ContentType="application/vnd.openxmlformats-package.relationships+xml"/>
  <Override PartName="/ppt/slides/_rels/slide102.xml.rels" ContentType="application/vnd.openxmlformats-package.relationships+xml"/>
  <Override PartName="/ppt/slides/_rels/slide57.xml.rels" ContentType="application/vnd.openxmlformats-package.relationships+xml"/>
  <Override PartName="/ppt/slides/_rels/slide43.xml.rels" ContentType="application/vnd.openxmlformats-package.relationships+xml"/>
  <Override PartName="/ppt/slides/_rels/slide89.xml.rels" ContentType="application/vnd.openxmlformats-package.relationships+xml"/>
  <Override PartName="/ppt/slides/_rels/slide134.xml.rels" ContentType="application/vnd.openxmlformats-package.relationships+xml"/>
  <Override PartName="/ppt/slides/_rels/slide101.xml.rels" ContentType="application/vnd.openxmlformats-package.relationships+xml"/>
  <Override PartName="/ppt/slides/_rels/slide56.xml.rels" ContentType="application/vnd.openxmlformats-package.relationships+xml"/>
  <Override PartName="/ppt/slides/_rels/slide42.xml.rels" ContentType="application/vnd.openxmlformats-package.relationships+xml"/>
  <Override PartName="/ppt/slides/_rels/slide88.xml.rels" ContentType="application/vnd.openxmlformats-package.relationships+xml"/>
  <Override PartName="/ppt/slides/_rels/slide133.xml.rels" ContentType="application/vnd.openxmlformats-package.relationships+xml"/>
  <Override PartName="/ppt/slides/_rels/slide100.xml.rels" ContentType="application/vnd.openxmlformats-package.relationships+xml"/>
  <Override PartName="/ppt/slides/_rels/slide55.xml.rels" ContentType="application/vnd.openxmlformats-package.relationships+xml"/>
  <Override PartName="/ppt/slides/_rels/slide41.xml.rels" ContentType="application/vnd.openxmlformats-package.relationships+xml"/>
  <Override PartName="/ppt/slides/_rels/slide87.xml.rels" ContentType="application/vnd.openxmlformats-package.relationships+xml"/>
  <Override PartName="/ppt/slides/_rels/slide19.xml.rels" ContentType="application/vnd.openxmlformats-package.relationships+xml"/>
  <Override PartName="/ppt/slides/_rels/slide132.xml.rels" ContentType="application/vnd.openxmlformats-package.relationships+xml"/>
  <Override PartName="/ppt/slides/_rels/slide54.xml.rels" ContentType="application/vnd.openxmlformats-package.relationships+xml"/>
  <Override PartName="/ppt/slides/_rels/slide40.xml.rels" ContentType="application/vnd.openxmlformats-package.relationships+xml"/>
  <Override PartName="/ppt/slides/_rels/slide86.xml.rels" ContentType="application/vnd.openxmlformats-package.relationships+xml"/>
  <Override PartName="/ppt/slides/_rels/slide18.xml.rels" ContentType="application/vnd.openxmlformats-package.relationships+xml"/>
  <Override PartName="/ppt/slides/_rels/slide131.xml.rels" ContentType="application/vnd.openxmlformats-package.relationships+xml"/>
  <Override PartName="/ppt/slides/_rels/slide53.xml.rels" ContentType="application/vnd.openxmlformats-package.relationships+xml"/>
  <Override PartName="/ppt/slides/_rels/slide37.xml.rels" ContentType="application/vnd.openxmlformats-package.relationships+xml"/>
  <Override PartName="/ppt/slides/_rels/slide115.xml.rels" ContentType="application/vnd.openxmlformats-package.relationships+xml"/>
  <Override PartName="/ppt/slides/_rels/slide128.xml.rels" ContentType="application/vnd.openxmlformats-package.relationships+xml"/>
  <Override PartName="/ppt/slides/_rels/slide147.xml.rels" ContentType="application/vnd.openxmlformats-package.relationships+xml"/>
  <Override PartName="/ppt/slides/_rels/slide114.xml.rels" ContentType="application/vnd.openxmlformats-package.relationships+xml"/>
  <Override PartName="/ppt/slides/_rels/slide69.xml.rels" ContentType="application/vnd.openxmlformats-package.relationships+xml"/>
  <Override PartName="/ppt/slides/_rels/slide146.xml.rels" ContentType="application/vnd.openxmlformats-package.relationships+xml"/>
  <Override PartName="/ppt/slides/_rels/slide113.xml.rels" ContentType="application/vnd.openxmlformats-package.relationships+xml"/>
  <Override PartName="/ppt/slides/_rels/slide68.xml.rels" ContentType="application/vnd.openxmlformats-package.relationships+xml"/>
  <Override PartName="/ppt/slides/_rels/slide145.xml.rels" ContentType="application/vnd.openxmlformats-package.relationships+xml"/>
  <Override PartName="/ppt/slides/_rels/slide112.xml.rels" ContentType="application/vnd.openxmlformats-package.relationships+xml"/>
  <Override PartName="/ppt/slides/_rels/slide67.xml.rels" ContentType="application/vnd.openxmlformats-package.relationships+xml"/>
  <Override PartName="/ppt/slides/_rels/slide99.xml.rels" ContentType="application/vnd.openxmlformats-package.relationships+xml"/>
  <Override PartName="/ppt/slides/_rels/slide144.xml.rels" ContentType="application/vnd.openxmlformats-package.relationships+xml"/>
  <Override PartName="/ppt/slides/_rels/slide111.xml.rels" ContentType="application/vnd.openxmlformats-package.relationships+xml"/>
  <Override PartName="/ppt/slides/_rels/slide66.xml.rels" ContentType="application/vnd.openxmlformats-package.relationships+xml"/>
  <Override PartName="/ppt/slides/_rels/slide20.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84.xml.rels" ContentType="application/vnd.openxmlformats-package.relationships+xml"/>
  <Override PartName="/ppt/slides/_rels/slide16.xml.rels" ContentType="application/vnd.openxmlformats-package.relationships+xml"/>
  <Override PartName="/ppt/slides/_rels/slide81.xml.rels" ContentType="application/vnd.openxmlformats-package.relationships+xml"/>
  <Override PartName="/ppt/slides/_rels/slide13.xml.rels" ContentType="application/vnd.openxmlformats-package.relationships+xml"/>
  <Override PartName="/ppt/slides/_rels/slide46.xml.rels" ContentType="application/vnd.openxmlformats-package.relationships+xml"/>
  <Override PartName="/ppt/slides/_rels/slide124.xml.rels" ContentType="application/vnd.openxmlformats-package.relationships+xml"/>
  <Override PartName="/ppt/slides/_rels/slide79.xml.rels" ContentType="application/vnd.openxmlformats-package.relationships+xml"/>
  <Override PartName="/ppt/slides/_rels/slide1.xml.rels" ContentType="application/vnd.openxmlformats-package.relationships+xml"/>
  <Override PartName="/ppt/slides/_rels/slide129.xml.rels" ContentType="application/vnd.openxmlformats-package.relationships+xml"/>
  <Override PartName="/ppt/slides/_rels/slide7.xml.rels" ContentType="application/vnd.openxmlformats-package.relationships+xml"/>
  <Override PartName="/ppt/slides/_rels/slide83.xml.rels" ContentType="application/vnd.openxmlformats-package.relationships+xml"/>
  <Override PartName="/ppt/slides/_rels/slide15.xml.rels" ContentType="application/vnd.openxmlformats-package.relationships+xml"/>
  <Override PartName="/ppt/slides/_rels/slide80.xml.rels" ContentType="application/vnd.openxmlformats-package.relationships+xml"/>
  <Override PartName="/ppt/slides/_rels/slide12.xml.rels" ContentType="application/vnd.openxmlformats-package.relationships+xml"/>
  <Override PartName="/ppt/slides/slide127.xml" ContentType="application/vnd.openxmlformats-officedocument.presentationml.slide+xml"/>
  <Override PartName="/ppt/slides/slide126.xml" ContentType="application/vnd.openxmlformats-officedocument.presentationml.slide+xml"/>
  <Override PartName="/ppt/slides/slide119.xml" ContentType="application/vnd.openxmlformats-officedocument.presentationml.slide+xml"/>
  <Override PartName="/ppt/slides/slide118.xml" ContentType="application/vnd.openxmlformats-officedocument.presentationml.slide+xml"/>
  <Override PartName="/ppt/slides/slide117.xml" ContentType="application/vnd.openxmlformats-officedocument.presentationml.slide+xml"/>
  <Override PartName="/ppt/slides/slide116.xml" ContentType="application/vnd.openxmlformats-officedocument.presentationml.slide+xml"/>
  <Override PartName="/ppt/slides/slide109.xml" ContentType="application/vnd.openxmlformats-officedocument.presentationml.slide+xml"/>
  <Override PartName="/ppt/slides/slide108.xml" ContentType="application/vnd.openxmlformats-officedocument.presentationml.slide+xml"/>
  <Override PartName="/ppt/slides/slide107.xml" ContentType="application/vnd.openxmlformats-officedocument.presentationml.slide+xml"/>
  <Override PartName="/ppt/slides/slide106.xml" ContentType="application/vnd.openxmlformats-officedocument.presentationml.slide+xml"/>
  <Override PartName="/ppt/slides/slide95.xml" ContentType="application/vnd.openxmlformats-officedocument.presentationml.slide+xml"/>
  <Override PartName="/ppt/slides/slide27.xml" ContentType="application/vnd.openxmlformats-officedocument.presentationml.slide+xml"/>
  <Override PartName="/ppt/slides/slide89.xml" ContentType="application/vnd.openxmlformats-officedocument.presentationml.slide+xml"/>
  <Override PartName="/ppt/slides/slide88.xml" ContentType="application/vnd.openxmlformats-officedocument.presentationml.slide+xml"/>
  <Override PartName="/ppt/slides/slide87.xml" ContentType="application/vnd.openxmlformats-officedocument.presentationml.slide+xml"/>
  <Override PartName="/ppt/slides/slide19.xml" ContentType="application/vnd.openxmlformats-officedocument.presentationml.slide+xml"/>
  <Override PartName="/ppt/slides/slide86.xml" ContentType="application/vnd.openxmlformats-officedocument.presentationml.slide+xml"/>
  <Override PartName="/ppt/slides/slide18.xml" ContentType="application/vnd.openxmlformats-officedocument.presentationml.slide+xml"/>
  <Override PartName="/ppt/slides/slide85.xml" ContentType="application/vnd.openxmlformats-officedocument.presentationml.slide+xml"/>
  <Override PartName="/ppt/slides/slide17.xml" ContentType="application/vnd.openxmlformats-officedocument.presentationml.slide+xml"/>
  <Override PartName="/ppt/slides/slide125.xml" ContentType="application/vnd.openxmlformats-officedocument.presentationml.slide+xml"/>
  <Override PartName="/ppt/slides/slide79.xml" ContentType="application/vnd.openxmlformats-officedocument.presentationml.slide+xml"/>
  <Override PartName="/ppt/slides/slide99.xml" ContentType="application/vnd.openxmlformats-officedocument.presentationml.slide+xml"/>
  <Override PartName="/ppt/slides/slide4.xml" ContentType="application/vnd.openxmlformats-officedocument.presentationml.slide+xml"/>
  <Override PartName="/ppt/slides/slide145.xml" ContentType="application/vnd.openxmlformats-officedocument.presentationml.slide+xml"/>
  <Override PartName="/ppt/slides/slide49.xml" ContentType="application/vnd.openxmlformats-officedocument.presentationml.slide+xml"/>
  <Override PartName="/ppt/slides/slide21.xml" ContentType="application/vnd.openxmlformats-officedocument.presentationml.slide+xml"/>
  <Override PartName="/ppt/slides/slide58.xml" ContentType="application/vnd.openxmlformats-officedocument.presentationml.slide+xml"/>
  <Override PartName="/ppt/slides/slide104.xml" ContentType="application/vnd.openxmlformats-officedocument.presentationml.slide+xml"/>
  <Override PartName="/ppt/slides/slide5.xml" ContentType="application/vnd.openxmlformats-officedocument.presentationml.slide+xml"/>
  <Override PartName="/ppt/slides/slide146.xml" ContentType="application/vnd.openxmlformats-officedocument.presentationml.slide+xml"/>
  <Override PartName="/ppt/slides/slide90.xml" ContentType="application/vnd.openxmlformats-officedocument.presentationml.slide+xml"/>
  <Override PartName="/ppt/slides/slide22.xml" ContentType="application/vnd.openxmlformats-officedocument.presentationml.slide+xml"/>
  <Override PartName="/ppt/slides/slide59.xml" ContentType="application/vnd.openxmlformats-officedocument.presentationml.slide+xml"/>
  <Override PartName="/ppt/slides/slide105.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35.xml" ContentType="application/vnd.openxmlformats-officedocument.presentationml.slide+xml"/>
  <Override PartName="/ppt/slides/slide140.xml" ContentType="application/vnd.openxmlformats-officedocument.presentationml.slide+xml"/>
  <Override PartName="/ppt/slides/slide36.xml" ContentType="application/vnd.openxmlformats-officedocument.presentationml.slide+xml"/>
  <Override PartName="/ppt/slides/slide141.xml" ContentType="application/vnd.openxmlformats-officedocument.presentationml.slide+xml"/>
  <Override PartName="/ppt/slides/slide37.xml" ContentType="application/vnd.openxmlformats-officedocument.presentationml.slide+xml"/>
  <Override PartName="/ppt/slides/slide142.xml" ContentType="application/vnd.openxmlformats-officedocument.presentationml.slide+xml"/>
  <Override PartName="/ppt/slides/slide1.xml" ContentType="application/vnd.openxmlformats-officedocument.presentationml.slide+xml"/>
  <Override PartName="/ppt/slides/slide38.xml" ContentType="application/vnd.openxmlformats-officedocument.presentationml.slide+xml"/>
  <Override PartName="/ppt/slides/slide143.xml" ContentType="application/vnd.openxmlformats-officedocument.presentationml.slide+xml"/>
  <Override PartName="/ppt/slides/slide2.xml" ContentType="application/vnd.openxmlformats-officedocument.presentationml.slide+xml"/>
  <Override PartName="/ppt/slides/slide29.xml" ContentType="application/vnd.openxmlformats-officedocument.presentationml.slide+xml"/>
  <Override PartName="/ppt/slides/slide97.xml" ContentType="application/vnd.openxmlformats-officedocument.presentationml.slide+xml"/>
  <Override PartName="/ppt/slides/slide39.xml" ContentType="application/vnd.openxmlformats-officedocument.presentationml.slide+xml"/>
  <Override PartName="/ppt/slides/slide144.xml" ContentType="application/vnd.openxmlformats-officedocument.presentationml.slide+xml"/>
  <Override PartName="/ppt/slides/slide3.xml" ContentType="application/vnd.openxmlformats-officedocument.presentationml.slide+xml"/>
  <Override PartName="/ppt/slides/slide98.xml" ContentType="application/vnd.openxmlformats-officedocument.presentationml.slide+xml"/>
  <Override PartName="/ppt/slides/slide147.xml" ContentType="application/vnd.openxmlformats-officedocument.presentationml.slide+xml"/>
  <Override PartName="/ppt/slides/slide6.xml" ContentType="application/vnd.openxmlformats-officedocument.presentationml.slide+xml"/>
  <Override PartName="/ppt/slides/slide148.xml" ContentType="application/vnd.openxmlformats-officedocument.presentationml.slide+xml"/>
  <Override PartName="/ppt/slides/slide7.xml" ContentType="application/vnd.openxmlformats-officedocument.presentationml.slide+xml"/>
  <Override PartName="/ppt/slides/slide139.xml" ContentType="application/vnd.openxmlformats-officedocument.presentationml.slide+xml"/>
  <Override PartName="/ppt/slides/slide102.xml" ContentType="application/vnd.openxmlformats-officedocument.presentationml.slide+xml"/>
  <Override PartName="/ppt/slides/slide56.xml" ContentType="application/vnd.openxmlformats-officedocument.presentationml.slide+xml"/>
  <Override PartName="/ppt/slides/slide149.xml" ContentType="application/vnd.openxmlformats-officedocument.presentationml.slide+xml"/>
  <Override PartName="/ppt/slides/slide8.xml" ContentType="application/vnd.openxmlformats-officedocument.presentationml.slide+xml"/>
  <Override PartName="/ppt/slides/slide136.xml" ContentType="application/vnd.openxmlformats-officedocument.presentationml.slide+xml"/>
  <Override PartName="/ppt/slides/slide138.xml" ContentType="application/vnd.openxmlformats-officedocument.presentationml.slide+xml"/>
  <Override PartName="/ppt/slides/slide101.xml" ContentType="application/vnd.openxmlformats-officedocument.presentationml.slide+xml"/>
  <Override PartName="/ppt/slides/slide55.xml" ContentType="application/vnd.openxmlformats-officedocument.presentationml.slide+xml"/>
  <Override PartName="/ppt/slides/slide135.xml" ContentType="application/vnd.openxmlformats-officedocument.presentationml.slide+xml"/>
  <Override PartName="/ppt/slides/slide137.xml" ContentType="application/vnd.openxmlformats-officedocument.presentationml.slide+xml"/>
  <Override PartName="/ppt/slides/slide100.xml" ContentType="application/vnd.openxmlformats-officedocument.presentationml.slide+xml"/>
  <Override PartName="/ppt/slides/slide54.xml" ContentType="application/vnd.openxmlformats-officedocument.presentationml.slide+xml"/>
  <Override PartName="/ppt/slides/slide134.xml" ContentType="application/vnd.openxmlformats-officedocument.presentationml.slide+xml"/>
  <Override PartName="/ppt/slides/slide133.xml" ContentType="application/vnd.openxmlformats-officedocument.presentationml.slide+xml"/>
  <Override PartName="/ppt/slides/slide53.xml" ContentType="application/vnd.openxmlformats-officedocument.presentationml.slide+xml"/>
  <Override PartName="/ppt/slides/slide132.xml" ContentType="application/vnd.openxmlformats-officedocument.presentationml.slide+xml"/>
  <Override PartName="/ppt/slides/slide131.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28.xml" ContentType="application/vnd.openxmlformats-officedocument.presentationml.slide+xml"/>
  <Override PartName="/ppt/slides/slide57.xml" ContentType="application/vnd.openxmlformats-officedocument.presentationml.slide+xml"/>
  <Override PartName="/ppt/slides/slide103.xml" ContentType="application/vnd.openxmlformats-officedocument.presentationml.slide+xml"/>
  <Override PartName="/ppt/slides/slide20.xml" ContentType="application/vnd.openxmlformats-officedocument.presentationml.slide+xml"/>
  <Override PartName="/ppt/slides/slide4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47.xml" ContentType="application/vnd.openxmlformats-officedocument.presentationml.slide+xml"/>
  <Override PartName="/ppt/slides/slide10.xml" ContentType="application/vnd.openxmlformats-officedocument.presentationml.slide+xml"/>
  <Override PartName="/ppt/slides/slide84.xml" ContentType="application/vnd.openxmlformats-officedocument.presentationml.slide+xml"/>
  <Override PartName="/ppt/slides/slide16.xml" ContentType="application/vnd.openxmlformats-officedocument.presentationml.slide+xml"/>
  <Override PartName="/ppt/slides/slide81.xml" ContentType="application/vnd.openxmlformats-officedocument.presentationml.slide+xml"/>
  <Override PartName="/ppt/slides/slide13.xml" ContentType="application/vnd.openxmlformats-officedocument.presentationml.slide+xml"/>
  <Override PartName="/ppt/slides/slide46.xml" ContentType="application/vnd.openxmlformats-officedocument.presentationml.slide+xml"/>
  <Override PartName="/ppt/slides/slide83.xml" ContentType="application/vnd.openxmlformats-officedocument.presentationml.slide+xml"/>
  <Override PartName="/ppt/slides/slide15.xml" ContentType="application/vnd.openxmlformats-officedocument.presentationml.slide+xml"/>
  <Override PartName="/ppt/slides/slide80.xml" ContentType="application/vnd.openxmlformats-officedocument.presentationml.slide+xml"/>
  <Override PartName="/ppt/slides/slide12.xml" ContentType="application/vnd.openxmlformats-officedocument.presentationml.slide+xml"/>
  <Override PartName="/ppt/slides/slide82.xml" ContentType="application/vnd.openxmlformats-officedocument.presentationml.slide+xml"/>
  <Override PartName="/ppt/slides/slide14.xml" ContentType="application/vnd.openxmlformats-officedocument.presentationml.slide+xml"/>
  <Override PartName="/ppt/slides/slide23.xml" ContentType="application/vnd.openxmlformats-officedocument.presentationml.slide+xml"/>
  <Override PartName="/ppt/slides/slide91.xml" ContentType="application/vnd.openxmlformats-officedocument.presentationml.slide+xml"/>
  <Override PartName="/ppt/slides/slide94.xml" ContentType="application/vnd.openxmlformats-officedocument.presentationml.slide+xml"/>
  <Override PartName="/ppt/slides/slide26.xml" ContentType="application/vnd.openxmlformats-officedocument.presentationml.slide+xml"/>
  <Override PartName="/ppt/slides/slide24.xml" ContentType="application/vnd.openxmlformats-officedocument.presentationml.slide+xml"/>
  <Override PartName="/ppt/slides/slide92.xml" ContentType="application/vnd.openxmlformats-officedocument.presentationml.slide+xml"/>
  <Override PartName="/ppt/slides/slide96.xml" ContentType="application/vnd.openxmlformats-officedocument.presentationml.slide+xml"/>
  <Override PartName="/ppt/slides/slide28.xml" ContentType="application/vnd.openxmlformats-officedocument.presentationml.slide+xml"/>
  <Override PartName="/ppt/slides/slide25.xml" ContentType="application/vnd.openxmlformats-officedocument.presentationml.slide+xml"/>
  <Override PartName="/ppt/slides/slide93.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110.xml" ContentType="application/vnd.openxmlformats-officedocument.presentationml.slide+xml"/>
  <Override PartName="/ppt/slides/slide65.xml" ContentType="application/vnd.openxmlformats-officedocument.presentationml.slide+xml"/>
  <Override PartName="/ppt/slides/slide111.xml" ContentType="application/vnd.openxmlformats-officedocument.presentationml.slide+xml"/>
  <Override PartName="/ppt/slides/slide66.xml" ContentType="application/vnd.openxmlformats-officedocument.presentationml.slide+xml"/>
  <Override PartName="/ppt/slides/slide112.xml" ContentType="application/vnd.openxmlformats-officedocument.presentationml.slide+xml"/>
  <Override PartName="/ppt/slides/slide67.xml" ContentType="application/vnd.openxmlformats-officedocument.presentationml.slide+xml"/>
  <Override PartName="/ppt/slides/slide113.xml" ContentType="application/vnd.openxmlformats-officedocument.presentationml.slide+xml"/>
  <Override PartName="/ppt/slides/slide68.xml" ContentType="application/vnd.openxmlformats-officedocument.presentationml.slide+xml"/>
  <Override PartName="/ppt/slides/slide114.xml" ContentType="application/vnd.openxmlformats-officedocument.presentationml.slide+xml"/>
  <Override PartName="/ppt/slides/slide69.xml" ContentType="application/vnd.openxmlformats-officedocument.presentationml.slide+xml"/>
  <Override PartName="/ppt/slides/slide115.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120.xml" ContentType="application/vnd.openxmlformats-officedocument.presentationml.slide+xml"/>
  <Override PartName="/ppt/slides/slide75.xml" ContentType="application/vnd.openxmlformats-officedocument.presentationml.slide+xml"/>
  <Override PartName="/ppt/slides/slide121.xml" ContentType="application/vnd.openxmlformats-officedocument.presentationml.slide+xml"/>
  <Override PartName="/ppt/slides/slide76.xml" ContentType="application/vnd.openxmlformats-officedocument.presentationml.slide+xml"/>
  <Override PartName="/ppt/slides/slide122.xml" ContentType="application/vnd.openxmlformats-officedocument.presentationml.slide+xml"/>
  <Override PartName="/ppt/slides/slide77.xml" ContentType="application/vnd.openxmlformats-officedocument.presentationml.slide+xml"/>
  <Override PartName="/ppt/slides/slide123.xml" ContentType="application/vnd.openxmlformats-officedocument.presentationml.slide+xml"/>
  <Override PartName="/ppt/slides/slide78.xml" ContentType="application/vnd.openxmlformats-officedocument.presentationml.slide+xml"/>
  <Override PartName="/ppt/slides/slide124.xml" ContentType="application/vnd.openxmlformats-officedocument.presentationml.slide+xml"/>
  <Override PartName="/ppt/_rels/presentation.xml.rels" ContentType="application/vnd.openxmlformats-package.relationships+xml"/>
  <Override PartName="/ppt/media/image14.png" ContentType="image/png"/>
  <Override PartName="/ppt/media/image5.png" ContentType="image/png"/>
  <Override PartName="/ppt/media/image6.png" ContentType="image/png"/>
  <Override PartName="/ppt/media/image10.png" ContentType="image/png"/>
  <Override PartName="/ppt/media/image1.png" ContentType="image/png"/>
  <Override PartName="/ppt/media/image7.png" ContentType="image/png"/>
  <Override PartName="/ppt/media/image11.png" ContentType="image/png"/>
  <Override PartName="/ppt/media/image2.png" ContentType="image/png"/>
  <Override PartName="/ppt/media/image8.png" ContentType="image/png"/>
  <Override PartName="/ppt/media/image12.png" ContentType="image/png"/>
  <Override PartName="/ppt/media/image3.png" ContentType="image/png"/>
  <Override PartName="/ppt/media/image9.png" ContentType="image/png"/>
  <Override PartName="/ppt/media/image13.png" ContentType="image/png"/>
  <Override PartName="/ppt/media/image4.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7" r:id="rId6"/>
    <p:sldMasterId id="2147483659" r:id="rId7"/>
    <p:sldMasterId id="2147483661" r:id="rId8"/>
    <p:sldMasterId id="2147483663" r:id="rId9"/>
    <p:sldMasterId id="2147483665" r:id="rId10"/>
    <p:sldMasterId id="2147483667" r:id="rId11"/>
    <p:sldMasterId id="2147483669" r:id="rId12"/>
    <p:sldMasterId id="2147483670" r:id="rId13"/>
  </p:sld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 id="287" r:id="rId45"/>
    <p:sldId id="288" r:id="rId46"/>
    <p:sldId id="289" r:id="rId47"/>
    <p:sldId id="290" r:id="rId48"/>
    <p:sldId id="291" r:id="rId49"/>
    <p:sldId id="292" r:id="rId50"/>
    <p:sldId id="293" r:id="rId51"/>
    <p:sldId id="294" r:id="rId52"/>
    <p:sldId id="295" r:id="rId53"/>
    <p:sldId id="296" r:id="rId54"/>
    <p:sldId id="297" r:id="rId55"/>
    <p:sldId id="298" r:id="rId56"/>
    <p:sldId id="299" r:id="rId57"/>
    <p:sldId id="300" r:id="rId58"/>
    <p:sldId id="301" r:id="rId59"/>
    <p:sldId id="302" r:id="rId60"/>
    <p:sldId id="303" r:id="rId61"/>
    <p:sldId id="304" r:id="rId62"/>
    <p:sldId id="305" r:id="rId63"/>
    <p:sldId id="306" r:id="rId64"/>
    <p:sldId id="307" r:id="rId65"/>
    <p:sldId id="308" r:id="rId66"/>
    <p:sldId id="309" r:id="rId67"/>
    <p:sldId id="310" r:id="rId68"/>
    <p:sldId id="311" r:id="rId69"/>
    <p:sldId id="312" r:id="rId70"/>
    <p:sldId id="313" r:id="rId71"/>
    <p:sldId id="314" r:id="rId72"/>
    <p:sldId id="315" r:id="rId73"/>
    <p:sldId id="316" r:id="rId74"/>
    <p:sldId id="317" r:id="rId75"/>
    <p:sldId id="318" r:id="rId76"/>
    <p:sldId id="319" r:id="rId77"/>
    <p:sldId id="320" r:id="rId78"/>
    <p:sldId id="321" r:id="rId79"/>
    <p:sldId id="322" r:id="rId80"/>
    <p:sldId id="323" r:id="rId81"/>
    <p:sldId id="324" r:id="rId82"/>
    <p:sldId id="325" r:id="rId83"/>
    <p:sldId id="326" r:id="rId84"/>
    <p:sldId id="327" r:id="rId85"/>
    <p:sldId id="328" r:id="rId86"/>
    <p:sldId id="329" r:id="rId87"/>
    <p:sldId id="330" r:id="rId88"/>
    <p:sldId id="331" r:id="rId89"/>
    <p:sldId id="332" r:id="rId90"/>
    <p:sldId id="333" r:id="rId91"/>
    <p:sldId id="334" r:id="rId92"/>
    <p:sldId id="335" r:id="rId93"/>
    <p:sldId id="336" r:id="rId94"/>
    <p:sldId id="337" r:id="rId95"/>
    <p:sldId id="338" r:id="rId96"/>
    <p:sldId id="339" r:id="rId97"/>
    <p:sldId id="340" r:id="rId98"/>
    <p:sldId id="341" r:id="rId99"/>
    <p:sldId id="342" r:id="rId100"/>
    <p:sldId id="343" r:id="rId101"/>
    <p:sldId id="344" r:id="rId102"/>
    <p:sldId id="345" r:id="rId103"/>
    <p:sldId id="346" r:id="rId104"/>
    <p:sldId id="347" r:id="rId105"/>
    <p:sldId id="348" r:id="rId106"/>
    <p:sldId id="349" r:id="rId107"/>
    <p:sldId id="350" r:id="rId108"/>
    <p:sldId id="351" r:id="rId109"/>
    <p:sldId id="352" r:id="rId110"/>
    <p:sldId id="353" r:id="rId111"/>
    <p:sldId id="354" r:id="rId112"/>
    <p:sldId id="355" r:id="rId113"/>
    <p:sldId id="356" r:id="rId114"/>
    <p:sldId id="357" r:id="rId115"/>
    <p:sldId id="358" r:id="rId116"/>
    <p:sldId id="359" r:id="rId117"/>
    <p:sldId id="360" r:id="rId118"/>
    <p:sldId id="361" r:id="rId119"/>
    <p:sldId id="362" r:id="rId120"/>
    <p:sldId id="363" r:id="rId121"/>
    <p:sldId id="364" r:id="rId122"/>
    <p:sldId id="365" r:id="rId123"/>
    <p:sldId id="366" r:id="rId124"/>
    <p:sldId id="367" r:id="rId125"/>
    <p:sldId id="368" r:id="rId126"/>
    <p:sldId id="369" r:id="rId127"/>
    <p:sldId id="370" r:id="rId128"/>
    <p:sldId id="371" r:id="rId129"/>
    <p:sldId id="372" r:id="rId130"/>
    <p:sldId id="373" r:id="rId131"/>
    <p:sldId id="374" r:id="rId132"/>
    <p:sldId id="375" r:id="rId133"/>
    <p:sldId id="376" r:id="rId134"/>
    <p:sldId id="377" r:id="rId135"/>
    <p:sldId id="378" r:id="rId136"/>
    <p:sldId id="379" r:id="rId137"/>
    <p:sldId id="380" r:id="rId138"/>
    <p:sldId id="381" r:id="rId139"/>
    <p:sldId id="382" r:id="rId140"/>
    <p:sldId id="383" r:id="rId141"/>
    <p:sldId id="384" r:id="rId142"/>
    <p:sldId id="385" r:id="rId143"/>
    <p:sldId id="386" r:id="rId144"/>
    <p:sldId id="387" r:id="rId145"/>
    <p:sldId id="388" r:id="rId146"/>
    <p:sldId id="389" r:id="rId147"/>
    <p:sldId id="390" r:id="rId148"/>
    <p:sldId id="391" r:id="rId149"/>
    <p:sldId id="392" r:id="rId150"/>
    <p:sldId id="393" r:id="rId151"/>
    <p:sldId id="394" r:id="rId152"/>
    <p:sldId id="395" r:id="rId153"/>
    <p:sldId id="396" r:id="rId154"/>
    <p:sldId id="397" r:id="rId155"/>
    <p:sldId id="398" r:id="rId156"/>
    <p:sldId id="399" r:id="rId157"/>
    <p:sldId id="400" r:id="rId158"/>
    <p:sldId id="401" r:id="rId159"/>
    <p:sldId id="402" r:id="rId160"/>
    <p:sldId id="403" r:id="rId161"/>
    <p:sldId id="404" r:id="rId162"/>
  </p:sldIdLst>
  <p:sldSz cx="10691813" cy="7559675"/>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 Id="rId46" Type="http://schemas.openxmlformats.org/officeDocument/2006/relationships/slide" Target="slides/slide33.xml"/><Relationship Id="rId47" Type="http://schemas.openxmlformats.org/officeDocument/2006/relationships/slide" Target="slides/slide34.xml"/><Relationship Id="rId48" Type="http://schemas.openxmlformats.org/officeDocument/2006/relationships/slide" Target="slides/slide35.xml"/><Relationship Id="rId49" Type="http://schemas.openxmlformats.org/officeDocument/2006/relationships/slide" Target="slides/slide36.xml"/><Relationship Id="rId50" Type="http://schemas.openxmlformats.org/officeDocument/2006/relationships/slide" Target="slides/slide37.xml"/><Relationship Id="rId51" Type="http://schemas.openxmlformats.org/officeDocument/2006/relationships/slide" Target="slides/slide38.xml"/><Relationship Id="rId52" Type="http://schemas.openxmlformats.org/officeDocument/2006/relationships/slide" Target="slides/slide39.xml"/><Relationship Id="rId53" Type="http://schemas.openxmlformats.org/officeDocument/2006/relationships/slide" Target="slides/slide40.xml"/><Relationship Id="rId54" Type="http://schemas.openxmlformats.org/officeDocument/2006/relationships/slide" Target="slides/slide41.xml"/><Relationship Id="rId55" Type="http://schemas.openxmlformats.org/officeDocument/2006/relationships/slide" Target="slides/slide42.xml"/><Relationship Id="rId56" Type="http://schemas.openxmlformats.org/officeDocument/2006/relationships/slide" Target="slides/slide43.xml"/><Relationship Id="rId57" Type="http://schemas.openxmlformats.org/officeDocument/2006/relationships/slide" Target="slides/slide44.xml"/><Relationship Id="rId58" Type="http://schemas.openxmlformats.org/officeDocument/2006/relationships/slide" Target="slides/slide45.xml"/><Relationship Id="rId59" Type="http://schemas.openxmlformats.org/officeDocument/2006/relationships/slide" Target="slides/slide46.xml"/><Relationship Id="rId60" Type="http://schemas.openxmlformats.org/officeDocument/2006/relationships/slide" Target="slides/slide47.xml"/><Relationship Id="rId61" Type="http://schemas.openxmlformats.org/officeDocument/2006/relationships/slide" Target="slides/slide48.xml"/><Relationship Id="rId62" Type="http://schemas.openxmlformats.org/officeDocument/2006/relationships/slide" Target="slides/slide49.xml"/><Relationship Id="rId63" Type="http://schemas.openxmlformats.org/officeDocument/2006/relationships/slide" Target="slides/slide50.xml"/><Relationship Id="rId64" Type="http://schemas.openxmlformats.org/officeDocument/2006/relationships/slide" Target="slides/slide51.xml"/><Relationship Id="rId65" Type="http://schemas.openxmlformats.org/officeDocument/2006/relationships/slide" Target="slides/slide52.xml"/><Relationship Id="rId66" Type="http://schemas.openxmlformats.org/officeDocument/2006/relationships/slide" Target="slides/slide53.xml"/><Relationship Id="rId67" Type="http://schemas.openxmlformats.org/officeDocument/2006/relationships/slide" Target="slides/slide54.xml"/><Relationship Id="rId68" Type="http://schemas.openxmlformats.org/officeDocument/2006/relationships/slide" Target="slides/slide55.xml"/><Relationship Id="rId69" Type="http://schemas.openxmlformats.org/officeDocument/2006/relationships/slide" Target="slides/slide56.xml"/><Relationship Id="rId70" Type="http://schemas.openxmlformats.org/officeDocument/2006/relationships/slide" Target="slides/slide57.xml"/><Relationship Id="rId71" Type="http://schemas.openxmlformats.org/officeDocument/2006/relationships/slide" Target="slides/slide58.xml"/><Relationship Id="rId72" Type="http://schemas.openxmlformats.org/officeDocument/2006/relationships/slide" Target="slides/slide59.xml"/><Relationship Id="rId73" Type="http://schemas.openxmlformats.org/officeDocument/2006/relationships/slide" Target="slides/slide60.xml"/><Relationship Id="rId74" Type="http://schemas.openxmlformats.org/officeDocument/2006/relationships/slide" Target="slides/slide61.xml"/><Relationship Id="rId75" Type="http://schemas.openxmlformats.org/officeDocument/2006/relationships/slide" Target="slides/slide62.xml"/><Relationship Id="rId76" Type="http://schemas.openxmlformats.org/officeDocument/2006/relationships/slide" Target="slides/slide63.xml"/><Relationship Id="rId77" Type="http://schemas.openxmlformats.org/officeDocument/2006/relationships/slide" Target="slides/slide64.xml"/><Relationship Id="rId78" Type="http://schemas.openxmlformats.org/officeDocument/2006/relationships/slide" Target="slides/slide65.xml"/><Relationship Id="rId79" Type="http://schemas.openxmlformats.org/officeDocument/2006/relationships/slide" Target="slides/slide66.xml"/><Relationship Id="rId80" Type="http://schemas.openxmlformats.org/officeDocument/2006/relationships/slide" Target="slides/slide67.xml"/><Relationship Id="rId81" Type="http://schemas.openxmlformats.org/officeDocument/2006/relationships/slide" Target="slides/slide68.xml"/><Relationship Id="rId82" Type="http://schemas.openxmlformats.org/officeDocument/2006/relationships/slide" Target="slides/slide69.xml"/><Relationship Id="rId83" Type="http://schemas.openxmlformats.org/officeDocument/2006/relationships/slide" Target="slides/slide70.xml"/><Relationship Id="rId84" Type="http://schemas.openxmlformats.org/officeDocument/2006/relationships/slide" Target="slides/slide71.xml"/><Relationship Id="rId85" Type="http://schemas.openxmlformats.org/officeDocument/2006/relationships/slide" Target="slides/slide72.xml"/><Relationship Id="rId86" Type="http://schemas.openxmlformats.org/officeDocument/2006/relationships/slide" Target="slides/slide73.xml"/><Relationship Id="rId87" Type="http://schemas.openxmlformats.org/officeDocument/2006/relationships/slide" Target="slides/slide74.xml"/><Relationship Id="rId88" Type="http://schemas.openxmlformats.org/officeDocument/2006/relationships/slide" Target="slides/slide75.xml"/><Relationship Id="rId89" Type="http://schemas.openxmlformats.org/officeDocument/2006/relationships/slide" Target="slides/slide76.xml"/><Relationship Id="rId90" Type="http://schemas.openxmlformats.org/officeDocument/2006/relationships/slide" Target="slides/slide77.xml"/><Relationship Id="rId91" Type="http://schemas.openxmlformats.org/officeDocument/2006/relationships/slide" Target="slides/slide78.xml"/><Relationship Id="rId92" Type="http://schemas.openxmlformats.org/officeDocument/2006/relationships/slide" Target="slides/slide79.xml"/><Relationship Id="rId93" Type="http://schemas.openxmlformats.org/officeDocument/2006/relationships/slide" Target="slides/slide80.xml"/><Relationship Id="rId94" Type="http://schemas.openxmlformats.org/officeDocument/2006/relationships/slide" Target="slides/slide81.xml"/><Relationship Id="rId95" Type="http://schemas.openxmlformats.org/officeDocument/2006/relationships/slide" Target="slides/slide82.xml"/><Relationship Id="rId96" Type="http://schemas.openxmlformats.org/officeDocument/2006/relationships/slide" Target="slides/slide83.xml"/><Relationship Id="rId97" Type="http://schemas.openxmlformats.org/officeDocument/2006/relationships/slide" Target="slides/slide84.xml"/><Relationship Id="rId98" Type="http://schemas.openxmlformats.org/officeDocument/2006/relationships/slide" Target="slides/slide85.xml"/><Relationship Id="rId99" Type="http://schemas.openxmlformats.org/officeDocument/2006/relationships/slide" Target="slides/slide86.xml"/><Relationship Id="rId100" Type="http://schemas.openxmlformats.org/officeDocument/2006/relationships/slide" Target="slides/slide87.xml"/><Relationship Id="rId101" Type="http://schemas.openxmlformats.org/officeDocument/2006/relationships/slide" Target="slides/slide88.xml"/><Relationship Id="rId102" Type="http://schemas.openxmlformats.org/officeDocument/2006/relationships/slide" Target="slides/slide89.xml"/><Relationship Id="rId103" Type="http://schemas.openxmlformats.org/officeDocument/2006/relationships/slide" Target="slides/slide90.xml"/><Relationship Id="rId104" Type="http://schemas.openxmlformats.org/officeDocument/2006/relationships/slide" Target="slides/slide91.xml"/><Relationship Id="rId105" Type="http://schemas.openxmlformats.org/officeDocument/2006/relationships/slide" Target="slides/slide92.xml"/><Relationship Id="rId106" Type="http://schemas.openxmlformats.org/officeDocument/2006/relationships/slide" Target="slides/slide93.xml"/><Relationship Id="rId107" Type="http://schemas.openxmlformats.org/officeDocument/2006/relationships/slide" Target="slides/slide94.xml"/><Relationship Id="rId108" Type="http://schemas.openxmlformats.org/officeDocument/2006/relationships/slide" Target="slides/slide95.xml"/><Relationship Id="rId109" Type="http://schemas.openxmlformats.org/officeDocument/2006/relationships/slide" Target="slides/slide96.xml"/><Relationship Id="rId110" Type="http://schemas.openxmlformats.org/officeDocument/2006/relationships/slide" Target="slides/slide97.xml"/><Relationship Id="rId111" Type="http://schemas.openxmlformats.org/officeDocument/2006/relationships/slide" Target="slides/slide98.xml"/><Relationship Id="rId112" Type="http://schemas.openxmlformats.org/officeDocument/2006/relationships/slide" Target="slides/slide99.xml"/><Relationship Id="rId113" Type="http://schemas.openxmlformats.org/officeDocument/2006/relationships/slide" Target="slides/slide100.xml"/><Relationship Id="rId114" Type="http://schemas.openxmlformats.org/officeDocument/2006/relationships/slide" Target="slides/slide101.xml"/><Relationship Id="rId115" Type="http://schemas.openxmlformats.org/officeDocument/2006/relationships/slide" Target="slides/slide102.xml"/><Relationship Id="rId116" Type="http://schemas.openxmlformats.org/officeDocument/2006/relationships/slide" Target="slides/slide103.xml"/><Relationship Id="rId117" Type="http://schemas.openxmlformats.org/officeDocument/2006/relationships/slide" Target="slides/slide104.xml"/><Relationship Id="rId118" Type="http://schemas.openxmlformats.org/officeDocument/2006/relationships/slide" Target="slides/slide105.xml"/><Relationship Id="rId119" Type="http://schemas.openxmlformats.org/officeDocument/2006/relationships/slide" Target="slides/slide106.xml"/><Relationship Id="rId120" Type="http://schemas.openxmlformats.org/officeDocument/2006/relationships/slide" Target="slides/slide107.xml"/><Relationship Id="rId121" Type="http://schemas.openxmlformats.org/officeDocument/2006/relationships/slide" Target="slides/slide108.xml"/><Relationship Id="rId122" Type="http://schemas.openxmlformats.org/officeDocument/2006/relationships/slide" Target="slides/slide109.xml"/><Relationship Id="rId123" Type="http://schemas.openxmlformats.org/officeDocument/2006/relationships/slide" Target="slides/slide110.xml"/><Relationship Id="rId124" Type="http://schemas.openxmlformats.org/officeDocument/2006/relationships/slide" Target="slides/slide111.xml"/><Relationship Id="rId125" Type="http://schemas.openxmlformats.org/officeDocument/2006/relationships/slide" Target="slides/slide112.xml"/><Relationship Id="rId126" Type="http://schemas.openxmlformats.org/officeDocument/2006/relationships/slide" Target="slides/slide113.xml"/><Relationship Id="rId127" Type="http://schemas.openxmlformats.org/officeDocument/2006/relationships/slide" Target="slides/slide114.xml"/><Relationship Id="rId128" Type="http://schemas.openxmlformats.org/officeDocument/2006/relationships/slide" Target="slides/slide115.xml"/><Relationship Id="rId129" Type="http://schemas.openxmlformats.org/officeDocument/2006/relationships/slide" Target="slides/slide116.xml"/><Relationship Id="rId130" Type="http://schemas.openxmlformats.org/officeDocument/2006/relationships/slide" Target="slides/slide117.xml"/><Relationship Id="rId131" Type="http://schemas.openxmlformats.org/officeDocument/2006/relationships/slide" Target="slides/slide118.xml"/><Relationship Id="rId132" Type="http://schemas.openxmlformats.org/officeDocument/2006/relationships/slide" Target="slides/slide119.xml"/><Relationship Id="rId133" Type="http://schemas.openxmlformats.org/officeDocument/2006/relationships/slide" Target="slides/slide120.xml"/><Relationship Id="rId134" Type="http://schemas.openxmlformats.org/officeDocument/2006/relationships/slide" Target="slides/slide121.xml"/><Relationship Id="rId135" Type="http://schemas.openxmlformats.org/officeDocument/2006/relationships/slide" Target="slides/slide122.xml"/><Relationship Id="rId136" Type="http://schemas.openxmlformats.org/officeDocument/2006/relationships/slide" Target="slides/slide123.xml"/><Relationship Id="rId137" Type="http://schemas.openxmlformats.org/officeDocument/2006/relationships/slide" Target="slides/slide124.xml"/><Relationship Id="rId138" Type="http://schemas.openxmlformats.org/officeDocument/2006/relationships/slide" Target="slides/slide125.xml"/><Relationship Id="rId139" Type="http://schemas.openxmlformats.org/officeDocument/2006/relationships/slide" Target="slides/slide126.xml"/><Relationship Id="rId140" Type="http://schemas.openxmlformats.org/officeDocument/2006/relationships/slide" Target="slides/slide127.xml"/><Relationship Id="rId141" Type="http://schemas.openxmlformats.org/officeDocument/2006/relationships/slide" Target="slides/slide128.xml"/><Relationship Id="rId142" Type="http://schemas.openxmlformats.org/officeDocument/2006/relationships/slide" Target="slides/slide129.xml"/><Relationship Id="rId143" Type="http://schemas.openxmlformats.org/officeDocument/2006/relationships/slide" Target="slides/slide130.xml"/><Relationship Id="rId144" Type="http://schemas.openxmlformats.org/officeDocument/2006/relationships/slide" Target="slides/slide131.xml"/><Relationship Id="rId145" Type="http://schemas.openxmlformats.org/officeDocument/2006/relationships/slide" Target="slides/slide132.xml"/><Relationship Id="rId146" Type="http://schemas.openxmlformats.org/officeDocument/2006/relationships/slide" Target="slides/slide133.xml"/><Relationship Id="rId147" Type="http://schemas.openxmlformats.org/officeDocument/2006/relationships/slide" Target="slides/slide134.xml"/><Relationship Id="rId148" Type="http://schemas.openxmlformats.org/officeDocument/2006/relationships/slide" Target="slides/slide135.xml"/><Relationship Id="rId149" Type="http://schemas.openxmlformats.org/officeDocument/2006/relationships/slide" Target="slides/slide136.xml"/><Relationship Id="rId150" Type="http://schemas.openxmlformats.org/officeDocument/2006/relationships/slide" Target="slides/slide137.xml"/><Relationship Id="rId151" Type="http://schemas.openxmlformats.org/officeDocument/2006/relationships/slide" Target="slides/slide138.xml"/><Relationship Id="rId152" Type="http://schemas.openxmlformats.org/officeDocument/2006/relationships/slide" Target="slides/slide139.xml"/><Relationship Id="rId153" Type="http://schemas.openxmlformats.org/officeDocument/2006/relationships/slide" Target="slides/slide140.xml"/><Relationship Id="rId154" Type="http://schemas.openxmlformats.org/officeDocument/2006/relationships/slide" Target="slides/slide141.xml"/><Relationship Id="rId155" Type="http://schemas.openxmlformats.org/officeDocument/2006/relationships/slide" Target="slides/slide142.xml"/><Relationship Id="rId156" Type="http://schemas.openxmlformats.org/officeDocument/2006/relationships/slide" Target="slides/slide143.xml"/><Relationship Id="rId157" Type="http://schemas.openxmlformats.org/officeDocument/2006/relationships/slide" Target="slides/slide144.xml"/><Relationship Id="rId158" Type="http://schemas.openxmlformats.org/officeDocument/2006/relationships/slide" Target="slides/slide145.xml"/><Relationship Id="rId159" Type="http://schemas.openxmlformats.org/officeDocument/2006/relationships/slide" Target="slides/slide146.xml"/><Relationship Id="rId160" Type="http://schemas.openxmlformats.org/officeDocument/2006/relationships/slide" Target="slides/slide147.xml"/><Relationship Id="rId161" Type="http://schemas.openxmlformats.org/officeDocument/2006/relationships/slide" Target="slides/slide148.xml"/><Relationship Id="rId162" Type="http://schemas.openxmlformats.org/officeDocument/2006/relationships/slide" Target="slides/slide149.xml"/><Relationship Id="rId16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0.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5" name="PlaceHolder 2"/>
          <p:cNvSpPr>
            <a:spLocks noGrp="1"/>
          </p:cNvSpPr>
          <p:nvPr>
            <p:ph/>
          </p:nvPr>
        </p:nvSpPr>
        <p:spPr>
          <a:xfrm>
            <a:off x="457200" y="1600200"/>
            <a:ext cx="8228520" cy="4524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D0E9A123-100F-4CDB-8045-7201C794C4F2}" type="slidenum">
              <a:t>&lt;#&gt;</a:t>
            </a:fld>
          </a:p>
        </p:txBody>
      </p:sp>
      <p:sp>
        <p:nvSpPr>
          <p:cNvPr id="6" name="PlaceHolder 5"/>
          <p:cNvSpPr>
            <a:spLocks noGrp="1"/>
          </p:cNvSpPr>
          <p:nvPr>
            <p:ph type="dt" idx="3"/>
          </p:nvPr>
        </p:nvSpPr>
        <p:spPr/>
        <p:txBody>
          <a:bodyPr/>
          <a:p>
            <a:r>
              <a:rPr lang="fr-FR"/>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Vertical Tex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10" name="PlaceHolder 2"/>
          <p:cNvSpPr>
            <a:spLocks noGrp="1"/>
          </p:cNvSpPr>
          <p:nvPr>
            <p:ph/>
          </p:nvPr>
        </p:nvSpPr>
        <p:spPr>
          <a:xfrm>
            <a:off x="457200" y="1600200"/>
            <a:ext cx="8228520" cy="4524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41189E8E-C903-477B-884D-3A5FB201B829}" type="slidenum">
              <a:t>&lt;#&gt;</a:t>
            </a:fld>
          </a:p>
        </p:txBody>
      </p:sp>
      <p:sp>
        <p:nvSpPr>
          <p:cNvPr id="6" name="PlaceHolder 5"/>
          <p:cNvSpPr>
            <a:spLocks noGrp="1"/>
          </p:cNvSpPr>
          <p:nvPr>
            <p:ph type="dt" idx="6"/>
          </p:nvPr>
        </p:nvSpPr>
        <p:spPr/>
        <p:txBody>
          <a:bodyPr/>
          <a:p>
            <a:r>
              <a:rPr lang="fr-FR"/>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Vertical Title and Tex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15" name="PlaceHolder 2"/>
          <p:cNvSpPr>
            <a:spLocks noGrp="1"/>
          </p:cNvSpPr>
          <p:nvPr>
            <p:ph/>
          </p:nvPr>
        </p:nvSpPr>
        <p:spPr>
          <a:xfrm>
            <a:off x="457200" y="1600200"/>
            <a:ext cx="8228520" cy="4524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1CA730C6-46D2-4246-9573-E0A6125BB343}" type="slidenum">
              <a:t>&lt;#&gt;</a:t>
            </a:fld>
          </a:p>
        </p:txBody>
      </p:sp>
      <p:sp>
        <p:nvSpPr>
          <p:cNvPr id="6" name="PlaceHolder 5"/>
          <p:cNvSpPr>
            <a:spLocks noGrp="1"/>
          </p:cNvSpPr>
          <p:nvPr>
            <p:ph type="dt" idx="9"/>
          </p:nvPr>
        </p:nvSpPr>
        <p:spPr/>
        <p:txBody>
          <a:bodyPr/>
          <a:p>
            <a:r>
              <a:rPr lang="fr-FR"/>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23" name="PlaceHolder 2"/>
          <p:cNvSpPr>
            <a:spLocks noGrp="1"/>
          </p:cNvSpPr>
          <p:nvPr>
            <p:ph/>
          </p:nvPr>
        </p:nvSpPr>
        <p:spPr>
          <a:xfrm>
            <a:off x="457200" y="1600200"/>
            <a:ext cx="8228520" cy="4524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C6A23385-5181-42B4-A0A0-054A7EAB27EC}" type="slidenum">
              <a:t>&lt;#&gt;</a:t>
            </a:fld>
          </a:p>
        </p:txBody>
      </p:sp>
      <p:sp>
        <p:nvSpPr>
          <p:cNvPr id="6" name="PlaceHolder 5"/>
          <p:cNvSpPr>
            <a:spLocks noGrp="1"/>
          </p:cNvSpPr>
          <p:nvPr>
            <p:ph type="dt" idx="12"/>
          </p:nvPr>
        </p:nvSpPr>
        <p:spPr/>
        <p:txBody>
          <a:bodyPr/>
          <a:p>
            <a:r>
              <a:rPr lang="fr-FR"/>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and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25" name="PlaceHolder 2"/>
          <p:cNvSpPr>
            <a:spLocks noGrp="1"/>
          </p:cNvSpPr>
          <p:nvPr>
            <p:ph/>
          </p:nvPr>
        </p:nvSpPr>
        <p:spPr>
          <a:xfrm>
            <a:off x="457200" y="1600200"/>
            <a:ext cx="4015440" cy="4524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26" name="PlaceHolder 3"/>
          <p:cNvSpPr>
            <a:spLocks noGrp="1"/>
          </p:cNvSpPr>
          <p:nvPr>
            <p:ph/>
          </p:nvPr>
        </p:nvSpPr>
        <p:spPr>
          <a:xfrm>
            <a:off x="4673880" y="1600200"/>
            <a:ext cx="4015440" cy="4524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5" name="PlaceHolder 4"/>
          <p:cNvSpPr>
            <a:spLocks noGrp="1"/>
          </p:cNvSpPr>
          <p:nvPr>
            <p:ph type="ftr" idx="10"/>
          </p:nvPr>
        </p:nvSpPr>
        <p:spPr/>
        <p:txBody>
          <a:bodyPr/>
          <a:p>
            <a:r>
              <a:t>Footer</a:t>
            </a:r>
          </a:p>
        </p:txBody>
      </p:sp>
      <p:sp>
        <p:nvSpPr>
          <p:cNvPr id="6" name="PlaceHolder 5"/>
          <p:cNvSpPr>
            <a:spLocks noGrp="1"/>
          </p:cNvSpPr>
          <p:nvPr>
            <p:ph type="sldNum" idx="11"/>
          </p:nvPr>
        </p:nvSpPr>
        <p:spPr/>
        <p:txBody>
          <a:bodyPr/>
          <a:p>
            <a:fld id="{A633ED7E-8676-4561-A4BD-5648EEBF4126}" type="slidenum">
              <a:t>&lt;#&gt;</a:t>
            </a:fld>
          </a:p>
        </p:txBody>
      </p:sp>
      <p:sp>
        <p:nvSpPr>
          <p:cNvPr id="7" name="PlaceHolder 6"/>
          <p:cNvSpPr>
            <a:spLocks noGrp="1"/>
          </p:cNvSpPr>
          <p:nvPr>
            <p:ph type="dt" idx="12"/>
          </p:nvPr>
        </p:nvSpPr>
        <p:spPr/>
        <p:txBody>
          <a:bodyPr/>
          <a:p>
            <a:r>
              <a:rPr lang="fr-FR"/>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Standard">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33" name="PlaceHolder 2"/>
          <p:cNvSpPr>
            <a:spLocks noGrp="1"/>
          </p:cNvSpPr>
          <p:nvPr>
            <p:ph/>
          </p:nvPr>
        </p:nvSpPr>
        <p:spPr>
          <a:xfrm>
            <a:off x="457200" y="1600200"/>
            <a:ext cx="8228520" cy="4524840"/>
          </a:xfrm>
          <a:prstGeom prst="rect">
            <a:avLst/>
          </a:prstGeom>
          <a:noFill/>
          <a:ln w="0">
            <a:noFill/>
          </a:ln>
        </p:spPr>
        <p:txBody>
          <a:bodyPr lIns="0" rIns="0" tIns="0" bIns="0" anchor="t">
            <a:normAutofit/>
          </a:bodyPr>
          <a:p>
            <a:pPr indent="0">
              <a:spcBef>
                <a:spcPts val="1417"/>
              </a:spcBef>
              <a:buNone/>
            </a:pPr>
            <a:endParaRPr b="0" lang="fr-FR" sz="3200" spc="-1" strike="noStrike">
              <a:solidFill>
                <a:srgbClr val="000000"/>
              </a:solidFill>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41B400A7-A26A-4738-9718-547D082ADD16}" type="slidenum">
              <a:t>&lt;#&gt;</a:t>
            </a:fld>
          </a:p>
        </p:txBody>
      </p:sp>
      <p:sp>
        <p:nvSpPr>
          <p:cNvPr id="6" name="PlaceHolder 5"/>
          <p:cNvSpPr>
            <a:spLocks noGrp="1"/>
          </p:cNvSpPr>
          <p:nvPr>
            <p:ph type="dt" idx="15"/>
          </p:nvPr>
        </p:nvSpPr>
        <p:spPr/>
        <p:txBody>
          <a:bodyPr/>
          <a:p>
            <a:r>
              <a:rPr lang="fr-FR"/>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Section Header">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3" name="PlaceHolder 2"/>
          <p:cNvSpPr>
            <a:spLocks noGrp="1"/>
          </p:cNvSpPr>
          <p:nvPr>
            <p:ph type="ftr" idx="16"/>
          </p:nvPr>
        </p:nvSpPr>
        <p:spPr/>
        <p:txBody>
          <a:bodyPr/>
          <a:p>
            <a:r>
              <a:t>Footer</a:t>
            </a:r>
          </a:p>
        </p:txBody>
      </p:sp>
      <p:sp>
        <p:nvSpPr>
          <p:cNvPr id="4" name="PlaceHolder 3"/>
          <p:cNvSpPr>
            <a:spLocks noGrp="1"/>
          </p:cNvSpPr>
          <p:nvPr>
            <p:ph type="sldNum" idx="17"/>
          </p:nvPr>
        </p:nvSpPr>
        <p:spPr/>
        <p:txBody>
          <a:bodyPr/>
          <a:p>
            <a:fld id="{70B20B86-EC17-4591-8D52-1C46FF7ECCCF}" type="slidenum">
              <a:t>&lt;#&gt;</a:t>
            </a:fld>
          </a:p>
        </p:txBody>
      </p:sp>
      <p:sp>
        <p:nvSpPr>
          <p:cNvPr id="5" name="PlaceHolder 4"/>
          <p:cNvSpPr>
            <a:spLocks noGrp="1"/>
          </p:cNvSpPr>
          <p:nvPr>
            <p:ph type="dt" idx="18"/>
          </p:nvPr>
        </p:nvSpPr>
        <p:spPr/>
        <p:txBody>
          <a:bodyPr/>
          <a:p>
            <a:r>
              <a:rPr lang="fr-FR"/>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wo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3" name="PlaceHolder 2"/>
          <p:cNvSpPr>
            <a:spLocks noGrp="1"/>
          </p:cNvSpPr>
          <p:nvPr>
            <p:ph type="ftr" idx="19"/>
          </p:nvPr>
        </p:nvSpPr>
        <p:spPr/>
        <p:txBody>
          <a:bodyPr/>
          <a:p>
            <a:r>
              <a:t>Footer</a:t>
            </a:r>
          </a:p>
        </p:txBody>
      </p:sp>
      <p:sp>
        <p:nvSpPr>
          <p:cNvPr id="4" name="PlaceHolder 3"/>
          <p:cNvSpPr>
            <a:spLocks noGrp="1"/>
          </p:cNvSpPr>
          <p:nvPr>
            <p:ph type="sldNum" idx="20"/>
          </p:nvPr>
        </p:nvSpPr>
        <p:spPr/>
        <p:txBody>
          <a:bodyPr/>
          <a:p>
            <a:fld id="{4ECAFBCB-50E7-400C-A1D1-5A6974F949B3}" type="slidenum">
              <a:t>&lt;#&gt;</a:t>
            </a:fld>
          </a:p>
        </p:txBody>
      </p:sp>
      <p:sp>
        <p:nvSpPr>
          <p:cNvPr id="5" name="PlaceHolder 4"/>
          <p:cNvSpPr>
            <a:spLocks noGrp="1"/>
          </p:cNvSpPr>
          <p:nvPr>
            <p:ph type="dt" idx="21"/>
          </p:nvPr>
        </p:nvSpPr>
        <p:spPr/>
        <p:txBody>
          <a:bodyPr/>
          <a:p>
            <a:r>
              <a:rPr lang="fr-FR"/>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Comparison">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72619468-0601-4923-95B7-59E049CCD6D6}" type="slidenum">
              <a:t>&lt;#&gt;</a:t>
            </a:fld>
          </a:p>
        </p:txBody>
      </p:sp>
      <p:sp>
        <p:nvSpPr>
          <p:cNvPr id="5" name="PlaceHolder 4"/>
          <p:cNvSpPr>
            <a:spLocks noGrp="1"/>
          </p:cNvSpPr>
          <p:nvPr>
            <p:ph type="dt" idx="24"/>
          </p:nvPr>
        </p:nvSpPr>
        <p:spPr/>
        <p:txBody>
          <a:bodyPr/>
          <a:p>
            <a:r>
              <a:rPr lang="fr-FR"/>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indent="0" algn="ctr">
              <a:buNone/>
            </a:pPr>
            <a:endParaRPr b="0" lang="fr-FR" sz="4400" spc="-1" strike="noStrike">
              <a:solidFill>
                <a:srgbClr val="000000"/>
              </a:solidFill>
              <a:latin typeface="Arial"/>
            </a:endParaRPr>
          </a:p>
        </p:txBody>
      </p:sp>
      <p:sp>
        <p:nvSpPr>
          <p:cNvPr id="3" name="PlaceHolder 2"/>
          <p:cNvSpPr>
            <a:spLocks noGrp="1"/>
          </p:cNvSpPr>
          <p:nvPr>
            <p:ph type="ftr" idx="25"/>
          </p:nvPr>
        </p:nvSpPr>
        <p:spPr/>
        <p:txBody>
          <a:bodyPr/>
          <a:p>
            <a:r>
              <a:t>Footer</a:t>
            </a:r>
          </a:p>
        </p:txBody>
      </p:sp>
      <p:sp>
        <p:nvSpPr>
          <p:cNvPr id="4" name="PlaceHolder 3"/>
          <p:cNvSpPr>
            <a:spLocks noGrp="1"/>
          </p:cNvSpPr>
          <p:nvPr>
            <p:ph type="sldNum" idx="26"/>
          </p:nvPr>
        </p:nvSpPr>
        <p:spPr/>
        <p:txBody>
          <a:bodyPr/>
          <a:p>
            <a:fld id="{1616D1F8-3BBA-42B4-B5E8-11FD15AAFDA2}" type="slidenum">
              <a:t>&lt;#&gt;</a:t>
            </a:fld>
          </a:p>
        </p:txBody>
      </p:sp>
      <p:sp>
        <p:nvSpPr>
          <p:cNvPr id="5" name="PlaceHolder 4"/>
          <p:cNvSpPr>
            <a:spLocks noGrp="1"/>
          </p:cNvSpPr>
          <p:nvPr>
            <p:ph type="dt" idx="27"/>
          </p:nvPr>
        </p:nvSpPr>
        <p:spPr/>
        <p:txBody>
          <a:bodyPr/>
          <a:p>
            <a:r>
              <a:rPr lang="fr-FR"/>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4B230625-8E8B-453F-B4FB-DDFF6CE20B63}" type="slidenum">
              <a:t>&lt;#&gt;</a:t>
            </a:fld>
          </a:p>
        </p:txBody>
      </p:sp>
      <p:sp>
        <p:nvSpPr>
          <p:cNvPr id="4" name="PlaceHolder 3"/>
          <p:cNvSpPr>
            <a:spLocks noGrp="1"/>
          </p:cNvSpPr>
          <p:nvPr>
            <p:ph type="dt" idx="30"/>
          </p:nvPr>
        </p:nvSpPr>
        <p:spPr/>
        <p:txBody>
          <a:bodyPr/>
          <a:p>
            <a:r>
              <a:rPr lang="fr-FR"/>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Relationship Id="rId3" Type="http://schemas.openxmlformats.org/officeDocument/2006/relationships/slideLayout" Target="../slideLayouts/slideLayout5.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6.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7.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8.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9.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10.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1.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indent="0" algn="ctr">
              <a:buNone/>
            </a:pPr>
            <a:r>
              <a:rPr b="0" lang="fr-FR" sz="4400" spc="-1" strike="noStrike">
                <a:solidFill>
                  <a:srgbClr val="000000"/>
                </a:solidFill>
                <a:latin typeface="Arial"/>
              </a:rPr>
              <a:t>Cliquez pour éditer le </a:t>
            </a:r>
            <a:r>
              <a:rPr b="0" lang="fr-FR" sz="4400" spc="-1" strike="noStrike">
                <a:solidFill>
                  <a:srgbClr val="000000"/>
                </a:solidFill>
                <a:latin typeface="Arial"/>
              </a:rPr>
              <a:t>format du texte-titre</a:t>
            </a:r>
            <a:endParaRPr b="0" lang="fr-FR" sz="4400" spc="-1" strike="noStrike">
              <a:solidFill>
                <a:srgbClr val="000000"/>
              </a:solidFill>
              <a:latin typeface="Arial"/>
            </a:endParaRPr>
          </a:p>
        </p:txBody>
      </p:sp>
      <p:sp>
        <p:nvSpPr>
          <p:cNvPr id="1" name="PlaceHolder 2"/>
          <p:cNvSpPr>
            <a:spLocks noGrp="1"/>
          </p:cNvSpPr>
          <p:nvPr>
            <p:ph type="ftr" idx="1"/>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2" name="PlaceHolder 3"/>
          <p:cNvSpPr>
            <a:spLocks noGrp="1"/>
          </p:cNvSpPr>
          <p:nvPr>
            <p:ph type="sldNum" idx="2"/>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E9F233A7-8AA7-4B65-90FA-99F7EE66C745}"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
        <p:nvSpPr>
          <p:cNvPr id="3" name="PlaceHolder 4"/>
          <p:cNvSpPr>
            <a:spLocks noGrp="1"/>
          </p:cNvSpPr>
          <p:nvPr>
            <p:ph type="dt" idx="3"/>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ftr" idx="4"/>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7" name="PlaceHolder 2"/>
          <p:cNvSpPr>
            <a:spLocks noGrp="1"/>
          </p:cNvSpPr>
          <p:nvPr>
            <p:ph type="sldNum" idx="5"/>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DDD35F33-38DF-4195-8D9E-7E197176CB77}"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
        <p:nvSpPr>
          <p:cNvPr id="8" name="PlaceHolder 3"/>
          <p:cNvSpPr>
            <a:spLocks noGrp="1"/>
          </p:cNvSpPr>
          <p:nvPr>
            <p:ph type="dt" idx="6"/>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ftr" idx="7"/>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12" name="PlaceHolder 2"/>
          <p:cNvSpPr>
            <a:spLocks noGrp="1"/>
          </p:cNvSpPr>
          <p:nvPr>
            <p:ph type="sldNum" idx="8"/>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C852E14E-AF17-4C30-AE7E-5F5A0DB55010}"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
        <p:nvSpPr>
          <p:cNvPr id="13" name="PlaceHolder 3"/>
          <p:cNvSpPr>
            <a:spLocks noGrp="1"/>
          </p:cNvSpPr>
          <p:nvPr>
            <p:ph type="dt" idx="9"/>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indent="0" algn="ctr">
              <a:buNone/>
            </a:pPr>
            <a:r>
              <a:rPr b="0" lang="fr-FR" sz="4400" spc="-1" strike="noStrike">
                <a:solidFill>
                  <a:srgbClr val="000000"/>
                </a:solidFill>
                <a:latin typeface="Arial"/>
              </a:rPr>
              <a:t>Cliquez pour éditer le format du texte-titre</a:t>
            </a:r>
            <a:endParaRPr b="0" lang="fr-FR" sz="4400" spc="-1" strike="noStrike">
              <a:solidFill>
                <a:srgbClr val="000000"/>
              </a:solidFill>
              <a:latin typeface="Arial"/>
            </a:endParaRPr>
          </a:p>
        </p:txBody>
      </p:sp>
      <p:sp>
        <p:nvSpPr>
          <p:cNvPr id="17" name="PlaceHolder 2"/>
          <p:cNvSpPr>
            <a:spLocks noGrp="1"/>
          </p:cNvSpPr>
          <p:nvPr>
            <p:ph type="body"/>
          </p:nvPr>
        </p:nvSpPr>
        <p:spPr>
          <a:xfrm>
            <a:off x="457200" y="1600200"/>
            <a:ext cx="4015080" cy="4524840"/>
          </a:xfrm>
          <a:prstGeom prst="rect">
            <a:avLst/>
          </a:prstGeom>
          <a:noFill/>
          <a:ln w="0">
            <a:noFill/>
          </a:ln>
        </p:spPr>
        <p:txBody>
          <a:bodyPr lIns="0" rIns="0" tIns="0" bIns="0" anchor="t">
            <a:normAutofit fontScale="85929"/>
          </a:bodyPr>
          <a:p>
            <a:pPr marL="432000" indent="-324000">
              <a:spcBef>
                <a:spcPts val="1417"/>
              </a:spcBef>
              <a:buClr>
                <a:srgbClr val="000000"/>
              </a:buClr>
              <a:buSzPct val="45000"/>
              <a:buFont typeface="Wingdings" charset="2"/>
              <a:buChar char=""/>
            </a:pPr>
            <a:r>
              <a:rPr b="0" lang="fr-FR" sz="3200" spc="-1" strike="noStrike">
                <a:solidFill>
                  <a:srgbClr val="000000"/>
                </a:solidFill>
                <a:latin typeface="Arial"/>
              </a:rPr>
              <a:t>Cliquez pour éditer le format du plan de texte</a:t>
            </a:r>
            <a:endParaRPr b="0" lang="fr-F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Arial"/>
              </a:rPr>
              <a:t>Second niveau de plan</a:t>
            </a:r>
            <a:endParaRPr b="0" lang="fr-F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2400" spc="-1" strike="noStrike">
                <a:solidFill>
                  <a:srgbClr val="000000"/>
                </a:solidFill>
                <a:latin typeface="Arial"/>
              </a:rPr>
              <a:t>Troisième niveau de plan</a:t>
            </a:r>
            <a:endParaRPr b="0" lang="fr-F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2000" spc="-1" strike="noStrike">
                <a:solidFill>
                  <a:srgbClr val="000000"/>
                </a:solidFill>
                <a:latin typeface="Arial"/>
              </a:rPr>
              <a:t>Quatrième niveau de plan</a:t>
            </a:r>
            <a:endParaRPr b="0" lang="fr-F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Cinquième niveau de plan</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Sixième niveau de plan</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Septième niveau de plan</a:t>
            </a:r>
            <a:endParaRPr b="0" lang="fr-FR" sz="2000" spc="-1" strike="noStrike">
              <a:solidFill>
                <a:srgbClr val="000000"/>
              </a:solidFill>
              <a:latin typeface="Arial"/>
            </a:endParaRPr>
          </a:p>
        </p:txBody>
      </p:sp>
      <p:sp>
        <p:nvSpPr>
          <p:cNvPr id="18" name="PlaceHolder 3"/>
          <p:cNvSpPr>
            <a:spLocks noGrp="1"/>
          </p:cNvSpPr>
          <p:nvPr>
            <p:ph type="body"/>
          </p:nvPr>
        </p:nvSpPr>
        <p:spPr>
          <a:xfrm>
            <a:off x="4673880" y="1600200"/>
            <a:ext cx="4015080" cy="4524840"/>
          </a:xfrm>
          <a:prstGeom prst="rect">
            <a:avLst/>
          </a:prstGeom>
          <a:noFill/>
          <a:ln w="0">
            <a:noFill/>
          </a:ln>
        </p:spPr>
        <p:txBody>
          <a:bodyPr lIns="0" rIns="0" tIns="0" bIns="0" anchor="t">
            <a:normAutofit fontScale="85929"/>
          </a:bodyPr>
          <a:p>
            <a:pPr marL="432000" indent="-324000">
              <a:spcBef>
                <a:spcPts val="1417"/>
              </a:spcBef>
              <a:buClr>
                <a:srgbClr val="000000"/>
              </a:buClr>
              <a:buSzPct val="45000"/>
              <a:buFont typeface="Wingdings" charset="2"/>
              <a:buChar char=""/>
            </a:pPr>
            <a:r>
              <a:rPr b="0" lang="fr-FR" sz="3200" spc="-1" strike="noStrike">
                <a:solidFill>
                  <a:srgbClr val="000000"/>
                </a:solidFill>
                <a:latin typeface="Arial"/>
              </a:rPr>
              <a:t>Cliquez pour éditer le format du plan de texte</a:t>
            </a:r>
            <a:endParaRPr b="0" lang="fr-F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Arial"/>
              </a:rPr>
              <a:t>Second niveau de plan</a:t>
            </a:r>
            <a:endParaRPr b="0" lang="fr-F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2400" spc="-1" strike="noStrike">
                <a:solidFill>
                  <a:srgbClr val="000000"/>
                </a:solidFill>
                <a:latin typeface="Arial"/>
              </a:rPr>
              <a:t>Troisième niveau de plan</a:t>
            </a:r>
            <a:endParaRPr b="0" lang="fr-F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2000" spc="-1" strike="noStrike">
                <a:solidFill>
                  <a:srgbClr val="000000"/>
                </a:solidFill>
                <a:latin typeface="Arial"/>
              </a:rPr>
              <a:t>Quatrième niveau de plan</a:t>
            </a:r>
            <a:endParaRPr b="0" lang="fr-F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Cinquième niveau de plan</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Sixième niveau de plan</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Septième niveau de plan</a:t>
            </a:r>
            <a:endParaRPr b="0" lang="fr-FR" sz="2000" spc="-1" strike="noStrike">
              <a:solidFill>
                <a:srgbClr val="000000"/>
              </a:solidFill>
              <a:latin typeface="Arial"/>
            </a:endParaRPr>
          </a:p>
        </p:txBody>
      </p:sp>
      <p:sp>
        <p:nvSpPr>
          <p:cNvPr id="19" name="PlaceHolder 4"/>
          <p:cNvSpPr>
            <a:spLocks noGrp="1"/>
          </p:cNvSpPr>
          <p:nvPr>
            <p:ph type="ftr" idx="10"/>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20" name="PlaceHolder 5"/>
          <p:cNvSpPr>
            <a:spLocks noGrp="1"/>
          </p:cNvSpPr>
          <p:nvPr>
            <p:ph type="sldNum" idx="11"/>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94564F60-C96D-432B-AE06-F4E3EC9856EF}"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
        <p:nvSpPr>
          <p:cNvPr id="21" name="PlaceHolder 6"/>
          <p:cNvSpPr>
            <a:spLocks noGrp="1"/>
          </p:cNvSpPr>
          <p:nvPr>
            <p:ph type="dt" idx="12"/>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 id="2147483656"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indent="0" algn="ctr">
              <a:buNone/>
            </a:pPr>
            <a:r>
              <a:rPr b="0" lang="fr-FR" sz="4400" spc="-1" strike="noStrike">
                <a:solidFill>
                  <a:srgbClr val="000000"/>
                </a:solidFill>
                <a:latin typeface="Arial"/>
              </a:rPr>
              <a:t>Cliquez pour éditer le format du texte-titre</a:t>
            </a:r>
            <a:endParaRPr b="0" lang="fr-FR" sz="4400" spc="-1" strike="noStrike">
              <a:solidFill>
                <a:srgbClr val="000000"/>
              </a:solidFill>
              <a:latin typeface="Arial"/>
            </a:endParaRPr>
          </a:p>
        </p:txBody>
      </p:sp>
      <p:sp>
        <p:nvSpPr>
          <p:cNvPr id="28" name="PlaceHolder 2"/>
          <p:cNvSpPr>
            <a:spLocks noGrp="1"/>
          </p:cNvSpPr>
          <p:nvPr>
            <p:ph type="body"/>
          </p:nvPr>
        </p:nvSpPr>
        <p:spPr>
          <a:xfrm>
            <a:off x="457200" y="1600200"/>
            <a:ext cx="8228520" cy="45248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3200" spc="-1" strike="noStrike">
                <a:solidFill>
                  <a:srgbClr val="000000"/>
                </a:solidFill>
                <a:latin typeface="Arial"/>
              </a:rPr>
              <a:t>Cliquez pour éditer le format du plan de texte</a:t>
            </a:r>
            <a:endParaRPr b="0" lang="fr-F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Arial"/>
              </a:rPr>
              <a:t>Second niveau de plan</a:t>
            </a:r>
            <a:endParaRPr b="0" lang="fr-F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2400" spc="-1" strike="noStrike">
                <a:solidFill>
                  <a:srgbClr val="000000"/>
                </a:solidFill>
                <a:latin typeface="Arial"/>
              </a:rPr>
              <a:t>Troisième niveau de plan</a:t>
            </a:r>
            <a:endParaRPr b="0" lang="fr-F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2000" spc="-1" strike="noStrike">
                <a:solidFill>
                  <a:srgbClr val="000000"/>
                </a:solidFill>
                <a:latin typeface="Arial"/>
              </a:rPr>
              <a:t>Quatrième niveau de plan</a:t>
            </a:r>
            <a:endParaRPr b="0" lang="fr-F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Cinquième niveau de plan</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Sixième niveau de plan</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Septième niveau de plan</a:t>
            </a:r>
            <a:endParaRPr b="0" lang="fr-FR" sz="2000" spc="-1" strike="noStrike">
              <a:solidFill>
                <a:srgbClr val="000000"/>
              </a:solidFill>
              <a:latin typeface="Arial"/>
            </a:endParaRPr>
          </a:p>
        </p:txBody>
      </p:sp>
      <p:sp>
        <p:nvSpPr>
          <p:cNvPr id="29" name="PlaceHolder 3"/>
          <p:cNvSpPr>
            <a:spLocks noGrp="1"/>
          </p:cNvSpPr>
          <p:nvPr>
            <p:ph type="ftr" idx="13"/>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30" name="PlaceHolder 4"/>
          <p:cNvSpPr>
            <a:spLocks noGrp="1"/>
          </p:cNvSpPr>
          <p:nvPr>
            <p:ph type="sldNum" idx="14"/>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C3BEF3B6-4582-4E82-BAA3-6D97C6A016B9}"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
        <p:nvSpPr>
          <p:cNvPr id="31" name="PlaceHolder 5"/>
          <p:cNvSpPr>
            <a:spLocks noGrp="1"/>
          </p:cNvSpPr>
          <p:nvPr>
            <p:ph type="dt" idx="15"/>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8"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ftr" idx="16"/>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35" name="PlaceHolder 2"/>
          <p:cNvSpPr>
            <a:spLocks noGrp="1"/>
          </p:cNvSpPr>
          <p:nvPr>
            <p:ph type="sldNum" idx="17"/>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3C66171C-4E20-477A-80C5-DAF8FC7834F2}"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
        <p:nvSpPr>
          <p:cNvPr id="36" name="PlaceHolder 3"/>
          <p:cNvSpPr>
            <a:spLocks noGrp="1"/>
          </p:cNvSpPr>
          <p:nvPr>
            <p:ph type="dt" idx="18"/>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0"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indent="0" algn="ctr">
              <a:buNone/>
            </a:pPr>
            <a:r>
              <a:rPr b="0" lang="fr-FR" sz="4400" spc="-1" strike="noStrike">
                <a:solidFill>
                  <a:srgbClr val="000000"/>
                </a:solidFill>
                <a:latin typeface="Arial"/>
              </a:rPr>
              <a:t>Cliquez pour éditer le format du texte-titre</a:t>
            </a:r>
            <a:endParaRPr b="0" lang="fr-FR" sz="4400" spc="-1" strike="noStrike">
              <a:solidFill>
                <a:srgbClr val="000000"/>
              </a:solidFill>
              <a:latin typeface="Arial"/>
            </a:endParaRPr>
          </a:p>
        </p:txBody>
      </p:sp>
      <p:sp>
        <p:nvSpPr>
          <p:cNvPr id="39" name="PlaceHolder 2"/>
          <p:cNvSpPr>
            <a:spLocks noGrp="1"/>
          </p:cNvSpPr>
          <p:nvPr>
            <p:ph type="body"/>
          </p:nvPr>
        </p:nvSpPr>
        <p:spPr>
          <a:xfrm>
            <a:off x="457200" y="1600200"/>
            <a:ext cx="4015080" cy="4524840"/>
          </a:xfrm>
          <a:prstGeom prst="rect">
            <a:avLst/>
          </a:prstGeom>
          <a:noFill/>
          <a:ln w="0">
            <a:noFill/>
          </a:ln>
        </p:spPr>
        <p:txBody>
          <a:bodyPr lIns="0" rIns="0" tIns="0" bIns="0" anchor="t">
            <a:normAutofit fontScale="85929"/>
          </a:bodyPr>
          <a:p>
            <a:pPr marL="432000" indent="-324000">
              <a:spcBef>
                <a:spcPts val="1417"/>
              </a:spcBef>
              <a:buClr>
                <a:srgbClr val="000000"/>
              </a:buClr>
              <a:buSzPct val="45000"/>
              <a:buFont typeface="Wingdings" charset="2"/>
              <a:buChar char=""/>
            </a:pPr>
            <a:r>
              <a:rPr b="0" lang="fr-FR" sz="3200" spc="-1" strike="noStrike">
                <a:solidFill>
                  <a:srgbClr val="000000"/>
                </a:solidFill>
                <a:latin typeface="Arial"/>
              </a:rPr>
              <a:t>Cliquez pour éditer le format du plan de texte</a:t>
            </a:r>
            <a:endParaRPr b="0" lang="fr-F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Arial"/>
              </a:rPr>
              <a:t>Second niveau de plan</a:t>
            </a:r>
            <a:endParaRPr b="0" lang="fr-F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2400" spc="-1" strike="noStrike">
                <a:solidFill>
                  <a:srgbClr val="000000"/>
                </a:solidFill>
                <a:latin typeface="Arial"/>
              </a:rPr>
              <a:t>Troisième niveau de plan</a:t>
            </a:r>
            <a:endParaRPr b="0" lang="fr-F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2000" spc="-1" strike="noStrike">
                <a:solidFill>
                  <a:srgbClr val="000000"/>
                </a:solidFill>
                <a:latin typeface="Arial"/>
              </a:rPr>
              <a:t>Quatrième niveau de plan</a:t>
            </a:r>
            <a:endParaRPr b="0" lang="fr-F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Cinquième niveau de plan</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Sixième niveau de plan</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Septième niveau de plan</a:t>
            </a:r>
            <a:endParaRPr b="0" lang="fr-FR" sz="2000" spc="-1" strike="noStrike">
              <a:solidFill>
                <a:srgbClr val="000000"/>
              </a:solidFill>
              <a:latin typeface="Arial"/>
            </a:endParaRPr>
          </a:p>
        </p:txBody>
      </p:sp>
      <p:sp>
        <p:nvSpPr>
          <p:cNvPr id="40" name="PlaceHolder 3"/>
          <p:cNvSpPr>
            <a:spLocks noGrp="1"/>
          </p:cNvSpPr>
          <p:nvPr>
            <p:ph type="body"/>
          </p:nvPr>
        </p:nvSpPr>
        <p:spPr>
          <a:xfrm>
            <a:off x="4673880" y="1600200"/>
            <a:ext cx="4015080" cy="4524840"/>
          </a:xfrm>
          <a:prstGeom prst="rect">
            <a:avLst/>
          </a:prstGeom>
          <a:noFill/>
          <a:ln w="0">
            <a:noFill/>
          </a:ln>
        </p:spPr>
        <p:txBody>
          <a:bodyPr lIns="0" rIns="0" tIns="0" bIns="0" anchor="t">
            <a:normAutofit fontScale="85929"/>
          </a:bodyPr>
          <a:p>
            <a:pPr marL="432000" indent="-324000">
              <a:spcBef>
                <a:spcPts val="1417"/>
              </a:spcBef>
              <a:buClr>
                <a:srgbClr val="000000"/>
              </a:buClr>
              <a:buSzPct val="45000"/>
              <a:buFont typeface="Wingdings" charset="2"/>
              <a:buChar char=""/>
            </a:pPr>
            <a:r>
              <a:rPr b="0" lang="fr-FR" sz="3200" spc="-1" strike="noStrike">
                <a:solidFill>
                  <a:srgbClr val="000000"/>
                </a:solidFill>
                <a:latin typeface="Arial"/>
              </a:rPr>
              <a:t>Cliquez pour éditer le format du plan de texte</a:t>
            </a:r>
            <a:endParaRPr b="0" lang="fr-F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Arial"/>
              </a:rPr>
              <a:t>Second niveau de plan</a:t>
            </a:r>
            <a:endParaRPr b="0" lang="fr-F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2400" spc="-1" strike="noStrike">
                <a:solidFill>
                  <a:srgbClr val="000000"/>
                </a:solidFill>
                <a:latin typeface="Arial"/>
              </a:rPr>
              <a:t>Troisième niveau de plan</a:t>
            </a:r>
            <a:endParaRPr b="0" lang="fr-F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2000" spc="-1" strike="noStrike">
                <a:solidFill>
                  <a:srgbClr val="000000"/>
                </a:solidFill>
                <a:latin typeface="Arial"/>
              </a:rPr>
              <a:t>Quatrième niveau de plan</a:t>
            </a:r>
            <a:endParaRPr b="0" lang="fr-F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Cinquième niveau de plan</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Sixième niveau de plan</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Septième niveau de plan</a:t>
            </a:r>
            <a:endParaRPr b="0" lang="fr-FR" sz="2000" spc="-1" strike="noStrike">
              <a:solidFill>
                <a:srgbClr val="000000"/>
              </a:solidFill>
              <a:latin typeface="Arial"/>
            </a:endParaRPr>
          </a:p>
        </p:txBody>
      </p:sp>
      <p:sp>
        <p:nvSpPr>
          <p:cNvPr id="41" name="PlaceHolder 4"/>
          <p:cNvSpPr>
            <a:spLocks noGrp="1"/>
          </p:cNvSpPr>
          <p:nvPr>
            <p:ph type="ftr" idx="19"/>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42" name="PlaceHolder 5"/>
          <p:cNvSpPr>
            <a:spLocks noGrp="1"/>
          </p:cNvSpPr>
          <p:nvPr>
            <p:ph type="sldNum" idx="20"/>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C38B94AE-CAD6-4A8A-9211-288887C04339}"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
        <p:nvSpPr>
          <p:cNvPr id="43" name="PlaceHolder 6"/>
          <p:cNvSpPr>
            <a:spLocks noGrp="1"/>
          </p:cNvSpPr>
          <p:nvPr>
            <p:ph type="dt" idx="21"/>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ftr" idx="22"/>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46" name="PlaceHolder 2"/>
          <p:cNvSpPr>
            <a:spLocks noGrp="1"/>
          </p:cNvSpPr>
          <p:nvPr>
            <p:ph type="sldNum" idx="23"/>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EBB49668-E6B6-4784-AED7-ABF0EAE0265F}"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
        <p:nvSpPr>
          <p:cNvPr id="47" name="PlaceHolder 3"/>
          <p:cNvSpPr>
            <a:spLocks noGrp="1"/>
          </p:cNvSpPr>
          <p:nvPr>
            <p:ph type="dt" idx="24"/>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4"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8520" cy="1141920"/>
          </a:xfrm>
          <a:prstGeom prst="rect">
            <a:avLst/>
          </a:prstGeom>
          <a:noFill/>
          <a:ln w="0">
            <a:noFill/>
          </a:ln>
        </p:spPr>
        <p:txBody>
          <a:bodyPr lIns="0" rIns="0" tIns="0" bIns="0" anchor="ctr">
            <a:noAutofit/>
          </a:bodyPr>
          <a:p>
            <a:pPr indent="0" algn="ctr">
              <a:buNone/>
            </a:pPr>
            <a:r>
              <a:rPr b="0" lang="fr-FR" sz="4400" spc="-1" strike="noStrike">
                <a:solidFill>
                  <a:srgbClr val="000000"/>
                </a:solidFill>
                <a:latin typeface="Arial"/>
              </a:rPr>
              <a:t>Cliquez pour éditer le format du texte-titre</a:t>
            </a:r>
            <a:endParaRPr b="0" lang="fr-FR" sz="4400" spc="-1" strike="noStrike">
              <a:solidFill>
                <a:srgbClr val="000000"/>
              </a:solidFill>
              <a:latin typeface="Arial"/>
            </a:endParaRPr>
          </a:p>
        </p:txBody>
      </p:sp>
      <p:sp>
        <p:nvSpPr>
          <p:cNvPr id="50" name="PlaceHolder 2"/>
          <p:cNvSpPr>
            <a:spLocks noGrp="1"/>
          </p:cNvSpPr>
          <p:nvPr>
            <p:ph type="ftr" idx="25"/>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51" name="PlaceHolder 3"/>
          <p:cNvSpPr>
            <a:spLocks noGrp="1"/>
          </p:cNvSpPr>
          <p:nvPr>
            <p:ph type="sldNum" idx="26"/>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74E49134-3C5E-4F45-AB36-3DC051D7151D}"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
        <p:nvSpPr>
          <p:cNvPr id="52" name="PlaceHolder 4"/>
          <p:cNvSpPr>
            <a:spLocks noGrp="1"/>
          </p:cNvSpPr>
          <p:nvPr>
            <p:ph type="dt" idx="27"/>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
        <p:nvSpPr>
          <p:cNvPr id="53" name="PlaceHolder 5"/>
          <p:cNvSpPr>
            <a:spLocks noGrp="1"/>
          </p:cNvSpPr>
          <p:nvPr>
            <p:ph type="body"/>
          </p:nvPr>
        </p:nvSpPr>
        <p:spPr>
          <a:xfrm>
            <a:off x="534240" y="1768680"/>
            <a:ext cx="9622080" cy="43840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3200" spc="-1" strike="noStrike">
                <a:solidFill>
                  <a:srgbClr val="000000"/>
                </a:solidFill>
                <a:latin typeface="Arial"/>
              </a:rPr>
              <a:t>Cliquez pour éditer le format du plan de texte</a:t>
            </a:r>
            <a:endParaRPr b="0" lang="fr-F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Arial"/>
              </a:rPr>
              <a:t>Second niveau de plan</a:t>
            </a:r>
            <a:endParaRPr b="0" lang="fr-F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2400" spc="-1" strike="noStrike">
                <a:solidFill>
                  <a:srgbClr val="000000"/>
                </a:solidFill>
                <a:latin typeface="Arial"/>
              </a:rPr>
              <a:t>Troisième niveau de plan</a:t>
            </a:r>
            <a:endParaRPr b="0" lang="fr-F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2000" spc="-1" strike="noStrike">
                <a:solidFill>
                  <a:srgbClr val="000000"/>
                </a:solidFill>
                <a:latin typeface="Arial"/>
              </a:rPr>
              <a:t>Quatrième niveau de plan</a:t>
            </a:r>
            <a:endParaRPr b="0" lang="fr-F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Cinquième niveau de plan</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Sixième niveau de plan</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Septième niveau de plan</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6"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ftr" idx="28"/>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56" name="PlaceHolder 2"/>
          <p:cNvSpPr>
            <a:spLocks noGrp="1"/>
          </p:cNvSpPr>
          <p:nvPr>
            <p:ph type="sldNum" idx="29"/>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1CFE1A99-634C-45CA-A51B-60B7EA7CB3B7}"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
        <p:nvSpPr>
          <p:cNvPr id="57" name="PlaceHolder 3"/>
          <p:cNvSpPr>
            <a:spLocks noGrp="1"/>
          </p:cNvSpPr>
          <p:nvPr>
            <p:ph type="dt" idx="30"/>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
        <p:nvSpPr>
          <p:cNvPr id="58" name="PlaceHolder 4"/>
          <p:cNvSpPr>
            <a:spLocks noGrp="1"/>
          </p:cNvSpPr>
          <p:nvPr>
            <p:ph type="title"/>
          </p:nvPr>
        </p:nvSpPr>
        <p:spPr>
          <a:xfrm>
            <a:off x="534240" y="301320"/>
            <a:ext cx="9622080" cy="1261800"/>
          </a:xfrm>
          <a:prstGeom prst="rect">
            <a:avLst/>
          </a:prstGeom>
          <a:noFill/>
          <a:ln w="0">
            <a:noFill/>
          </a:ln>
        </p:spPr>
        <p:txBody>
          <a:bodyPr lIns="0" rIns="0" tIns="0" bIns="0" anchor="ctr">
            <a:noAutofit/>
          </a:bodyPr>
          <a:p>
            <a:pPr indent="0" algn="ctr">
              <a:buNone/>
            </a:pPr>
            <a:r>
              <a:rPr b="0" lang="fr-FR" sz="4400" spc="-1" strike="noStrike">
                <a:solidFill>
                  <a:srgbClr val="000000"/>
                </a:solidFill>
                <a:latin typeface="Arial"/>
              </a:rPr>
              <a:t>Cliquez pour éditer le format du texte-titre</a:t>
            </a:r>
            <a:endParaRPr b="0" lang="fr-FR" sz="4400" spc="-1" strike="noStrike">
              <a:solidFill>
                <a:srgbClr val="000000"/>
              </a:solidFill>
              <a:latin typeface="Arial"/>
            </a:endParaRPr>
          </a:p>
        </p:txBody>
      </p:sp>
      <p:sp>
        <p:nvSpPr>
          <p:cNvPr id="59" name="PlaceHolder 5"/>
          <p:cNvSpPr>
            <a:spLocks noGrp="1"/>
          </p:cNvSpPr>
          <p:nvPr>
            <p:ph type="body"/>
          </p:nvPr>
        </p:nvSpPr>
        <p:spPr>
          <a:xfrm>
            <a:off x="534240" y="1768680"/>
            <a:ext cx="9622080" cy="43840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3200" spc="-1" strike="noStrike">
                <a:solidFill>
                  <a:srgbClr val="000000"/>
                </a:solidFill>
                <a:latin typeface="Arial"/>
              </a:rPr>
              <a:t>Cliquez pour éditer le format du plan de texte</a:t>
            </a:r>
            <a:endParaRPr b="0" lang="fr-F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Arial"/>
              </a:rPr>
              <a:t>Second niveau de plan</a:t>
            </a:r>
            <a:endParaRPr b="0" lang="fr-F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2400" spc="-1" strike="noStrike">
                <a:solidFill>
                  <a:srgbClr val="000000"/>
                </a:solidFill>
                <a:latin typeface="Arial"/>
              </a:rPr>
              <a:t>Troisième niveau de plan</a:t>
            </a:r>
            <a:endParaRPr b="0" lang="fr-F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2000" spc="-1" strike="noStrike">
                <a:solidFill>
                  <a:srgbClr val="000000"/>
                </a:solidFill>
                <a:latin typeface="Arial"/>
              </a:rPr>
              <a:t>Quatrième niveau de plan</a:t>
            </a:r>
            <a:endParaRPr b="0" lang="fr-F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Cinquième niveau de plan</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Sixième niveau de plan</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Septième niveau de plan</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8"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 name="PlaceHolder 1"/>
          <p:cNvSpPr>
            <a:spLocks noGrp="1"/>
          </p:cNvSpPr>
          <p:nvPr>
            <p:ph type="ftr" idx="31"/>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61" name="PlaceHolder 2"/>
          <p:cNvSpPr>
            <a:spLocks noGrp="1"/>
          </p:cNvSpPr>
          <p:nvPr>
            <p:ph type="sldNum" idx="32"/>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29CD7744-1985-409F-A5F0-85E698F7986D}"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
        <p:nvSpPr>
          <p:cNvPr id="62" name="PlaceHolder 3"/>
          <p:cNvSpPr>
            <a:spLocks noGrp="1"/>
          </p:cNvSpPr>
          <p:nvPr>
            <p:ph type="dt" idx="33"/>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3" name="PlaceHolder 1"/>
          <p:cNvSpPr>
            <a:spLocks noGrp="1"/>
          </p:cNvSpPr>
          <p:nvPr>
            <p:ph type="ftr" idx="34"/>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pc="-1" strike="noStrike">
                <a:solidFill>
                  <a:srgbClr val="000000"/>
                </a:solidFill>
                <a:latin typeface="Times New Roman"/>
              </a:defRPr>
            </a:lvl1pPr>
          </a:lstStyle>
          <a:p>
            <a:pPr indent="0" algn="ctr">
              <a:lnSpc>
                <a:spcPct val="100000"/>
              </a:lnSpc>
              <a:buNone/>
              <a:tabLst>
                <a:tab algn="l" pos="0"/>
              </a:tabLst>
            </a:pPr>
            <a:r>
              <a:rPr b="0" lang="fr-FR" sz="1400" spc="-1" strike="noStrike">
                <a:solidFill>
                  <a:srgbClr val="000000"/>
                </a:solidFill>
                <a:latin typeface="Times New Roman"/>
              </a:rPr>
              <a:t>&lt;pied de page&gt;</a:t>
            </a:r>
            <a:endParaRPr b="0" lang="fr-FR" sz="1400" spc="-1" strike="noStrike">
              <a:solidFill>
                <a:srgbClr val="000000"/>
              </a:solidFill>
              <a:latin typeface="Times New Roman"/>
            </a:endParaRPr>
          </a:p>
        </p:txBody>
      </p:sp>
      <p:sp>
        <p:nvSpPr>
          <p:cNvPr id="64" name="PlaceHolder 2"/>
          <p:cNvSpPr>
            <a:spLocks noGrp="1"/>
          </p:cNvSpPr>
          <p:nvPr>
            <p:ph type="sldNum" idx="35"/>
          </p:nvPr>
        </p:nvSpPr>
        <p:spPr>
          <a:xfrm>
            <a:off x="6553080" y="6356520"/>
            <a:ext cx="213264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D05790B6-FD7B-466F-AFF5-98D84741D5AF}" type="slidenum">
              <a:rPr b="0" lang="en-US" sz="1200" spc="-1" strike="noStrike">
                <a:solidFill>
                  <a:schemeClr val="dk1">
                    <a:tint val="75000"/>
                  </a:schemeClr>
                </a:solidFill>
                <a:latin typeface="Calibri"/>
              </a:rPr>
              <a:t>&lt;numéro&gt;</a:t>
            </a:fld>
            <a:endParaRPr b="0" lang="fr-FR" sz="1200" spc="-1" strike="noStrike">
              <a:solidFill>
                <a:srgbClr val="000000"/>
              </a:solidFill>
              <a:latin typeface="Times New Roman"/>
            </a:endParaRPr>
          </a:p>
        </p:txBody>
      </p:sp>
      <p:sp>
        <p:nvSpPr>
          <p:cNvPr id="65" name="PlaceHolder 3"/>
          <p:cNvSpPr>
            <a:spLocks noGrp="1"/>
          </p:cNvSpPr>
          <p:nvPr>
            <p:ph type="dt" idx="36"/>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&lt;date/heure&gt;</a:t>
            </a:r>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0.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6.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0.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5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0.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5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0.xml"/>
</Relationships>
</file>

<file path=ppt/slides/_rels/slide5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1.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6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6.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71.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0.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7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7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80.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6.xml"/>
</Relationships>
</file>

<file path=ppt/slides/_rels/slide81.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6.xml"/>
</Relationships>
</file>

<file path=ppt/slides/_rels/slide82.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6.xml"/>
</Relationships>
</file>

<file path=ppt/slides/_rels/slide8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8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8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8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8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8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8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9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9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9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9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9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9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9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9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9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9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0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0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0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0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0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0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0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0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0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0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1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1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1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1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1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15.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0.xml"/>
</Relationships>
</file>

<file path=ppt/slides/_rels/slide11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1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18.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0.xml"/>
</Relationships>
</file>

<file path=ppt/slides/_rels/slide11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2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2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2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2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2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2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2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2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2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2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3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3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3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3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3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3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3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37.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13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3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4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4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4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4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44.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4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4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47.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4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49.xml.rels><?xml version="1.0" encoding="UTF-8"?>
<Relationships xmlns="http://schemas.openxmlformats.org/package/2006/relationships"><Relationship Id="rId1" Type="http://schemas.openxmlformats.org/officeDocument/2006/relationships/slideLayout" Target="../slideLayouts/slideLayout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JasperStudio</a:t>
            </a:r>
            <a:endParaRPr b="0" lang="fr-FR" sz="3600" spc="-1" strike="noStrike">
              <a:solidFill>
                <a:srgbClr val="000000"/>
              </a:solidFill>
              <a:latin typeface="Arial"/>
            </a:endParaRPr>
          </a:p>
        </p:txBody>
      </p:sp>
      <p:sp>
        <p:nvSpPr>
          <p:cNvPr id="67" name="PlaceHolder 2"/>
          <p:cNvSpPr>
            <a:spLocks noGrp="1"/>
          </p:cNvSpPr>
          <p:nvPr>
            <p:ph/>
          </p:nvPr>
        </p:nvSpPr>
        <p:spPr>
          <a:xfrm>
            <a:off x="762120" y="3301920"/>
            <a:ext cx="9397080" cy="3300840"/>
          </a:xfrm>
          <a:prstGeom prst="rect">
            <a:avLst/>
          </a:prstGeom>
          <a:noFill/>
          <a:ln w="0">
            <a:noFill/>
          </a:ln>
        </p:spPr>
        <p:txBody>
          <a:bodyPr lIns="91440" rIns="91440" tIns="45720" bIns="45720" anchor="t">
            <a:normAutofit/>
          </a:bodyPr>
          <a:p>
            <a:pPr indent="0" algn="ctr" defTabSz="457200">
              <a:lnSpc>
                <a:spcPct val="100000"/>
              </a:lnSpc>
              <a:spcBef>
                <a:spcPts val="561"/>
              </a:spcBef>
              <a:buNone/>
              <a:tabLst>
                <a:tab algn="l" pos="0"/>
              </a:tabLst>
            </a:pPr>
            <a:r>
              <a:rPr b="0" lang="en-US" sz="2800" spc="-1" strike="noStrike">
                <a:solidFill>
                  <a:schemeClr val="dk1"/>
                </a:solidFill>
                <a:latin typeface="Calibri"/>
              </a:rPr>
              <a:t>Développement et maintenance de rapports</a:t>
            </a:r>
            <a:endParaRPr b="0" lang="fr-FR" sz="2800" spc="-1" strike="noStrike">
              <a:solidFill>
                <a:srgbClr val="000000"/>
              </a:solidFill>
              <a:latin typeface="Arial"/>
            </a:endParaRPr>
          </a:p>
          <a:p>
            <a:pPr indent="0" algn="ctr" defTabSz="457200">
              <a:lnSpc>
                <a:spcPct val="100000"/>
              </a:lnSpc>
              <a:spcBef>
                <a:spcPts val="561"/>
              </a:spcBef>
              <a:buNone/>
              <a:tabLst>
                <a:tab algn="l" pos="0"/>
              </a:tabLst>
            </a:pPr>
            <a:r>
              <a:rPr b="0" lang="en-US" sz="2800" spc="-1" strike="noStrike">
                <a:solidFill>
                  <a:schemeClr val="dk1"/>
                </a:solidFill>
                <a:latin typeface="Calibri"/>
              </a:rPr>
              <a:t>orientés édition par les utilisateurs métier</a:t>
            </a:r>
            <a:endParaRPr b="0" lang="fr-FR" sz="2800" spc="-1" strike="noStrike">
              <a:solidFill>
                <a:srgbClr val="000000"/>
              </a:solidFill>
              <a:latin typeface="Arial"/>
            </a:endParaRPr>
          </a:p>
          <a:p>
            <a:pPr indent="0" algn="ctr" defTabSz="457200">
              <a:lnSpc>
                <a:spcPct val="100000"/>
              </a:lnSpc>
              <a:spcBef>
                <a:spcPts val="641"/>
              </a:spcBef>
              <a:buNone/>
              <a:tabLst>
                <a:tab algn="l" pos="0"/>
              </a:tabLst>
            </a:pPr>
            <a:endParaRPr b="0" lang="fr-FR" sz="3200" spc="-1" strike="noStrike">
              <a:solidFill>
                <a:srgbClr val="000000"/>
              </a:solidFill>
              <a:latin typeface="Arial"/>
            </a:endParaRPr>
          </a:p>
          <a:p>
            <a:pPr indent="0" algn="ctr" defTabSz="457200">
              <a:lnSpc>
                <a:spcPct val="100000"/>
              </a:lnSpc>
              <a:spcBef>
                <a:spcPts val="561"/>
              </a:spcBef>
              <a:buNone/>
              <a:tabLst>
                <a:tab algn="l" pos="0"/>
              </a:tabLst>
            </a:pPr>
            <a:r>
              <a:rPr b="0" lang="en-US" sz="2800" spc="-1" strike="noStrike">
                <a:solidFill>
                  <a:schemeClr val="dk1"/>
                </a:solidFill>
                <a:latin typeface="Calibri"/>
              </a:rPr>
              <a:t>David THIBAU – 2026</a:t>
            </a:r>
            <a:endParaRPr b="0" lang="fr-F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457200" y="274680"/>
            <a:ext cx="8228520" cy="114192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Agenda</a:t>
            </a:r>
            <a:endParaRPr b="0" lang="fr-FR" sz="3600" spc="-1" strike="noStrike">
              <a:solidFill>
                <a:srgbClr val="000000"/>
              </a:solidFill>
              <a:latin typeface="Arial"/>
            </a:endParaRPr>
          </a:p>
        </p:txBody>
      </p:sp>
      <p:sp>
        <p:nvSpPr>
          <p:cNvPr id="69" name="PlaceHolder 2"/>
          <p:cNvSpPr>
            <a:spLocks noGrp="1"/>
          </p:cNvSpPr>
          <p:nvPr>
            <p:ph/>
          </p:nvPr>
        </p:nvSpPr>
        <p:spPr>
          <a:xfrm>
            <a:off x="457200" y="1600200"/>
            <a:ext cx="4015080" cy="4524840"/>
          </a:xfrm>
          <a:prstGeom prst="rect">
            <a:avLst/>
          </a:prstGeom>
          <a:noFill/>
          <a:ln w="0">
            <a:noFill/>
          </a:ln>
        </p:spPr>
        <p:txBody>
          <a:bodyPr lIns="91440" rIns="91440" tIns="45720" bIns="45720" anchor="t">
            <a:normAutofit/>
          </a:bodyPr>
          <a:p>
            <a:pPr indent="0" defTabSz="457200">
              <a:lnSpc>
                <a:spcPct val="100000"/>
              </a:lnSpc>
              <a:spcBef>
                <a:spcPts val="1134"/>
              </a:spcBef>
              <a:buNone/>
              <a:tabLst>
                <a:tab algn="l" pos="0"/>
              </a:tabLst>
            </a:pPr>
            <a:r>
              <a:rPr b="1" lang="en-US" sz="2000" spc="-1" strike="noStrike">
                <a:solidFill>
                  <a:schemeClr val="dk1"/>
                </a:solidFill>
                <a:latin typeface="Calibri"/>
              </a:rPr>
              <a:t>Jour 1 : Concepts</a:t>
            </a:r>
            <a:endParaRPr b="0" lang="fr-FR" sz="2000" spc="-1" strike="noStrike">
              <a:solidFill>
                <a:srgbClr val="000000"/>
              </a:solidFill>
              <a:latin typeface="Arial"/>
            </a:endParaRPr>
          </a:p>
          <a:p>
            <a:pPr lvl="1" marL="743040" indent="-285840" defTabSz="457200">
              <a:lnSpc>
                <a:spcPct val="100000"/>
              </a:lnSpc>
              <a:spcBef>
                <a:spcPts val="1134"/>
              </a:spcBef>
              <a:buClr>
                <a:srgbClr val="000000"/>
              </a:buClr>
              <a:buFont typeface="Arial"/>
              <a:buChar char="–"/>
              <a:tabLst>
                <a:tab algn="l" pos="0"/>
              </a:tabLst>
            </a:pPr>
            <a:r>
              <a:rPr b="0" lang="en-US" sz="1600" spc="-1" strike="noStrike">
                <a:solidFill>
                  <a:schemeClr val="dk1"/>
                </a:solidFill>
                <a:latin typeface="Calibri"/>
              </a:rPr>
              <a:t>Introduction à JasperStudio</a:t>
            </a:r>
            <a:endParaRPr b="0" lang="fr-FR" sz="1600" spc="-1" strike="noStrike">
              <a:solidFill>
                <a:srgbClr val="000000"/>
              </a:solidFill>
              <a:latin typeface="Arial"/>
            </a:endParaRPr>
          </a:p>
          <a:p>
            <a:pPr lvl="1" marL="743040" indent="-285840" defTabSz="457200">
              <a:lnSpc>
                <a:spcPct val="100000"/>
              </a:lnSpc>
              <a:spcBef>
                <a:spcPts val="1134"/>
              </a:spcBef>
              <a:buClr>
                <a:srgbClr val="000000"/>
              </a:buClr>
              <a:buFont typeface="Arial"/>
              <a:buChar char="–"/>
              <a:tabLst>
                <a:tab algn="l" pos="0"/>
              </a:tabLst>
            </a:pPr>
            <a:r>
              <a:rPr b="0" lang="en-US" sz="1600" spc="-1" strike="noStrike">
                <a:solidFill>
                  <a:schemeClr val="dk1"/>
                </a:solidFill>
                <a:latin typeface="Calibri"/>
              </a:rPr>
              <a:t>Découverte de l'interface</a:t>
            </a:r>
            <a:endParaRPr b="0" lang="fr-FR" sz="1600" spc="-1" strike="noStrike">
              <a:solidFill>
                <a:srgbClr val="000000"/>
              </a:solidFill>
              <a:latin typeface="Arial"/>
            </a:endParaRPr>
          </a:p>
          <a:p>
            <a:pPr lvl="1" marL="743040" indent="-285840" defTabSz="457200">
              <a:lnSpc>
                <a:spcPct val="100000"/>
              </a:lnSpc>
              <a:spcBef>
                <a:spcPts val="1134"/>
              </a:spcBef>
              <a:buClr>
                <a:srgbClr val="000000"/>
              </a:buClr>
              <a:buFont typeface="Arial"/>
              <a:buChar char="–"/>
              <a:tabLst>
                <a:tab algn="l" pos="0"/>
              </a:tabLst>
            </a:pPr>
            <a:r>
              <a:rPr b="0" lang="en-US" sz="1600" spc="-1" strike="noStrike">
                <a:solidFill>
                  <a:schemeClr val="dk1"/>
                </a:solidFill>
                <a:latin typeface="Calibri"/>
              </a:rPr>
              <a:t>Les sources de données</a:t>
            </a:r>
            <a:endParaRPr b="0" lang="fr-FR" sz="1600" spc="-1" strike="noStrike">
              <a:solidFill>
                <a:srgbClr val="000000"/>
              </a:solidFill>
              <a:latin typeface="Arial"/>
            </a:endParaRPr>
          </a:p>
          <a:p>
            <a:pPr lvl="1" marL="743040" indent="-285840" defTabSz="457200">
              <a:lnSpc>
                <a:spcPct val="100000"/>
              </a:lnSpc>
              <a:spcBef>
                <a:spcPts val="1134"/>
              </a:spcBef>
              <a:buClr>
                <a:srgbClr val="000000"/>
              </a:buClr>
              <a:buFont typeface="Arial"/>
              <a:buChar char="–"/>
              <a:tabLst>
                <a:tab algn="l" pos="0"/>
              </a:tabLst>
            </a:pPr>
            <a:r>
              <a:rPr b="0" lang="en-US" sz="1600" spc="-1" strike="noStrike">
                <a:solidFill>
                  <a:schemeClr val="dk1"/>
                </a:solidFill>
                <a:latin typeface="Calibri"/>
              </a:rPr>
              <a:t>Anatomie d'un rapport Jasper</a:t>
            </a:r>
            <a:endParaRPr b="0" lang="fr-FR" sz="1600" spc="-1" strike="noStrike">
              <a:solidFill>
                <a:srgbClr val="000000"/>
              </a:solidFill>
              <a:latin typeface="Arial"/>
            </a:endParaRPr>
          </a:p>
          <a:p>
            <a:pPr lvl="1" marL="743040" indent="-285840" defTabSz="457200">
              <a:lnSpc>
                <a:spcPct val="100000"/>
              </a:lnSpc>
              <a:spcBef>
                <a:spcPts val="1134"/>
              </a:spcBef>
              <a:buClr>
                <a:srgbClr val="000000"/>
              </a:buClr>
              <a:buFont typeface="Arial"/>
              <a:buChar char="–"/>
              <a:tabLst>
                <a:tab algn="l" pos="0"/>
              </a:tabLst>
            </a:pPr>
            <a:r>
              <a:rPr b="0" lang="en-US" sz="1600" spc="-1" strike="noStrike">
                <a:solidFill>
                  <a:schemeClr val="dk1"/>
                </a:solidFill>
                <a:latin typeface="Calibri"/>
              </a:rPr>
              <a:t>Les éléments de base</a:t>
            </a:r>
            <a:endParaRPr b="0" lang="fr-FR" sz="1600" spc="-1" strike="noStrike">
              <a:solidFill>
                <a:srgbClr val="000000"/>
              </a:solidFill>
              <a:latin typeface="Arial"/>
            </a:endParaRPr>
          </a:p>
          <a:p>
            <a:pPr marL="343080" indent="0" defTabSz="457200">
              <a:lnSpc>
                <a:spcPct val="100000"/>
              </a:lnSpc>
              <a:spcBef>
                <a:spcPts val="1134"/>
              </a:spcBef>
              <a:buNone/>
              <a:tabLst>
                <a:tab algn="l" pos="0"/>
              </a:tabLst>
            </a:pPr>
            <a:endParaRPr b="0" lang="fr-FR" sz="2000" spc="-1" strike="noStrike">
              <a:solidFill>
                <a:srgbClr val="000000"/>
              </a:solidFill>
              <a:latin typeface="Arial"/>
            </a:endParaRPr>
          </a:p>
        </p:txBody>
      </p:sp>
      <p:sp>
        <p:nvSpPr>
          <p:cNvPr id="70" name="PlaceHolder 3"/>
          <p:cNvSpPr>
            <a:spLocks noGrp="1"/>
          </p:cNvSpPr>
          <p:nvPr>
            <p:ph/>
          </p:nvPr>
        </p:nvSpPr>
        <p:spPr>
          <a:xfrm>
            <a:off x="4674240" y="1600200"/>
            <a:ext cx="5585040" cy="4524840"/>
          </a:xfrm>
          <a:prstGeom prst="rect">
            <a:avLst/>
          </a:prstGeom>
          <a:noFill/>
          <a:ln w="0">
            <a:noFill/>
          </a:ln>
        </p:spPr>
        <p:txBody>
          <a:bodyPr lIns="0" rIns="0" tIns="0" bIns="0" anchor="t">
            <a:normAutofit/>
          </a:bodyPr>
          <a:p>
            <a:pPr indent="0" defTabSz="457200">
              <a:lnSpc>
                <a:spcPct val="100000"/>
              </a:lnSpc>
              <a:spcBef>
                <a:spcPts val="1134"/>
              </a:spcBef>
              <a:buNone/>
              <a:tabLst>
                <a:tab algn="l" pos="0"/>
              </a:tabLst>
            </a:pPr>
            <a:r>
              <a:rPr b="1" lang="en-US" sz="2000" spc="-1" strike="noStrike">
                <a:solidFill>
                  <a:schemeClr val="dk1"/>
                </a:solidFill>
                <a:latin typeface="Calibri"/>
              </a:rPr>
              <a:t>Jour 2 : Formatage de rapport</a:t>
            </a:r>
            <a:endParaRPr b="0" lang="fr-FR" sz="2000" spc="-1" strike="noStrike">
              <a:solidFill>
                <a:srgbClr val="000000"/>
              </a:solidFill>
              <a:latin typeface="Arial"/>
            </a:endParaRPr>
          </a:p>
          <a:p>
            <a:pPr marL="432000" indent="-324000" defTabSz="457200">
              <a:lnSpc>
                <a:spcPct val="100000"/>
              </a:lnSpc>
              <a:spcBef>
                <a:spcPts val="1134"/>
              </a:spcBef>
              <a:buClr>
                <a:srgbClr val="000000"/>
              </a:buClr>
              <a:buSzPct val="45000"/>
              <a:buFont typeface="Wingdings" charset="2"/>
              <a:buChar char=""/>
              <a:tabLst>
                <a:tab algn="l" pos="0"/>
              </a:tabLst>
            </a:pPr>
            <a:r>
              <a:rPr b="0" lang="en-US" sz="1600" spc="-1" strike="noStrike">
                <a:solidFill>
                  <a:schemeClr val="dk1"/>
                </a:solidFill>
                <a:latin typeface="Calibri"/>
              </a:rPr>
              <a:t>Gestion des images et logos</a:t>
            </a:r>
            <a:endParaRPr b="0" lang="fr-FR" sz="1600" spc="-1" strike="noStrike">
              <a:solidFill>
                <a:srgbClr val="000000"/>
              </a:solidFill>
              <a:latin typeface="Arial"/>
            </a:endParaRPr>
          </a:p>
          <a:p>
            <a:pPr marL="432000" indent="-324000" defTabSz="457200">
              <a:lnSpc>
                <a:spcPct val="100000"/>
              </a:lnSpc>
              <a:spcBef>
                <a:spcPts val="1134"/>
              </a:spcBef>
              <a:buClr>
                <a:srgbClr val="000000"/>
              </a:buClr>
              <a:buSzPct val="45000"/>
              <a:buFont typeface="Wingdings" charset="2"/>
              <a:buChar char=""/>
              <a:tabLst>
                <a:tab algn="l" pos="0"/>
              </a:tabLst>
            </a:pPr>
            <a:r>
              <a:rPr b="0" lang="en-US" sz="1600" spc="-1" strike="noStrike">
                <a:solidFill>
                  <a:schemeClr val="dk1"/>
                </a:solidFill>
                <a:latin typeface="Calibri"/>
              </a:rPr>
              <a:t>Gestion des polices</a:t>
            </a:r>
            <a:endParaRPr b="0" lang="fr-FR" sz="1600" spc="-1" strike="noStrike">
              <a:solidFill>
                <a:srgbClr val="000000"/>
              </a:solidFill>
              <a:latin typeface="Arial"/>
            </a:endParaRPr>
          </a:p>
          <a:p>
            <a:pPr marL="432000" indent="-324000" defTabSz="457200">
              <a:lnSpc>
                <a:spcPct val="100000"/>
              </a:lnSpc>
              <a:spcBef>
                <a:spcPts val="1134"/>
              </a:spcBef>
              <a:buClr>
                <a:srgbClr val="000000"/>
              </a:buClr>
              <a:buSzPct val="45000"/>
              <a:buFont typeface="Wingdings" charset="2"/>
              <a:buChar char=""/>
              <a:tabLst>
                <a:tab algn="l" pos="0"/>
              </a:tabLst>
            </a:pPr>
            <a:r>
              <a:rPr b="0" lang="en-US" sz="1600" spc="-1" strike="noStrike">
                <a:solidFill>
                  <a:schemeClr val="dk1"/>
                </a:solidFill>
                <a:latin typeface="Calibri"/>
              </a:rPr>
              <a:t>Styles et formats</a:t>
            </a:r>
            <a:endParaRPr b="0" lang="fr-FR" sz="1600" spc="-1" strike="noStrike">
              <a:solidFill>
                <a:srgbClr val="000000"/>
              </a:solidFill>
              <a:latin typeface="Arial"/>
            </a:endParaRPr>
          </a:p>
          <a:p>
            <a:pPr marL="432000" indent="-324000" defTabSz="457200">
              <a:lnSpc>
                <a:spcPct val="100000"/>
              </a:lnSpc>
              <a:spcBef>
                <a:spcPts val="1134"/>
              </a:spcBef>
              <a:buClr>
                <a:srgbClr val="000000"/>
              </a:buClr>
              <a:buSzPct val="45000"/>
              <a:buFont typeface="Wingdings" charset="2"/>
              <a:buChar char=""/>
              <a:tabLst>
                <a:tab algn="l" pos="0"/>
              </a:tabLst>
            </a:pPr>
            <a:r>
              <a:rPr b="0" lang="en-US" sz="1600" spc="-1" strike="noStrike">
                <a:solidFill>
                  <a:schemeClr val="dk1"/>
                </a:solidFill>
                <a:latin typeface="Calibri"/>
              </a:rPr>
              <a:t>Contrôler la pagination</a:t>
            </a:r>
            <a:endParaRPr b="0" lang="fr-FR" sz="1600" spc="-1" strike="noStrike">
              <a:solidFill>
                <a:srgbClr val="000000"/>
              </a:solidFill>
              <a:latin typeface="Arial"/>
            </a:endParaRPr>
          </a:p>
          <a:p>
            <a:pPr marL="432000" indent="-324000" defTabSz="457200">
              <a:lnSpc>
                <a:spcPct val="100000"/>
              </a:lnSpc>
              <a:spcBef>
                <a:spcPts val="1134"/>
              </a:spcBef>
              <a:buClr>
                <a:srgbClr val="000000"/>
              </a:buClr>
              <a:buSzPct val="45000"/>
              <a:buFont typeface="Wingdings" charset="2"/>
              <a:buChar char=""/>
              <a:tabLst>
                <a:tab algn="l" pos="0"/>
              </a:tabLst>
            </a:pPr>
            <a:r>
              <a:rPr b="0" lang="en-US" sz="1600" spc="-1" strike="noStrike">
                <a:solidFill>
                  <a:schemeClr val="dk1"/>
                </a:solidFill>
                <a:latin typeface="Calibri"/>
              </a:rPr>
              <a:t>Expressions simples</a:t>
            </a:r>
            <a:endParaRPr b="0" lang="fr-FR"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Approche pédagogique</a:t>
            </a:r>
            <a:endParaRPr b="0" lang="fr-FR" sz="3600" spc="-1" strike="noStrike">
              <a:solidFill>
                <a:srgbClr val="000000"/>
              </a:solidFill>
              <a:latin typeface="Arial"/>
            </a:endParaRPr>
          </a:p>
        </p:txBody>
      </p:sp>
      <p:sp>
        <p:nvSpPr>
          <p:cNvPr id="72"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600" spc="-1" strike="noStrike">
                <a:solidFill>
                  <a:schemeClr val="dk1"/>
                </a:solidFill>
                <a:latin typeface="Calibri"/>
              </a:rPr>
              <a:t>Alternance de présentations courtes, de démonstrations et de manipulations guidées dans JasperStudio</a:t>
            </a:r>
            <a:endParaRPr b="0" lang="fr-FR" sz="26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600" spc="-1" strike="noStrike">
                <a:solidFill>
                  <a:schemeClr val="dk1"/>
                </a:solidFill>
                <a:latin typeface="Calibri"/>
              </a:rPr>
              <a:t>Un atelier pratique à la fin de chaque thème</a:t>
            </a:r>
            <a:endParaRPr b="0" lang="fr-FR" sz="26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600" spc="-1" strike="noStrike">
                <a:solidFill>
                  <a:schemeClr val="dk1"/>
                </a:solidFill>
                <a:latin typeface="Calibri"/>
              </a:rPr>
              <a:t>Aucune connaissance Java requise : les expressions sont abordées comme des formules de tableur</a:t>
            </a:r>
            <a:endParaRPr b="0" lang="fr-FR" sz="26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600" spc="-1" strike="noStrike">
                <a:solidFill>
                  <a:schemeClr val="dk1"/>
                </a:solidFill>
                <a:latin typeface="Calibri"/>
              </a:rPr>
              <a:t>Connaissance sommaire du SQL utile pour les sources de données</a:t>
            </a:r>
            <a:endParaRPr b="0" lang="fr-FR" sz="26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600" spc="-1" strike="noStrike">
                <a:solidFill>
                  <a:schemeClr val="dk1"/>
                </a:solidFill>
                <a:latin typeface="Calibri"/>
              </a:rPr>
              <a:t>Les ateliers peuvent être adaptés aux rapports de votre contexte</a:t>
            </a:r>
            <a:endParaRPr b="0" lang="fr-FR"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Introduction à JasperStudio</a:t>
            </a:r>
            <a:endParaRPr b="0" lang="fr-FR" sz="3600" spc="-1" strike="noStrike">
              <a:solidFill>
                <a:srgbClr val="000000"/>
              </a:solidFill>
              <a:latin typeface="Arial"/>
            </a:endParaRPr>
          </a:p>
        </p:txBody>
      </p:sp>
      <p:sp>
        <p:nvSpPr>
          <p:cNvPr id="74" name="PlaceHolder 2"/>
          <p:cNvSpPr>
            <a:spLocks noGrp="1"/>
          </p:cNvSpPr>
          <p:nvPr>
            <p:ph/>
          </p:nvPr>
        </p:nvSpPr>
        <p:spPr>
          <a:xfrm>
            <a:off x="762120" y="2540160"/>
            <a:ext cx="9397080" cy="4062960"/>
          </a:xfrm>
          <a:prstGeom prst="rect">
            <a:avLst/>
          </a:prstGeom>
          <a:noFill/>
          <a:ln w="0">
            <a:noFill/>
          </a:ln>
        </p:spPr>
        <p:txBody>
          <a:bodyPr lIns="91440" rIns="91440" tIns="45720" bIns="45720" anchor="t">
            <a:normAutofit/>
          </a:bodyPr>
          <a:p>
            <a:pPr indent="0" algn="ctr" defTabSz="457200">
              <a:lnSpc>
                <a:spcPct val="100000"/>
              </a:lnSpc>
              <a:spcBef>
                <a:spcPts val="519"/>
              </a:spcBef>
              <a:buNone/>
              <a:tabLst>
                <a:tab algn="l" pos="0"/>
              </a:tabLst>
            </a:pPr>
            <a:r>
              <a:rPr b="0" lang="en-US" sz="2600" spc="-1" strike="noStrike">
                <a:solidFill>
                  <a:srgbClr val="000000"/>
                </a:solidFill>
                <a:latin typeface="Calibri"/>
              </a:rPr>
              <a:t>La suite Jasper et le rôle de JasperStudio</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Cycle de vie d'un rapport</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Types de fichiers</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Structure du fichier .jrxml</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Environnement de développement</a:t>
            </a:r>
            <a:endParaRPr b="0" lang="fr-FR"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La suite Jaspersoft</a:t>
            </a:r>
            <a:endParaRPr b="0" lang="fr-FR" sz="3600" spc="-1" strike="noStrike">
              <a:solidFill>
                <a:srgbClr val="000000"/>
              </a:solidFill>
              <a:latin typeface="Arial"/>
            </a:endParaRPr>
          </a:p>
        </p:txBody>
      </p:sp>
      <p:sp>
        <p:nvSpPr>
          <p:cNvPr id="76"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1" lang="en-US" sz="2000" spc="-1" strike="noStrike">
                <a:solidFill>
                  <a:srgbClr val="0c32cf"/>
                </a:solidFill>
                <a:latin typeface="Calibri"/>
              </a:rPr>
              <a:t>JasperReports Library</a:t>
            </a:r>
            <a:r>
              <a:rPr b="0" lang="en-US" sz="2000" spc="-1" strike="noStrike">
                <a:solidFill>
                  <a:schemeClr val="dk1"/>
                </a:solidFill>
                <a:latin typeface="Calibri"/>
              </a:rPr>
              <a:t> : le moteur Java qui génère les rapports (PDF, HTML, Excel, …) à partir d'un modèle</a:t>
            </a:r>
            <a:endParaRPr b="0" lang="fr-FR" sz="20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1600" spc="-1" strike="noStrike">
                <a:solidFill>
                  <a:schemeClr val="dk1"/>
                </a:solidFill>
                <a:latin typeface="Calibri"/>
              </a:rPr>
              <a:t>Open source (licence LGPL), version 7.0.x</a:t>
            </a:r>
            <a:endParaRPr b="0" lang="fr-FR" sz="16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000" spc="-1" strike="noStrike">
                <a:solidFill>
                  <a:srgbClr val="0c32cf"/>
                </a:solidFill>
                <a:latin typeface="Calibri"/>
              </a:rPr>
              <a:t>Jaspersoft Studio</a:t>
            </a:r>
            <a:r>
              <a:rPr b="0" lang="en-US" sz="2000" spc="-1" strike="noStrike">
                <a:solidFill>
                  <a:schemeClr val="dk1"/>
                </a:solidFill>
                <a:latin typeface="Calibri"/>
              </a:rPr>
              <a:t> : l'éditeur graphique de rapports, basé sur Eclipse</a:t>
            </a:r>
            <a:endParaRPr b="0" lang="fr-FR" sz="20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1600" spc="-1" strike="noStrike">
                <a:solidFill>
                  <a:schemeClr val="dk1"/>
                </a:solidFill>
                <a:latin typeface="Calibri"/>
              </a:rPr>
              <a:t>Gratuit (édition communautaire), même numéro de version que la librairie</a:t>
            </a:r>
            <a:endParaRPr b="0" lang="fr-FR" sz="16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000" spc="-1" strike="noStrike">
                <a:solidFill>
                  <a:srgbClr val="0c32cf"/>
                </a:solidFill>
                <a:latin typeface="Calibri"/>
              </a:rPr>
              <a:t>JasperReports Server</a:t>
            </a:r>
            <a:r>
              <a:rPr b="0" lang="en-US" sz="2000" spc="-1" strike="noStrike">
                <a:solidFill>
                  <a:schemeClr val="dk1"/>
                </a:solidFill>
                <a:latin typeface="Calibri"/>
              </a:rPr>
              <a:t> : portail de publication, planification et diffusion des rapports</a:t>
            </a:r>
            <a:endParaRPr b="0" lang="fr-FR" sz="20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1600" spc="-1" strike="noStrike">
                <a:solidFill>
                  <a:schemeClr val="dk1"/>
                </a:solidFill>
                <a:latin typeface="Calibri"/>
              </a:rPr>
              <a:t>Produit commercial ; l'édition communautaire du serveur a été retirée en janvier 2024</a:t>
            </a:r>
            <a:endParaRPr b="0" lang="fr-FR" sz="1600" spc="-1" strike="noStrike">
              <a:solidFill>
                <a:srgbClr val="000000"/>
              </a:solidFill>
              <a:latin typeface="Arial"/>
            </a:endParaRPr>
          </a:p>
          <a:p>
            <a:pPr indent="0" defTabSz="457200">
              <a:lnSpc>
                <a:spcPct val="100000"/>
              </a:lnSpc>
              <a:spcBef>
                <a:spcPts val="400"/>
              </a:spcBef>
              <a:buNone/>
              <a:tabLst>
                <a:tab algn="l" pos="0"/>
              </a:tabLst>
            </a:pPr>
            <a:r>
              <a:rPr b="0" lang="en-US" sz="2000" spc="-1" strike="noStrike">
                <a:solidFill>
                  <a:schemeClr val="dk1"/>
                </a:solidFill>
                <a:latin typeface="Calibri"/>
              </a:rPr>
              <a:t>Éditeur : Jaspersoft, successivement TIBCO, Cloud Software Group, puis </a:t>
            </a:r>
            <a:r>
              <a:rPr b="1" lang="en-US" sz="2000" spc="-1" strike="noStrike">
                <a:solidFill>
                  <a:srgbClr val="3650b1"/>
                </a:solidFill>
                <a:latin typeface="Calibri"/>
              </a:rPr>
              <a:t>HCLSoftware</a:t>
            </a:r>
            <a:r>
              <a:rPr b="0" lang="en-US" sz="2000" spc="-1" strike="noStrike">
                <a:solidFill>
                  <a:schemeClr val="dk1"/>
                </a:solidFill>
                <a:latin typeface="Calibri"/>
              </a:rPr>
              <a:t> depuis juillet 2026</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Les usages de JasperStudio</a:t>
            </a:r>
            <a:endParaRPr b="0" lang="fr-FR" sz="3600" spc="-1" strike="noStrike">
              <a:solidFill>
                <a:srgbClr val="000000"/>
              </a:solidFill>
              <a:latin typeface="Arial"/>
            </a:endParaRPr>
          </a:p>
        </p:txBody>
      </p:sp>
      <p:sp>
        <p:nvSpPr>
          <p:cNvPr id="78"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1" lang="en-US" sz="2200" spc="-1" strike="noStrike">
                <a:solidFill>
                  <a:srgbClr val="0c32cf"/>
                </a:solidFill>
                <a:latin typeface="Calibri"/>
              </a:rPr>
              <a:t>Concevoir un rapport</a:t>
            </a:r>
            <a:r>
              <a:rPr b="0" lang="en-US" sz="2200" spc="-1" strike="noStrike">
                <a:solidFill>
                  <a:schemeClr val="dk1"/>
                </a:solidFill>
                <a:latin typeface="Calibri"/>
              </a:rPr>
              <a:t> : mise en page, données, mise en forme</a:t>
            </a:r>
            <a:endParaRPr b="0" lang="fr-FR" sz="22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200" spc="-1" strike="noStrike">
                <a:solidFill>
                  <a:srgbClr val="0c32cf"/>
                </a:solidFill>
                <a:latin typeface="Calibri"/>
              </a:rPr>
              <a:t>Modifier un rapport</a:t>
            </a:r>
            <a:r>
              <a:rPr b="0" lang="en-US" sz="2200" spc="-1" strike="noStrike">
                <a:solidFill>
                  <a:schemeClr val="dk1"/>
                </a:solidFill>
                <a:latin typeface="Calibri"/>
              </a:rPr>
              <a:t> existant livré par l'équipe de développement</a:t>
            </a:r>
            <a:endParaRPr b="0" lang="fr-FR" sz="22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200" spc="-1" strike="noStrike">
                <a:solidFill>
                  <a:srgbClr val="0c32cf"/>
                </a:solidFill>
                <a:latin typeface="Calibri"/>
              </a:rPr>
              <a:t>Tester</a:t>
            </a:r>
            <a:r>
              <a:rPr b="0" lang="en-US" sz="2200" spc="-1" strike="noStrike">
                <a:solidFill>
                  <a:schemeClr val="dk1"/>
                </a:solidFill>
                <a:latin typeface="Calibri"/>
              </a:rPr>
              <a:t> : aperçu avec des données réelles, export dans tous les formats</a:t>
            </a:r>
            <a:endParaRPr b="0" lang="fr-FR" sz="22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200" spc="-1" strike="noStrike">
                <a:solidFill>
                  <a:srgbClr val="0c32cf"/>
                </a:solidFill>
                <a:latin typeface="Calibri"/>
              </a:rPr>
              <a:t>Préparer la diffusion</a:t>
            </a:r>
            <a:r>
              <a:rPr b="0" lang="en-US" sz="2200" spc="-1" strike="noStrike">
                <a:solidFill>
                  <a:schemeClr val="dk1"/>
                </a:solidFill>
                <a:latin typeface="Calibri"/>
              </a:rPr>
              <a:t> : le rapport est ensuite exécuté par une application ou par JasperReports Server</a:t>
            </a:r>
            <a:endParaRPr b="0" lang="fr-FR" sz="22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200" spc="-1" strike="noStrike">
                <a:solidFill>
                  <a:schemeClr val="dk1"/>
                </a:solidFill>
                <a:latin typeface="Calibri"/>
              </a:rPr>
              <a:t>Ce que JasperStudio ne fait pas :</a:t>
            </a:r>
            <a:endParaRPr b="0" lang="fr-FR" sz="22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2000" spc="-1" strike="noStrike">
                <a:solidFill>
                  <a:schemeClr val="dk1"/>
                </a:solidFill>
                <a:latin typeface="Calibri"/>
              </a:rPr>
              <a:t>Envoyer ou planifier les rapports (rôle du serveur ou de l'application)</a:t>
            </a:r>
            <a:endParaRPr b="0" lang="fr-FR" sz="20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2000" spc="-1" strike="noStrike">
                <a:solidFill>
                  <a:schemeClr val="dk1"/>
                </a:solidFill>
                <a:latin typeface="Calibri"/>
              </a:rPr>
              <a:t>Modifier les données de l'entreprise (lecture seule)</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Modèle de génération</a:t>
            </a:r>
            <a:endParaRPr b="0" lang="fr-FR" sz="3600" spc="-1" strike="noStrike">
              <a:solidFill>
                <a:srgbClr val="000000"/>
              </a:solidFill>
              <a:latin typeface="Arial"/>
            </a:endParaRPr>
          </a:p>
        </p:txBody>
      </p:sp>
      <p:sp>
        <p:nvSpPr>
          <p:cNvPr id="80"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indent="0" defTabSz="457200">
              <a:lnSpc>
                <a:spcPct val="100000"/>
              </a:lnSpc>
              <a:spcBef>
                <a:spcPts val="439"/>
              </a:spcBef>
              <a:buNone/>
              <a:tabLst>
                <a:tab algn="l" pos="0"/>
              </a:tabLst>
            </a:pPr>
            <a:r>
              <a:rPr b="0" lang="en-US" sz="2200" spc="-1" strike="noStrike">
                <a:solidFill>
                  <a:schemeClr val="dk1"/>
                </a:solidFill>
                <a:latin typeface="Calibri"/>
              </a:rPr>
              <a:t>La génération du rapport s'effectue en 4 étapes principales :</a:t>
            </a:r>
            <a:endParaRPr b="0" lang="fr-FR" sz="2200" spc="-1" strike="noStrike">
              <a:solidFill>
                <a:srgbClr val="000000"/>
              </a:solidFill>
              <a:latin typeface="Arial"/>
            </a:endParaRPr>
          </a:p>
          <a:p>
            <a:pPr indent="0" defTabSz="457200">
              <a:lnSpc>
                <a:spcPct val="100000"/>
              </a:lnSpc>
              <a:spcBef>
                <a:spcPts val="439"/>
              </a:spcBef>
              <a:buNone/>
              <a:tabLst>
                <a:tab algn="l" pos="0"/>
              </a:tabLst>
            </a:pPr>
            <a:r>
              <a:rPr b="0" lang="en-US" sz="2200" spc="-1" strike="noStrike">
                <a:solidFill>
                  <a:schemeClr val="dk1"/>
                </a:solidFill>
                <a:latin typeface="Calibri"/>
              </a:rPr>
              <a:t>1. Mise au point d'un fichier </a:t>
            </a:r>
            <a:r>
              <a:rPr b="1" lang="en-US" sz="2200" spc="-1" strike="noStrike">
                <a:solidFill>
                  <a:srgbClr val="0c32cf"/>
                </a:solidFill>
                <a:latin typeface="Calibri"/>
              </a:rPr>
              <a:t>JRXML</a:t>
            </a:r>
            <a:r>
              <a:rPr b="0" lang="en-US" sz="2200" spc="-1" strike="noStrike">
                <a:solidFill>
                  <a:schemeClr val="dk1"/>
                </a:solidFill>
                <a:latin typeface="Calibri"/>
              </a:rPr>
              <a:t> définissant </a:t>
            </a:r>
            <a:endParaRPr b="0" lang="fr-FR" sz="2200" spc="-1" strike="noStrike">
              <a:solidFill>
                <a:srgbClr val="000000"/>
              </a:solidFill>
              <a:latin typeface="Arial"/>
            </a:endParaRPr>
          </a:p>
          <a:p>
            <a:pPr lvl="1" marL="743040" indent="-285840" defTabSz="457200">
              <a:lnSpc>
                <a:spcPct val="100000"/>
              </a:lnSpc>
              <a:spcBef>
                <a:spcPts val="360"/>
              </a:spcBef>
              <a:buClr>
                <a:srgbClr val="000000"/>
              </a:buClr>
              <a:buFont typeface="Arial"/>
              <a:buChar char="–"/>
              <a:tabLst>
                <a:tab algn="l" pos="0"/>
              </a:tabLst>
            </a:pPr>
            <a:r>
              <a:rPr b="0" lang="en-US" sz="1800" spc="-1" strike="noStrike">
                <a:solidFill>
                  <a:schemeClr val="dk1"/>
                </a:solidFill>
                <a:latin typeface="Calibri"/>
              </a:rPr>
              <a:t>La structure du rapport </a:t>
            </a:r>
            <a:endParaRPr b="0" lang="fr-FR" sz="1800" spc="-1" strike="noStrike">
              <a:solidFill>
                <a:srgbClr val="000000"/>
              </a:solidFill>
              <a:latin typeface="Arial"/>
            </a:endParaRPr>
          </a:p>
          <a:p>
            <a:pPr lvl="1" marL="743040" indent="-285840" defTabSz="457200">
              <a:lnSpc>
                <a:spcPct val="100000"/>
              </a:lnSpc>
              <a:spcBef>
                <a:spcPts val="360"/>
              </a:spcBef>
              <a:buClr>
                <a:srgbClr val="000000"/>
              </a:buClr>
              <a:buFont typeface="Arial"/>
              <a:buChar char="–"/>
              <a:tabLst>
                <a:tab algn="l" pos="0"/>
              </a:tabLst>
            </a:pPr>
            <a:r>
              <a:rPr b="0" lang="en-US" sz="1800" spc="-1" strike="noStrike">
                <a:solidFill>
                  <a:schemeClr val="dk1"/>
                </a:solidFill>
                <a:latin typeface="Calibri"/>
              </a:rPr>
              <a:t>Sa disposition et son rendu visuel</a:t>
            </a:r>
            <a:endParaRPr b="0" lang="fr-FR" sz="1800" spc="-1" strike="noStrike">
              <a:solidFill>
                <a:srgbClr val="000000"/>
              </a:solidFill>
              <a:latin typeface="Arial"/>
            </a:endParaRPr>
          </a:p>
          <a:p>
            <a:pPr lvl="1" marL="743040" indent="-285840" defTabSz="457200">
              <a:lnSpc>
                <a:spcPct val="100000"/>
              </a:lnSpc>
              <a:spcBef>
                <a:spcPts val="360"/>
              </a:spcBef>
              <a:buClr>
                <a:srgbClr val="000000"/>
              </a:buClr>
              <a:buFont typeface="Arial"/>
              <a:buChar char="–"/>
              <a:tabLst>
                <a:tab algn="l" pos="0"/>
              </a:tabLst>
            </a:pPr>
            <a:r>
              <a:rPr b="0" lang="en-US" sz="1800" spc="-1" strike="noStrike">
                <a:solidFill>
                  <a:schemeClr val="dk1"/>
                </a:solidFill>
                <a:latin typeface="Calibri"/>
              </a:rPr>
              <a:t>Les données dynamiques provenant d'une source de données (Requête, calcul, ...).</a:t>
            </a:r>
            <a:endParaRPr b="0" lang="fr-FR" sz="1800" spc="-1" strike="noStrike">
              <a:solidFill>
                <a:srgbClr val="000000"/>
              </a:solidFill>
              <a:latin typeface="Arial"/>
            </a:endParaRPr>
          </a:p>
          <a:p>
            <a:pPr indent="0" defTabSz="457200">
              <a:lnSpc>
                <a:spcPct val="100000"/>
              </a:lnSpc>
              <a:spcBef>
                <a:spcPts val="439"/>
              </a:spcBef>
              <a:buNone/>
              <a:tabLst>
                <a:tab algn="l" pos="0"/>
              </a:tabLst>
            </a:pPr>
            <a:r>
              <a:rPr b="0" lang="en-US" sz="2200" spc="-1" strike="noStrike">
                <a:solidFill>
                  <a:schemeClr val="dk1"/>
                </a:solidFill>
                <a:latin typeface="Calibri"/>
              </a:rPr>
              <a:t>2.</a:t>
            </a:r>
            <a:r>
              <a:rPr b="1" lang="en-US" sz="2200" spc="-1" strike="noStrike">
                <a:solidFill>
                  <a:schemeClr val="dk1"/>
                </a:solidFill>
                <a:latin typeface="Calibri"/>
              </a:rPr>
              <a:t> </a:t>
            </a:r>
            <a:r>
              <a:rPr b="1" lang="en-US" sz="2200" spc="-1" strike="noStrike">
                <a:solidFill>
                  <a:srgbClr val="0c32cf"/>
                </a:solidFill>
                <a:latin typeface="Calibri"/>
              </a:rPr>
              <a:t>Compilation</a:t>
            </a:r>
            <a:r>
              <a:rPr b="0" lang="en-US" sz="2200" spc="-1" strike="noStrike">
                <a:solidFill>
                  <a:schemeClr val="dk1"/>
                </a:solidFill>
                <a:latin typeface="Calibri"/>
              </a:rPr>
              <a:t> du rapport. Résultat : Fichier binaire </a:t>
            </a:r>
            <a:r>
              <a:rPr b="0" i="1" lang="en-US" sz="2200" spc="-1" strike="noStrike">
                <a:solidFill>
                  <a:schemeClr val="dk1"/>
                </a:solidFill>
                <a:latin typeface="Calibri"/>
              </a:rPr>
              <a:t>.jasper</a:t>
            </a:r>
            <a:endParaRPr b="0" lang="fr-FR" sz="2200" spc="-1" strike="noStrike">
              <a:solidFill>
                <a:srgbClr val="000000"/>
              </a:solidFill>
              <a:latin typeface="Arial"/>
            </a:endParaRPr>
          </a:p>
          <a:p>
            <a:pPr indent="0" defTabSz="457200">
              <a:lnSpc>
                <a:spcPct val="100000"/>
              </a:lnSpc>
              <a:spcBef>
                <a:spcPts val="439"/>
              </a:spcBef>
              <a:buNone/>
              <a:tabLst>
                <a:tab algn="l" pos="0"/>
              </a:tabLst>
            </a:pPr>
            <a:r>
              <a:rPr b="0" lang="en-US" sz="2200" spc="-1" strike="noStrike">
                <a:solidFill>
                  <a:schemeClr val="dk1"/>
                </a:solidFill>
                <a:latin typeface="Calibri"/>
              </a:rPr>
              <a:t>3. </a:t>
            </a:r>
            <a:r>
              <a:rPr b="1" lang="en-US" sz="2200" spc="-1" strike="noStrike">
                <a:solidFill>
                  <a:srgbClr val="0c32cf"/>
                </a:solidFill>
                <a:latin typeface="Calibri"/>
              </a:rPr>
              <a:t>Fusion</a:t>
            </a:r>
            <a:r>
              <a:rPr b="1" lang="en-US" sz="2200" spc="-1" strike="noStrike">
                <a:solidFill>
                  <a:schemeClr val="dk1"/>
                </a:solidFill>
                <a:latin typeface="Calibri"/>
              </a:rPr>
              <a:t> :</a:t>
            </a:r>
            <a:r>
              <a:rPr b="0" lang="en-US" sz="2200" spc="-1" strike="noStrike">
                <a:solidFill>
                  <a:schemeClr val="dk1"/>
                </a:solidFill>
                <a:latin typeface="Calibri"/>
              </a:rPr>
              <a:t> Production du rapport avec récupération </a:t>
            </a:r>
            <a:endParaRPr b="0" lang="fr-FR" sz="2200" spc="-1" strike="noStrike">
              <a:solidFill>
                <a:srgbClr val="000000"/>
              </a:solidFill>
              <a:latin typeface="Arial"/>
            </a:endParaRPr>
          </a:p>
          <a:p>
            <a:pPr indent="0" defTabSz="457200">
              <a:lnSpc>
                <a:spcPct val="100000"/>
              </a:lnSpc>
              <a:spcBef>
                <a:spcPts val="439"/>
              </a:spcBef>
              <a:buNone/>
              <a:tabLst>
                <a:tab algn="l" pos="0"/>
              </a:tabLst>
            </a:pPr>
            <a:r>
              <a:rPr b="0" lang="en-US" sz="2200" spc="-1" strike="noStrike">
                <a:solidFill>
                  <a:schemeClr val="dk1"/>
                </a:solidFill>
                <a:latin typeface="Calibri"/>
              </a:rPr>
              <a:t>dynamique des données à partir de la source de données. </a:t>
            </a:r>
            <a:endParaRPr b="0" lang="fr-FR" sz="2200" spc="-1" strike="noStrike">
              <a:solidFill>
                <a:srgbClr val="000000"/>
              </a:solidFill>
              <a:latin typeface="Arial"/>
            </a:endParaRPr>
          </a:p>
          <a:p>
            <a:pPr indent="0" defTabSz="457200">
              <a:lnSpc>
                <a:spcPct val="100000"/>
              </a:lnSpc>
              <a:spcBef>
                <a:spcPts val="439"/>
              </a:spcBef>
              <a:buNone/>
              <a:tabLst>
                <a:tab algn="l" pos="0"/>
              </a:tabLst>
            </a:pPr>
            <a:r>
              <a:rPr b="0" lang="en-US" sz="2200" spc="-1" strike="noStrike">
                <a:solidFill>
                  <a:schemeClr val="dk1"/>
                </a:solidFill>
                <a:latin typeface="Calibri"/>
              </a:rPr>
              <a:t>Résultat : Fichier binaire </a:t>
            </a:r>
            <a:r>
              <a:rPr b="0" i="1" lang="en-US" sz="2200" spc="-1" strike="noStrike">
                <a:solidFill>
                  <a:schemeClr val="dk1"/>
                </a:solidFill>
                <a:latin typeface="Calibri"/>
              </a:rPr>
              <a:t>.jrprint</a:t>
            </a:r>
            <a:endParaRPr b="0" lang="fr-FR" sz="2200" spc="-1" strike="noStrike">
              <a:solidFill>
                <a:srgbClr val="000000"/>
              </a:solidFill>
              <a:latin typeface="Arial"/>
            </a:endParaRPr>
          </a:p>
          <a:p>
            <a:pPr indent="0" defTabSz="457200">
              <a:lnSpc>
                <a:spcPct val="100000"/>
              </a:lnSpc>
              <a:spcBef>
                <a:spcPts val="439"/>
              </a:spcBef>
              <a:buNone/>
              <a:tabLst>
                <a:tab algn="l" pos="0"/>
              </a:tabLst>
            </a:pPr>
            <a:r>
              <a:rPr b="0" lang="en-US" sz="2200" spc="-1" strike="noStrike">
                <a:solidFill>
                  <a:schemeClr val="dk1"/>
                </a:solidFill>
                <a:latin typeface="Calibri"/>
              </a:rPr>
              <a:t>4. </a:t>
            </a:r>
            <a:r>
              <a:rPr b="1" lang="en-US" sz="2200" spc="-1" strike="noStrike">
                <a:solidFill>
                  <a:srgbClr val="0c32cf"/>
                </a:solidFill>
                <a:latin typeface="Calibri"/>
              </a:rPr>
              <a:t>Exportation</a:t>
            </a:r>
            <a:r>
              <a:rPr b="0" lang="en-US" sz="2200" spc="-1" strike="noStrike">
                <a:solidFill>
                  <a:schemeClr val="dk1"/>
                </a:solidFill>
                <a:latin typeface="Calibri"/>
              </a:rPr>
              <a:t> du rapport dans un format visualisable par </a:t>
            </a:r>
            <a:endParaRPr b="0" lang="fr-FR" sz="2200" spc="-1" strike="noStrike">
              <a:solidFill>
                <a:srgbClr val="000000"/>
              </a:solidFill>
              <a:latin typeface="Arial"/>
            </a:endParaRPr>
          </a:p>
          <a:p>
            <a:pPr indent="0" defTabSz="457200">
              <a:lnSpc>
                <a:spcPct val="100000"/>
              </a:lnSpc>
              <a:spcBef>
                <a:spcPts val="439"/>
              </a:spcBef>
              <a:buNone/>
              <a:tabLst>
                <a:tab algn="l" pos="0"/>
              </a:tabLst>
            </a:pPr>
            <a:r>
              <a:rPr b="0" lang="en-US" sz="2200" spc="-1" strike="noStrike">
                <a:solidFill>
                  <a:schemeClr val="dk1"/>
                </a:solidFill>
                <a:latin typeface="Calibri"/>
              </a:rPr>
              <a:t>un viewer. Le plus souvent PDF</a:t>
            </a:r>
            <a:endParaRPr b="0" lang="fr-FR"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Cycle de vie d'un rapport</a:t>
            </a:r>
            <a:endParaRPr b="0" lang="fr-FR" sz="3600" spc="-1" strike="noStrike">
              <a:solidFill>
                <a:srgbClr val="000000"/>
              </a:solidFill>
              <a:latin typeface="Arial"/>
            </a:endParaRPr>
          </a:p>
        </p:txBody>
      </p:sp>
      <p:sp>
        <p:nvSpPr>
          <p:cNvPr id="82"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1" lang="en-US" sz="2000" spc="-1" strike="noStrike">
                <a:solidFill>
                  <a:srgbClr val="0c32cf"/>
                </a:solidFill>
                <a:latin typeface="Calibri"/>
              </a:rPr>
              <a:t>Conception</a:t>
            </a:r>
            <a:r>
              <a:rPr b="0" lang="en-US" sz="2000" spc="-1" strike="noStrike">
                <a:solidFill>
                  <a:schemeClr val="dk1"/>
                </a:solidFill>
                <a:latin typeface="Calibri"/>
              </a:rPr>
              <a:t> : création du fichier .jrxml dans JasperStudio (assistant ou page blanche)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000" spc="-1" strike="noStrike">
                <a:solidFill>
                  <a:srgbClr val="0c32cf"/>
                </a:solidFill>
                <a:latin typeface="Calibri"/>
              </a:rPr>
              <a:t>Modification</a:t>
            </a:r>
            <a:r>
              <a:rPr b="0" lang="en-US" sz="2000" spc="-1" strike="noStrike">
                <a:solidFill>
                  <a:schemeClr val="dk1"/>
                </a:solidFill>
                <a:latin typeface="Calibri"/>
              </a:rPr>
              <a:t> : évolution du modèle, en gardant la compatibilité avec les données et l'application</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000" spc="-1" strike="noStrike">
                <a:solidFill>
                  <a:srgbClr val="0c32cf"/>
                </a:solidFill>
                <a:latin typeface="Calibri"/>
              </a:rPr>
              <a:t>Test</a:t>
            </a:r>
            <a:r>
              <a:rPr b="0" lang="en-US" sz="2000" spc="-1" strike="noStrike">
                <a:solidFill>
                  <a:schemeClr val="dk1"/>
                </a:solidFill>
                <a:latin typeface="Calibri"/>
              </a:rPr>
              <a:t> : aperçu dans Studio avec une source de données de test, vérification de chaque format de sortie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000" spc="-1" strike="noStrike">
                <a:solidFill>
                  <a:srgbClr val="0c32cf"/>
                </a:solidFill>
                <a:latin typeface="Calibri"/>
              </a:rPr>
              <a:t>Diffusion</a:t>
            </a:r>
            <a:r>
              <a:rPr b="0" lang="en-US" sz="2000" spc="-1" strike="noStrike">
                <a:solidFill>
                  <a:schemeClr val="dk1"/>
                </a:solidFill>
                <a:latin typeface="Calibri"/>
              </a:rPr>
              <a:t> : livraison du </a:t>
            </a:r>
            <a:r>
              <a:rPr b="0" i="1" lang="en-US" sz="2000" spc="-1" strike="noStrike">
                <a:solidFill>
                  <a:schemeClr val="dk1"/>
                </a:solidFill>
                <a:latin typeface="Calibri"/>
              </a:rPr>
              <a:t>.jrxml</a:t>
            </a:r>
            <a:r>
              <a:rPr b="0" lang="en-US" sz="2000" spc="-1" strike="noStrike">
                <a:solidFill>
                  <a:schemeClr val="dk1"/>
                </a:solidFill>
                <a:latin typeface="Calibri"/>
              </a:rPr>
              <a:t> ou du </a:t>
            </a:r>
            <a:r>
              <a:rPr b="0" i="1" lang="en-US" sz="2000" spc="-1" strike="noStrike">
                <a:solidFill>
                  <a:schemeClr val="dk1"/>
                </a:solidFill>
                <a:latin typeface="Calibri"/>
              </a:rPr>
              <a:t>.jasper</a:t>
            </a:r>
            <a:r>
              <a:rPr b="0" lang="en-US" sz="2000" spc="-1" strike="noStrike">
                <a:solidFill>
                  <a:schemeClr val="dk1"/>
                </a:solidFill>
                <a:latin typeface="Calibri"/>
              </a:rPr>
              <a:t> (et de ses ressources : images, polices, sous-rapports) à l'application ou au serveur</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À chaque génération : compilation du .jrxml, fusion avec les données, export dans le format demandé</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Types de fichiers manipulés</a:t>
            </a:r>
            <a:endParaRPr b="0" lang="fr-FR" sz="3600" spc="-1" strike="noStrike">
              <a:solidFill>
                <a:srgbClr val="000000"/>
              </a:solidFill>
              <a:latin typeface="Arial"/>
            </a:endParaRPr>
          </a:p>
        </p:txBody>
      </p:sp>
      <p:sp>
        <p:nvSpPr>
          <p:cNvPr id="84"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1" i="1" lang="en-US" sz="2000" spc="-1" strike="noStrike">
                <a:solidFill>
                  <a:srgbClr val="0c32cf"/>
                </a:solidFill>
                <a:latin typeface="Courier New"/>
              </a:rPr>
              <a:t>.jrxml</a:t>
            </a:r>
            <a:r>
              <a:rPr b="0" lang="en-US" sz="2000" spc="-1" strike="noStrike">
                <a:solidFill>
                  <a:schemeClr val="dk1"/>
                </a:solidFill>
                <a:latin typeface="Calibri"/>
              </a:rPr>
              <a:t> : le modèle du rapport, fichier XML texte, </a:t>
            </a:r>
            <a:r>
              <a:rPr b="1" lang="en-US" sz="2000" spc="-1" strike="noStrike">
                <a:solidFill>
                  <a:schemeClr val="dk1"/>
                </a:solidFill>
                <a:latin typeface="Calibri"/>
              </a:rPr>
              <a:t>le seul à </a:t>
            </a:r>
            <a:r>
              <a:rPr b="1" lang="en-US" sz="2000" spc="-1" strike="noStrike">
                <a:solidFill>
                  <a:schemeClr val="dk1"/>
                </a:solidFill>
                <a:latin typeface="Calibri"/>
              </a:rPr>
              <a:t>maintenir et versionner</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i="1" lang="en-US" sz="2000" spc="-1" strike="noStrike">
                <a:solidFill>
                  <a:srgbClr val="0c32cf"/>
                </a:solidFill>
                <a:latin typeface="Courier New"/>
              </a:rPr>
              <a:t>.jasper</a:t>
            </a:r>
            <a:r>
              <a:rPr b="0" lang="en-US" sz="2000" spc="-1" strike="noStrike">
                <a:solidFill>
                  <a:schemeClr val="dk1"/>
                </a:solidFill>
                <a:latin typeface="Calibri"/>
              </a:rPr>
              <a:t> : le modèle compilé, produit automatiquement à partir </a:t>
            </a:r>
            <a:r>
              <a:rPr b="0" lang="en-US" sz="2000" spc="-1" strike="noStrike">
                <a:solidFill>
                  <a:schemeClr val="dk1"/>
                </a:solidFill>
                <a:latin typeface="Calibri"/>
              </a:rPr>
              <a:t>du .jrxml</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i="1" lang="en-US" sz="2000" spc="-1" strike="noStrike">
                <a:solidFill>
                  <a:srgbClr val="0c32cf"/>
                </a:solidFill>
                <a:latin typeface="Courier New"/>
              </a:rPr>
              <a:t>.jrprint</a:t>
            </a:r>
            <a:r>
              <a:rPr b="0" lang="en-US" sz="2000" spc="-1" strike="noStrike">
                <a:solidFill>
                  <a:schemeClr val="dk1"/>
                </a:solidFill>
                <a:latin typeface="Calibri"/>
              </a:rPr>
              <a:t> : le document généré avant export (interne)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i="1" lang="en-US" sz="2000" spc="-1" strike="noStrike">
                <a:solidFill>
                  <a:srgbClr val="0c32cf"/>
                </a:solidFill>
                <a:latin typeface="Courier New"/>
              </a:rPr>
              <a:t>.jrtx</a:t>
            </a:r>
            <a:r>
              <a:rPr b="0" lang="en-US" sz="2000" spc="-1" strike="noStrike">
                <a:solidFill>
                  <a:schemeClr val="dk1"/>
                </a:solidFill>
                <a:latin typeface="Calibri"/>
              </a:rPr>
              <a:t> : bibliothèque de styles partagée entre plusieurs rapports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Data adapters (</a:t>
            </a:r>
            <a:r>
              <a:rPr b="0" lang="en-US" sz="2000" spc="-1" strike="noStrike">
                <a:solidFill>
                  <a:schemeClr val="dk1"/>
                </a:solidFill>
                <a:latin typeface="Courier New"/>
              </a:rPr>
              <a:t>.jrdax</a:t>
            </a:r>
            <a:r>
              <a:rPr b="0" lang="en-US" sz="2000" spc="-1" strike="noStrike">
                <a:solidFill>
                  <a:schemeClr val="dk1"/>
                </a:solidFill>
                <a:latin typeface="Calibri"/>
              </a:rPr>
              <a:t> / </a:t>
            </a:r>
            <a:r>
              <a:rPr b="0" lang="en-US" sz="2000" spc="-1" strike="noStrike">
                <a:solidFill>
                  <a:schemeClr val="dk1"/>
                </a:solidFill>
                <a:latin typeface="Courier New"/>
              </a:rPr>
              <a:t>.xml</a:t>
            </a:r>
            <a:r>
              <a:rPr b="0" lang="en-US" sz="2000" spc="-1" strike="noStrike">
                <a:solidFill>
                  <a:schemeClr val="dk1"/>
                </a:solidFill>
                <a:latin typeface="Calibri"/>
              </a:rPr>
              <a:t>) : description d'une connexion ou </a:t>
            </a:r>
            <a:r>
              <a:rPr b="0" lang="en-US" sz="2000" spc="-1" strike="noStrike">
                <a:solidFill>
                  <a:schemeClr val="dk1"/>
                </a:solidFill>
                <a:latin typeface="Calibri"/>
              </a:rPr>
              <a:t>d'une source de données utilisé en environnement de </a:t>
            </a:r>
            <a:r>
              <a:rPr b="0" lang="en-US" sz="2000" spc="-1" strike="noStrike">
                <a:solidFill>
                  <a:schemeClr val="dk1"/>
                </a:solidFill>
                <a:latin typeface="Calibri"/>
              </a:rPr>
              <a:t>développement</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Ressources : images (PNG, JPG, SVG), polices (</a:t>
            </a:r>
            <a:r>
              <a:rPr b="0" lang="en-US" sz="2000" spc="-1" strike="noStrike">
                <a:solidFill>
                  <a:schemeClr val="dk1"/>
                </a:solidFill>
                <a:latin typeface="Courier New"/>
              </a:rPr>
              <a:t>.ttf</a:t>
            </a:r>
            <a:r>
              <a:rPr b="0" lang="en-US" sz="2000" spc="-1" strike="noStrike">
                <a:solidFill>
                  <a:schemeClr val="dk1"/>
                </a:solidFill>
                <a:latin typeface="Calibri"/>
              </a:rPr>
              <a:t>, jar de police), </a:t>
            </a:r>
            <a:r>
              <a:rPr b="0" lang="en-US" sz="2000" spc="-1" strike="noStrike">
                <a:solidFill>
                  <a:schemeClr val="dk1"/>
                </a:solidFill>
                <a:latin typeface="Calibri"/>
              </a:rPr>
              <a:t>sous-rapports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Sorties : PDF, HTML, XLSX, DOCX, CSV, …</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Rappels sur XML</a:t>
            </a:r>
            <a:endParaRPr b="0" lang="fr-FR" sz="3600" spc="-1" strike="noStrike">
              <a:solidFill>
                <a:srgbClr val="000000"/>
              </a:solidFill>
              <a:latin typeface="Arial"/>
            </a:endParaRPr>
          </a:p>
        </p:txBody>
      </p:sp>
      <p:sp>
        <p:nvSpPr>
          <p:cNvPr id="86"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Un fichier .jrxml est un fichier XML </a:t>
            </a:r>
            <a:r>
              <a:rPr b="1" lang="en-US" sz="2000" spc="-1" strike="noStrike">
                <a:solidFill>
                  <a:schemeClr val="dk1"/>
                </a:solidFill>
                <a:latin typeface="Calibri"/>
              </a:rPr>
              <a:t>bien formé</a:t>
            </a:r>
            <a:r>
              <a:rPr b="0" lang="en-US" sz="2000" spc="-1" strike="noStrike">
                <a:solidFill>
                  <a:schemeClr val="dk1"/>
                </a:solidFill>
                <a:latin typeface="Calibri"/>
              </a:rPr>
              <a:t> :</a:t>
            </a:r>
            <a:endParaRPr b="0" lang="fr-FR" sz="20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1600" spc="-1" strike="noStrike">
                <a:solidFill>
                  <a:schemeClr val="dk1"/>
                </a:solidFill>
                <a:latin typeface="Calibri"/>
              </a:rPr>
              <a:t>un seul élément racine : </a:t>
            </a:r>
            <a:r>
              <a:rPr b="0" lang="en-US" sz="1600" spc="-1" strike="noStrike">
                <a:solidFill>
                  <a:schemeClr val="dk1"/>
                </a:solidFill>
                <a:latin typeface="Courier New"/>
              </a:rPr>
              <a:t>&lt;jasperReport&gt;</a:t>
            </a:r>
            <a:endParaRPr b="0" lang="fr-FR" sz="16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1600" spc="-1" strike="noStrike">
                <a:solidFill>
                  <a:schemeClr val="dk1"/>
                </a:solidFill>
                <a:latin typeface="Calibri"/>
              </a:rPr>
              <a:t>des balises correctement imbriquées et fermées</a:t>
            </a:r>
            <a:endParaRPr b="0" lang="fr-FR" sz="16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1600" spc="-1" strike="noStrike">
                <a:solidFill>
                  <a:schemeClr val="dk1"/>
                </a:solidFill>
                <a:latin typeface="Calibri"/>
              </a:rPr>
              <a:t>des attributs entre guillemets</a:t>
            </a:r>
            <a:endParaRPr b="0" lang="fr-FR" sz="16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Depuis la version 7, le fichier ne référence plus de schéma XSD ni d'espace de noms : la syntaxe est vérifiée par la librairie à la compilation</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Un commentaire en tête indique la version de Studio et de la librairie qui ont produit le fichier</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Chaque élément porte un identifiant </a:t>
            </a:r>
            <a:r>
              <a:rPr b="0" lang="en-US" sz="2000" spc="-1" strike="noStrike">
                <a:solidFill>
                  <a:schemeClr val="dk1"/>
                </a:solidFill>
                <a:latin typeface="Courier New"/>
              </a:rPr>
              <a:t>uuid</a:t>
            </a:r>
            <a:r>
              <a:rPr b="0" lang="en-US" sz="2000" spc="-1" strike="noStrike">
                <a:solidFill>
                  <a:schemeClr val="dk1"/>
                </a:solidFill>
                <a:latin typeface="Calibri"/>
              </a:rPr>
              <a:t> généré par Studio : ne pas le recopier d'un élément à l'autre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L'onglet Source de Studio permet de lire et de modifier ce XML directement</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Blank A4</a:t>
            </a:r>
            <a:endParaRPr b="0" lang="fr-FR" sz="3600" spc="-1" strike="noStrike">
              <a:solidFill>
                <a:srgbClr val="000000"/>
              </a:solidFill>
              <a:latin typeface="Arial"/>
            </a:endParaRPr>
          </a:p>
        </p:txBody>
      </p:sp>
      <p:sp>
        <p:nvSpPr>
          <p:cNvPr id="88"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indent="0">
              <a:lnSpc>
                <a:spcPct val="100000"/>
              </a:lnSpc>
              <a:spcBef>
                <a:spcPts val="1417"/>
              </a:spcBef>
              <a:buNone/>
              <a:tabLst>
                <a:tab algn="l" pos="0"/>
              </a:tabLst>
            </a:pPr>
            <a:r>
              <a:rPr b="0" lang="en-US" sz="1000" spc="-1" strike="noStrike">
                <a:solidFill>
                  <a:srgbClr val="800000"/>
                </a:solidFill>
                <a:latin typeface="Monospace"/>
              </a:rPr>
              <a:t>&lt;!-- Created with Jaspersoft Studio version 7.0.8.final using JasperReports Library version 7.0.8-6f896111  --&gt;</a:t>
            </a:r>
            <a:endParaRPr b="0" lang="fr-FR" sz="1000" spc="-1" strike="noStrike">
              <a:solidFill>
                <a:srgbClr val="000000"/>
              </a:solidFill>
              <a:latin typeface="Arial"/>
            </a:endParaRPr>
          </a:p>
          <a:p>
            <a:pPr indent="0">
              <a:lnSpc>
                <a:spcPct val="100000"/>
              </a:lnSpc>
              <a:spcBef>
                <a:spcPts val="1417"/>
              </a:spcBef>
              <a:buNone/>
              <a:tabLst>
                <a:tab algn="l" pos="0"/>
              </a:tabLst>
            </a:pPr>
            <a:r>
              <a:rPr b="0" lang="en-US" sz="1000" spc="-1" strike="noStrike">
                <a:solidFill>
                  <a:srgbClr val="000080"/>
                </a:solidFill>
                <a:latin typeface="Monospace"/>
                <a:ea typeface="Monospace"/>
              </a:rPr>
              <a:t>&lt;jasperReport</a:t>
            </a:r>
            <a:r>
              <a:rPr b="0" lang="en-US" sz="1000" spc="-1" strike="noStrike">
                <a:solidFill>
                  <a:srgbClr val="000000"/>
                </a:solidFill>
                <a:latin typeface="Monospace"/>
                <a:ea typeface="Monospace"/>
              </a:rPr>
              <a:t> </a:t>
            </a:r>
            <a:r>
              <a:rPr b="0" lang="en-US" sz="1000" spc="-1" strike="noStrike">
                <a:solidFill>
                  <a:srgbClr val="000080"/>
                </a:solidFill>
                <a:latin typeface="Monospace"/>
                <a:ea typeface="Monospace"/>
              </a:rPr>
              <a:t>name=</a:t>
            </a:r>
            <a:r>
              <a:rPr b="0" lang="en-US" sz="1000" spc="-1" strike="noStrike">
                <a:solidFill>
                  <a:srgbClr val="008000"/>
                </a:solidFill>
                <a:latin typeface="Monospace"/>
                <a:ea typeface="Monospace"/>
              </a:rPr>
              <a:t>"Blank_A4"</a:t>
            </a:r>
            <a:r>
              <a:rPr b="0" lang="en-US" sz="1000" spc="-1" strike="noStrike">
                <a:solidFill>
                  <a:srgbClr val="000000"/>
                </a:solidFill>
                <a:latin typeface="Monospace"/>
                <a:ea typeface="Monospace"/>
              </a:rPr>
              <a:t> </a:t>
            </a:r>
            <a:r>
              <a:rPr b="0" lang="en-US" sz="1000" spc="-1" strike="noStrike">
                <a:solidFill>
                  <a:srgbClr val="000080"/>
                </a:solidFill>
                <a:latin typeface="Monospace"/>
                <a:ea typeface="Monospace"/>
              </a:rPr>
              <a:t>language=</a:t>
            </a:r>
            <a:r>
              <a:rPr b="0" lang="en-US" sz="1000" spc="-1" strike="noStrike">
                <a:solidFill>
                  <a:srgbClr val="008000"/>
                </a:solidFill>
                <a:latin typeface="Monospace"/>
                <a:ea typeface="Monospace"/>
              </a:rPr>
              <a:t>"java"</a:t>
            </a:r>
            <a:r>
              <a:rPr b="0" lang="en-US" sz="1000" spc="-1" strike="noStrike">
                <a:solidFill>
                  <a:srgbClr val="000000"/>
                </a:solidFill>
                <a:latin typeface="Monospace"/>
                <a:ea typeface="Monospace"/>
              </a:rPr>
              <a:t> </a:t>
            </a:r>
            <a:r>
              <a:rPr b="0" lang="en-US" sz="1000" spc="-1" strike="noStrike">
                <a:solidFill>
                  <a:srgbClr val="000080"/>
                </a:solidFill>
                <a:latin typeface="Monospace"/>
                <a:ea typeface="Monospace"/>
              </a:rPr>
              <a:t>pageWidth=</a:t>
            </a:r>
            <a:r>
              <a:rPr b="0" lang="en-US" sz="1000" spc="-1" strike="noStrike">
                <a:solidFill>
                  <a:srgbClr val="008000"/>
                </a:solidFill>
                <a:latin typeface="Monospace"/>
                <a:ea typeface="Monospace"/>
              </a:rPr>
              <a:t>"595"</a:t>
            </a:r>
            <a:r>
              <a:rPr b="0" lang="en-US" sz="1000" spc="-1" strike="noStrike">
                <a:solidFill>
                  <a:srgbClr val="000000"/>
                </a:solidFill>
                <a:latin typeface="Monospace"/>
                <a:ea typeface="Monospace"/>
              </a:rPr>
              <a:t> </a:t>
            </a:r>
            <a:r>
              <a:rPr b="0" lang="en-US" sz="1000" spc="-1" strike="noStrike">
                <a:solidFill>
                  <a:srgbClr val="000080"/>
                </a:solidFill>
                <a:latin typeface="Monospace"/>
                <a:ea typeface="Monospace"/>
              </a:rPr>
              <a:t>pageHeight=</a:t>
            </a:r>
            <a:r>
              <a:rPr b="0" lang="en-US" sz="1000" spc="-1" strike="noStrike">
                <a:solidFill>
                  <a:srgbClr val="008000"/>
                </a:solidFill>
                <a:latin typeface="Monospace"/>
                <a:ea typeface="Monospace"/>
              </a:rPr>
              <a:t>"842"</a:t>
            </a:r>
            <a:r>
              <a:rPr b="0" lang="en-US" sz="1000" spc="-1" strike="noStrike">
                <a:solidFill>
                  <a:srgbClr val="000000"/>
                </a:solidFill>
                <a:latin typeface="Monospace"/>
                <a:ea typeface="Monospace"/>
              </a:rPr>
              <a:t> </a:t>
            </a:r>
            <a:r>
              <a:rPr b="0" lang="en-US" sz="1000" spc="-1" strike="noStrike">
                <a:solidFill>
                  <a:srgbClr val="000080"/>
                </a:solidFill>
                <a:latin typeface="Monospace"/>
                <a:ea typeface="Monospace"/>
              </a:rPr>
              <a:t>columnWidth=</a:t>
            </a:r>
            <a:r>
              <a:rPr b="0" lang="en-US" sz="1000" spc="-1" strike="noStrike">
                <a:solidFill>
                  <a:srgbClr val="008000"/>
                </a:solidFill>
                <a:latin typeface="Monospace"/>
                <a:ea typeface="Monospace"/>
              </a:rPr>
              <a:t>"555"</a:t>
            </a:r>
            <a:r>
              <a:rPr b="0" lang="en-US" sz="1000" spc="-1" strike="noStrike">
                <a:solidFill>
                  <a:srgbClr val="000000"/>
                </a:solidFill>
                <a:latin typeface="Monospace"/>
                <a:ea typeface="Monospace"/>
              </a:rPr>
              <a:t> </a:t>
            </a:r>
            <a:r>
              <a:rPr b="0" lang="en-US" sz="1000" spc="-1" strike="noStrike">
                <a:solidFill>
                  <a:srgbClr val="000080"/>
                </a:solidFill>
                <a:latin typeface="Monospace"/>
                <a:ea typeface="Monospace"/>
              </a:rPr>
              <a:t>leftMargin=</a:t>
            </a:r>
            <a:r>
              <a:rPr b="0" lang="en-US" sz="1000" spc="-1" strike="noStrike">
                <a:solidFill>
                  <a:srgbClr val="008000"/>
                </a:solidFill>
                <a:latin typeface="Monospace"/>
                <a:ea typeface="Monospace"/>
              </a:rPr>
              <a:t>"20"</a:t>
            </a:r>
            <a:r>
              <a:rPr b="0" lang="en-US" sz="1000" spc="-1" strike="noStrike">
                <a:solidFill>
                  <a:srgbClr val="000000"/>
                </a:solidFill>
                <a:latin typeface="Monospace"/>
                <a:ea typeface="Monospace"/>
              </a:rPr>
              <a:t> </a:t>
            </a:r>
            <a:r>
              <a:rPr b="0" lang="en-US" sz="1000" spc="-1" strike="noStrike">
                <a:solidFill>
                  <a:srgbClr val="000080"/>
                </a:solidFill>
                <a:latin typeface="Monospace"/>
                <a:ea typeface="Monospace"/>
              </a:rPr>
              <a:t>rightMargin=</a:t>
            </a:r>
            <a:r>
              <a:rPr b="0" lang="en-US" sz="1000" spc="-1" strike="noStrike">
                <a:solidFill>
                  <a:srgbClr val="008000"/>
                </a:solidFill>
                <a:latin typeface="Monospace"/>
                <a:ea typeface="Monospace"/>
              </a:rPr>
              <a:t>"20"</a:t>
            </a:r>
            <a:r>
              <a:rPr b="0" lang="en-US" sz="1000" spc="-1" strike="noStrike">
                <a:solidFill>
                  <a:srgbClr val="000000"/>
                </a:solidFill>
                <a:latin typeface="Monospace"/>
                <a:ea typeface="Monospace"/>
              </a:rPr>
              <a:t> </a:t>
            </a:r>
            <a:r>
              <a:rPr b="0" lang="en-US" sz="1000" spc="-1" strike="noStrike">
                <a:solidFill>
                  <a:srgbClr val="000080"/>
                </a:solidFill>
                <a:latin typeface="Monospace"/>
                <a:ea typeface="Monospace"/>
              </a:rPr>
              <a:t>topMargin=</a:t>
            </a:r>
            <a:r>
              <a:rPr b="0" lang="en-US" sz="1000" spc="-1" strike="noStrike">
                <a:solidFill>
                  <a:srgbClr val="008000"/>
                </a:solidFill>
                <a:latin typeface="Monospace"/>
                <a:ea typeface="Monospace"/>
              </a:rPr>
              <a:t>"20"</a:t>
            </a:r>
            <a:r>
              <a:rPr b="0" lang="en-US" sz="1000" spc="-1" strike="noStrike">
                <a:solidFill>
                  <a:srgbClr val="000000"/>
                </a:solidFill>
                <a:latin typeface="Monospace"/>
                <a:ea typeface="Monospace"/>
              </a:rPr>
              <a:t> </a:t>
            </a:r>
            <a:r>
              <a:rPr b="0" lang="en-US" sz="1000" spc="-1" strike="noStrike">
                <a:solidFill>
                  <a:srgbClr val="000080"/>
                </a:solidFill>
                <a:latin typeface="Monospace"/>
                <a:ea typeface="Monospace"/>
              </a:rPr>
              <a:t>bottomMargin=</a:t>
            </a:r>
            <a:r>
              <a:rPr b="0" lang="en-US" sz="1000" spc="-1" strike="noStrike">
                <a:solidFill>
                  <a:srgbClr val="008000"/>
                </a:solidFill>
                <a:latin typeface="Monospace"/>
                <a:ea typeface="Monospace"/>
              </a:rPr>
              <a:t>"20"</a:t>
            </a:r>
            <a:r>
              <a:rPr b="0" lang="en-US" sz="1000" spc="-1" strike="noStrike">
                <a:solidFill>
                  <a:srgbClr val="000000"/>
                </a:solidFill>
                <a:latin typeface="Monospace"/>
                <a:ea typeface="Monospace"/>
              </a:rPr>
              <a:t> </a:t>
            </a:r>
            <a:r>
              <a:rPr b="0" lang="en-US" sz="1000" spc="-1" strike="noStrike">
                <a:solidFill>
                  <a:srgbClr val="000080"/>
                </a:solidFill>
                <a:latin typeface="Monospace"/>
                <a:ea typeface="Monospace"/>
              </a:rPr>
              <a:t>uuid=</a:t>
            </a:r>
            <a:r>
              <a:rPr b="0" lang="en-US" sz="1000" spc="-1" strike="noStrike">
                <a:solidFill>
                  <a:srgbClr val="008000"/>
                </a:solidFill>
                <a:latin typeface="Monospace"/>
                <a:ea typeface="Monospace"/>
              </a:rPr>
              <a:t>"ba6d0b4e-9d60-4d48-8f5d-4d88ab017bdd"</a:t>
            </a:r>
            <a:r>
              <a:rPr b="0" lang="en-US" sz="1000" spc="-1" strike="noStrike">
                <a:solidFill>
                  <a:srgbClr val="000080"/>
                </a:solidFill>
                <a:latin typeface="Monospace"/>
                <a:ea typeface="Monospace"/>
              </a:rPr>
              <a:t>&gt;</a:t>
            </a:r>
            <a:endParaRPr b="0" lang="fr-FR" sz="1000" spc="-1" strike="noStrike">
              <a:solidFill>
                <a:srgbClr val="000000"/>
              </a:solidFill>
              <a:latin typeface="Arial"/>
            </a:endParaRPr>
          </a:p>
          <a:p>
            <a:pPr indent="0">
              <a:lnSpc>
                <a:spcPct val="100000"/>
              </a:lnSpc>
              <a:spcBef>
                <a:spcPts val="1417"/>
              </a:spcBef>
              <a:buNone/>
              <a:tabLst>
                <a:tab algn="l" pos="0"/>
              </a:tabLst>
            </a:pPr>
            <a:r>
              <a:rPr b="0" lang="en-US" sz="1000" spc="-1" strike="noStrike">
                <a:solidFill>
                  <a:srgbClr val="000080"/>
                </a:solidFill>
                <a:latin typeface="Monospace"/>
                <a:ea typeface="Monospace"/>
              </a:rPr>
              <a:t>&lt;query</a:t>
            </a:r>
            <a:r>
              <a:rPr b="0" lang="en-US" sz="1000" spc="-1" strike="noStrike">
                <a:solidFill>
                  <a:srgbClr val="000000"/>
                </a:solidFill>
                <a:latin typeface="Monospace"/>
                <a:ea typeface="Monospace"/>
              </a:rPr>
              <a:t> </a:t>
            </a:r>
            <a:r>
              <a:rPr b="0" lang="en-US" sz="1000" spc="-1" strike="noStrike">
                <a:solidFill>
                  <a:srgbClr val="000080"/>
                </a:solidFill>
                <a:latin typeface="Monospace"/>
                <a:ea typeface="Monospace"/>
              </a:rPr>
              <a:t>language=</a:t>
            </a:r>
            <a:r>
              <a:rPr b="0" lang="en-US" sz="1000" spc="-1" strike="noStrike">
                <a:solidFill>
                  <a:srgbClr val="008000"/>
                </a:solidFill>
                <a:latin typeface="Monospace"/>
                <a:ea typeface="Monospace"/>
              </a:rPr>
              <a:t>"sql"</a:t>
            </a:r>
            <a:r>
              <a:rPr b="0" lang="en-US" sz="1000" spc="-1" strike="noStrike">
                <a:solidFill>
                  <a:srgbClr val="000080"/>
                </a:solidFill>
                <a:latin typeface="Monospace"/>
                <a:ea typeface="Monospace"/>
              </a:rPr>
              <a:t>&gt;</a:t>
            </a:r>
            <a:r>
              <a:rPr b="0" lang="en-US" sz="1000" spc="-1" strike="noStrike">
                <a:solidFill>
                  <a:srgbClr val="008080"/>
                </a:solidFill>
                <a:latin typeface="Monospace"/>
                <a:ea typeface="Monospace"/>
              </a:rPr>
              <a:t>&lt;![CDATA[</a:t>
            </a:r>
            <a:r>
              <a:rPr b="0" lang="en-US" sz="1000" spc="-1" strike="noStrike">
                <a:solidFill>
                  <a:srgbClr val="ff0000"/>
                </a:solidFill>
                <a:latin typeface="Monospace"/>
                <a:ea typeface="Monospace"/>
              </a:rPr>
              <a:t>]]&gt;</a:t>
            </a:r>
            <a:r>
              <a:rPr b="0" lang="en-US" sz="1000" spc="-1" strike="noStrike">
                <a:solidFill>
                  <a:srgbClr val="000080"/>
                </a:solidFill>
                <a:latin typeface="Monospace"/>
                <a:ea typeface="Monospace"/>
              </a:rPr>
              <a:t>&lt;/query&gt;</a:t>
            </a:r>
            <a:endParaRPr b="0" lang="fr-FR" sz="1000" spc="-1" strike="noStrike">
              <a:solidFill>
                <a:srgbClr val="000000"/>
              </a:solidFill>
              <a:latin typeface="Arial"/>
            </a:endParaRPr>
          </a:p>
          <a:p>
            <a:pPr indent="0">
              <a:lnSpc>
                <a:spcPct val="100000"/>
              </a:lnSpc>
              <a:spcBef>
                <a:spcPts val="1417"/>
              </a:spcBef>
              <a:buNone/>
              <a:tabLst>
                <a:tab algn="l" pos="0"/>
              </a:tabLst>
            </a:pPr>
            <a:r>
              <a:rPr b="0" lang="en-US" sz="1000" spc="-1" strike="noStrike">
                <a:solidFill>
                  <a:srgbClr val="000080"/>
                </a:solidFill>
                <a:latin typeface="Monospace"/>
                <a:ea typeface="Monospace"/>
              </a:rPr>
              <a:t>&lt;background</a:t>
            </a:r>
            <a:r>
              <a:rPr b="0" lang="en-US" sz="1000" spc="-1" strike="noStrike">
                <a:solidFill>
                  <a:srgbClr val="000000"/>
                </a:solidFill>
                <a:latin typeface="Monospace"/>
                <a:ea typeface="Monospace"/>
              </a:rPr>
              <a:t> </a:t>
            </a:r>
            <a:r>
              <a:rPr b="0" lang="en-US" sz="1000" spc="-1" strike="noStrike">
                <a:solidFill>
                  <a:srgbClr val="000080"/>
                </a:solidFill>
                <a:latin typeface="Monospace"/>
                <a:ea typeface="Monospace"/>
              </a:rPr>
              <a:t>splitType=</a:t>
            </a:r>
            <a:r>
              <a:rPr b="0" lang="en-US" sz="1000" spc="-1" strike="noStrike">
                <a:solidFill>
                  <a:srgbClr val="008000"/>
                </a:solidFill>
                <a:latin typeface="Monospace"/>
                <a:ea typeface="Monospace"/>
              </a:rPr>
              <a:t>"Stretch"</a:t>
            </a:r>
            <a:r>
              <a:rPr b="0" lang="en-US" sz="1000" spc="-1" strike="noStrike">
                <a:solidFill>
                  <a:srgbClr val="000080"/>
                </a:solidFill>
                <a:latin typeface="Monospace"/>
                <a:ea typeface="Monospace"/>
              </a:rPr>
              <a:t>/&gt;</a:t>
            </a:r>
            <a:endParaRPr b="0" lang="fr-FR" sz="1000" spc="-1" strike="noStrike">
              <a:solidFill>
                <a:srgbClr val="000000"/>
              </a:solidFill>
              <a:latin typeface="Arial"/>
            </a:endParaRPr>
          </a:p>
          <a:p>
            <a:pPr indent="0">
              <a:lnSpc>
                <a:spcPct val="100000"/>
              </a:lnSpc>
              <a:spcBef>
                <a:spcPts val="1417"/>
              </a:spcBef>
              <a:buNone/>
              <a:tabLst>
                <a:tab algn="l" pos="0"/>
              </a:tabLst>
            </a:pPr>
            <a:r>
              <a:rPr b="0" lang="en-US" sz="1000" spc="-1" strike="noStrike">
                <a:solidFill>
                  <a:srgbClr val="000080"/>
                </a:solidFill>
                <a:latin typeface="Monospace"/>
                <a:ea typeface="Monospace"/>
              </a:rPr>
              <a:t>&lt;title</a:t>
            </a:r>
            <a:r>
              <a:rPr b="0" lang="en-US" sz="1000" spc="-1" strike="noStrike">
                <a:solidFill>
                  <a:srgbClr val="000000"/>
                </a:solidFill>
                <a:latin typeface="Monospace"/>
                <a:ea typeface="Monospace"/>
              </a:rPr>
              <a:t> </a:t>
            </a:r>
            <a:r>
              <a:rPr b="0" lang="en-US" sz="1000" spc="-1" strike="noStrike">
                <a:solidFill>
                  <a:srgbClr val="000080"/>
                </a:solidFill>
                <a:latin typeface="Monospace"/>
                <a:ea typeface="Monospace"/>
              </a:rPr>
              <a:t>height=</a:t>
            </a:r>
            <a:r>
              <a:rPr b="0" lang="en-US" sz="1000" spc="-1" strike="noStrike">
                <a:solidFill>
                  <a:srgbClr val="008000"/>
                </a:solidFill>
                <a:latin typeface="Monospace"/>
                <a:ea typeface="Monospace"/>
              </a:rPr>
              <a:t>"79"</a:t>
            </a:r>
            <a:r>
              <a:rPr b="0" lang="en-US" sz="1000" spc="-1" strike="noStrike">
                <a:solidFill>
                  <a:srgbClr val="000000"/>
                </a:solidFill>
                <a:latin typeface="Monospace"/>
                <a:ea typeface="Monospace"/>
              </a:rPr>
              <a:t> </a:t>
            </a:r>
            <a:r>
              <a:rPr b="0" lang="en-US" sz="1000" spc="-1" strike="noStrike">
                <a:solidFill>
                  <a:srgbClr val="000080"/>
                </a:solidFill>
                <a:latin typeface="Monospace"/>
                <a:ea typeface="Monospace"/>
              </a:rPr>
              <a:t>splitType=</a:t>
            </a:r>
            <a:r>
              <a:rPr b="0" lang="en-US" sz="1000" spc="-1" strike="noStrike">
                <a:solidFill>
                  <a:srgbClr val="008000"/>
                </a:solidFill>
                <a:latin typeface="Monospace"/>
                <a:ea typeface="Monospace"/>
              </a:rPr>
              <a:t>"Stretch"</a:t>
            </a:r>
            <a:r>
              <a:rPr b="0" lang="en-US" sz="1000" spc="-1" strike="noStrike">
                <a:solidFill>
                  <a:srgbClr val="000080"/>
                </a:solidFill>
                <a:latin typeface="Monospace"/>
                <a:ea typeface="Monospace"/>
              </a:rPr>
              <a:t>/&gt;</a:t>
            </a:r>
            <a:endParaRPr b="0" lang="fr-FR" sz="1000" spc="-1" strike="noStrike">
              <a:solidFill>
                <a:srgbClr val="000000"/>
              </a:solidFill>
              <a:latin typeface="Arial"/>
            </a:endParaRPr>
          </a:p>
          <a:p>
            <a:pPr indent="0">
              <a:lnSpc>
                <a:spcPct val="100000"/>
              </a:lnSpc>
              <a:spcBef>
                <a:spcPts val="1417"/>
              </a:spcBef>
              <a:buNone/>
              <a:tabLst>
                <a:tab algn="l" pos="0"/>
              </a:tabLst>
            </a:pPr>
            <a:r>
              <a:rPr b="0" lang="en-US" sz="1000" spc="-1" strike="noStrike">
                <a:solidFill>
                  <a:srgbClr val="000080"/>
                </a:solidFill>
                <a:latin typeface="Monospace"/>
                <a:ea typeface="Monospace"/>
              </a:rPr>
              <a:t>&lt;pageHeader</a:t>
            </a:r>
            <a:r>
              <a:rPr b="0" lang="en-US" sz="1000" spc="-1" strike="noStrike">
                <a:solidFill>
                  <a:srgbClr val="000000"/>
                </a:solidFill>
                <a:latin typeface="Monospace"/>
                <a:ea typeface="Monospace"/>
              </a:rPr>
              <a:t> </a:t>
            </a:r>
            <a:r>
              <a:rPr b="0" lang="en-US" sz="1000" spc="-1" strike="noStrike">
                <a:solidFill>
                  <a:srgbClr val="000080"/>
                </a:solidFill>
                <a:latin typeface="Monospace"/>
                <a:ea typeface="Monospace"/>
              </a:rPr>
              <a:t>height=</a:t>
            </a:r>
            <a:r>
              <a:rPr b="0" lang="en-US" sz="1000" spc="-1" strike="noStrike">
                <a:solidFill>
                  <a:srgbClr val="008000"/>
                </a:solidFill>
                <a:latin typeface="Monospace"/>
                <a:ea typeface="Monospace"/>
              </a:rPr>
              <a:t>"35"</a:t>
            </a:r>
            <a:r>
              <a:rPr b="0" lang="en-US" sz="1000" spc="-1" strike="noStrike">
                <a:solidFill>
                  <a:srgbClr val="000000"/>
                </a:solidFill>
                <a:latin typeface="Monospace"/>
                <a:ea typeface="Monospace"/>
              </a:rPr>
              <a:t> </a:t>
            </a:r>
            <a:r>
              <a:rPr b="0" lang="en-US" sz="1000" spc="-1" strike="noStrike">
                <a:solidFill>
                  <a:srgbClr val="000080"/>
                </a:solidFill>
                <a:latin typeface="Monospace"/>
                <a:ea typeface="Monospace"/>
              </a:rPr>
              <a:t>splitType=</a:t>
            </a:r>
            <a:r>
              <a:rPr b="0" lang="en-US" sz="1000" spc="-1" strike="noStrike">
                <a:solidFill>
                  <a:srgbClr val="008000"/>
                </a:solidFill>
                <a:latin typeface="Monospace"/>
                <a:ea typeface="Monospace"/>
              </a:rPr>
              <a:t>"Stretch"</a:t>
            </a:r>
            <a:r>
              <a:rPr b="0" lang="en-US" sz="1000" spc="-1" strike="noStrike">
                <a:solidFill>
                  <a:srgbClr val="000080"/>
                </a:solidFill>
                <a:latin typeface="Monospace"/>
                <a:ea typeface="Monospace"/>
              </a:rPr>
              <a:t>/&gt;</a:t>
            </a:r>
            <a:endParaRPr b="0" lang="fr-FR" sz="1000" spc="-1" strike="noStrike">
              <a:solidFill>
                <a:srgbClr val="000000"/>
              </a:solidFill>
              <a:latin typeface="Arial"/>
            </a:endParaRPr>
          </a:p>
          <a:p>
            <a:pPr indent="0">
              <a:lnSpc>
                <a:spcPct val="100000"/>
              </a:lnSpc>
              <a:spcBef>
                <a:spcPts val="1417"/>
              </a:spcBef>
              <a:buNone/>
              <a:tabLst>
                <a:tab algn="l" pos="0"/>
              </a:tabLst>
            </a:pPr>
            <a:r>
              <a:rPr b="0" lang="en-US" sz="1000" spc="-1" strike="noStrike">
                <a:solidFill>
                  <a:srgbClr val="000080"/>
                </a:solidFill>
                <a:latin typeface="Monospace"/>
                <a:ea typeface="Monospace"/>
              </a:rPr>
              <a:t>&lt;columnHeader</a:t>
            </a:r>
            <a:r>
              <a:rPr b="0" lang="en-US" sz="1000" spc="-1" strike="noStrike">
                <a:solidFill>
                  <a:srgbClr val="000000"/>
                </a:solidFill>
                <a:latin typeface="Monospace"/>
                <a:ea typeface="Monospace"/>
              </a:rPr>
              <a:t> </a:t>
            </a:r>
            <a:r>
              <a:rPr b="0" lang="en-US" sz="1000" spc="-1" strike="noStrike">
                <a:solidFill>
                  <a:srgbClr val="000080"/>
                </a:solidFill>
                <a:latin typeface="Monospace"/>
                <a:ea typeface="Monospace"/>
              </a:rPr>
              <a:t>height=</a:t>
            </a:r>
            <a:r>
              <a:rPr b="0" lang="en-US" sz="1000" spc="-1" strike="noStrike">
                <a:solidFill>
                  <a:srgbClr val="008000"/>
                </a:solidFill>
                <a:latin typeface="Monospace"/>
                <a:ea typeface="Monospace"/>
              </a:rPr>
              <a:t>"61"</a:t>
            </a:r>
            <a:r>
              <a:rPr b="0" lang="en-US" sz="1000" spc="-1" strike="noStrike">
                <a:solidFill>
                  <a:srgbClr val="000000"/>
                </a:solidFill>
                <a:latin typeface="Monospace"/>
                <a:ea typeface="Monospace"/>
              </a:rPr>
              <a:t> </a:t>
            </a:r>
            <a:r>
              <a:rPr b="0" lang="en-US" sz="1000" spc="-1" strike="noStrike">
                <a:solidFill>
                  <a:srgbClr val="000080"/>
                </a:solidFill>
                <a:latin typeface="Monospace"/>
                <a:ea typeface="Monospace"/>
              </a:rPr>
              <a:t>splitType=</a:t>
            </a:r>
            <a:r>
              <a:rPr b="0" lang="en-US" sz="1000" spc="-1" strike="noStrike">
                <a:solidFill>
                  <a:srgbClr val="008000"/>
                </a:solidFill>
                <a:latin typeface="Monospace"/>
                <a:ea typeface="Monospace"/>
              </a:rPr>
              <a:t>"Stretch"</a:t>
            </a:r>
            <a:r>
              <a:rPr b="0" lang="en-US" sz="1000" spc="-1" strike="noStrike">
                <a:solidFill>
                  <a:srgbClr val="000080"/>
                </a:solidFill>
                <a:latin typeface="Monospace"/>
                <a:ea typeface="Monospace"/>
              </a:rPr>
              <a:t>/&gt;</a:t>
            </a:r>
            <a:endParaRPr b="0" lang="fr-FR" sz="1000" spc="-1" strike="noStrike">
              <a:solidFill>
                <a:srgbClr val="000000"/>
              </a:solidFill>
              <a:latin typeface="Arial"/>
            </a:endParaRPr>
          </a:p>
          <a:p>
            <a:pPr indent="0">
              <a:lnSpc>
                <a:spcPct val="100000"/>
              </a:lnSpc>
              <a:spcBef>
                <a:spcPts val="1417"/>
              </a:spcBef>
              <a:buNone/>
              <a:tabLst>
                <a:tab algn="l" pos="0"/>
              </a:tabLst>
            </a:pPr>
            <a:r>
              <a:rPr b="0" lang="en-US" sz="1000" spc="-1" strike="noStrike">
                <a:solidFill>
                  <a:srgbClr val="000080"/>
                </a:solidFill>
                <a:latin typeface="Monospace"/>
                <a:ea typeface="Monospace"/>
              </a:rPr>
              <a:t>&lt;detail&gt;</a:t>
            </a:r>
            <a:endParaRPr b="0" lang="fr-FR" sz="1000" spc="-1" strike="noStrike">
              <a:solidFill>
                <a:srgbClr val="000000"/>
              </a:solidFill>
              <a:latin typeface="Arial"/>
            </a:endParaRPr>
          </a:p>
          <a:p>
            <a:pPr indent="0">
              <a:lnSpc>
                <a:spcPct val="100000"/>
              </a:lnSpc>
              <a:spcBef>
                <a:spcPts val="1417"/>
              </a:spcBef>
              <a:buNone/>
              <a:tabLst>
                <a:tab algn="l" pos="0"/>
              </a:tabLst>
            </a:pPr>
            <a:r>
              <a:rPr b="0" lang="en-US" sz="1000" spc="-1" strike="noStrike">
                <a:solidFill>
                  <a:srgbClr val="000080"/>
                </a:solidFill>
                <a:latin typeface="Monospace"/>
                <a:ea typeface="Monospace"/>
              </a:rPr>
              <a:t>&lt;band</a:t>
            </a:r>
            <a:r>
              <a:rPr b="0" lang="en-US" sz="1000" spc="-1" strike="noStrike">
                <a:solidFill>
                  <a:srgbClr val="000000"/>
                </a:solidFill>
                <a:latin typeface="Monospace"/>
                <a:ea typeface="Monospace"/>
              </a:rPr>
              <a:t> </a:t>
            </a:r>
            <a:r>
              <a:rPr b="0" lang="en-US" sz="1000" spc="-1" strike="noStrike">
                <a:solidFill>
                  <a:srgbClr val="000080"/>
                </a:solidFill>
                <a:latin typeface="Monospace"/>
                <a:ea typeface="Monospace"/>
              </a:rPr>
              <a:t>height=</a:t>
            </a:r>
            <a:r>
              <a:rPr b="0" lang="en-US" sz="1000" spc="-1" strike="noStrike">
                <a:solidFill>
                  <a:srgbClr val="008000"/>
                </a:solidFill>
                <a:latin typeface="Monospace"/>
                <a:ea typeface="Monospace"/>
              </a:rPr>
              <a:t>"125"</a:t>
            </a:r>
            <a:r>
              <a:rPr b="0" lang="en-US" sz="1000" spc="-1" strike="noStrike">
                <a:solidFill>
                  <a:srgbClr val="000000"/>
                </a:solidFill>
                <a:latin typeface="Monospace"/>
                <a:ea typeface="Monospace"/>
              </a:rPr>
              <a:t> </a:t>
            </a:r>
            <a:r>
              <a:rPr b="0" lang="en-US" sz="1000" spc="-1" strike="noStrike">
                <a:solidFill>
                  <a:srgbClr val="000080"/>
                </a:solidFill>
                <a:latin typeface="Monospace"/>
                <a:ea typeface="Monospace"/>
              </a:rPr>
              <a:t>splitType=</a:t>
            </a:r>
            <a:r>
              <a:rPr b="0" lang="en-US" sz="1000" spc="-1" strike="noStrike">
                <a:solidFill>
                  <a:srgbClr val="008000"/>
                </a:solidFill>
                <a:latin typeface="Monospace"/>
                <a:ea typeface="Monospace"/>
              </a:rPr>
              <a:t>"Stretch"</a:t>
            </a:r>
            <a:r>
              <a:rPr b="0" lang="en-US" sz="1000" spc="-1" strike="noStrike">
                <a:solidFill>
                  <a:srgbClr val="000080"/>
                </a:solidFill>
                <a:latin typeface="Monospace"/>
                <a:ea typeface="Monospace"/>
              </a:rPr>
              <a:t>/&gt;</a:t>
            </a:r>
            <a:endParaRPr b="0" lang="fr-FR" sz="1000" spc="-1" strike="noStrike">
              <a:solidFill>
                <a:srgbClr val="000000"/>
              </a:solidFill>
              <a:latin typeface="Arial"/>
            </a:endParaRPr>
          </a:p>
          <a:p>
            <a:pPr indent="0">
              <a:lnSpc>
                <a:spcPct val="100000"/>
              </a:lnSpc>
              <a:spcBef>
                <a:spcPts val="1417"/>
              </a:spcBef>
              <a:buNone/>
              <a:tabLst>
                <a:tab algn="l" pos="0"/>
              </a:tabLst>
            </a:pPr>
            <a:r>
              <a:rPr b="0" lang="en-US" sz="1000" spc="-1" strike="noStrike">
                <a:solidFill>
                  <a:srgbClr val="000080"/>
                </a:solidFill>
                <a:latin typeface="Monospace"/>
                <a:ea typeface="Monospace"/>
              </a:rPr>
              <a:t>&lt;/detail&gt;</a:t>
            </a:r>
            <a:endParaRPr b="0" lang="fr-FR" sz="1000" spc="-1" strike="noStrike">
              <a:solidFill>
                <a:srgbClr val="000000"/>
              </a:solidFill>
              <a:latin typeface="Arial"/>
            </a:endParaRPr>
          </a:p>
          <a:p>
            <a:pPr indent="0">
              <a:lnSpc>
                <a:spcPct val="100000"/>
              </a:lnSpc>
              <a:spcBef>
                <a:spcPts val="1417"/>
              </a:spcBef>
              <a:buNone/>
              <a:tabLst>
                <a:tab algn="l" pos="0"/>
              </a:tabLst>
            </a:pPr>
            <a:r>
              <a:rPr b="0" lang="en-US" sz="1000" spc="-1" strike="noStrike">
                <a:solidFill>
                  <a:srgbClr val="000080"/>
                </a:solidFill>
                <a:latin typeface="Monospace"/>
                <a:ea typeface="Monospace"/>
              </a:rPr>
              <a:t>&lt;columnFooter</a:t>
            </a:r>
            <a:r>
              <a:rPr b="0" lang="en-US" sz="1000" spc="-1" strike="noStrike">
                <a:solidFill>
                  <a:srgbClr val="000000"/>
                </a:solidFill>
                <a:latin typeface="Monospace"/>
                <a:ea typeface="Monospace"/>
              </a:rPr>
              <a:t> </a:t>
            </a:r>
            <a:r>
              <a:rPr b="0" lang="en-US" sz="1000" spc="-1" strike="noStrike">
                <a:solidFill>
                  <a:srgbClr val="000080"/>
                </a:solidFill>
                <a:latin typeface="Monospace"/>
                <a:ea typeface="Monospace"/>
              </a:rPr>
              <a:t>height=</a:t>
            </a:r>
            <a:r>
              <a:rPr b="0" lang="en-US" sz="1000" spc="-1" strike="noStrike">
                <a:solidFill>
                  <a:srgbClr val="008000"/>
                </a:solidFill>
                <a:latin typeface="Monospace"/>
                <a:ea typeface="Monospace"/>
              </a:rPr>
              <a:t>"45"</a:t>
            </a:r>
            <a:r>
              <a:rPr b="0" lang="en-US" sz="1000" spc="-1" strike="noStrike">
                <a:solidFill>
                  <a:srgbClr val="000000"/>
                </a:solidFill>
                <a:latin typeface="Monospace"/>
                <a:ea typeface="Monospace"/>
              </a:rPr>
              <a:t> </a:t>
            </a:r>
            <a:r>
              <a:rPr b="0" lang="en-US" sz="1000" spc="-1" strike="noStrike">
                <a:solidFill>
                  <a:srgbClr val="000080"/>
                </a:solidFill>
                <a:latin typeface="Monospace"/>
                <a:ea typeface="Monospace"/>
              </a:rPr>
              <a:t>splitType=</a:t>
            </a:r>
            <a:r>
              <a:rPr b="0" lang="en-US" sz="1000" spc="-1" strike="noStrike">
                <a:solidFill>
                  <a:srgbClr val="008000"/>
                </a:solidFill>
                <a:latin typeface="Monospace"/>
                <a:ea typeface="Monospace"/>
              </a:rPr>
              <a:t>"Stretch"</a:t>
            </a:r>
            <a:r>
              <a:rPr b="0" lang="en-US" sz="1000" spc="-1" strike="noStrike">
                <a:solidFill>
                  <a:srgbClr val="000080"/>
                </a:solidFill>
                <a:latin typeface="Monospace"/>
                <a:ea typeface="Monospace"/>
              </a:rPr>
              <a:t>/&gt;</a:t>
            </a:r>
            <a:endParaRPr b="0" lang="fr-FR" sz="1000" spc="-1" strike="noStrike">
              <a:solidFill>
                <a:srgbClr val="000000"/>
              </a:solidFill>
              <a:latin typeface="Arial"/>
            </a:endParaRPr>
          </a:p>
          <a:p>
            <a:pPr indent="0">
              <a:lnSpc>
                <a:spcPct val="100000"/>
              </a:lnSpc>
              <a:spcBef>
                <a:spcPts val="1417"/>
              </a:spcBef>
              <a:buNone/>
              <a:tabLst>
                <a:tab algn="l" pos="0"/>
              </a:tabLst>
            </a:pPr>
            <a:r>
              <a:rPr b="0" lang="en-US" sz="1000" spc="-1" strike="noStrike">
                <a:solidFill>
                  <a:srgbClr val="000080"/>
                </a:solidFill>
                <a:latin typeface="Monospace"/>
                <a:ea typeface="Monospace"/>
              </a:rPr>
              <a:t>&lt;pageFooter</a:t>
            </a:r>
            <a:r>
              <a:rPr b="0" lang="en-US" sz="1000" spc="-1" strike="noStrike">
                <a:solidFill>
                  <a:srgbClr val="000000"/>
                </a:solidFill>
                <a:latin typeface="Monospace"/>
                <a:ea typeface="Monospace"/>
              </a:rPr>
              <a:t> </a:t>
            </a:r>
            <a:r>
              <a:rPr b="0" lang="en-US" sz="1000" spc="-1" strike="noStrike">
                <a:solidFill>
                  <a:srgbClr val="000080"/>
                </a:solidFill>
                <a:latin typeface="Monospace"/>
                <a:ea typeface="Monospace"/>
              </a:rPr>
              <a:t>height=</a:t>
            </a:r>
            <a:r>
              <a:rPr b="0" lang="en-US" sz="1000" spc="-1" strike="noStrike">
                <a:solidFill>
                  <a:srgbClr val="008000"/>
                </a:solidFill>
                <a:latin typeface="Monospace"/>
                <a:ea typeface="Monospace"/>
              </a:rPr>
              <a:t>"54"</a:t>
            </a:r>
            <a:r>
              <a:rPr b="0" lang="en-US" sz="1000" spc="-1" strike="noStrike">
                <a:solidFill>
                  <a:srgbClr val="000000"/>
                </a:solidFill>
                <a:latin typeface="Monospace"/>
                <a:ea typeface="Monospace"/>
              </a:rPr>
              <a:t> </a:t>
            </a:r>
            <a:r>
              <a:rPr b="0" lang="en-US" sz="1000" spc="-1" strike="noStrike">
                <a:solidFill>
                  <a:srgbClr val="000080"/>
                </a:solidFill>
                <a:latin typeface="Monospace"/>
                <a:ea typeface="Monospace"/>
              </a:rPr>
              <a:t>splitType=</a:t>
            </a:r>
            <a:r>
              <a:rPr b="0" lang="en-US" sz="1000" spc="-1" strike="noStrike">
                <a:solidFill>
                  <a:srgbClr val="008000"/>
                </a:solidFill>
                <a:latin typeface="Monospace"/>
                <a:ea typeface="Monospace"/>
              </a:rPr>
              <a:t>"Stretch"</a:t>
            </a:r>
            <a:r>
              <a:rPr b="0" lang="en-US" sz="1000" spc="-1" strike="noStrike">
                <a:solidFill>
                  <a:srgbClr val="000080"/>
                </a:solidFill>
                <a:latin typeface="Monospace"/>
                <a:ea typeface="Monospace"/>
              </a:rPr>
              <a:t>/&gt;</a:t>
            </a:r>
            <a:endParaRPr b="0" lang="fr-FR" sz="1000" spc="-1" strike="noStrike">
              <a:solidFill>
                <a:srgbClr val="000000"/>
              </a:solidFill>
              <a:latin typeface="Arial"/>
            </a:endParaRPr>
          </a:p>
          <a:p>
            <a:pPr indent="0">
              <a:lnSpc>
                <a:spcPct val="100000"/>
              </a:lnSpc>
              <a:spcBef>
                <a:spcPts val="1417"/>
              </a:spcBef>
              <a:buNone/>
              <a:tabLst>
                <a:tab algn="l" pos="0"/>
              </a:tabLst>
            </a:pPr>
            <a:r>
              <a:rPr b="0" lang="en-US" sz="1000" spc="-1" strike="noStrike">
                <a:solidFill>
                  <a:srgbClr val="000080"/>
                </a:solidFill>
                <a:latin typeface="Monospace"/>
                <a:ea typeface="Monospace"/>
              </a:rPr>
              <a:t>&lt;summary</a:t>
            </a:r>
            <a:r>
              <a:rPr b="0" lang="en-US" sz="1000" spc="-1" strike="noStrike">
                <a:solidFill>
                  <a:srgbClr val="000000"/>
                </a:solidFill>
                <a:latin typeface="Monospace"/>
                <a:ea typeface="Monospace"/>
              </a:rPr>
              <a:t> </a:t>
            </a:r>
            <a:r>
              <a:rPr b="0" lang="en-US" sz="1000" spc="-1" strike="noStrike">
                <a:solidFill>
                  <a:srgbClr val="000080"/>
                </a:solidFill>
                <a:latin typeface="Monospace"/>
                <a:ea typeface="Monospace"/>
              </a:rPr>
              <a:t>height=</a:t>
            </a:r>
            <a:r>
              <a:rPr b="0" lang="en-US" sz="1000" spc="-1" strike="noStrike">
                <a:solidFill>
                  <a:srgbClr val="008000"/>
                </a:solidFill>
                <a:latin typeface="Monospace"/>
                <a:ea typeface="Monospace"/>
              </a:rPr>
              <a:t>"42"</a:t>
            </a:r>
            <a:r>
              <a:rPr b="0" lang="en-US" sz="1000" spc="-1" strike="noStrike">
                <a:solidFill>
                  <a:srgbClr val="000000"/>
                </a:solidFill>
                <a:latin typeface="Monospace"/>
                <a:ea typeface="Monospace"/>
              </a:rPr>
              <a:t> </a:t>
            </a:r>
            <a:r>
              <a:rPr b="0" lang="en-US" sz="1000" spc="-1" strike="noStrike">
                <a:solidFill>
                  <a:srgbClr val="000080"/>
                </a:solidFill>
                <a:latin typeface="Monospace"/>
                <a:ea typeface="Monospace"/>
              </a:rPr>
              <a:t>splitType=</a:t>
            </a:r>
            <a:r>
              <a:rPr b="0" lang="en-US" sz="1000" spc="-1" strike="noStrike">
                <a:solidFill>
                  <a:srgbClr val="008000"/>
                </a:solidFill>
                <a:latin typeface="Monospace"/>
                <a:ea typeface="Monospace"/>
              </a:rPr>
              <a:t>"Stretch"</a:t>
            </a:r>
            <a:r>
              <a:rPr b="0" lang="en-US" sz="1000" spc="-1" strike="noStrike">
                <a:solidFill>
                  <a:srgbClr val="000080"/>
                </a:solidFill>
                <a:latin typeface="Monospace"/>
                <a:ea typeface="Monospace"/>
              </a:rPr>
              <a:t>/&gt;</a:t>
            </a:r>
            <a:endParaRPr b="0" lang="fr-FR" sz="1000" spc="-1" strike="noStrike">
              <a:solidFill>
                <a:srgbClr val="000000"/>
              </a:solidFill>
              <a:latin typeface="Arial"/>
            </a:endParaRPr>
          </a:p>
          <a:p>
            <a:pPr indent="0">
              <a:lnSpc>
                <a:spcPct val="100000"/>
              </a:lnSpc>
              <a:spcBef>
                <a:spcPts val="1417"/>
              </a:spcBef>
              <a:buNone/>
              <a:tabLst>
                <a:tab algn="l" pos="0"/>
              </a:tabLst>
            </a:pPr>
            <a:r>
              <a:rPr b="0" lang="en-US" sz="1000" spc="-1" strike="noStrike">
                <a:solidFill>
                  <a:srgbClr val="000080"/>
                </a:solidFill>
                <a:latin typeface="Monospace"/>
                <a:ea typeface="Monospace"/>
              </a:rPr>
              <a:t>&lt;/jasperReport&gt;</a:t>
            </a:r>
            <a:endParaRPr b="0" lang="fr-FR"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Structure du fichier</a:t>
            </a:r>
            <a:endParaRPr b="0" lang="fr-FR" sz="3600" spc="-1" strike="noStrike">
              <a:solidFill>
                <a:srgbClr val="000000"/>
              </a:solidFill>
              <a:latin typeface="Arial"/>
            </a:endParaRPr>
          </a:p>
        </p:txBody>
      </p:sp>
      <p:sp>
        <p:nvSpPr>
          <p:cNvPr id="90"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indent="0" defTabSz="457200">
              <a:lnSpc>
                <a:spcPct val="100000"/>
              </a:lnSpc>
              <a:spcBef>
                <a:spcPts val="641"/>
              </a:spcBef>
              <a:buNone/>
              <a:tabLst>
                <a:tab algn="l" pos="0"/>
              </a:tabLst>
            </a:pPr>
            <a:r>
              <a:rPr b="0" lang="fr-FR" sz="3200" spc="-1" strike="noStrike">
                <a:solidFill>
                  <a:schemeClr val="dk1"/>
                </a:solidFill>
                <a:latin typeface="Calibri"/>
              </a:rPr>
              <a:t>Sous la balise racine, on trouve séquentiellement :</a:t>
            </a:r>
            <a:endParaRPr b="0" lang="fr-FR" sz="32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tabLst>
                <a:tab algn="l" pos="0"/>
              </a:tabLst>
            </a:pPr>
            <a:r>
              <a:rPr b="0" lang="fr-FR" sz="2800" spc="-1" strike="noStrike">
                <a:solidFill>
                  <a:schemeClr val="dk1"/>
                </a:solidFill>
                <a:latin typeface="Calibri"/>
              </a:rPr>
              <a:t>Des éléments </a:t>
            </a:r>
            <a:r>
              <a:rPr b="1" lang="fr-FR" sz="2800" spc="-1" strike="noStrike">
                <a:solidFill>
                  <a:srgbClr val="0c32cf"/>
                </a:solidFill>
                <a:latin typeface="Calibri"/>
              </a:rPr>
              <a:t>déclaratifs</a:t>
            </a:r>
            <a:endParaRPr b="0" lang="fr-FR" sz="28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tabLst>
                <a:tab algn="l" pos="0"/>
              </a:tabLst>
            </a:pPr>
            <a:r>
              <a:rPr b="0" lang="fr-FR" sz="2800" spc="-1" strike="noStrike">
                <a:solidFill>
                  <a:schemeClr val="dk1"/>
                </a:solidFill>
                <a:latin typeface="Calibri"/>
              </a:rPr>
              <a:t>Des éléments </a:t>
            </a:r>
            <a:r>
              <a:rPr b="1" lang="fr-FR" sz="2800" spc="-1" strike="noStrike">
                <a:solidFill>
                  <a:srgbClr val="0c32cf"/>
                </a:solidFill>
                <a:latin typeface="Calibri"/>
              </a:rPr>
              <a:t>structurels</a:t>
            </a:r>
            <a:r>
              <a:rPr b="0" lang="fr-FR" sz="2800" spc="-1" strike="noStrike">
                <a:solidFill>
                  <a:schemeClr val="dk1"/>
                </a:solidFill>
                <a:latin typeface="Calibri"/>
              </a:rPr>
              <a:t> prédéfinis définissant des bandes horizontales d’une certaine hauteur</a:t>
            </a:r>
            <a:endParaRPr b="0" lang="fr-FR" sz="2800" spc="-1" strike="noStrike">
              <a:solidFill>
                <a:srgbClr val="000000"/>
              </a:solidFill>
              <a:latin typeface="Arial"/>
            </a:endParaRPr>
          </a:p>
          <a:p>
            <a:pPr lvl="2" marL="1296000" indent="-288000" defTabSz="457200">
              <a:lnSpc>
                <a:spcPct val="100000"/>
              </a:lnSpc>
              <a:spcBef>
                <a:spcPts val="850"/>
              </a:spcBef>
              <a:buClr>
                <a:srgbClr val="000000"/>
              </a:buClr>
              <a:buSzPct val="45000"/>
              <a:buFont typeface="Wingdings" charset="2"/>
              <a:buChar char=""/>
              <a:tabLst>
                <a:tab algn="l" pos="0"/>
              </a:tabLst>
            </a:pPr>
            <a:r>
              <a:rPr b="0" lang="fr-FR" sz="2800" spc="-1" strike="noStrike">
                <a:solidFill>
                  <a:schemeClr val="dk1"/>
                </a:solidFill>
                <a:latin typeface="Calibri"/>
              </a:rPr>
              <a:t>A l’intérieur des bandes, des </a:t>
            </a:r>
            <a:r>
              <a:rPr b="1" lang="fr-FR" sz="2800" spc="-1" strike="noStrike">
                <a:solidFill>
                  <a:srgbClr val="0c32cf"/>
                </a:solidFill>
                <a:latin typeface="Calibri"/>
              </a:rPr>
              <a:t>composants</a:t>
            </a:r>
            <a:r>
              <a:rPr b="0" lang="fr-FR" sz="2800" spc="-1" strike="noStrike">
                <a:solidFill>
                  <a:srgbClr val="0c32cf"/>
                </a:solidFill>
                <a:latin typeface="Calibri"/>
              </a:rPr>
              <a:t> </a:t>
            </a:r>
            <a:r>
              <a:rPr b="1" lang="fr-FR" sz="2800" spc="-1" strike="noStrike">
                <a:solidFill>
                  <a:srgbClr val="0c32cf"/>
                </a:solidFill>
                <a:latin typeface="Calibri"/>
              </a:rPr>
              <a:t>d’affichage</a:t>
            </a:r>
            <a:r>
              <a:rPr b="0" lang="fr-FR" sz="2800" spc="-1" strike="noStrike">
                <a:solidFill>
                  <a:schemeClr val="dk1"/>
                </a:solidFill>
                <a:latin typeface="Calibri"/>
              </a:rPr>
              <a:t> issus de la palette</a:t>
            </a:r>
            <a:endParaRPr b="0" lang="fr-F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Quelques éléments déclaratifs</a:t>
            </a:r>
            <a:endParaRPr b="0" lang="fr-FR" sz="3600" spc="-1" strike="noStrike">
              <a:solidFill>
                <a:srgbClr val="000000"/>
              </a:solidFill>
              <a:latin typeface="Arial"/>
            </a:endParaRPr>
          </a:p>
        </p:txBody>
      </p:sp>
      <p:sp>
        <p:nvSpPr>
          <p:cNvPr id="92"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300"/>
              </a:spcBef>
              <a:buClr>
                <a:srgbClr val="000000"/>
              </a:buClr>
              <a:buFont typeface="Arial"/>
              <a:buChar char="•"/>
            </a:pPr>
            <a:r>
              <a:rPr b="1" i="1" lang="en-US" sz="2100" spc="-1" strike="noStrike">
                <a:solidFill>
                  <a:srgbClr val="0c32cf"/>
                </a:solidFill>
                <a:latin typeface="Calibri"/>
              </a:rPr>
              <a:t>style*</a:t>
            </a:r>
            <a:r>
              <a:rPr b="1" i="1" lang="en-US" sz="2100" spc="-1" strike="noStrike">
                <a:solidFill>
                  <a:schemeClr val="dk1"/>
                </a:solidFill>
                <a:latin typeface="Calibri"/>
              </a:rPr>
              <a:t> : </a:t>
            </a:r>
            <a:r>
              <a:rPr b="0" lang="en-US" sz="2100" spc="-1" strike="noStrike">
                <a:solidFill>
                  <a:schemeClr val="dk1"/>
                </a:solidFill>
                <a:latin typeface="Calibri"/>
              </a:rPr>
              <a:t>N définitions de styles</a:t>
            </a:r>
            <a:endParaRPr b="0" lang="fr-FR" sz="2100" spc="-1" strike="noStrike">
              <a:solidFill>
                <a:srgbClr val="000000"/>
              </a:solidFill>
              <a:latin typeface="Arial"/>
            </a:endParaRPr>
          </a:p>
          <a:p>
            <a:pPr marL="343080" indent="-343080" defTabSz="457200">
              <a:lnSpc>
                <a:spcPct val="100000"/>
              </a:lnSpc>
              <a:spcBef>
                <a:spcPts val="300"/>
              </a:spcBef>
              <a:buClr>
                <a:srgbClr val="000000"/>
              </a:buClr>
              <a:buFont typeface="Arial"/>
              <a:buChar char="•"/>
            </a:pPr>
            <a:r>
              <a:rPr b="1" i="1" lang="en-US" sz="2100" spc="-1" strike="noStrike">
                <a:solidFill>
                  <a:srgbClr val="0c32cf"/>
                </a:solidFill>
                <a:latin typeface="Calibri"/>
              </a:rPr>
              <a:t>query?</a:t>
            </a:r>
            <a:r>
              <a:rPr b="0" lang="en-US" sz="2100" spc="-1" strike="noStrike">
                <a:solidFill>
                  <a:schemeClr val="dk1"/>
                </a:solidFill>
                <a:latin typeface="Calibri"/>
              </a:rPr>
              <a:t> : 1 seul requête principale (SQL ou autre)</a:t>
            </a:r>
            <a:endParaRPr b="0" lang="fr-FR" sz="2100" spc="-1" strike="noStrike">
              <a:solidFill>
                <a:srgbClr val="000000"/>
              </a:solidFill>
              <a:latin typeface="Arial"/>
            </a:endParaRPr>
          </a:p>
          <a:p>
            <a:pPr marL="343080" indent="-343080" defTabSz="457200">
              <a:lnSpc>
                <a:spcPct val="100000"/>
              </a:lnSpc>
              <a:spcBef>
                <a:spcPts val="300"/>
              </a:spcBef>
              <a:buClr>
                <a:srgbClr val="000000"/>
              </a:buClr>
              <a:buFont typeface="Arial"/>
              <a:buChar char="•"/>
            </a:pPr>
            <a:r>
              <a:rPr b="1" i="1" lang="en-US" sz="2100" spc="-1" strike="noStrike">
                <a:solidFill>
                  <a:srgbClr val="0c32cf"/>
                </a:solidFill>
                <a:latin typeface="Calibri"/>
              </a:rPr>
              <a:t>field*</a:t>
            </a:r>
            <a:r>
              <a:rPr b="1" i="1" lang="en-US" sz="2100" spc="-1" strike="noStrike">
                <a:solidFill>
                  <a:schemeClr val="dk1"/>
                </a:solidFill>
                <a:latin typeface="Calibri"/>
              </a:rPr>
              <a:t> : </a:t>
            </a:r>
            <a:r>
              <a:rPr b="0" lang="en-US" sz="2100" spc="-1" strike="noStrike">
                <a:solidFill>
                  <a:schemeClr val="dk1"/>
                </a:solidFill>
                <a:latin typeface="Calibri"/>
              </a:rPr>
              <a:t>N définition de champs</a:t>
            </a:r>
            <a:endParaRPr b="0" lang="fr-FR" sz="2100" spc="-1" strike="noStrike">
              <a:solidFill>
                <a:srgbClr val="000000"/>
              </a:solidFill>
              <a:latin typeface="Arial"/>
            </a:endParaRPr>
          </a:p>
          <a:p>
            <a:pPr marL="343080" indent="-343080" defTabSz="457200">
              <a:lnSpc>
                <a:spcPct val="100000"/>
              </a:lnSpc>
              <a:spcBef>
                <a:spcPts val="300"/>
              </a:spcBef>
              <a:buClr>
                <a:srgbClr val="000000"/>
              </a:buClr>
              <a:buFont typeface="Arial"/>
              <a:buChar char="•"/>
            </a:pPr>
            <a:r>
              <a:rPr b="1" i="1" lang="en-US" sz="2100" spc="-1" strike="noStrike">
                <a:solidFill>
                  <a:srgbClr val="0c32cf"/>
                </a:solidFill>
                <a:latin typeface="Calibri"/>
              </a:rPr>
              <a:t>sortField*</a:t>
            </a:r>
            <a:r>
              <a:rPr b="1" i="1" lang="en-US" sz="2100" spc="-1" strike="noStrike">
                <a:solidFill>
                  <a:schemeClr val="dk1"/>
                </a:solidFill>
                <a:latin typeface="Calibri"/>
              </a:rPr>
              <a:t> : </a:t>
            </a:r>
            <a:r>
              <a:rPr b="0" lang="en-US" sz="2100" spc="-1" strike="noStrike">
                <a:solidFill>
                  <a:schemeClr val="dk1"/>
                </a:solidFill>
                <a:latin typeface="Calibri"/>
              </a:rPr>
              <a:t>N champs de tri</a:t>
            </a:r>
            <a:endParaRPr b="0" lang="fr-FR" sz="2100" spc="-1" strike="noStrike">
              <a:solidFill>
                <a:srgbClr val="000000"/>
              </a:solidFill>
              <a:latin typeface="Arial"/>
            </a:endParaRPr>
          </a:p>
          <a:p>
            <a:pPr marL="343080" indent="-343080" defTabSz="457200">
              <a:lnSpc>
                <a:spcPct val="100000"/>
              </a:lnSpc>
              <a:spcBef>
                <a:spcPts val="281"/>
              </a:spcBef>
              <a:buClr>
                <a:srgbClr val="000000"/>
              </a:buClr>
              <a:buFont typeface="Arial"/>
              <a:buChar char="•"/>
            </a:pPr>
            <a:r>
              <a:rPr b="1" i="1" lang="en-US" sz="2100" spc="-1" strike="noStrike">
                <a:solidFill>
                  <a:srgbClr val="0c32cf"/>
                </a:solidFill>
                <a:latin typeface="Calibri"/>
              </a:rPr>
              <a:t>filterExpression?</a:t>
            </a:r>
            <a:r>
              <a:rPr b="1" i="1" lang="en-US" sz="2000" spc="-1" strike="noStrike">
                <a:solidFill>
                  <a:schemeClr val="dk1"/>
                </a:solidFill>
                <a:latin typeface="Calibri"/>
              </a:rPr>
              <a:t> : </a:t>
            </a:r>
            <a:r>
              <a:rPr b="0" lang="en-US" sz="2100" spc="-1" strike="noStrike">
                <a:solidFill>
                  <a:schemeClr val="dk1"/>
                </a:solidFill>
                <a:latin typeface="Calibri"/>
              </a:rPr>
              <a:t>1 expression booléenne pour filtrer les données</a:t>
            </a:r>
            <a:endParaRPr b="0" lang="fr-FR" sz="2100" spc="-1" strike="noStrike">
              <a:solidFill>
                <a:srgbClr val="000000"/>
              </a:solidFill>
              <a:latin typeface="Arial"/>
            </a:endParaRPr>
          </a:p>
          <a:p>
            <a:pPr marL="343080" indent="-343080" defTabSz="457200">
              <a:lnSpc>
                <a:spcPct val="100000"/>
              </a:lnSpc>
              <a:spcBef>
                <a:spcPts val="300"/>
              </a:spcBef>
              <a:buClr>
                <a:srgbClr val="000000"/>
              </a:buClr>
              <a:buFont typeface="Arial"/>
              <a:buChar char="•"/>
            </a:pPr>
            <a:r>
              <a:rPr b="1" i="1" lang="fr-FR" sz="2100" spc="-1" strike="noStrike">
                <a:solidFill>
                  <a:srgbClr val="0c32cf"/>
                </a:solidFill>
                <a:latin typeface="Calibri"/>
              </a:rPr>
              <a:t>parameter*</a:t>
            </a:r>
            <a:r>
              <a:rPr b="1" i="1" lang="fr-FR" sz="2100" spc="-1" strike="noStrike">
                <a:solidFill>
                  <a:schemeClr val="dk1"/>
                </a:solidFill>
                <a:latin typeface="Calibri"/>
              </a:rPr>
              <a:t> : </a:t>
            </a:r>
            <a:r>
              <a:rPr b="0" lang="fr-FR" sz="2100" spc="-1" strike="noStrike">
                <a:solidFill>
                  <a:schemeClr val="dk1"/>
                </a:solidFill>
                <a:latin typeface="Calibri"/>
              </a:rPr>
              <a:t>N définitions de paramètres de rapport</a:t>
            </a:r>
            <a:endParaRPr b="0" lang="fr-FR" sz="2100" spc="-1" strike="noStrike">
              <a:solidFill>
                <a:srgbClr val="000000"/>
              </a:solidFill>
              <a:latin typeface="Arial"/>
            </a:endParaRPr>
          </a:p>
          <a:p>
            <a:pPr marL="343080" indent="-343080" defTabSz="457200">
              <a:lnSpc>
                <a:spcPct val="100000"/>
              </a:lnSpc>
              <a:spcBef>
                <a:spcPts val="281"/>
              </a:spcBef>
              <a:buClr>
                <a:srgbClr val="000000"/>
              </a:buClr>
              <a:buFont typeface="Arial"/>
              <a:buChar char="•"/>
            </a:pPr>
            <a:r>
              <a:rPr b="1" i="1" lang="fr-FR" sz="2100" spc="-1" strike="noStrike">
                <a:solidFill>
                  <a:srgbClr val="0c32cf"/>
                </a:solidFill>
                <a:latin typeface="Calibri"/>
              </a:rPr>
              <a:t>variable*</a:t>
            </a:r>
            <a:r>
              <a:rPr b="1" i="1" lang="fr-FR" sz="2000" spc="-1" strike="noStrike">
                <a:solidFill>
                  <a:schemeClr val="dk1"/>
                </a:solidFill>
                <a:latin typeface="Calibri"/>
              </a:rPr>
              <a:t> : </a:t>
            </a:r>
            <a:r>
              <a:rPr b="0" lang="fr-FR" sz="2000" spc="-1" strike="noStrike">
                <a:solidFill>
                  <a:schemeClr val="dk1"/>
                </a:solidFill>
                <a:latin typeface="Calibri"/>
              </a:rPr>
              <a:t>N définitions de variable</a:t>
            </a:r>
            <a:endParaRPr b="0" lang="fr-FR" sz="2000" spc="-1" strike="noStrike">
              <a:solidFill>
                <a:srgbClr val="000000"/>
              </a:solidFill>
              <a:latin typeface="Arial"/>
            </a:endParaRPr>
          </a:p>
          <a:p>
            <a:pPr marL="343080" indent="-343080" defTabSz="457200">
              <a:lnSpc>
                <a:spcPct val="100000"/>
              </a:lnSpc>
              <a:spcBef>
                <a:spcPts val="281"/>
              </a:spcBef>
              <a:buClr>
                <a:srgbClr val="000000"/>
              </a:buClr>
              <a:buFont typeface="Arial"/>
              <a:buChar char="•"/>
            </a:pPr>
            <a:r>
              <a:rPr b="1" i="1" lang="fr-FR" sz="2100" spc="-1" strike="noStrike">
                <a:solidFill>
                  <a:srgbClr val="0c32cf"/>
                </a:solidFill>
                <a:latin typeface="Calibri"/>
              </a:rPr>
              <a:t>group*</a:t>
            </a:r>
            <a:r>
              <a:rPr b="1" i="1" lang="fr-FR" sz="2000" spc="-1" strike="noStrike">
                <a:solidFill>
                  <a:schemeClr val="dk1"/>
                </a:solidFill>
                <a:latin typeface="Calibri"/>
              </a:rPr>
              <a:t> : </a:t>
            </a:r>
            <a:r>
              <a:rPr b="0" lang="fr-FR" sz="2000" spc="-1" strike="noStrike">
                <a:solidFill>
                  <a:schemeClr val="dk1"/>
                </a:solidFill>
                <a:latin typeface="Calibri"/>
              </a:rPr>
              <a:t>N définition de regroupement de données</a:t>
            </a:r>
            <a:endParaRPr b="0" lang="fr-FR" sz="2000" spc="-1" strike="noStrike">
              <a:solidFill>
                <a:srgbClr val="000000"/>
              </a:solidFill>
              <a:latin typeface="Arial"/>
            </a:endParaRPr>
          </a:p>
          <a:p>
            <a:pPr marL="343080" indent="-343080" defTabSz="457200">
              <a:lnSpc>
                <a:spcPct val="100000"/>
              </a:lnSpc>
              <a:spcBef>
                <a:spcPts val="300"/>
              </a:spcBef>
              <a:buClr>
                <a:srgbClr val="000000"/>
              </a:buClr>
              <a:buFont typeface="Arial"/>
              <a:buChar char="•"/>
            </a:pPr>
            <a:r>
              <a:rPr b="1" i="1" lang="fr-FR" sz="2100" spc="-1" strike="noStrike">
                <a:solidFill>
                  <a:srgbClr val="0c32cf"/>
                </a:solidFill>
                <a:latin typeface="Calibri"/>
              </a:rPr>
              <a:t>subDataset*</a:t>
            </a:r>
            <a:r>
              <a:rPr b="1" i="1" lang="fr-FR" sz="2100" spc="-1" strike="noStrike">
                <a:solidFill>
                  <a:schemeClr val="dk1"/>
                </a:solidFill>
                <a:latin typeface="Calibri"/>
              </a:rPr>
              <a:t> : </a:t>
            </a:r>
            <a:r>
              <a:rPr b="0" lang="fr-FR" sz="2100" spc="-1" strike="noStrike">
                <a:solidFill>
                  <a:schemeClr val="dk1"/>
                </a:solidFill>
                <a:latin typeface="Calibri"/>
              </a:rPr>
              <a:t>N références à d’autres jeux de données</a:t>
            </a:r>
            <a:r>
              <a:rPr b="1" i="1" lang="fr-FR" sz="2100" spc="-1" strike="noStrike">
                <a:solidFill>
                  <a:schemeClr val="dk1"/>
                </a:solidFill>
                <a:latin typeface="Calibri"/>
              </a:rPr>
              <a:t> </a:t>
            </a:r>
            <a:endParaRPr b="0" lang="fr-FR"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Les éléments structurels : les bandes</a:t>
            </a:r>
            <a:endParaRPr b="0" lang="fr-FR" sz="3600" spc="-1" strike="noStrike">
              <a:solidFill>
                <a:srgbClr val="000000"/>
              </a:solidFill>
              <a:latin typeface="Arial"/>
            </a:endParaRPr>
          </a:p>
        </p:txBody>
      </p:sp>
      <p:sp>
        <p:nvSpPr>
          <p:cNvPr id="94"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360"/>
              </a:spcBef>
              <a:buClr>
                <a:srgbClr val="000000"/>
              </a:buClr>
              <a:buFont typeface="Arial"/>
              <a:buChar char="•"/>
            </a:pPr>
            <a:r>
              <a:rPr b="1" i="1" lang="en-US" sz="1800" spc="-1" strike="noStrike">
                <a:solidFill>
                  <a:srgbClr val="0c32cf"/>
                </a:solidFill>
                <a:latin typeface="Calibri"/>
              </a:rPr>
              <a:t>background?</a:t>
            </a:r>
            <a:r>
              <a:rPr b="1" lang="en-US" sz="1800" spc="-1" strike="noStrike">
                <a:solidFill>
                  <a:schemeClr val="dk1"/>
                </a:solidFill>
                <a:latin typeface="Calibri"/>
              </a:rPr>
              <a:t> </a:t>
            </a:r>
            <a:r>
              <a:rPr b="0" lang="en-US" sz="1800" spc="-1" strike="noStrike">
                <a:solidFill>
                  <a:schemeClr val="dk1"/>
                </a:solidFill>
                <a:latin typeface="Calibri"/>
              </a:rPr>
              <a:t>: 1 fond de page</a:t>
            </a:r>
            <a:endParaRPr b="0" lang="fr-FR" sz="1800" spc="-1" strike="noStrike">
              <a:solidFill>
                <a:srgbClr val="000000"/>
              </a:solidFill>
              <a:latin typeface="Arial"/>
            </a:endParaRPr>
          </a:p>
          <a:p>
            <a:pPr marL="343080" indent="-343080" defTabSz="457200">
              <a:lnSpc>
                <a:spcPct val="100000"/>
              </a:lnSpc>
              <a:spcBef>
                <a:spcPts val="360"/>
              </a:spcBef>
              <a:buClr>
                <a:srgbClr val="000000"/>
              </a:buClr>
              <a:buFont typeface="Arial"/>
              <a:buChar char="•"/>
            </a:pPr>
            <a:r>
              <a:rPr b="1" i="1" lang="fr-FR" sz="1800" spc="-1" strike="noStrike">
                <a:solidFill>
                  <a:srgbClr val="0c32cf"/>
                </a:solidFill>
                <a:latin typeface="Calibri"/>
              </a:rPr>
              <a:t>title?</a:t>
            </a:r>
            <a:r>
              <a:rPr b="0" lang="fr-FR" sz="1800" spc="-1" strike="noStrike">
                <a:solidFill>
                  <a:schemeClr val="dk1"/>
                </a:solidFill>
                <a:latin typeface="Calibri"/>
              </a:rPr>
              <a:t> : 1 bande de titre, affiché un seule fois en début de rapport</a:t>
            </a:r>
            <a:endParaRPr b="0" lang="fr-FR" sz="1800" spc="-1" strike="noStrike">
              <a:solidFill>
                <a:srgbClr val="000000"/>
              </a:solidFill>
              <a:latin typeface="Arial"/>
            </a:endParaRPr>
          </a:p>
          <a:p>
            <a:pPr marL="343080" indent="-343080" defTabSz="457200">
              <a:lnSpc>
                <a:spcPct val="100000"/>
              </a:lnSpc>
              <a:spcBef>
                <a:spcPts val="360"/>
              </a:spcBef>
              <a:buClr>
                <a:srgbClr val="000000"/>
              </a:buClr>
              <a:buFont typeface="Arial"/>
              <a:buChar char="•"/>
            </a:pPr>
            <a:r>
              <a:rPr b="1" i="1" lang="fr-FR" sz="1800" spc="-1" strike="noStrike">
                <a:solidFill>
                  <a:srgbClr val="0c32cf"/>
                </a:solidFill>
                <a:latin typeface="Calibri"/>
              </a:rPr>
              <a:t>pageHeader?</a:t>
            </a:r>
            <a:r>
              <a:rPr b="0" lang="fr-FR" sz="1800" spc="-1" strike="noStrike">
                <a:solidFill>
                  <a:schemeClr val="dk1"/>
                </a:solidFill>
                <a:latin typeface="Calibri"/>
              </a:rPr>
              <a:t> : 1 entête de page affichée à chaque début de page</a:t>
            </a:r>
            <a:endParaRPr b="0" lang="fr-FR" sz="1800" spc="-1" strike="noStrike">
              <a:solidFill>
                <a:srgbClr val="000000"/>
              </a:solidFill>
              <a:latin typeface="Arial"/>
            </a:endParaRPr>
          </a:p>
          <a:p>
            <a:pPr marL="343080" indent="-343080" defTabSz="457200">
              <a:lnSpc>
                <a:spcPct val="100000"/>
              </a:lnSpc>
              <a:spcBef>
                <a:spcPts val="360"/>
              </a:spcBef>
              <a:buClr>
                <a:srgbClr val="000000"/>
              </a:buClr>
              <a:buFont typeface="Arial"/>
              <a:buChar char="•"/>
            </a:pPr>
            <a:r>
              <a:rPr b="1" i="1" lang="fr-FR" sz="1800" spc="-1" strike="noStrike">
                <a:solidFill>
                  <a:srgbClr val="0c32cf"/>
                </a:solidFill>
                <a:latin typeface="Calibri"/>
              </a:rPr>
              <a:t>columnHeader?</a:t>
            </a:r>
            <a:r>
              <a:rPr b="0" lang="fr-FR" sz="1800" spc="-1" strike="noStrike">
                <a:solidFill>
                  <a:schemeClr val="dk1"/>
                </a:solidFill>
                <a:latin typeface="Calibri"/>
              </a:rPr>
              <a:t> : 1 entête de colonne (pour les rapports multi- colonnes) </a:t>
            </a:r>
            <a:r>
              <a:rPr b="0" lang="fr-FR" sz="1800" spc="-1" strike="noStrike">
                <a:solidFill>
                  <a:schemeClr val="dk1"/>
                </a:solidFill>
                <a:latin typeface="Calibri"/>
              </a:rPr>
              <a:t>affichée à chaque changement de colonne</a:t>
            </a:r>
            <a:endParaRPr b="0" lang="fr-FR" sz="1800" spc="-1" strike="noStrike">
              <a:solidFill>
                <a:srgbClr val="000000"/>
              </a:solidFill>
              <a:latin typeface="Arial"/>
            </a:endParaRPr>
          </a:p>
          <a:p>
            <a:pPr marL="343080" indent="-343080" defTabSz="457200">
              <a:lnSpc>
                <a:spcPct val="100000"/>
              </a:lnSpc>
              <a:spcBef>
                <a:spcPts val="360"/>
              </a:spcBef>
              <a:buClr>
                <a:srgbClr val="000000"/>
              </a:buClr>
              <a:buFont typeface="Arial"/>
              <a:buChar char="•"/>
            </a:pPr>
            <a:r>
              <a:rPr b="1" i="1" lang="fr-FR" sz="1800" spc="-1" strike="noStrike">
                <a:solidFill>
                  <a:srgbClr val="0c32cf"/>
                </a:solidFill>
                <a:latin typeface="Calibri"/>
              </a:rPr>
              <a:t>detail*</a:t>
            </a:r>
            <a:r>
              <a:rPr b="0" lang="fr-FR" sz="1800" spc="-1" strike="noStrike">
                <a:solidFill>
                  <a:schemeClr val="dk1"/>
                </a:solidFill>
                <a:latin typeface="Calibri"/>
              </a:rPr>
              <a:t> : 1 bande détail. Affichée autant de fois qu’il y a de résultat dans la </a:t>
            </a:r>
            <a:r>
              <a:rPr b="0" lang="fr-FR" sz="1800" spc="-1" strike="noStrike">
                <a:solidFill>
                  <a:schemeClr val="dk1"/>
                </a:solidFill>
                <a:latin typeface="Calibri"/>
              </a:rPr>
              <a:t>requête principale</a:t>
            </a:r>
            <a:endParaRPr b="0" lang="fr-FR" sz="1800" spc="-1" strike="noStrike">
              <a:solidFill>
                <a:srgbClr val="000000"/>
              </a:solidFill>
              <a:latin typeface="Arial"/>
            </a:endParaRPr>
          </a:p>
          <a:p>
            <a:pPr marL="343080" indent="-343080" defTabSz="457200">
              <a:lnSpc>
                <a:spcPct val="100000"/>
              </a:lnSpc>
              <a:spcBef>
                <a:spcPts val="360"/>
              </a:spcBef>
              <a:buClr>
                <a:srgbClr val="000000"/>
              </a:buClr>
              <a:buFont typeface="Arial"/>
              <a:buChar char="•"/>
            </a:pPr>
            <a:r>
              <a:rPr b="1" i="1" lang="fr-FR" sz="1800" spc="-1" strike="noStrike">
                <a:solidFill>
                  <a:srgbClr val="0c32cf"/>
                </a:solidFill>
                <a:latin typeface="Calibri"/>
              </a:rPr>
              <a:t>columnFooter?</a:t>
            </a:r>
            <a:r>
              <a:rPr b="0" lang="fr-FR" sz="1800" spc="-1" strike="noStrike">
                <a:solidFill>
                  <a:schemeClr val="dk1"/>
                </a:solidFill>
                <a:latin typeface="Calibri"/>
              </a:rPr>
              <a:t> : 1 pied de colonne (pour les rapports multi- colonnes)</a:t>
            </a:r>
            <a:endParaRPr b="0" lang="fr-FR" sz="1800" spc="-1" strike="noStrike">
              <a:solidFill>
                <a:srgbClr val="000000"/>
              </a:solidFill>
              <a:latin typeface="Arial"/>
            </a:endParaRPr>
          </a:p>
          <a:p>
            <a:pPr marL="343080" indent="-343080" defTabSz="457200">
              <a:lnSpc>
                <a:spcPct val="100000"/>
              </a:lnSpc>
              <a:spcBef>
                <a:spcPts val="360"/>
              </a:spcBef>
              <a:buClr>
                <a:srgbClr val="000000"/>
              </a:buClr>
              <a:buFont typeface="Arial"/>
              <a:buChar char="•"/>
            </a:pPr>
            <a:r>
              <a:rPr b="1" i="1" lang="en-US" sz="1800" spc="-1" strike="noStrike">
                <a:solidFill>
                  <a:srgbClr val="0c32cf"/>
                </a:solidFill>
                <a:latin typeface="Calibri"/>
              </a:rPr>
              <a:t>pageFooter?</a:t>
            </a:r>
            <a:r>
              <a:rPr b="0" lang="en-US" sz="1800" spc="-1" strike="noStrike">
                <a:solidFill>
                  <a:schemeClr val="dk1"/>
                </a:solidFill>
                <a:latin typeface="Calibri"/>
              </a:rPr>
              <a:t> : 1 pied de page</a:t>
            </a:r>
            <a:endParaRPr b="0" lang="fr-FR" sz="1800" spc="-1" strike="noStrike">
              <a:solidFill>
                <a:srgbClr val="000000"/>
              </a:solidFill>
              <a:latin typeface="Arial"/>
            </a:endParaRPr>
          </a:p>
          <a:p>
            <a:pPr marL="343080" indent="-343080" defTabSz="457200">
              <a:lnSpc>
                <a:spcPct val="100000"/>
              </a:lnSpc>
              <a:spcBef>
                <a:spcPts val="360"/>
              </a:spcBef>
              <a:buClr>
                <a:srgbClr val="000000"/>
              </a:buClr>
              <a:buFont typeface="Arial"/>
              <a:buChar char="•"/>
            </a:pPr>
            <a:r>
              <a:rPr b="1" i="1" lang="en-US" sz="1800" spc="-1" strike="noStrike">
                <a:solidFill>
                  <a:srgbClr val="0c32cf"/>
                </a:solidFill>
                <a:latin typeface="Calibri"/>
              </a:rPr>
              <a:t>lastPageFooter?</a:t>
            </a:r>
            <a:r>
              <a:rPr b="0" lang="en-US" sz="1800" spc="-1" strike="noStrike">
                <a:solidFill>
                  <a:schemeClr val="dk1"/>
                </a:solidFill>
                <a:latin typeface="Calibri"/>
              </a:rPr>
              <a:t> : Le pied de page de la dernière page</a:t>
            </a:r>
            <a:endParaRPr b="0" lang="fr-FR" sz="1800" spc="-1" strike="noStrike">
              <a:solidFill>
                <a:srgbClr val="000000"/>
              </a:solidFill>
              <a:latin typeface="Arial"/>
            </a:endParaRPr>
          </a:p>
          <a:p>
            <a:pPr marL="343080" indent="-343080" defTabSz="457200">
              <a:lnSpc>
                <a:spcPct val="100000"/>
              </a:lnSpc>
              <a:spcBef>
                <a:spcPts val="360"/>
              </a:spcBef>
              <a:buClr>
                <a:srgbClr val="000000"/>
              </a:buClr>
              <a:buFont typeface="Arial"/>
              <a:buChar char="•"/>
            </a:pPr>
            <a:r>
              <a:rPr b="1" i="1" lang="fr-FR" sz="1800" spc="-1" strike="noStrike">
                <a:solidFill>
                  <a:srgbClr val="0c32cf"/>
                </a:solidFill>
                <a:latin typeface="Calibri"/>
              </a:rPr>
              <a:t>summary?</a:t>
            </a:r>
            <a:r>
              <a:rPr b="0" lang="fr-FR" sz="1800" spc="-1" strike="noStrike">
                <a:solidFill>
                  <a:schemeClr val="dk1"/>
                </a:solidFill>
                <a:latin typeface="Calibri"/>
              </a:rPr>
              <a:t> : 1 résumé affiché en fin de document</a:t>
            </a:r>
            <a:endParaRPr b="0" lang="fr-FR" sz="1800" spc="-1" strike="noStrike">
              <a:solidFill>
                <a:srgbClr val="000000"/>
              </a:solidFill>
              <a:latin typeface="Arial"/>
            </a:endParaRPr>
          </a:p>
          <a:p>
            <a:pPr marL="343080" indent="-343080" defTabSz="457200">
              <a:lnSpc>
                <a:spcPct val="100000"/>
              </a:lnSpc>
              <a:spcBef>
                <a:spcPts val="360"/>
              </a:spcBef>
              <a:buClr>
                <a:srgbClr val="000000"/>
              </a:buClr>
              <a:buFont typeface="Arial"/>
              <a:buChar char="•"/>
            </a:pPr>
            <a:r>
              <a:rPr b="1" i="1" lang="fr-FR" sz="1800" spc="-1" strike="noStrike">
                <a:solidFill>
                  <a:srgbClr val="0c32cf"/>
                </a:solidFill>
                <a:latin typeface="Calibri"/>
              </a:rPr>
              <a:t>noData?</a:t>
            </a:r>
            <a:r>
              <a:rPr b="0" lang="fr-FR" sz="1800" spc="-1" strike="noStrike">
                <a:solidFill>
                  <a:schemeClr val="dk1"/>
                </a:solidFill>
                <a:latin typeface="Calibri"/>
              </a:rPr>
              <a:t> : Texte alternatif quand il n'y a pas de données</a:t>
            </a:r>
            <a:endParaRPr b="0" lang="fr-F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Exemple de fichier .jrxml </a:t>
            </a:r>
            <a:br>
              <a:rPr sz="3600"/>
            </a:br>
            <a:r>
              <a:rPr b="0" lang="en-US" sz="3600" spc="-1" strike="noStrike">
                <a:solidFill>
                  <a:schemeClr val="dk1"/>
                </a:solidFill>
                <a:latin typeface="Calibri"/>
              </a:rPr>
              <a:t>(syntaxe JasperReports 7)</a:t>
            </a:r>
            <a:endParaRPr b="0" lang="fr-FR" sz="3600" spc="-1" strike="noStrike">
              <a:solidFill>
                <a:srgbClr val="000000"/>
              </a:solidFill>
              <a:latin typeface="Arial"/>
            </a:endParaRPr>
          </a:p>
        </p:txBody>
      </p:sp>
      <p:sp>
        <p:nvSpPr>
          <p:cNvPr id="96" name="PlaceHolder 2"/>
          <p:cNvSpPr>
            <a:spLocks noGrp="1"/>
          </p:cNvSpPr>
          <p:nvPr>
            <p:ph/>
          </p:nvPr>
        </p:nvSpPr>
        <p:spPr>
          <a:xfrm>
            <a:off x="762120" y="2095560"/>
            <a:ext cx="9397080" cy="5015520"/>
          </a:xfrm>
          <a:prstGeom prst="rect">
            <a:avLst/>
          </a:prstGeom>
          <a:noFill/>
          <a:ln w="0">
            <a:noFill/>
          </a:ln>
        </p:spPr>
        <p:txBody>
          <a:bodyPr lIns="91440" rIns="91440" tIns="45720" bIns="45720" anchor="t">
            <a:normAutofit fontScale="87222" lnSpcReduction="10000"/>
          </a:bodyPr>
          <a:p>
            <a:pPr indent="0" defTabSz="457200">
              <a:lnSpc>
                <a:spcPct val="100000"/>
              </a:lnSpc>
              <a:spcBef>
                <a:spcPts val="181"/>
              </a:spcBef>
              <a:buNone/>
              <a:tabLst>
                <a:tab algn="l" pos="0"/>
              </a:tabLst>
            </a:pPr>
            <a:r>
              <a:rPr b="0" lang="en-US" sz="900" spc="-1" strike="noStrike">
                <a:solidFill>
                  <a:schemeClr val="dk1"/>
                </a:solidFill>
                <a:latin typeface="Courier New"/>
              </a:rPr>
              <a:t>&lt;!-- Created with Jaspersoft Studio version 7.0.8.final using JasperReports Library version 7.0.8  --&gt;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&lt;jasperReport name="Commandes" language="java" pageWidth="595" pageHeight="842" columnWidth="555"</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              </a:t>
            </a:r>
            <a:r>
              <a:rPr b="0" lang="en-US" sz="900" spc="-1" strike="noStrike">
                <a:solidFill>
                  <a:schemeClr val="dk1"/>
                </a:solidFill>
                <a:latin typeface="Courier New"/>
              </a:rPr>
              <a:t>leftMargin="20" rightMargin="20" topMargin="20" bottomMargin="20" uuid="ba6d0b4e-9d60-4d48-8f5d-4d88ab017bdd"&gt;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  </a:t>
            </a:r>
            <a:r>
              <a:rPr b="0" lang="en-US" sz="900" spc="-1" strike="noStrike">
                <a:solidFill>
                  <a:schemeClr val="dk1"/>
                </a:solidFill>
                <a:latin typeface="Courier New"/>
              </a:rPr>
              <a:t>&lt;parameter name="P_CLIENT" class="java.lang.Integer"/&gt;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  </a:t>
            </a:r>
            <a:r>
              <a:rPr b="0" lang="en-US" sz="900" spc="-1" strike="noStrike">
                <a:solidFill>
                  <a:schemeClr val="dk1"/>
                </a:solidFill>
                <a:latin typeface="Courier New"/>
              </a:rPr>
              <a:t>&lt;query language="sql"&gt;&lt;![CDATA[SELECT id, date_cmd, montant FROM commandes WHERE client_id = $P{P_CLIENT}]]&gt;&lt;/query&gt;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  </a:t>
            </a:r>
            <a:r>
              <a:rPr b="0" lang="en-US" sz="900" spc="-1" strike="noStrike">
                <a:solidFill>
                  <a:schemeClr val="dk1"/>
                </a:solidFill>
                <a:latin typeface="Courier New"/>
              </a:rPr>
              <a:t>&lt;field name="id" class="java.lang.Integer"/&gt;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  </a:t>
            </a:r>
            <a:r>
              <a:rPr b="0" lang="en-US" sz="900" spc="-1" strike="noStrike">
                <a:solidFill>
                  <a:schemeClr val="dk1"/>
                </a:solidFill>
                <a:latin typeface="Courier New"/>
              </a:rPr>
              <a:t>&lt;field name="date_cmd" class="java.sql.Date"/&gt;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  </a:t>
            </a:r>
            <a:r>
              <a:rPr b="0" lang="en-US" sz="900" spc="-1" strike="noStrike">
                <a:solidFill>
                  <a:schemeClr val="dk1"/>
                </a:solidFill>
                <a:latin typeface="Courier New"/>
              </a:rPr>
              <a:t>&lt;field name="montant" class="java.math.BigDecimal"/&gt;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  </a:t>
            </a:r>
            <a:r>
              <a:rPr b="0" lang="en-US" sz="900" spc="-1" strike="noStrike">
                <a:solidFill>
                  <a:schemeClr val="dk1"/>
                </a:solidFill>
                <a:latin typeface="Courier New"/>
              </a:rPr>
              <a:t>&lt;background splitType="Stretch"/&gt;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  </a:t>
            </a:r>
            <a:r>
              <a:rPr b="0" lang="en-US" sz="900" spc="-1" strike="noStrike">
                <a:solidFill>
                  <a:schemeClr val="dk1"/>
                </a:solidFill>
                <a:latin typeface="Courier New"/>
              </a:rPr>
              <a:t>&lt;title height="79" splitType="Stretch"&gt;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    </a:t>
            </a:r>
            <a:r>
              <a:rPr b="0" lang="en-US" sz="900" spc="-1" strike="noStrike">
                <a:solidFill>
                  <a:schemeClr val="dk1"/>
                </a:solidFill>
                <a:latin typeface="Courier New"/>
              </a:rPr>
              <a:t>&lt;element kind="staticText" uuid="..." x="0" y="20" width="555" height="30" fontSize="18.0" bold="true" hTextAlign="Center"&gt;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      </a:t>
            </a:r>
            <a:r>
              <a:rPr b="0" lang="en-US" sz="900" spc="-1" strike="noStrike">
                <a:solidFill>
                  <a:schemeClr val="dk1"/>
                </a:solidFill>
                <a:latin typeface="Courier New"/>
              </a:rPr>
              <a:t>&lt;text&gt;&lt;![CDATA[Liste des commandes]]&gt;&lt;/text&gt;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    </a:t>
            </a:r>
            <a:r>
              <a:rPr b="0" lang="en-US" sz="900" spc="-1" strike="noStrike">
                <a:solidFill>
                  <a:schemeClr val="dk1"/>
                </a:solidFill>
                <a:latin typeface="Courier New"/>
              </a:rPr>
              <a:t>&lt;/element&gt;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  </a:t>
            </a:r>
            <a:r>
              <a:rPr b="0" lang="en-US" sz="900" spc="-1" strike="noStrike">
                <a:solidFill>
                  <a:schemeClr val="dk1"/>
                </a:solidFill>
                <a:latin typeface="Courier New"/>
              </a:rPr>
              <a:t>&lt;/title&gt;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  </a:t>
            </a:r>
            <a:r>
              <a:rPr b="0" lang="en-US" sz="900" spc="-1" strike="noStrike">
                <a:solidFill>
                  <a:schemeClr val="dk1"/>
                </a:solidFill>
                <a:latin typeface="Courier New"/>
              </a:rPr>
              <a:t>&lt;pageHeader height="35" splitType="Stretch"/&gt;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  </a:t>
            </a:r>
            <a:r>
              <a:rPr b="0" lang="en-US" sz="900" spc="-1" strike="noStrike">
                <a:solidFill>
                  <a:schemeClr val="dk1"/>
                </a:solidFill>
                <a:latin typeface="Courier New"/>
              </a:rPr>
              <a:t>&lt;columnHeader height="20" splitType="Stretch"&gt;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    </a:t>
            </a:r>
            <a:r>
              <a:rPr b="0" lang="en-US" sz="900" spc="-1" strike="noStrike">
                <a:solidFill>
                  <a:schemeClr val="dk1"/>
                </a:solidFill>
                <a:latin typeface="Courier New"/>
              </a:rPr>
              <a:t>&lt;element kind="staticText" uuid="..." x="0" y="0" width="100" height="20"&gt;&lt;text&gt;&lt;![CDATA[N° commande]]&gt;&lt;/text&gt;&lt;/element&gt;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  </a:t>
            </a:r>
            <a:r>
              <a:rPr b="0" lang="en-US" sz="900" spc="-1" strike="noStrike">
                <a:solidFill>
                  <a:schemeClr val="dk1"/>
                </a:solidFill>
                <a:latin typeface="Courier New"/>
              </a:rPr>
              <a:t>&lt;/columnHeader&gt;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  </a:t>
            </a:r>
            <a:r>
              <a:rPr b="0" lang="en-US" sz="900" spc="-1" strike="noStrike">
                <a:solidFill>
                  <a:schemeClr val="dk1"/>
                </a:solidFill>
                <a:latin typeface="Courier New"/>
              </a:rPr>
              <a:t>&lt;detail&gt;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    </a:t>
            </a:r>
            <a:r>
              <a:rPr b="0" lang="en-US" sz="900" spc="-1" strike="noStrike">
                <a:solidFill>
                  <a:schemeClr val="dk1"/>
                </a:solidFill>
                <a:latin typeface="Courier New"/>
              </a:rPr>
              <a:t>&lt;band height="20" splitType="Stretch"&gt;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      </a:t>
            </a:r>
            <a:r>
              <a:rPr b="0" lang="en-US" sz="900" spc="-1" strike="noStrike">
                <a:solidFill>
                  <a:schemeClr val="dk1"/>
                </a:solidFill>
                <a:latin typeface="Courier New"/>
              </a:rPr>
              <a:t>&lt;element kind="textField" uuid="..." x="0" y="0" width="100" height="20"&gt;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        </a:t>
            </a:r>
            <a:r>
              <a:rPr b="0" lang="en-US" sz="900" spc="-1" strike="noStrike">
                <a:solidFill>
                  <a:schemeClr val="dk1"/>
                </a:solidFill>
                <a:latin typeface="Courier New"/>
              </a:rPr>
              <a:t>&lt;expression&gt;&lt;![CDATA[$F{id}]]&gt;&lt;/expression&gt;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      </a:t>
            </a:r>
            <a:r>
              <a:rPr b="0" lang="en-US" sz="900" spc="-1" strike="noStrike">
                <a:solidFill>
                  <a:schemeClr val="dk1"/>
                </a:solidFill>
                <a:latin typeface="Courier New"/>
              </a:rPr>
              <a:t>&lt;/element&gt;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      </a:t>
            </a:r>
            <a:r>
              <a:rPr b="0" lang="en-US" sz="900" spc="-1" strike="noStrike">
                <a:solidFill>
                  <a:schemeClr val="dk1"/>
                </a:solidFill>
                <a:latin typeface="Courier New"/>
              </a:rPr>
              <a:t>&lt;element kind="textField" uuid="..." x="100" y="0" width="100" height="20" pattern="dd/MM/yyyy"&gt;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        </a:t>
            </a:r>
            <a:r>
              <a:rPr b="0" lang="en-US" sz="900" spc="-1" strike="noStrike">
                <a:solidFill>
                  <a:schemeClr val="dk1"/>
                </a:solidFill>
                <a:latin typeface="Courier New"/>
              </a:rPr>
              <a:t>&lt;expression&gt;&lt;![CDATA[$F{date_cmd}]]&gt;&lt;/expression&gt;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      </a:t>
            </a:r>
            <a:r>
              <a:rPr b="0" lang="en-US" sz="900" spc="-1" strike="noStrike">
                <a:solidFill>
                  <a:schemeClr val="dk1"/>
                </a:solidFill>
                <a:latin typeface="Courier New"/>
              </a:rPr>
              <a:t>&lt;/element&gt;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    </a:t>
            </a:r>
            <a:r>
              <a:rPr b="0" lang="en-US" sz="900" spc="-1" strike="noStrike">
                <a:solidFill>
                  <a:schemeClr val="dk1"/>
                </a:solidFill>
                <a:latin typeface="Courier New"/>
              </a:rPr>
              <a:t>&lt;/band&gt;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  </a:t>
            </a:r>
            <a:r>
              <a:rPr b="0" lang="en-US" sz="900" spc="-1" strike="noStrike">
                <a:solidFill>
                  <a:schemeClr val="dk1"/>
                </a:solidFill>
                <a:latin typeface="Courier New"/>
              </a:rPr>
              <a:t>&lt;/detail&gt;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  </a:t>
            </a:r>
            <a:r>
              <a:rPr b="0" lang="en-US" sz="900" spc="-1" strike="noStrike">
                <a:solidFill>
                  <a:schemeClr val="dk1"/>
                </a:solidFill>
                <a:latin typeface="Courier New"/>
              </a:rPr>
              <a:t>&lt;pageFooter height="54" splitType="Stretch"&gt;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    </a:t>
            </a:r>
            <a:r>
              <a:rPr b="0" lang="en-US" sz="900" spc="-1" strike="noStrike">
                <a:solidFill>
                  <a:schemeClr val="dk1"/>
                </a:solidFill>
                <a:latin typeface="Courier New"/>
              </a:rPr>
              <a:t>&lt;element kind="textField" uuid="..." x="455" y="0" width="100" height="20" hTextAlign="Right"&gt;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      </a:t>
            </a:r>
            <a:r>
              <a:rPr b="0" lang="en-US" sz="900" spc="-1" strike="noStrike">
                <a:solidFill>
                  <a:schemeClr val="dk1"/>
                </a:solidFill>
                <a:latin typeface="Courier New"/>
              </a:rPr>
              <a:t>&lt;expression&gt;&lt;![CDATA["Page " + $V{PAGE_NUMBER}]]&gt;&lt;/expression&gt;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    </a:t>
            </a:r>
            <a:r>
              <a:rPr b="0" lang="en-US" sz="900" spc="-1" strike="noStrike">
                <a:solidFill>
                  <a:schemeClr val="dk1"/>
                </a:solidFill>
                <a:latin typeface="Courier New"/>
              </a:rPr>
              <a:t>&lt;/element&gt;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  </a:t>
            </a:r>
            <a:r>
              <a:rPr b="0" lang="en-US" sz="900" spc="-1" strike="noStrike">
                <a:solidFill>
                  <a:schemeClr val="dk1"/>
                </a:solidFill>
                <a:latin typeface="Courier New"/>
              </a:rPr>
              <a:t>&lt;/pageFooter&gt;</a:t>
            </a:r>
            <a:endParaRPr b="0" lang="fr-FR" sz="900" spc="-1" strike="noStrike">
              <a:solidFill>
                <a:srgbClr val="000000"/>
              </a:solidFill>
              <a:latin typeface="Arial"/>
            </a:endParaRPr>
          </a:p>
          <a:p>
            <a:pPr indent="0" defTabSz="457200">
              <a:lnSpc>
                <a:spcPct val="100000"/>
              </a:lnSpc>
              <a:spcBef>
                <a:spcPts val="181"/>
              </a:spcBef>
              <a:buNone/>
              <a:tabLst>
                <a:tab algn="l" pos="0"/>
              </a:tabLst>
            </a:pPr>
            <a:r>
              <a:rPr b="0" lang="en-US" sz="900" spc="-1" strike="noStrike">
                <a:solidFill>
                  <a:schemeClr val="dk1"/>
                </a:solidFill>
                <a:latin typeface="Courier New"/>
              </a:rPr>
              <a:t>&lt;/jasperReport&gt;</a:t>
            </a:r>
            <a:endParaRPr b="0" lang="fr-FR" sz="900" spc="-1" strike="noStrike">
              <a:solidFill>
                <a:srgbClr val="000000"/>
              </a:solidFill>
              <a:latin typeface="Arial"/>
            </a:endParaRPr>
          </a:p>
          <a:p>
            <a:pPr indent="0" defTabSz="457200">
              <a:lnSpc>
                <a:spcPct val="100000"/>
              </a:lnSpc>
              <a:spcBef>
                <a:spcPts val="320"/>
              </a:spcBef>
              <a:buNone/>
              <a:tabLst>
                <a:tab algn="l" pos="0"/>
              </a:tabLst>
            </a:pPr>
            <a:r>
              <a:rPr b="0" lang="en-US" sz="1600" spc="-1" strike="noStrike">
                <a:solidFill>
                  <a:schemeClr val="dk1"/>
                </a:solidFill>
                <a:latin typeface="Calibri"/>
              </a:rPr>
              <a:t>Les fichiers créés avec une version 6 sont convertis automatiquement à l'ouverture dans Studio 7.</a:t>
            </a:r>
            <a:endParaRPr b="0" lang="fr-FR"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fr-FR" sz="3600" spc="-1" strike="noStrike">
                <a:solidFill>
                  <a:schemeClr val="dk1"/>
                </a:solidFill>
                <a:latin typeface="Calibri"/>
              </a:rPr>
              <a:t>Recommandations pour l'environnement de développement</a:t>
            </a:r>
            <a:endParaRPr b="0" lang="fr-FR" sz="3600" spc="-1" strike="noStrike">
              <a:solidFill>
                <a:srgbClr val="000000"/>
              </a:solidFill>
              <a:latin typeface="Arial"/>
            </a:endParaRPr>
          </a:p>
        </p:txBody>
      </p:sp>
      <p:sp>
        <p:nvSpPr>
          <p:cNvPr id="98"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Utiliser </a:t>
            </a:r>
            <a:r>
              <a:rPr b="1" lang="en-US" sz="2000" spc="-1" strike="noStrike">
                <a:solidFill>
                  <a:srgbClr val="3650b1"/>
                </a:solidFill>
                <a:latin typeface="Calibri"/>
              </a:rPr>
              <a:t>Jaspersoft Studio 7.0.8</a:t>
            </a:r>
            <a:r>
              <a:rPr b="0" lang="en-US" sz="2000" spc="-1" strike="noStrike">
                <a:solidFill>
                  <a:schemeClr val="dk1"/>
                </a:solidFill>
                <a:latin typeface="Calibri"/>
              </a:rPr>
              <a:t> (mars 2026) ou la version alignée sur la librairie utilisée par votre application ou votre serveur</a:t>
            </a:r>
            <a:endParaRPr b="0" lang="fr-FR" sz="20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1600" spc="-1" strike="noStrike">
                <a:solidFill>
                  <a:schemeClr val="dk1"/>
                </a:solidFill>
                <a:latin typeface="Calibri"/>
              </a:rPr>
              <a:t>Un .jrxml enregistré en version 7 n'est plus lisible par une librairie 6.x : vérifier la version cible avant de commencer</a:t>
            </a:r>
            <a:endParaRPr b="0" lang="fr-FR" sz="16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Un workspace dédié, un projet par famille de rapports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Dans le projet : dossiers </a:t>
            </a:r>
            <a:r>
              <a:rPr b="0" lang="en-US" sz="2000" spc="-1" strike="noStrike">
                <a:solidFill>
                  <a:schemeClr val="dk1"/>
                </a:solidFill>
                <a:latin typeface="Courier New"/>
              </a:rPr>
              <a:t>images/</a:t>
            </a:r>
            <a:r>
              <a:rPr b="0" lang="en-US" sz="2000" spc="-1" strike="noStrike">
                <a:solidFill>
                  <a:schemeClr val="dk1"/>
                </a:solidFill>
                <a:latin typeface="Calibri"/>
              </a:rPr>
              <a:t>, </a:t>
            </a:r>
            <a:r>
              <a:rPr b="0" lang="en-US" sz="2000" spc="-1" strike="noStrike">
                <a:solidFill>
                  <a:schemeClr val="dk1"/>
                </a:solidFill>
                <a:latin typeface="Courier New"/>
              </a:rPr>
              <a:t>polices/</a:t>
            </a:r>
            <a:r>
              <a:rPr b="0" lang="en-US" sz="2000" spc="-1" strike="noStrike">
                <a:solidFill>
                  <a:schemeClr val="dk1"/>
                </a:solidFill>
                <a:latin typeface="Calibri"/>
              </a:rPr>
              <a:t>, </a:t>
            </a:r>
            <a:r>
              <a:rPr b="0" lang="en-US" sz="2000" spc="-1" strike="noStrike">
                <a:solidFill>
                  <a:schemeClr val="dk1"/>
                </a:solidFill>
                <a:latin typeface="Courier New"/>
              </a:rPr>
              <a:t>sous-rapports/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Versionner les </a:t>
            </a:r>
            <a:r>
              <a:rPr b="0" i="1" lang="en-US" sz="2000" spc="-1" strike="noStrike">
                <a:solidFill>
                  <a:schemeClr val="dk1"/>
                </a:solidFill>
                <a:latin typeface="Calibri"/>
              </a:rPr>
              <a:t>.jrxml</a:t>
            </a:r>
            <a:r>
              <a:rPr b="0" lang="en-US" sz="2000" spc="-1" strike="noStrike">
                <a:solidFill>
                  <a:schemeClr val="dk1"/>
                </a:solidFill>
                <a:latin typeface="Calibri"/>
              </a:rPr>
              <a:t> (fichiers texte) avec un outil de gestion de versions ; ne pas versionner les .jasper</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2000" spc="-1" strike="noStrike">
                <a:solidFill>
                  <a:schemeClr val="dk1"/>
                </a:solidFill>
                <a:latin typeface="Calibri"/>
              </a:rPr>
              <a:t>Une source de données de test représentative, distincte de la production</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2000" spc="-1" strike="noStrike">
                <a:solidFill>
                  <a:schemeClr val="dk1"/>
                </a:solidFill>
                <a:latin typeface="Calibri"/>
              </a:rPr>
              <a:t>Tester tôt dans le format de diffusion réel (PDF le plus souvent), pas seulement dans l'aperçu</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Installation de JasperStudio</a:t>
            </a:r>
            <a:endParaRPr b="0" lang="fr-FR" sz="3600" spc="-1" strike="noStrike">
              <a:solidFill>
                <a:srgbClr val="000000"/>
              </a:solidFill>
              <a:latin typeface="Arial"/>
            </a:endParaRPr>
          </a:p>
        </p:txBody>
      </p:sp>
      <p:sp>
        <p:nvSpPr>
          <p:cNvPr id="100"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400" spc="-1" strike="noStrike">
                <a:solidFill>
                  <a:schemeClr val="dk1"/>
                </a:solidFill>
                <a:latin typeface="Calibri"/>
              </a:rPr>
              <a:t>Téléchargement sur </a:t>
            </a:r>
            <a:r>
              <a:rPr b="1" i="1" lang="en-US" sz="2400" spc="-1" strike="noStrike">
                <a:solidFill>
                  <a:srgbClr val="0c32cf"/>
                </a:solidFill>
                <a:latin typeface="Calibri"/>
              </a:rPr>
              <a:t>community.jaspersoft.com</a:t>
            </a:r>
            <a:r>
              <a:rPr b="0" lang="en-US" sz="2400" spc="-1" strike="noStrike">
                <a:solidFill>
                  <a:schemeClr val="dk1"/>
                </a:solidFill>
                <a:latin typeface="Calibri"/>
              </a:rPr>
              <a:t> (compte gratuit requis) : Windows (installeur), macOS, Linux</a:t>
            </a:r>
            <a:endParaRPr b="0" lang="fr-FR" sz="24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2400" spc="-1" strike="noStrike">
                <a:solidFill>
                  <a:schemeClr val="dk1"/>
                </a:solidFill>
                <a:latin typeface="Calibri"/>
              </a:rPr>
              <a:t>Studio embarque sa propre machine Java : aucune installation de Java préalable</a:t>
            </a:r>
            <a:endParaRPr b="0" lang="fr-FR" sz="24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2400" spc="-1" strike="noStrike">
                <a:solidFill>
                  <a:schemeClr val="dk1"/>
                </a:solidFill>
                <a:latin typeface="Calibri"/>
              </a:rPr>
              <a:t>Mémoire : 4 Go de RAM conseillés, 1 Go d'espace disque</a:t>
            </a:r>
            <a:endParaRPr b="0" lang="fr-FR" sz="24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400" spc="-1" strike="noStrike">
                <a:solidFill>
                  <a:schemeClr val="dk1"/>
                </a:solidFill>
                <a:latin typeface="Calibri"/>
              </a:rPr>
              <a:t>Premier lancement : choix du workspace, puis la perspective « Report Design »</a:t>
            </a:r>
            <a:endParaRPr b="0" lang="fr-FR" sz="24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2400" spc="-1" strike="noStrike">
                <a:solidFill>
                  <a:schemeClr val="dk1"/>
                </a:solidFill>
                <a:latin typeface="Calibri"/>
              </a:rPr>
              <a:t>Également disponible sous forme de plugin pour un Eclipse existant</a:t>
            </a:r>
            <a:endParaRPr b="0" lang="fr-F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Documentation disponible</a:t>
            </a:r>
            <a:endParaRPr b="0" lang="fr-FR" sz="3600" spc="-1" strike="noStrike">
              <a:solidFill>
                <a:srgbClr val="000000"/>
              </a:solidFill>
              <a:latin typeface="Arial"/>
            </a:endParaRPr>
          </a:p>
        </p:txBody>
      </p:sp>
      <p:sp>
        <p:nvSpPr>
          <p:cNvPr id="102"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1" lang="en-US" sz="2200" spc="-1" strike="noStrike">
                <a:solidFill>
                  <a:srgbClr val="0c32cf"/>
                </a:solidFill>
                <a:latin typeface="Calibri"/>
              </a:rPr>
              <a:t>Jaspersoft Studio User Guide</a:t>
            </a:r>
            <a:r>
              <a:rPr b="0" lang="en-US" sz="2200" spc="-1" strike="noStrike">
                <a:solidFill>
                  <a:schemeClr val="dk1"/>
                </a:solidFill>
                <a:latin typeface="Calibri"/>
              </a:rPr>
              <a:t> : community.jaspersoft.com/documentation</a:t>
            </a:r>
            <a:endParaRPr b="0" lang="fr-FR" sz="22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200" spc="-1" strike="noStrike">
                <a:solidFill>
                  <a:srgbClr val="0c32cf"/>
                </a:solidFill>
                <a:latin typeface="Calibri"/>
              </a:rPr>
              <a:t>JasperReports Library</a:t>
            </a:r>
            <a:r>
              <a:rPr b="0" lang="en-US" sz="2200" spc="-1" strike="noStrike">
                <a:solidFill>
                  <a:schemeClr val="dk1"/>
                </a:solidFill>
                <a:latin typeface="Calibri"/>
              </a:rPr>
              <a:t> : jasperreports.sourceforge.net (schéma XML, exemples, guide des fonctions)</a:t>
            </a:r>
            <a:endParaRPr b="0" lang="fr-FR" sz="22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200" spc="-1" strike="noStrike">
                <a:solidFill>
                  <a:srgbClr val="0c32cf"/>
                </a:solidFill>
                <a:latin typeface="Calibri"/>
              </a:rPr>
              <a:t>Sources et suivi des évolutions</a:t>
            </a:r>
            <a:r>
              <a:rPr b="0" lang="en-US" sz="2200" spc="-1" strike="noStrike">
                <a:solidFill>
                  <a:schemeClr val="dk1"/>
                </a:solidFill>
                <a:latin typeface="Calibri"/>
              </a:rPr>
              <a:t> : github.com/Jaspersoft/jasperreports</a:t>
            </a:r>
            <a:endParaRPr b="0" lang="fr-FR" sz="22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200" spc="-1" strike="noStrike">
                <a:solidFill>
                  <a:srgbClr val="0c32cf"/>
                </a:solidFill>
                <a:latin typeface="Calibri"/>
              </a:rPr>
              <a:t>Dans Studio</a:t>
            </a:r>
            <a:r>
              <a:rPr b="0" lang="en-US" sz="2200" spc="-1" strike="noStrike">
                <a:solidFill>
                  <a:schemeClr val="dk1"/>
                </a:solidFill>
                <a:latin typeface="Calibri"/>
              </a:rPr>
              <a:t> : Aide contextuelle sur chaque propriété (vue Properties) et sur l'éditeur d'expressions</a:t>
            </a:r>
            <a:endParaRPr b="0" lang="fr-FR" sz="2200" spc="-1" strike="noStrike">
              <a:solidFill>
                <a:srgbClr val="000000"/>
              </a:solidFill>
              <a:latin typeface="Arial"/>
            </a:endParaRPr>
          </a:p>
        </p:txBody>
      </p:sp>
      <p:sp>
        <p:nvSpPr>
          <p:cNvPr id="103" name=""/>
          <p:cNvSpPr/>
          <p:nvPr/>
        </p:nvSpPr>
        <p:spPr>
          <a:xfrm>
            <a:off x="360000" y="7020000"/>
            <a:ext cx="6932880" cy="502560"/>
          </a:xfrm>
          <a:prstGeom prst="rect">
            <a:avLst/>
          </a:prstGeom>
          <a:noFill/>
          <a:ln w="0">
            <a:noFill/>
          </a:ln>
        </p:spPr>
        <p:style>
          <a:lnRef idx="0"/>
          <a:fillRef idx="0"/>
          <a:effectRef idx="0"/>
          <a:fontRef idx="minor"/>
        </p:style>
        <p:txBody>
          <a:bodyPr wrap="none" lIns="90000" rIns="90000" tIns="45000" bIns="45000" anchor="t">
            <a:noAutofit/>
          </a:bodyPr>
          <a:p>
            <a:pPr algn="ctr" defTabSz="457200">
              <a:lnSpc>
                <a:spcPct val="100000"/>
              </a:lnSpc>
            </a:pPr>
            <a:r>
              <a:rPr b="0" i="1" lang="fr-FR" sz="2800" spc="-1" strike="noStrike">
                <a:solidFill>
                  <a:srgbClr val="c9211e"/>
                </a:solidFill>
                <a:latin typeface="Calibri"/>
              </a:rPr>
              <a:t>Atelier 0 : Installation JasperStudio</a:t>
            </a:r>
            <a:endParaRPr b="1" lang="fr-F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Découverte de l'interface</a:t>
            </a:r>
            <a:endParaRPr b="0" lang="fr-FR" sz="3600" spc="-1" strike="noStrike">
              <a:solidFill>
                <a:srgbClr val="000000"/>
              </a:solidFill>
              <a:latin typeface="Arial"/>
            </a:endParaRPr>
          </a:p>
        </p:txBody>
      </p:sp>
      <p:sp>
        <p:nvSpPr>
          <p:cNvPr id="105" name="PlaceHolder 2"/>
          <p:cNvSpPr>
            <a:spLocks noGrp="1"/>
          </p:cNvSpPr>
          <p:nvPr>
            <p:ph/>
          </p:nvPr>
        </p:nvSpPr>
        <p:spPr>
          <a:xfrm>
            <a:off x="762120" y="2540160"/>
            <a:ext cx="9397080" cy="4062960"/>
          </a:xfrm>
          <a:prstGeom prst="rect">
            <a:avLst/>
          </a:prstGeom>
          <a:noFill/>
          <a:ln w="0">
            <a:noFill/>
          </a:ln>
        </p:spPr>
        <p:txBody>
          <a:bodyPr lIns="91440" rIns="91440" tIns="45720" bIns="45720" anchor="t">
            <a:normAutofit/>
          </a:bodyPr>
          <a:p>
            <a:pPr indent="0" algn="ctr" defTabSz="457200">
              <a:lnSpc>
                <a:spcPct val="100000"/>
              </a:lnSpc>
              <a:spcBef>
                <a:spcPts val="519"/>
              </a:spcBef>
              <a:buNone/>
              <a:tabLst>
                <a:tab algn="l" pos="0"/>
              </a:tabLst>
            </a:pPr>
            <a:r>
              <a:rPr b="0" lang="en-US" sz="2600" spc="-1" strike="noStrike">
                <a:solidFill>
                  <a:schemeClr val="dk1"/>
                </a:solidFill>
                <a:latin typeface="Calibri"/>
              </a:rPr>
              <a:t>Vue générale</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Explorateur de projet</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Zone de conception</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Propriétés des objets</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Aperçu et exécution</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Repérage des éléments d'un rapport existant</a:t>
            </a:r>
            <a:endParaRPr b="0" lang="fr-FR"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Présentation JasperStudio</a:t>
            </a:r>
            <a:endParaRPr b="0" lang="fr-FR" sz="3600" spc="-1" strike="noStrike">
              <a:solidFill>
                <a:srgbClr val="000000"/>
              </a:solidFill>
              <a:latin typeface="Arial"/>
            </a:endParaRPr>
          </a:p>
        </p:txBody>
      </p:sp>
      <p:pic>
        <p:nvPicPr>
          <p:cNvPr id="107" name="Picture 2" descr="image.png"/>
          <p:cNvPicPr/>
          <p:nvPr/>
        </p:nvPicPr>
        <p:blipFill>
          <a:blip r:embed="rId1"/>
          <a:stretch/>
        </p:blipFill>
        <p:spPr>
          <a:xfrm>
            <a:off x="1328400" y="2330280"/>
            <a:ext cx="7967880" cy="435312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Vue générale de JasperStudio</a:t>
            </a:r>
            <a:endParaRPr b="0" lang="fr-FR" sz="3600" spc="-1" strike="noStrike">
              <a:solidFill>
                <a:srgbClr val="000000"/>
              </a:solidFill>
              <a:latin typeface="Arial"/>
            </a:endParaRPr>
          </a:p>
        </p:txBody>
      </p:sp>
      <p:sp>
        <p:nvSpPr>
          <p:cNvPr id="109"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fontScale="98333" lnSpcReduction="10000"/>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L'espace de travail de </a:t>
            </a:r>
            <a:r>
              <a:rPr b="0" i="1" lang="en-US" sz="2000" spc="-1" strike="noStrike">
                <a:solidFill>
                  <a:schemeClr val="dk1"/>
                </a:solidFill>
                <a:latin typeface="Calibri"/>
              </a:rPr>
              <a:t>jasperStudio</a:t>
            </a:r>
            <a:r>
              <a:rPr b="0" lang="en-US" sz="2000" spc="-1" strike="noStrike">
                <a:solidFill>
                  <a:schemeClr val="dk1"/>
                </a:solidFill>
                <a:latin typeface="Calibri"/>
              </a:rPr>
              <a:t> est multi-fenêtre :</a:t>
            </a:r>
            <a:endParaRPr b="0" lang="fr-FR" sz="2000" spc="-1" strike="noStrike">
              <a:solidFill>
                <a:srgbClr val="000000"/>
              </a:solidFill>
              <a:latin typeface="Arial"/>
            </a:endParaRPr>
          </a:p>
          <a:p>
            <a:pPr lvl="1" marL="743040" indent="-285840" defTabSz="457200">
              <a:lnSpc>
                <a:spcPct val="100000"/>
              </a:lnSpc>
              <a:spcBef>
                <a:spcPts val="360"/>
              </a:spcBef>
              <a:buClr>
                <a:srgbClr val="000000"/>
              </a:buClr>
              <a:buFont typeface="Arial"/>
              <a:buChar char="–"/>
            </a:pPr>
            <a:r>
              <a:rPr b="1" lang="en-US" sz="1800" spc="-1" strike="noStrike">
                <a:solidFill>
                  <a:srgbClr val="0c32cf"/>
                </a:solidFill>
                <a:latin typeface="Calibri"/>
              </a:rPr>
              <a:t>Espace de design central</a:t>
            </a:r>
            <a:r>
              <a:rPr b="0" lang="en-US" sz="1800" spc="-1" strike="noStrike">
                <a:solidFill>
                  <a:schemeClr val="dk1"/>
                </a:solidFill>
                <a:latin typeface="Calibri"/>
              </a:rPr>
              <a:t> permettant d'éditer les rapports, de visualiser le XML et de prévisualiser</a:t>
            </a:r>
            <a:endParaRPr b="0" lang="fr-FR" sz="1800" spc="-1" strike="noStrike">
              <a:solidFill>
                <a:srgbClr val="000000"/>
              </a:solidFill>
              <a:latin typeface="Arial"/>
            </a:endParaRPr>
          </a:p>
          <a:p>
            <a:pPr lvl="1" marL="743040" indent="-285840" defTabSz="457200">
              <a:lnSpc>
                <a:spcPct val="100000"/>
              </a:lnSpc>
              <a:spcBef>
                <a:spcPts val="360"/>
              </a:spcBef>
              <a:buClr>
                <a:srgbClr val="000000"/>
              </a:buClr>
              <a:buFont typeface="Arial"/>
              <a:buChar char="–"/>
            </a:pPr>
            <a:r>
              <a:rPr b="1" lang="en-US" sz="1800" spc="-1" strike="noStrike">
                <a:solidFill>
                  <a:srgbClr val="0c32cf"/>
                </a:solidFill>
                <a:latin typeface="Calibri"/>
              </a:rPr>
              <a:t>Outline</a:t>
            </a:r>
            <a:r>
              <a:rPr b="0" lang="en-US" sz="1800" spc="-1" strike="noStrike">
                <a:solidFill>
                  <a:schemeClr val="dk1"/>
                </a:solidFill>
                <a:latin typeface="Calibri"/>
              </a:rPr>
              <a:t> : Vue hiérarchique du rapport, permettant de sélectionner ses éléments</a:t>
            </a:r>
            <a:endParaRPr b="0" lang="fr-FR" sz="1800" spc="-1" strike="noStrike">
              <a:solidFill>
                <a:srgbClr val="000000"/>
              </a:solidFill>
              <a:latin typeface="Arial"/>
            </a:endParaRPr>
          </a:p>
          <a:p>
            <a:pPr lvl="1" marL="743040" indent="-285840" defTabSz="457200">
              <a:lnSpc>
                <a:spcPct val="100000"/>
              </a:lnSpc>
              <a:spcBef>
                <a:spcPts val="360"/>
              </a:spcBef>
              <a:buClr>
                <a:srgbClr val="000000"/>
              </a:buClr>
              <a:buFont typeface="Arial"/>
              <a:buChar char="–"/>
            </a:pPr>
            <a:r>
              <a:rPr b="1" lang="en-US" sz="1800" spc="-1" strike="noStrike">
                <a:solidFill>
                  <a:srgbClr val="0c32cf"/>
                </a:solidFill>
                <a:latin typeface="Calibri"/>
              </a:rPr>
              <a:t>Vue propriété</a:t>
            </a:r>
            <a:r>
              <a:rPr b="0" lang="en-US" sz="1800" spc="-1" strike="noStrike">
                <a:solidFill>
                  <a:schemeClr val="dk1"/>
                </a:solidFill>
                <a:latin typeface="Calibri"/>
              </a:rPr>
              <a:t> : Permet d'éditer les propriétés de l'élément sélectionné</a:t>
            </a:r>
            <a:endParaRPr b="0" lang="fr-FR" sz="1800" spc="-1" strike="noStrike">
              <a:solidFill>
                <a:srgbClr val="000000"/>
              </a:solidFill>
              <a:latin typeface="Arial"/>
            </a:endParaRPr>
          </a:p>
          <a:p>
            <a:pPr lvl="1" marL="743040" indent="-285840" defTabSz="457200">
              <a:lnSpc>
                <a:spcPct val="100000"/>
              </a:lnSpc>
              <a:spcBef>
                <a:spcPts val="360"/>
              </a:spcBef>
              <a:buClr>
                <a:srgbClr val="000000"/>
              </a:buClr>
              <a:buFont typeface="Arial"/>
              <a:buChar char="–"/>
            </a:pPr>
            <a:r>
              <a:rPr b="1" lang="en-US" sz="1800" spc="-1" strike="noStrike">
                <a:solidFill>
                  <a:srgbClr val="0c32cf"/>
                </a:solidFill>
                <a:latin typeface="Calibri"/>
              </a:rPr>
              <a:t>Palette</a:t>
            </a:r>
            <a:r>
              <a:rPr b="0" lang="en-US" sz="1800" spc="-1" strike="noStrike">
                <a:solidFill>
                  <a:schemeClr val="dk1"/>
                </a:solidFill>
                <a:latin typeface="Calibri"/>
              </a:rPr>
              <a:t> : Placer des éléments sur le rapport</a:t>
            </a:r>
            <a:endParaRPr b="0" lang="fr-FR" sz="1800" spc="-1" strike="noStrike">
              <a:solidFill>
                <a:srgbClr val="000000"/>
              </a:solidFill>
              <a:latin typeface="Arial"/>
            </a:endParaRPr>
          </a:p>
          <a:p>
            <a:pPr lvl="1" marL="743040" indent="-285840" defTabSz="457200">
              <a:lnSpc>
                <a:spcPct val="100000"/>
              </a:lnSpc>
              <a:spcBef>
                <a:spcPts val="360"/>
              </a:spcBef>
              <a:buClr>
                <a:srgbClr val="000000"/>
              </a:buClr>
              <a:buFont typeface="Arial"/>
              <a:buChar char="–"/>
            </a:pPr>
            <a:r>
              <a:rPr b="1" lang="en-US" sz="1800" spc="-1" strike="noStrike">
                <a:solidFill>
                  <a:srgbClr val="0c32cf"/>
                </a:solidFill>
                <a:latin typeface="Calibri"/>
              </a:rPr>
              <a:t>Outils de positionnement</a:t>
            </a:r>
            <a:r>
              <a:rPr b="0" lang="en-US" sz="1800" spc="-1" strike="noStrike">
                <a:solidFill>
                  <a:schemeClr val="dk1"/>
                </a:solidFill>
                <a:latin typeface="Calibri"/>
              </a:rPr>
              <a:t> : Alignement des éléments </a:t>
            </a:r>
            <a:endParaRPr b="0" lang="fr-FR" sz="1800" spc="-1" strike="noStrike">
              <a:solidFill>
                <a:srgbClr val="000000"/>
              </a:solidFill>
              <a:latin typeface="Arial"/>
            </a:endParaRPr>
          </a:p>
          <a:p>
            <a:pPr lvl="1" marL="743040" indent="-285840" defTabSz="457200">
              <a:lnSpc>
                <a:spcPct val="100000"/>
              </a:lnSpc>
              <a:spcBef>
                <a:spcPts val="360"/>
              </a:spcBef>
              <a:buClr>
                <a:srgbClr val="000000"/>
              </a:buClr>
              <a:buFont typeface="Arial"/>
              <a:buChar char="–"/>
            </a:pPr>
            <a:r>
              <a:rPr b="1" lang="en-US" sz="1800" spc="-1" strike="noStrike">
                <a:solidFill>
                  <a:srgbClr val="0c32cf"/>
                </a:solidFill>
                <a:latin typeface="Calibri"/>
              </a:rPr>
              <a:t>Problèmes</a:t>
            </a:r>
            <a:r>
              <a:rPr b="0" lang="en-US" sz="1800" spc="-1" strike="noStrike">
                <a:solidFill>
                  <a:schemeClr val="dk1"/>
                </a:solidFill>
                <a:latin typeface="Calibri"/>
              </a:rPr>
              <a:t> : Avertissements, Problème de parsing XML, de positionnement</a:t>
            </a:r>
            <a:endParaRPr b="0" lang="fr-FR" sz="1800" spc="-1" strike="noStrike">
              <a:solidFill>
                <a:srgbClr val="000000"/>
              </a:solidFill>
              <a:latin typeface="Arial"/>
            </a:endParaRPr>
          </a:p>
          <a:p>
            <a:pPr lvl="1" marL="743040" indent="-285840" defTabSz="457200">
              <a:lnSpc>
                <a:spcPct val="100000"/>
              </a:lnSpc>
              <a:spcBef>
                <a:spcPts val="360"/>
              </a:spcBef>
              <a:buClr>
                <a:srgbClr val="000000"/>
              </a:buClr>
              <a:buFont typeface="Arial"/>
              <a:buChar char="–"/>
            </a:pPr>
            <a:r>
              <a:rPr b="1" lang="en-US" sz="1800" spc="-1" strike="noStrike">
                <a:solidFill>
                  <a:srgbClr val="0c32cf"/>
                </a:solidFill>
                <a:latin typeface="Calibri"/>
              </a:rPr>
              <a:t>Report state</a:t>
            </a:r>
            <a:r>
              <a:rPr b="0" lang="en-US" sz="1800" spc="-1" strike="noStrike">
                <a:solidFill>
                  <a:schemeClr val="dk1"/>
                </a:solidFill>
                <a:latin typeface="Calibri"/>
              </a:rPr>
              <a:t> : Résultat des programmes internes (Compilation, fusion de données, ..)</a:t>
            </a:r>
            <a:endParaRPr b="0" lang="fr-FR" sz="1800" spc="-1" strike="noStrike">
              <a:solidFill>
                <a:srgbClr val="000000"/>
              </a:solidFill>
              <a:latin typeface="Arial"/>
            </a:endParaRPr>
          </a:p>
          <a:p>
            <a:pPr lvl="1" marL="743040" indent="-285840" defTabSz="457200">
              <a:lnSpc>
                <a:spcPct val="100000"/>
              </a:lnSpc>
              <a:spcBef>
                <a:spcPts val="360"/>
              </a:spcBef>
              <a:buClr>
                <a:srgbClr val="000000"/>
              </a:buClr>
              <a:buFont typeface="Arial"/>
              <a:buChar char="–"/>
            </a:pPr>
            <a:r>
              <a:rPr b="1" lang="en-US" sz="1800" spc="-1" strike="noStrike">
                <a:solidFill>
                  <a:srgbClr val="0c32cf"/>
                </a:solidFill>
                <a:latin typeface="Calibri"/>
              </a:rPr>
              <a:t>Explorateur du repository</a:t>
            </a:r>
            <a:r>
              <a:rPr b="0" lang="en-US" sz="1800" spc="-1" strike="noStrike">
                <a:solidFill>
                  <a:schemeClr val="dk1"/>
                </a:solidFill>
                <a:latin typeface="Calibri"/>
              </a:rPr>
              <a:t> : Adaptateurs de données, accès à des serveurs JasperServer</a:t>
            </a:r>
            <a:endParaRPr b="0" lang="fr-FR" sz="18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Accès à la configuration générale via </a:t>
            </a:r>
            <a:r>
              <a:rPr b="0" i="1" lang="en-US" sz="1800" spc="-1" strike="noStrike">
                <a:solidFill>
                  <a:schemeClr val="dk1"/>
                </a:solidFill>
                <a:latin typeface="Calibri"/>
              </a:rPr>
              <a:t>Windows→ Preferences→ JasperSoft Studio</a:t>
            </a:r>
            <a:endParaRPr b="0" lang="fr-F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Explorateurs</a:t>
            </a:r>
            <a:endParaRPr b="0" lang="fr-FR" sz="3600" spc="-1" strike="noStrike">
              <a:solidFill>
                <a:srgbClr val="000000"/>
              </a:solidFill>
              <a:latin typeface="Arial"/>
            </a:endParaRPr>
          </a:p>
        </p:txBody>
      </p:sp>
      <p:sp>
        <p:nvSpPr>
          <p:cNvPr id="111"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1" lang="en-US" sz="2200" spc="-1" strike="noStrike">
                <a:solidFill>
                  <a:srgbClr val="0c32cf"/>
                </a:solidFill>
                <a:latin typeface="Calibri"/>
              </a:rPr>
              <a:t>Project Explorer</a:t>
            </a:r>
            <a:r>
              <a:rPr b="0" lang="en-US" sz="2200" spc="-1" strike="noStrike">
                <a:solidFill>
                  <a:schemeClr val="dk1"/>
                </a:solidFill>
                <a:latin typeface="Calibri"/>
              </a:rPr>
              <a:t> : projets, dossiers, fichiers .jrxml et ressources (images, polices, styles)</a:t>
            </a:r>
            <a:endParaRPr b="0" lang="fr-FR" sz="22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2000" spc="-1" strike="noStrike">
                <a:solidFill>
                  <a:schemeClr val="dk1"/>
                </a:solidFill>
                <a:latin typeface="Calibri"/>
              </a:rPr>
              <a:t>Double-clic sur un .jrxml : ouverture dans l'éditeur</a:t>
            </a:r>
            <a:endParaRPr b="0" lang="fr-FR" sz="20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2000" spc="-1" strike="noStrike">
                <a:solidFill>
                  <a:schemeClr val="dk1"/>
                </a:solidFill>
                <a:latin typeface="Calibri"/>
              </a:rPr>
              <a:t>Clic droit : nouveau rapport, import de fichiers, compilation, export</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fr-FR" sz="2200" spc="-1" strike="noStrike">
                <a:solidFill>
                  <a:srgbClr val="0c32cf"/>
                </a:solidFill>
                <a:latin typeface="Calibri"/>
              </a:rPr>
              <a:t>Repository Explorer</a:t>
            </a:r>
            <a:r>
              <a:rPr b="0" lang="fr-FR" sz="2200" spc="-1" strike="noStrike">
                <a:solidFill>
                  <a:schemeClr val="dk1"/>
                </a:solidFill>
                <a:latin typeface="Calibri"/>
              </a:rPr>
              <a:t> : data adapters définis dans le workspace, connexions à JasperReports Server</a:t>
            </a:r>
            <a:endParaRPr b="0" lang="fr-FR" sz="2200" spc="-1" strike="noStrike">
              <a:solidFill>
                <a:srgbClr val="000000"/>
              </a:solidFill>
              <a:latin typeface="Arial"/>
            </a:endParaRPr>
          </a:p>
          <a:p>
            <a:pPr marL="343080" indent="0" defTabSz="457200">
              <a:lnSpc>
                <a:spcPct val="100000"/>
              </a:lnSpc>
              <a:spcBef>
                <a:spcPts val="400"/>
              </a:spcBef>
              <a:buNone/>
              <a:tabLst>
                <a:tab algn="l" pos="0"/>
              </a:tabLst>
            </a:pPr>
            <a:endParaRPr b="0" lang="fr-FR" sz="2200" spc="-1" strike="noStrike">
              <a:solidFill>
                <a:srgbClr val="000000"/>
              </a:solidFill>
              <a:latin typeface="Arial"/>
            </a:endParaRPr>
          </a:p>
          <a:p>
            <a:pPr marL="343080" indent="-343080" defTabSz="457200">
              <a:lnSpc>
                <a:spcPct val="100000"/>
              </a:lnSpc>
              <a:spcBef>
                <a:spcPts val="400"/>
              </a:spcBef>
              <a:buClr>
                <a:srgbClr val="000000"/>
              </a:buClr>
              <a:buFont typeface="Arial"/>
              <a:buChar char="•"/>
              <a:tabLst>
                <a:tab algn="l" pos="0"/>
              </a:tabLst>
            </a:pPr>
            <a:r>
              <a:rPr b="0" lang="fr-FR" sz="2200" spc="-1" strike="noStrike">
                <a:solidFill>
                  <a:schemeClr val="dk1"/>
                </a:solidFill>
                <a:latin typeface="Calibri"/>
              </a:rPr>
              <a:t>Un fichier hors du projet peut être ouvert (File → Open File), mais ses ressources relatives ne seront pas trouvées</a:t>
            </a:r>
            <a:endParaRPr b="0" lang="fr-FR" sz="2200" spc="-1" strike="noStrike">
              <a:solidFill>
                <a:srgbClr val="000000"/>
              </a:solidFill>
              <a:latin typeface="Arial"/>
            </a:endParaRPr>
          </a:p>
          <a:p>
            <a:pPr marL="343080" indent="-343080" defTabSz="457200">
              <a:lnSpc>
                <a:spcPct val="100000"/>
              </a:lnSpc>
              <a:spcBef>
                <a:spcPts val="400"/>
              </a:spcBef>
              <a:buClr>
                <a:srgbClr val="000000"/>
              </a:buClr>
              <a:buFont typeface="Arial"/>
              <a:buChar char="•"/>
              <a:tabLst>
                <a:tab algn="l" pos="0"/>
              </a:tabLst>
            </a:pPr>
            <a:r>
              <a:rPr b="0" lang="fr-FR" sz="2200" spc="-1" strike="noStrike">
                <a:solidFill>
                  <a:schemeClr val="dk1"/>
                </a:solidFill>
                <a:latin typeface="Calibri"/>
              </a:rPr>
              <a:t>Conseil : Importer les rapports existants dans un projet avant de les modifier</a:t>
            </a:r>
            <a:endParaRPr b="0" lang="fr-FR"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Zone de conception</a:t>
            </a:r>
            <a:endParaRPr b="0" lang="fr-FR" sz="3600" spc="-1" strike="noStrike">
              <a:solidFill>
                <a:srgbClr val="000000"/>
              </a:solidFill>
              <a:latin typeface="Arial"/>
            </a:endParaRPr>
          </a:p>
        </p:txBody>
      </p:sp>
      <p:sp>
        <p:nvSpPr>
          <p:cNvPr id="113"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Trois onglets en bas de l'éditeur : </a:t>
            </a:r>
            <a:r>
              <a:rPr b="1" lang="en-US" sz="2000" spc="-1" strike="noStrike">
                <a:solidFill>
                  <a:srgbClr val="0c32cf"/>
                </a:solidFill>
                <a:latin typeface="Calibri"/>
              </a:rPr>
              <a:t>Design</a:t>
            </a:r>
            <a:r>
              <a:rPr b="0" lang="en-US" sz="2000" spc="-1" strike="noStrike">
                <a:solidFill>
                  <a:schemeClr val="dk1"/>
                </a:solidFill>
                <a:latin typeface="Calibri"/>
              </a:rPr>
              <a:t>, </a:t>
            </a:r>
            <a:r>
              <a:rPr b="1" lang="en-US" sz="2000" spc="-1" strike="noStrike">
                <a:solidFill>
                  <a:srgbClr val="0c32cf"/>
                </a:solidFill>
                <a:latin typeface="Calibri"/>
              </a:rPr>
              <a:t>Source</a:t>
            </a:r>
            <a:r>
              <a:rPr b="0" lang="en-US" sz="2000" spc="-1" strike="noStrike">
                <a:solidFill>
                  <a:schemeClr val="dk1"/>
                </a:solidFill>
                <a:latin typeface="Calibri"/>
              </a:rPr>
              <a:t> (le XML), </a:t>
            </a:r>
            <a:r>
              <a:rPr b="1" lang="en-US" sz="2000" spc="-1" strike="noStrike">
                <a:solidFill>
                  <a:srgbClr val="0c32cf"/>
                </a:solidFill>
                <a:latin typeface="Calibri"/>
              </a:rPr>
              <a:t>Preview</a:t>
            </a:r>
            <a:r>
              <a:rPr b="0" lang="en-US" sz="2000" spc="-1" strike="noStrike">
                <a:solidFill>
                  <a:schemeClr val="dk1"/>
                </a:solidFill>
                <a:latin typeface="Calibri"/>
              </a:rPr>
              <a:t> (l'aperçu)</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En Design : les bandes du rapport, les règles, le zoom, la grille d'aimantation </a:t>
            </a:r>
            <a:endParaRPr b="0" lang="fr-FR" sz="2000" spc="-1" strike="noStrike">
              <a:solidFill>
                <a:srgbClr val="000000"/>
              </a:solidFill>
              <a:latin typeface="Arial"/>
            </a:endParaRPr>
          </a:p>
          <a:p>
            <a:pPr lvl="1" marL="864000" indent="-324000" defTabSz="457200">
              <a:lnSpc>
                <a:spcPct val="100000"/>
              </a:lnSpc>
              <a:spcBef>
                <a:spcPts val="1134"/>
              </a:spcBef>
              <a:buClr>
                <a:srgbClr val="000000"/>
              </a:buClr>
              <a:buSzPct val="75000"/>
              <a:buFont typeface="Symbol" charset="2"/>
              <a:buChar char=""/>
            </a:pPr>
            <a:r>
              <a:rPr b="1" lang="en-US" sz="2000" spc="-1" strike="noStrike">
                <a:solidFill>
                  <a:srgbClr val="0c32cf"/>
                </a:solidFill>
                <a:latin typeface="Calibri"/>
              </a:rPr>
              <a:t>Palette</a:t>
            </a:r>
            <a:r>
              <a:rPr b="0" lang="en-US" sz="2000" spc="-1" strike="noStrike">
                <a:solidFill>
                  <a:schemeClr val="dk1"/>
                </a:solidFill>
                <a:latin typeface="Calibri"/>
              </a:rPr>
              <a:t> : éléments de base (Static Text, Text Field, Image, Line, Rectangle, Frame, Break), éléments avancés (Table, List, Chart, Crosstab), éléments composite (Nombre de pages, auteur, etc...)</a:t>
            </a:r>
            <a:endParaRPr b="0" lang="fr-FR" sz="2000" spc="-1" strike="noStrike">
              <a:solidFill>
                <a:srgbClr val="000000"/>
              </a:solidFill>
              <a:latin typeface="Arial"/>
            </a:endParaRPr>
          </a:p>
          <a:p>
            <a:pPr lvl="1" marL="864000" indent="-324000" defTabSz="457200">
              <a:lnSpc>
                <a:spcPct val="100000"/>
              </a:lnSpc>
              <a:spcBef>
                <a:spcPts val="1134"/>
              </a:spcBef>
              <a:buClr>
                <a:srgbClr val="000000"/>
              </a:buClr>
              <a:buSzPct val="75000"/>
              <a:buFont typeface="Symbol" charset="2"/>
              <a:buChar char=""/>
            </a:pPr>
            <a:r>
              <a:rPr b="0" lang="en-US" sz="2000" spc="-1" strike="noStrike">
                <a:solidFill>
                  <a:schemeClr val="dk1"/>
                </a:solidFill>
                <a:latin typeface="Calibri"/>
              </a:rPr>
              <a:t>Glisser-déposer un champ, un paramètre ou une variable depuis </a:t>
            </a:r>
            <a:r>
              <a:rPr b="1" lang="en-US" sz="2000" spc="-1" strike="noStrike">
                <a:solidFill>
                  <a:srgbClr val="0c32cf"/>
                </a:solidFill>
                <a:latin typeface="Calibri"/>
              </a:rPr>
              <a:t>l'Outline</a:t>
            </a:r>
            <a:r>
              <a:rPr b="0" lang="en-US" sz="2000" spc="-1" strike="noStrike">
                <a:solidFill>
                  <a:schemeClr val="dk1"/>
                </a:solidFill>
                <a:latin typeface="Calibri"/>
              </a:rPr>
              <a:t> crée directement un champ texte</a:t>
            </a:r>
            <a:endParaRPr b="0" lang="fr-FR" sz="2000" spc="-1" strike="noStrike">
              <a:solidFill>
                <a:srgbClr val="000000"/>
              </a:solidFill>
              <a:latin typeface="Arial"/>
            </a:endParaRPr>
          </a:p>
          <a:p>
            <a:pPr lvl="1" marL="864000" indent="-324000" defTabSz="457200">
              <a:lnSpc>
                <a:spcPct val="100000"/>
              </a:lnSpc>
              <a:spcBef>
                <a:spcPts val="1134"/>
              </a:spcBef>
              <a:buClr>
                <a:srgbClr val="000000"/>
              </a:buClr>
              <a:buSzPct val="75000"/>
              <a:buFont typeface="Symbol" charset="2"/>
              <a:buChar char=""/>
            </a:pPr>
            <a:r>
              <a:rPr b="1" lang="fr-FR" sz="2000" spc="-1" strike="noStrike">
                <a:solidFill>
                  <a:srgbClr val="0c32cf"/>
                </a:solidFill>
                <a:latin typeface="Calibri"/>
              </a:rPr>
              <a:t>Propriétés</a:t>
            </a:r>
            <a:r>
              <a:rPr b="0" lang="fr-FR" sz="2000" spc="-1" strike="noStrike">
                <a:solidFill>
                  <a:schemeClr val="dk1"/>
                </a:solidFill>
                <a:latin typeface="Calibri"/>
              </a:rPr>
              <a:t> : Propriétés de l’élement sélectionné. alignement, distribution, taille, ordre d'affichage</a:t>
            </a:r>
            <a:endParaRPr b="0" lang="fr-FR" sz="2000" spc="-1" strike="noStrike">
              <a:solidFill>
                <a:srgbClr val="000000"/>
              </a:solidFill>
              <a:latin typeface="Arial"/>
            </a:endParaRPr>
          </a:p>
          <a:p>
            <a:pPr lvl="1" marL="864000" indent="-324000" defTabSz="457200">
              <a:lnSpc>
                <a:spcPct val="100000"/>
              </a:lnSpc>
              <a:spcBef>
                <a:spcPts val="1134"/>
              </a:spcBef>
              <a:buClr>
                <a:srgbClr val="000000"/>
              </a:buClr>
              <a:buSzPct val="75000"/>
              <a:buFont typeface="Symbol" charset="2"/>
              <a:buChar char=""/>
            </a:pPr>
            <a:r>
              <a:rPr b="1" lang="en-US" sz="2000" spc="-1" strike="noStrike">
                <a:solidFill>
                  <a:srgbClr val="0c32cf"/>
                </a:solidFill>
                <a:latin typeface="Calibri"/>
              </a:rPr>
              <a:t>Menu contextuel</a:t>
            </a:r>
            <a:r>
              <a:rPr b="0" lang="en-US" sz="2000" spc="-1" strike="noStrike">
                <a:solidFill>
                  <a:schemeClr val="dk1"/>
                </a:solidFill>
                <a:latin typeface="Calibri"/>
              </a:rPr>
              <a:t> : Alignement, arrangement, ...</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Propriétés des objets</a:t>
            </a:r>
            <a:endParaRPr b="0" lang="fr-FR" sz="3600" spc="-1" strike="noStrike">
              <a:solidFill>
                <a:srgbClr val="000000"/>
              </a:solidFill>
              <a:latin typeface="Arial"/>
            </a:endParaRPr>
          </a:p>
        </p:txBody>
      </p:sp>
      <p:sp>
        <p:nvSpPr>
          <p:cNvPr id="115"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fontScale="98333" lnSpcReduction="10000"/>
          </a:bodyPr>
          <a:p>
            <a:pPr marL="343080" indent="-343080" defTabSz="457200">
              <a:lnSpc>
                <a:spcPct val="100000"/>
              </a:lnSpc>
              <a:spcBef>
                <a:spcPts val="400"/>
              </a:spcBef>
              <a:buClr>
                <a:srgbClr val="000000"/>
              </a:buClr>
              <a:buFont typeface="Arial"/>
              <a:buChar char="•"/>
            </a:pPr>
            <a:r>
              <a:rPr b="0" lang="fr-FR" sz="2200" spc="-1" strike="noStrike">
                <a:solidFill>
                  <a:schemeClr val="dk1"/>
                </a:solidFill>
                <a:latin typeface="Calibri"/>
              </a:rPr>
              <a:t>Vue </a:t>
            </a:r>
            <a:r>
              <a:rPr b="1" lang="fr-FR" sz="2200" spc="-1" strike="noStrike">
                <a:solidFill>
                  <a:srgbClr val="0c32cf"/>
                </a:solidFill>
                <a:latin typeface="Calibri"/>
              </a:rPr>
              <a:t>Properties</a:t>
            </a:r>
            <a:r>
              <a:rPr b="0" lang="fr-FR" sz="2200" spc="-1" strike="noStrike">
                <a:solidFill>
                  <a:schemeClr val="dk1"/>
                </a:solidFill>
                <a:latin typeface="Calibri"/>
              </a:rPr>
              <a:t> : toutes les propriétés de l'élément sélectionné</a:t>
            </a:r>
            <a:endParaRPr b="0" lang="fr-FR" sz="22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2000" spc="-1" strike="noStrike" u="sng">
                <a:solidFill>
                  <a:schemeClr val="dk1"/>
                </a:solidFill>
                <a:uFillTx/>
                <a:latin typeface="Calibri"/>
              </a:rPr>
              <a:t>Appearance</a:t>
            </a:r>
            <a:r>
              <a:rPr b="0" lang="en-US" sz="2000" spc="-1" strike="noStrike">
                <a:solidFill>
                  <a:schemeClr val="dk1"/>
                </a:solidFill>
                <a:latin typeface="Calibri"/>
              </a:rPr>
              <a:t> : position, taille, couleurs, style appliqué</a:t>
            </a:r>
            <a:endParaRPr b="0" lang="fr-FR" sz="20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2000" spc="-1" strike="noStrike" u="sng">
                <a:solidFill>
                  <a:schemeClr val="dk1"/>
                </a:solidFill>
                <a:uFillTx/>
                <a:latin typeface="Calibri"/>
              </a:rPr>
              <a:t>Borders</a:t>
            </a:r>
            <a:r>
              <a:rPr b="0" lang="en-US" sz="2000" spc="-1" strike="noStrike">
                <a:solidFill>
                  <a:schemeClr val="dk1"/>
                </a:solidFill>
                <a:latin typeface="Calibri"/>
              </a:rPr>
              <a:t> : bordures et marges internes</a:t>
            </a:r>
            <a:endParaRPr b="0" lang="fr-FR" sz="20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2000" spc="-1" strike="noStrike" u="sng">
                <a:solidFill>
                  <a:schemeClr val="dk1"/>
                </a:solidFill>
                <a:uFillTx/>
                <a:latin typeface="Calibri"/>
              </a:rPr>
              <a:t>Text / Static Text / Text Field</a:t>
            </a:r>
            <a:r>
              <a:rPr b="0" lang="en-US" sz="2000" spc="-1" strike="noStrike">
                <a:solidFill>
                  <a:schemeClr val="dk1"/>
                </a:solidFill>
                <a:latin typeface="Calibri"/>
              </a:rPr>
              <a:t> : police, alignement, expression, pattern</a:t>
            </a:r>
            <a:endParaRPr b="0" lang="fr-FR" sz="20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2000" spc="-1" strike="noStrike" u="sng">
                <a:solidFill>
                  <a:schemeClr val="dk1"/>
                </a:solidFill>
                <a:uFillTx/>
                <a:latin typeface="Calibri"/>
              </a:rPr>
              <a:t>Inheritance</a:t>
            </a:r>
            <a:r>
              <a:rPr b="0" lang="en-US" sz="2000" spc="-1" strike="noStrike">
                <a:solidFill>
                  <a:schemeClr val="dk1"/>
                </a:solidFill>
                <a:latin typeface="Calibri"/>
              </a:rPr>
              <a:t> : d'où vient chaque valeur (élément, style, valeur par défaut)</a:t>
            </a:r>
            <a:endParaRPr b="0" lang="fr-FR" sz="20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2000" spc="-1" strike="noStrike" u="sng">
                <a:solidFill>
                  <a:schemeClr val="dk1"/>
                </a:solidFill>
                <a:uFillTx/>
                <a:latin typeface="Calibri"/>
              </a:rPr>
              <a:t>Advanced</a:t>
            </a:r>
            <a:r>
              <a:rPr b="0" lang="en-US" sz="2000" spc="-1" strike="noStrike">
                <a:solidFill>
                  <a:schemeClr val="dk1"/>
                </a:solidFill>
                <a:latin typeface="Calibri"/>
              </a:rPr>
              <a:t> : la liste complète des attributs, dont les propriétés d'export</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200" spc="-1" strike="noStrike">
                <a:solidFill>
                  <a:schemeClr val="dk1"/>
                </a:solidFill>
                <a:latin typeface="Calibri"/>
              </a:rPr>
              <a:t>Sélection multiple : les propriétés communes sont modifiées d'un coup</a:t>
            </a:r>
            <a:endParaRPr b="0" lang="fr-FR" sz="22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200" spc="-1" strike="noStrike">
                <a:solidFill>
                  <a:schemeClr val="dk1"/>
                </a:solidFill>
                <a:latin typeface="Calibri"/>
              </a:rPr>
              <a:t>Sélectionner le rapport lui-même (clic dans le vide) : dimensions, marges, langage, colonnes</a:t>
            </a:r>
            <a:endParaRPr b="0" lang="fr-FR"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Aperçu et exécution</a:t>
            </a:r>
            <a:endParaRPr b="0" lang="fr-FR" sz="3600" spc="-1" strike="noStrike">
              <a:solidFill>
                <a:srgbClr val="000000"/>
              </a:solidFill>
              <a:latin typeface="Arial"/>
            </a:endParaRPr>
          </a:p>
        </p:txBody>
      </p:sp>
      <p:sp>
        <p:nvSpPr>
          <p:cNvPr id="117"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fr-FR" sz="2000" spc="-1" strike="noStrike">
                <a:solidFill>
                  <a:schemeClr val="dk1"/>
                </a:solidFill>
                <a:latin typeface="Calibri"/>
              </a:rPr>
              <a:t>Onglet </a:t>
            </a:r>
            <a:r>
              <a:rPr b="1" lang="fr-FR" sz="2000" spc="-1" strike="noStrike">
                <a:solidFill>
                  <a:srgbClr val="0c32cf"/>
                </a:solidFill>
                <a:latin typeface="Calibri"/>
              </a:rPr>
              <a:t>Preview</a:t>
            </a:r>
            <a:r>
              <a:rPr b="0" lang="fr-FR" sz="2000" spc="-1" strike="noStrike">
                <a:solidFill>
                  <a:schemeClr val="dk1"/>
                </a:solidFill>
                <a:latin typeface="Calibri"/>
              </a:rPr>
              <a:t> : compilation puis génération avec le data adapter choisi (liste déroulante)</a:t>
            </a:r>
            <a:endParaRPr b="0" lang="fr-FR" sz="2000" spc="-1" strike="noStrike">
              <a:solidFill>
                <a:srgbClr val="000000"/>
              </a:solidFill>
              <a:latin typeface="Arial"/>
            </a:endParaRPr>
          </a:p>
          <a:p>
            <a:pPr lvl="1" marL="864000" indent="-324000" defTabSz="457200">
              <a:lnSpc>
                <a:spcPct val="100000"/>
              </a:lnSpc>
              <a:spcBef>
                <a:spcPts val="1134"/>
              </a:spcBef>
              <a:buClr>
                <a:srgbClr val="000000"/>
              </a:buClr>
              <a:buSzPct val="75000"/>
              <a:buFont typeface="Symbol" charset="2"/>
              <a:buChar char=""/>
            </a:pPr>
            <a:r>
              <a:rPr b="0" lang="en-US" sz="2000" spc="-1" strike="noStrike">
                <a:solidFill>
                  <a:schemeClr val="dk1"/>
                </a:solidFill>
                <a:latin typeface="Calibri"/>
              </a:rPr>
              <a:t>Choix du format de sortie : Java (écran), PDF, HTML, XLSX, DOCX, CSV, …</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Saisie des paramètres d'entrée dans la vue </a:t>
            </a:r>
            <a:r>
              <a:rPr b="1" lang="en-US" sz="2000" spc="-1" strike="noStrike">
                <a:solidFill>
                  <a:srgbClr val="0c32cf"/>
                </a:solidFill>
                <a:latin typeface="Calibri"/>
              </a:rPr>
              <a:t>Input Parameters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Vue </a:t>
            </a:r>
            <a:r>
              <a:rPr b="1" lang="en-US" sz="2000" spc="-1" strike="noStrike">
                <a:solidFill>
                  <a:srgbClr val="0c32cf"/>
                </a:solidFill>
                <a:latin typeface="Calibri"/>
              </a:rPr>
              <a:t>Report State</a:t>
            </a:r>
            <a:r>
              <a:rPr b="0" lang="en-US" sz="2000" spc="-1" strike="noStrike">
                <a:solidFill>
                  <a:schemeClr val="dk1"/>
                </a:solidFill>
                <a:latin typeface="Calibri"/>
              </a:rPr>
              <a:t> : temps de compilation, de remplissage, d'export ; nombre de pages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Vue </a:t>
            </a:r>
            <a:r>
              <a:rPr b="1" lang="en-US" sz="2000" spc="-1" strike="noStrike">
                <a:solidFill>
                  <a:srgbClr val="0c32cf"/>
                </a:solidFill>
                <a:latin typeface="Calibri"/>
              </a:rPr>
              <a:t>Problems</a:t>
            </a:r>
            <a:r>
              <a:rPr b="0" lang="en-US" sz="2000" spc="-1" strike="noStrike">
                <a:solidFill>
                  <a:schemeClr val="dk1"/>
                </a:solidFill>
                <a:latin typeface="Calibri"/>
              </a:rPr>
              <a:t> : erreurs de compilation (élément hors de la bande, expression invalide, …)</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000" spc="-1" strike="noStrike">
                <a:solidFill>
                  <a:srgbClr val="0c32cf"/>
                </a:solidFill>
                <a:latin typeface="Calibri"/>
              </a:rPr>
              <a:t>Console</a:t>
            </a:r>
            <a:r>
              <a:rPr b="0" lang="en-US" sz="2000" spc="-1" strike="noStrike">
                <a:solidFill>
                  <a:schemeClr val="dk1"/>
                </a:solidFill>
                <a:latin typeface="Calibri"/>
              </a:rPr>
              <a:t> : détail des erreurs à l'exécution (image introuvable, requête SQL en erreur)</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fr-FR" sz="3600" spc="-1" strike="noStrike">
                <a:solidFill>
                  <a:schemeClr val="dk1"/>
                </a:solidFill>
                <a:latin typeface="Calibri"/>
              </a:rPr>
              <a:t>Repérer les éléments d'un rapport existant</a:t>
            </a:r>
            <a:endParaRPr b="0" lang="fr-FR" sz="3600" spc="-1" strike="noStrike">
              <a:solidFill>
                <a:srgbClr val="000000"/>
              </a:solidFill>
              <a:latin typeface="Arial"/>
            </a:endParaRPr>
          </a:p>
        </p:txBody>
      </p:sp>
      <p:sp>
        <p:nvSpPr>
          <p:cNvPr id="119"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100" spc="-1" strike="noStrike">
                <a:solidFill>
                  <a:schemeClr val="dk1"/>
                </a:solidFill>
                <a:latin typeface="Calibri"/>
              </a:rPr>
              <a:t>Sélection avec la souris de l’élément dans la vue design</a:t>
            </a:r>
            <a:endParaRPr b="0" lang="fr-FR" sz="21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100" spc="-1" strike="noStrike">
                <a:solidFill>
                  <a:schemeClr val="dk1"/>
                </a:solidFill>
                <a:latin typeface="Calibri"/>
              </a:rPr>
              <a:t>Vue </a:t>
            </a:r>
            <a:r>
              <a:rPr b="1" lang="en-US" sz="2100" spc="-1" strike="noStrike">
                <a:solidFill>
                  <a:srgbClr val="0c32cf"/>
                </a:solidFill>
                <a:latin typeface="Calibri"/>
              </a:rPr>
              <a:t>Outline</a:t>
            </a:r>
            <a:r>
              <a:rPr b="0" lang="en-US" sz="2100" spc="-1" strike="noStrike">
                <a:solidFill>
                  <a:schemeClr val="dk1"/>
                </a:solidFill>
                <a:latin typeface="Calibri"/>
              </a:rPr>
              <a:t> : arbre du rapport (styles, paramètres, champs, variables, bandes, éléments)</a:t>
            </a:r>
            <a:endParaRPr b="0" lang="fr-FR" sz="21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1800" spc="-1" strike="noStrike">
                <a:solidFill>
                  <a:schemeClr val="dk1"/>
                </a:solidFill>
                <a:latin typeface="Calibri"/>
              </a:rPr>
              <a:t>Un clic sur un élément de l'Outline le sélectionne dans la zone de conception</a:t>
            </a:r>
            <a:endParaRPr b="0" lang="fr-FR" sz="18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100" spc="-1" strike="noStrike">
                <a:solidFill>
                  <a:srgbClr val="0c32cf"/>
                </a:solidFill>
                <a:latin typeface="Calibri"/>
              </a:rPr>
              <a:t>Onglet Source + Ctrl+F</a:t>
            </a:r>
            <a:r>
              <a:rPr b="0" lang="en-US" sz="2100" spc="-1" strike="noStrike">
                <a:solidFill>
                  <a:schemeClr val="dk1"/>
                </a:solidFill>
                <a:latin typeface="Calibri"/>
              </a:rPr>
              <a:t> : rechercher un libellé ou un nom de champ dans le XML</a:t>
            </a:r>
            <a:endParaRPr b="0" lang="fr-FR" sz="21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100" spc="-1" strike="noStrike">
                <a:solidFill>
                  <a:srgbClr val="0c32cf"/>
                </a:solidFill>
                <a:latin typeface="Calibri"/>
              </a:rPr>
              <a:t>Vue Properties</a:t>
            </a:r>
            <a:r>
              <a:rPr b="0" lang="en-US" sz="2100" spc="-1" strike="noStrike">
                <a:solidFill>
                  <a:schemeClr val="dk1"/>
                </a:solidFill>
                <a:latin typeface="Calibri"/>
              </a:rPr>
              <a:t> : lire l'expression d'un champ texte pour savoir quelle donnée il affiche</a:t>
            </a:r>
            <a:endParaRPr b="0" lang="fr-FR" sz="21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i="1" lang="en-US" sz="2100" spc="-1" strike="noStrike">
                <a:solidFill>
                  <a:srgbClr val="c9211e"/>
                </a:solidFill>
                <a:latin typeface="Calibri"/>
              </a:rPr>
              <a:t>Menu Window → Show View</a:t>
            </a:r>
            <a:r>
              <a:rPr b="0" lang="en-US" sz="2100" spc="-1" strike="noStrike">
                <a:solidFill>
                  <a:schemeClr val="dk1"/>
                </a:solidFill>
                <a:latin typeface="Calibri"/>
              </a:rPr>
              <a:t> pour réafficher une vue fermée ; </a:t>
            </a:r>
            <a:r>
              <a:rPr b="0" i="1" lang="en-US" sz="2100" spc="-1" strike="noStrike">
                <a:solidFill>
                  <a:srgbClr val="c9211e"/>
                </a:solidFill>
                <a:latin typeface="Calibri"/>
              </a:rPr>
              <a:t>Window → Reset Perspective</a:t>
            </a:r>
            <a:r>
              <a:rPr b="0" lang="en-US" sz="2100" spc="-1" strike="noStrike">
                <a:solidFill>
                  <a:schemeClr val="dk1"/>
                </a:solidFill>
                <a:latin typeface="Calibri"/>
              </a:rPr>
              <a:t> pour tout remettre en place</a:t>
            </a:r>
            <a:endParaRPr b="0" lang="fr-FR" sz="21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100" spc="-1" strike="noStrike">
                <a:solidFill>
                  <a:schemeClr val="dk1"/>
                </a:solidFill>
                <a:latin typeface="Calibri"/>
              </a:rPr>
              <a:t>Vérifier le data adapter par défaut du rapport (onglet Design, barre du haut) avant tout aperçu</a:t>
            </a:r>
            <a:endParaRPr b="0" lang="fr-FR"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Test de la configuration</a:t>
            </a:r>
            <a:endParaRPr b="0" lang="fr-FR" sz="3600" spc="-1" strike="noStrike">
              <a:solidFill>
                <a:srgbClr val="000000"/>
              </a:solidFill>
              <a:latin typeface="Arial"/>
            </a:endParaRPr>
          </a:p>
        </p:txBody>
      </p:sp>
      <p:sp>
        <p:nvSpPr>
          <p:cNvPr id="121"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Tester la configuration en créant un rapport vide :</a:t>
            </a:r>
            <a:br>
              <a:rPr sz="3200"/>
            </a:br>
            <a:r>
              <a:rPr b="0" lang="en-US" sz="2800" spc="-1" strike="noStrike">
                <a:solidFill>
                  <a:schemeClr val="dk1"/>
                </a:solidFill>
                <a:latin typeface="Calibri"/>
              </a:rPr>
              <a:t>1. </a:t>
            </a:r>
            <a:r>
              <a:rPr b="0" i="1" lang="en-US" sz="2000" spc="-1" strike="noStrike">
                <a:solidFill>
                  <a:schemeClr val="dk1"/>
                </a:solidFill>
                <a:latin typeface="Calibri"/>
              </a:rPr>
              <a:t>File → New → Jasper Studio → JasperReports Project</a:t>
            </a:r>
            <a:r>
              <a:rPr b="0" lang="en-US" sz="2800" spc="-1" strike="noStrike">
                <a:solidFill>
                  <a:schemeClr val="dk1"/>
                </a:solidFill>
                <a:latin typeface="Calibri"/>
              </a:rPr>
              <a:t> </a:t>
            </a:r>
            <a:br>
              <a:rPr sz="3200"/>
            </a:br>
            <a:r>
              <a:rPr b="0" lang="en-US" sz="2800" spc="-1" strike="noStrike">
                <a:solidFill>
                  <a:schemeClr val="dk1"/>
                </a:solidFill>
                <a:latin typeface="Calibri"/>
              </a:rPr>
              <a:t>2. </a:t>
            </a:r>
            <a:r>
              <a:rPr b="0" i="1" lang="en-US" sz="2000" spc="-1" strike="noStrike">
                <a:solidFill>
                  <a:schemeClr val="dk1"/>
                </a:solidFill>
                <a:latin typeface="Calibri"/>
              </a:rPr>
              <a:t>File → New → JasperReport</a:t>
            </a:r>
            <a:br>
              <a:rPr sz="3200"/>
            </a:br>
            <a:r>
              <a:rPr b="0" i="1" lang="en-US" sz="2000" spc="-1" strike="noStrike">
                <a:solidFill>
                  <a:schemeClr val="dk1"/>
                </a:solidFill>
                <a:latin typeface="Calibri"/>
              </a:rPr>
              <a:t>3. Choix du gabarit « blank »</a:t>
            </a:r>
            <a:br>
              <a:rPr sz="3200"/>
            </a:br>
            <a:r>
              <a:rPr b="0" i="1" lang="en-US" sz="2000" spc="-1" strike="noStrike">
                <a:solidFill>
                  <a:schemeClr val="dk1"/>
                </a:solidFill>
                <a:latin typeface="Calibri"/>
              </a:rPr>
              <a:t>4. Choix du nom de fichier.</a:t>
            </a:r>
            <a:endParaRPr b="0" lang="fr-FR" sz="20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Si tout est normal, </a:t>
            </a:r>
            <a:r>
              <a:rPr b="0" i="1" lang="en-US" sz="3200" spc="-1" strike="noStrike">
                <a:solidFill>
                  <a:schemeClr val="dk1"/>
                </a:solidFill>
                <a:latin typeface="Calibri"/>
              </a:rPr>
              <a:t>jasperStudio </a:t>
            </a:r>
            <a:r>
              <a:rPr b="0" lang="en-US" sz="3200" spc="-1" strike="noStrike">
                <a:solidFill>
                  <a:schemeClr val="dk1"/>
                </a:solidFill>
                <a:latin typeface="Calibri"/>
              </a:rPr>
              <a:t> génère un fichier </a:t>
            </a:r>
            <a:r>
              <a:rPr b="0" i="1" lang="en-US" sz="3200" spc="-1" strike="noStrike">
                <a:solidFill>
                  <a:schemeClr val="dk1"/>
                </a:solidFill>
                <a:latin typeface="Calibri"/>
              </a:rPr>
              <a:t>.jasper</a:t>
            </a:r>
            <a:r>
              <a:rPr b="0" lang="en-US" sz="3200" spc="-1" strike="noStrike">
                <a:solidFill>
                  <a:schemeClr val="dk1"/>
                </a:solidFill>
                <a:latin typeface="Calibri"/>
              </a:rPr>
              <a:t> et affiche une prévisualisation d'une page blanche</a:t>
            </a:r>
            <a:endParaRPr b="0" lang="fr-FR" sz="3200" spc="-1" strike="noStrike">
              <a:solidFill>
                <a:srgbClr val="000000"/>
              </a:solidFill>
              <a:latin typeface="Arial"/>
            </a:endParaRPr>
          </a:p>
        </p:txBody>
      </p:sp>
      <p:sp>
        <p:nvSpPr>
          <p:cNvPr id="122" name=""/>
          <p:cNvSpPr/>
          <p:nvPr/>
        </p:nvSpPr>
        <p:spPr>
          <a:xfrm>
            <a:off x="360000" y="7020000"/>
            <a:ext cx="6932880" cy="502560"/>
          </a:xfrm>
          <a:prstGeom prst="rect">
            <a:avLst/>
          </a:prstGeom>
          <a:noFill/>
          <a:ln w="0">
            <a:noFill/>
          </a:ln>
        </p:spPr>
        <p:style>
          <a:lnRef idx="0"/>
          <a:fillRef idx="0"/>
          <a:effectRef idx="0"/>
          <a:fontRef idx="minor"/>
        </p:style>
        <p:txBody>
          <a:bodyPr wrap="none" lIns="90000" rIns="90000" tIns="45000" bIns="45000" anchor="t">
            <a:noAutofit/>
          </a:bodyPr>
          <a:p>
            <a:pPr algn="ctr" defTabSz="457200">
              <a:lnSpc>
                <a:spcPct val="100000"/>
              </a:lnSpc>
            </a:pPr>
            <a:r>
              <a:rPr b="0" i="1" lang="fr-FR" sz="2800" spc="-1" strike="noStrike">
                <a:solidFill>
                  <a:srgbClr val="c9211e"/>
                </a:solidFill>
                <a:latin typeface="Calibri"/>
              </a:rPr>
              <a:t>Atelier 1 : Découverte de JasperStudio</a:t>
            </a:r>
            <a:endParaRPr b="0" lang="fr-F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Les sources de données</a:t>
            </a:r>
            <a:endParaRPr b="0" lang="fr-FR" sz="3600" spc="-1" strike="noStrike">
              <a:solidFill>
                <a:srgbClr val="000000"/>
              </a:solidFill>
              <a:latin typeface="Arial"/>
            </a:endParaRPr>
          </a:p>
        </p:txBody>
      </p:sp>
      <p:sp>
        <p:nvSpPr>
          <p:cNvPr id="124" name="PlaceHolder 2"/>
          <p:cNvSpPr>
            <a:spLocks noGrp="1"/>
          </p:cNvSpPr>
          <p:nvPr>
            <p:ph/>
          </p:nvPr>
        </p:nvSpPr>
        <p:spPr>
          <a:xfrm>
            <a:off x="762120" y="2540160"/>
            <a:ext cx="9397080" cy="4062960"/>
          </a:xfrm>
          <a:prstGeom prst="rect">
            <a:avLst/>
          </a:prstGeom>
          <a:noFill/>
          <a:ln w="0">
            <a:noFill/>
          </a:ln>
        </p:spPr>
        <p:txBody>
          <a:bodyPr lIns="91440" rIns="91440" tIns="45720" bIns="45720" anchor="t">
            <a:normAutofit/>
          </a:bodyPr>
          <a:p>
            <a:pPr indent="0" algn="ctr" defTabSz="457200">
              <a:lnSpc>
                <a:spcPct val="100000"/>
              </a:lnSpc>
              <a:spcBef>
                <a:spcPts val="519"/>
              </a:spcBef>
              <a:buNone/>
              <a:tabLst>
                <a:tab algn="l" pos="0"/>
              </a:tabLst>
            </a:pPr>
            <a:r>
              <a:rPr b="0" lang="fr-FR" sz="2600" spc="-1" strike="noStrike">
                <a:solidFill>
                  <a:schemeClr val="dk1"/>
                </a:solidFill>
                <a:latin typeface="Calibri"/>
              </a:rPr>
              <a:t>Logique générale d'alimentation d'un rapport</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Sources supportées, sources JDBC</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Visualiser les données dans JasperStudio</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Paramètres, champs et variables</a:t>
            </a:r>
            <a:endParaRPr b="0" lang="fr-FR"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Logique générale d'alimentation d'un rapport</a:t>
            </a:r>
            <a:endParaRPr b="0" lang="fr-FR" sz="3600" spc="-1" strike="noStrike">
              <a:solidFill>
                <a:srgbClr val="000000"/>
              </a:solidFill>
              <a:latin typeface="Arial"/>
            </a:endParaRPr>
          </a:p>
        </p:txBody>
      </p:sp>
      <p:sp>
        <p:nvSpPr>
          <p:cNvPr id="126"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Un rapport = un </a:t>
            </a:r>
            <a:r>
              <a:rPr b="1" lang="en-US" sz="2000" spc="-1" strike="noStrike">
                <a:solidFill>
                  <a:srgbClr val="0c32cf"/>
                </a:solidFill>
                <a:latin typeface="Calibri"/>
              </a:rPr>
              <a:t>modèle</a:t>
            </a:r>
            <a:r>
              <a:rPr b="0" lang="en-US" sz="2000" spc="-1" strike="noStrike">
                <a:solidFill>
                  <a:schemeClr val="dk1"/>
                </a:solidFill>
                <a:latin typeface="Calibri"/>
              </a:rPr>
              <a:t> (.jrxml) + des </a:t>
            </a:r>
            <a:r>
              <a:rPr b="1" lang="en-US" sz="2000" spc="-1" strike="noStrike">
                <a:solidFill>
                  <a:srgbClr val="0c32cf"/>
                </a:solidFill>
                <a:latin typeface="Calibri"/>
              </a:rPr>
              <a:t>données</a:t>
            </a:r>
            <a:r>
              <a:rPr b="0" lang="en-US" sz="2000" spc="-1" strike="noStrike">
                <a:solidFill>
                  <a:schemeClr val="dk1"/>
                </a:solidFill>
                <a:latin typeface="Calibri"/>
              </a:rPr>
              <a:t> fournies au moment de la génération</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Le </a:t>
            </a:r>
            <a:r>
              <a:rPr b="1" lang="en-US" sz="2000" spc="-1" strike="noStrike">
                <a:solidFill>
                  <a:srgbClr val="0c32cf"/>
                </a:solidFill>
                <a:latin typeface="Calibri"/>
              </a:rPr>
              <a:t>data adapter</a:t>
            </a:r>
            <a:r>
              <a:rPr b="0" lang="en-US" sz="2000" spc="-1" strike="noStrike">
                <a:solidFill>
                  <a:schemeClr val="dk1"/>
                </a:solidFill>
                <a:latin typeface="Calibri"/>
              </a:rPr>
              <a:t> décrit d'où viennent les données : </a:t>
            </a:r>
            <a:br>
              <a:rPr sz="2000"/>
            </a:br>
            <a:r>
              <a:rPr b="0" lang="en-US" sz="2000" spc="-1" strike="noStrike">
                <a:solidFill>
                  <a:schemeClr val="dk1"/>
                </a:solidFill>
                <a:latin typeface="Calibri"/>
              </a:rPr>
              <a:t>connexion à une base, fichier, objets de l'application</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Le modèle déclare :</a:t>
            </a:r>
            <a:endParaRPr b="0" lang="fr-FR" sz="2000" spc="-1" strike="noStrike">
              <a:solidFill>
                <a:srgbClr val="000000"/>
              </a:solidFill>
              <a:latin typeface="Arial"/>
            </a:endParaRPr>
          </a:p>
          <a:p>
            <a:pPr lvl="1" marL="864000" indent="-324000" defTabSz="457200">
              <a:lnSpc>
                <a:spcPct val="100000"/>
              </a:lnSpc>
              <a:spcBef>
                <a:spcPts val="1134"/>
              </a:spcBef>
              <a:buClr>
                <a:srgbClr val="000000"/>
              </a:buClr>
              <a:buSzPct val="75000"/>
              <a:buFont typeface="Symbol" charset="2"/>
              <a:buChar char=""/>
            </a:pPr>
            <a:r>
              <a:rPr b="0" lang="en-US" sz="2000" spc="-1" strike="noStrike">
                <a:solidFill>
                  <a:schemeClr val="dk1"/>
                </a:solidFill>
                <a:latin typeface="Calibri"/>
              </a:rPr>
              <a:t>Une </a:t>
            </a:r>
            <a:r>
              <a:rPr b="1" lang="en-US" sz="2000" spc="-1" strike="noStrike">
                <a:solidFill>
                  <a:srgbClr val="0c32cf"/>
                </a:solidFill>
                <a:latin typeface="Calibri"/>
              </a:rPr>
              <a:t>requête</a:t>
            </a:r>
            <a:r>
              <a:rPr b="0" lang="en-US" sz="2000" spc="-1" strike="noStrike">
                <a:solidFill>
                  <a:schemeClr val="dk1"/>
                </a:solidFill>
                <a:latin typeface="Calibri"/>
              </a:rPr>
              <a:t> dans la syntaxe du data adapter</a:t>
            </a:r>
            <a:endParaRPr b="0" lang="fr-FR" sz="2000" spc="-1" strike="noStrike">
              <a:solidFill>
                <a:srgbClr val="000000"/>
              </a:solidFill>
              <a:latin typeface="Arial"/>
            </a:endParaRPr>
          </a:p>
          <a:p>
            <a:pPr lvl="1" marL="864000" indent="-324000" defTabSz="457200">
              <a:lnSpc>
                <a:spcPct val="100000"/>
              </a:lnSpc>
              <a:spcBef>
                <a:spcPts val="1134"/>
              </a:spcBef>
              <a:buClr>
                <a:srgbClr val="000000"/>
              </a:buClr>
              <a:buSzPct val="75000"/>
              <a:buFont typeface="Symbol" charset="2"/>
              <a:buChar char=""/>
            </a:pPr>
            <a:r>
              <a:rPr b="0" lang="en-US" sz="2000" spc="-1" strike="noStrike">
                <a:solidFill>
                  <a:schemeClr val="dk1"/>
                </a:solidFill>
                <a:latin typeface="Calibri"/>
              </a:rPr>
              <a:t>Des </a:t>
            </a:r>
            <a:r>
              <a:rPr b="1" lang="en-US" sz="2000" spc="-1" strike="noStrike">
                <a:solidFill>
                  <a:srgbClr val="0c32cf"/>
                </a:solidFill>
                <a:latin typeface="Calibri"/>
              </a:rPr>
              <a:t>champs</a:t>
            </a:r>
            <a:r>
              <a:rPr b="0" lang="en-US" sz="2000" spc="-1" strike="noStrike">
                <a:solidFill>
                  <a:schemeClr val="dk1"/>
                </a:solidFill>
                <a:latin typeface="Calibri"/>
              </a:rPr>
              <a:t> : le nom et le type de chaque colonne attendue, issus de la requête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À la génération, le moteur exécute la requête et parcourt les enregistrements un par un et remplit la bande </a:t>
            </a:r>
            <a:r>
              <a:rPr b="1" lang="en-US" sz="2000" spc="-1" strike="noStrike">
                <a:solidFill>
                  <a:srgbClr val="3650b1"/>
                </a:solidFill>
                <a:latin typeface="Calibri"/>
              </a:rPr>
              <a:t>Detail</a:t>
            </a:r>
            <a:r>
              <a:rPr b="0" lang="en-US" sz="2000" spc="-1" strike="noStrike">
                <a:solidFill>
                  <a:schemeClr val="dk1"/>
                </a:solidFill>
                <a:latin typeface="Calibri"/>
              </a:rPr>
              <a:t> pour chaque ligne ramenée par la requête. (Jeu de données principal)</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Le même modèle peut être alimenté par des sources différentes : test dans Studio, production côté application</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Un parcours séquentiel des enregistrements</a:t>
            </a:r>
            <a:endParaRPr b="0" lang="fr-FR" sz="3600" spc="-1" strike="noStrike">
              <a:solidFill>
                <a:srgbClr val="000000"/>
              </a:solidFill>
              <a:latin typeface="Arial"/>
            </a:endParaRPr>
          </a:p>
        </p:txBody>
      </p:sp>
      <p:sp>
        <p:nvSpPr>
          <p:cNvPr id="128"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fr-FR" sz="2100" spc="-1" strike="noStrike">
                <a:solidFill>
                  <a:schemeClr val="dk1"/>
                </a:solidFill>
                <a:latin typeface="Calibri"/>
              </a:rPr>
              <a:t>JasperReports lit les données par l'intermédiaire d'un </a:t>
            </a:r>
            <a:r>
              <a:rPr b="1" lang="fr-FR" sz="2100" spc="-1" strike="noStrike">
                <a:solidFill>
                  <a:srgbClr val="3650b1"/>
                </a:solidFill>
                <a:latin typeface="Calibri"/>
              </a:rPr>
              <a:t>data adapter</a:t>
            </a:r>
            <a:r>
              <a:rPr b="0" lang="fr-FR" sz="2100" spc="-1" strike="noStrike">
                <a:solidFill>
                  <a:schemeClr val="dk1"/>
                </a:solidFill>
                <a:latin typeface="Calibri"/>
              </a:rPr>
              <a:t>, quelle que soit leur origine</a:t>
            </a:r>
            <a:endParaRPr b="0" lang="fr-FR" sz="21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2100" spc="-1" strike="noStrike">
                <a:solidFill>
                  <a:schemeClr val="dk1"/>
                </a:solidFill>
                <a:latin typeface="Calibri"/>
              </a:rPr>
              <a:t>L'implémentation la plus utilisée est une base de données relationnelle interrogée en SQL via </a:t>
            </a:r>
            <a:r>
              <a:rPr b="1" lang="fr-FR" sz="2100" spc="-1" strike="noStrike">
                <a:solidFill>
                  <a:srgbClr val="3650b1"/>
                </a:solidFill>
                <a:latin typeface="Calibri"/>
              </a:rPr>
              <a:t>JDBC</a:t>
            </a:r>
            <a:endParaRPr b="0" lang="fr-FR" sz="21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2100" spc="-1" strike="noStrike">
                <a:solidFill>
                  <a:schemeClr val="dk1"/>
                </a:solidFill>
                <a:latin typeface="Calibri"/>
              </a:rPr>
              <a:t>La source est parcourue ligne par ligne, du premier au dernier enregistrement, sans retour en arrière</a:t>
            </a:r>
            <a:endParaRPr b="0" lang="fr-FR" sz="21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2100" spc="-1" strike="noStrike">
                <a:solidFill>
                  <a:schemeClr val="dk1"/>
                </a:solidFill>
                <a:latin typeface="Calibri"/>
              </a:rPr>
              <a:t>À chaque ligne, les champs </a:t>
            </a:r>
            <a:r>
              <a:rPr b="1" lang="fr-FR" sz="2100" spc="-1" strike="noStrike">
                <a:solidFill>
                  <a:srgbClr val="3650b1"/>
                </a:solidFill>
                <a:latin typeface="Courier New"/>
              </a:rPr>
              <a:t>$F{}</a:t>
            </a:r>
            <a:r>
              <a:rPr b="0" lang="fr-FR" sz="2100" spc="-1" strike="noStrike">
                <a:solidFill>
                  <a:schemeClr val="dk1"/>
                </a:solidFill>
                <a:latin typeface="Calibri"/>
              </a:rPr>
              <a:t> prennent la valeur de la colonne correspondante et la bande Detail est remplie</a:t>
            </a:r>
            <a:endParaRPr b="0" lang="fr-FR" sz="21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2100" spc="-1" strike="noStrike">
                <a:solidFill>
                  <a:schemeClr val="dk1"/>
                </a:solidFill>
                <a:latin typeface="Calibri"/>
              </a:rPr>
              <a:t>Conséquence : </a:t>
            </a:r>
            <a:br>
              <a:rPr sz="2100"/>
            </a:br>
            <a:r>
              <a:rPr b="0" lang="fr-FR" sz="2100" spc="-1" strike="noStrike">
                <a:solidFill>
                  <a:schemeClr val="dk1"/>
                </a:solidFill>
                <a:latin typeface="Calibri"/>
              </a:rPr>
              <a:t>L'ordre d'affichage est celui de la requête, le tri se fait donc de préférence dans le SQL (</a:t>
            </a:r>
            <a:r>
              <a:rPr b="0" lang="fr-FR" sz="2100" spc="-1" strike="noStrike">
                <a:solidFill>
                  <a:schemeClr val="dk1"/>
                </a:solidFill>
                <a:latin typeface="Courier New"/>
              </a:rPr>
              <a:t>ORDER BY</a:t>
            </a:r>
            <a:r>
              <a:rPr b="0" lang="fr-FR" sz="2100" spc="-1" strike="noStrike">
                <a:solidFill>
                  <a:schemeClr val="dk1"/>
                </a:solidFill>
                <a:latin typeface="Calibri"/>
              </a:rPr>
              <a:t>)</a:t>
            </a:r>
            <a:endParaRPr b="0" lang="fr-FR"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Sources de données supportées</a:t>
            </a:r>
            <a:endParaRPr b="0" lang="fr-FR" sz="3600" spc="-1" strike="noStrike">
              <a:solidFill>
                <a:srgbClr val="000000"/>
              </a:solidFill>
              <a:latin typeface="Arial"/>
            </a:endParaRPr>
          </a:p>
        </p:txBody>
      </p:sp>
      <p:sp>
        <p:nvSpPr>
          <p:cNvPr id="130"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1" lang="en-US" sz="2400" spc="-1" strike="noStrike">
                <a:solidFill>
                  <a:srgbClr val="0c32cf"/>
                </a:solidFill>
                <a:latin typeface="Calibri"/>
              </a:rPr>
              <a:t>JDBC</a:t>
            </a:r>
            <a:r>
              <a:rPr b="0" lang="en-US" sz="2400" spc="-1" strike="noStrike">
                <a:solidFill>
                  <a:schemeClr val="dk1"/>
                </a:solidFill>
                <a:latin typeface="Calibri"/>
              </a:rPr>
              <a:t> : bases de données relationnelles (PostgreSQL, MySQL, Oracle, SQL Server, …), la source la plus courante</a:t>
            </a:r>
            <a:endParaRPr b="0" lang="fr-FR" sz="24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400" spc="-1" strike="noStrike">
                <a:solidFill>
                  <a:schemeClr val="dk1"/>
                </a:solidFill>
                <a:latin typeface="Calibri"/>
              </a:rPr>
              <a:t>Fichiers : </a:t>
            </a:r>
            <a:r>
              <a:rPr b="1" lang="en-US" sz="2400" spc="-1" strike="noStrike">
                <a:solidFill>
                  <a:srgbClr val="0c32cf"/>
                </a:solidFill>
                <a:latin typeface="Calibri"/>
              </a:rPr>
              <a:t>CSV</a:t>
            </a:r>
            <a:r>
              <a:rPr b="0" lang="en-US" sz="2400" spc="-1" strike="noStrike">
                <a:solidFill>
                  <a:srgbClr val="0c32cf"/>
                </a:solidFill>
                <a:latin typeface="Calibri"/>
              </a:rPr>
              <a:t>, </a:t>
            </a:r>
            <a:r>
              <a:rPr b="1" lang="en-US" sz="2400" spc="-1" strike="noStrike">
                <a:solidFill>
                  <a:srgbClr val="0c32cf"/>
                </a:solidFill>
                <a:latin typeface="Calibri"/>
              </a:rPr>
              <a:t>Excel</a:t>
            </a:r>
            <a:r>
              <a:rPr b="0" lang="en-US" sz="2400" spc="-1" strike="noStrike">
                <a:solidFill>
                  <a:schemeClr val="dk1"/>
                </a:solidFill>
                <a:latin typeface="Calibri"/>
              </a:rPr>
              <a:t> (XLS, XLSX), </a:t>
            </a:r>
            <a:r>
              <a:rPr b="1" lang="en-US" sz="2400" spc="-1" strike="noStrike">
                <a:solidFill>
                  <a:srgbClr val="0c32cf"/>
                </a:solidFill>
                <a:latin typeface="Calibri"/>
              </a:rPr>
              <a:t>XML</a:t>
            </a:r>
            <a:r>
              <a:rPr b="0" lang="en-US" sz="2400" spc="-1" strike="noStrike">
                <a:solidFill>
                  <a:srgbClr val="0c32cf"/>
                </a:solidFill>
                <a:latin typeface="Calibri"/>
              </a:rPr>
              <a:t>, </a:t>
            </a:r>
            <a:r>
              <a:rPr b="1" lang="en-US" sz="2400" spc="-1" strike="noStrike">
                <a:solidFill>
                  <a:srgbClr val="0c32cf"/>
                </a:solidFill>
                <a:latin typeface="Calibri"/>
              </a:rPr>
              <a:t>JSON</a:t>
            </a:r>
            <a:endParaRPr b="0" lang="fr-FR" sz="24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400" spc="-1" strike="noStrike">
                <a:solidFill>
                  <a:srgbClr val="0c32cf"/>
                </a:solidFill>
                <a:latin typeface="Calibri"/>
              </a:rPr>
              <a:t>Objets Java (JavaBeans)</a:t>
            </a:r>
            <a:r>
              <a:rPr b="0" lang="en-US" sz="2400" spc="-1" strike="noStrike">
                <a:solidFill>
                  <a:schemeClr val="dk1"/>
                </a:solidFill>
                <a:latin typeface="Calibri"/>
              </a:rPr>
              <a:t> fournis par l'application : c'est souvent le cas en production</a:t>
            </a:r>
            <a:endParaRPr b="0" lang="fr-FR" sz="24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400" spc="-1" strike="noStrike">
                <a:solidFill>
                  <a:srgbClr val="0c32cf"/>
                </a:solidFill>
                <a:latin typeface="Calibri"/>
              </a:rPr>
              <a:t>Empty data source</a:t>
            </a:r>
            <a:r>
              <a:rPr b="0" lang="en-US" sz="2400" spc="-1" strike="noStrike">
                <a:solidFill>
                  <a:schemeClr val="dk1"/>
                </a:solidFill>
                <a:latin typeface="Calibri"/>
              </a:rPr>
              <a:t> : aucune donnée, utile pour tester une mise en page ou un rapport statique</a:t>
            </a:r>
            <a:endParaRPr b="0" lang="fr-FR" sz="24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400" spc="-1" strike="noStrike">
                <a:solidFill>
                  <a:srgbClr val="0c32cf"/>
                </a:solidFill>
                <a:latin typeface="Calibri"/>
              </a:rPr>
              <a:t>JasperReports Server</a:t>
            </a:r>
            <a:r>
              <a:rPr b="0" lang="en-US" sz="2400" spc="-1" strike="noStrike">
                <a:solidFill>
                  <a:schemeClr val="dk1"/>
                </a:solidFill>
                <a:latin typeface="Calibri"/>
              </a:rPr>
              <a:t> : data adapters distants</a:t>
            </a:r>
            <a:endParaRPr b="0" lang="fr-FR" sz="24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400" spc="-1" strike="noStrike">
                <a:solidFill>
                  <a:srgbClr val="0c32cf"/>
                </a:solidFill>
                <a:latin typeface="Calibri"/>
              </a:rPr>
              <a:t>Autres</a:t>
            </a:r>
            <a:r>
              <a:rPr b="0" lang="en-US" sz="2400" spc="-1" strike="noStrike">
                <a:solidFill>
                  <a:schemeClr val="dk1"/>
                </a:solidFill>
                <a:latin typeface="Calibri"/>
              </a:rPr>
              <a:t> (Hibernate, OLAP, NoSQL, …) selon la version et les extensions installées</a:t>
            </a:r>
            <a:endParaRPr b="0" lang="fr-F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File → New Data Adapter</a:t>
            </a:r>
            <a:endParaRPr b="0" lang="fr-FR" sz="3600" spc="-1" strike="noStrike">
              <a:solidFill>
                <a:srgbClr val="000000"/>
              </a:solidFill>
              <a:latin typeface="Arial"/>
            </a:endParaRPr>
          </a:p>
        </p:txBody>
      </p:sp>
      <p:pic>
        <p:nvPicPr>
          <p:cNvPr id="132" name="Picture 2" descr="image.png"/>
          <p:cNvPicPr/>
          <p:nvPr/>
        </p:nvPicPr>
        <p:blipFill>
          <a:blip r:embed="rId1"/>
          <a:stretch/>
        </p:blipFill>
        <p:spPr>
          <a:xfrm>
            <a:off x="2769840" y="2481480"/>
            <a:ext cx="5078520" cy="4460040"/>
          </a:xfrm>
          <a:prstGeom prst="rect">
            <a:avLst/>
          </a:prstGeom>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Rappels sur JDBC</a:t>
            </a:r>
            <a:endParaRPr b="0" lang="fr-FR" sz="3600" spc="-1" strike="noStrike">
              <a:solidFill>
                <a:srgbClr val="000000"/>
              </a:solidFill>
              <a:latin typeface="Arial"/>
            </a:endParaRPr>
          </a:p>
        </p:txBody>
      </p:sp>
      <p:sp>
        <p:nvSpPr>
          <p:cNvPr id="134"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39"/>
              </a:spcBef>
              <a:buClr>
                <a:srgbClr val="000000"/>
              </a:buClr>
              <a:buFont typeface="Arial"/>
              <a:buChar char="•"/>
            </a:pPr>
            <a:r>
              <a:rPr b="0" lang="en-US" sz="2400" spc="-1" strike="noStrike">
                <a:solidFill>
                  <a:schemeClr val="dk1"/>
                </a:solidFill>
                <a:latin typeface="Calibri"/>
              </a:rPr>
              <a:t>Une connexion JDBC permet à un programme Java de se connecter à une base de données relationnelles (toutes les bases sont supportées)</a:t>
            </a:r>
            <a:endParaRPr b="0" lang="fr-FR" sz="2400" spc="-1" strike="noStrike">
              <a:solidFill>
                <a:srgbClr val="000000"/>
              </a:solidFill>
              <a:latin typeface="Arial"/>
            </a:endParaRPr>
          </a:p>
          <a:p>
            <a:pPr marL="343080" indent="-343080" defTabSz="457200">
              <a:lnSpc>
                <a:spcPct val="100000"/>
              </a:lnSpc>
              <a:spcBef>
                <a:spcPts val="439"/>
              </a:spcBef>
              <a:buClr>
                <a:srgbClr val="000000"/>
              </a:buClr>
              <a:buFont typeface="Arial"/>
              <a:buChar char="•"/>
            </a:pPr>
            <a:r>
              <a:rPr b="0" lang="en-US" sz="2400" spc="-1" strike="noStrike">
                <a:solidFill>
                  <a:schemeClr val="dk1"/>
                </a:solidFill>
                <a:latin typeface="Calibri"/>
              </a:rPr>
              <a:t>Pour cela, il est nécessaire d'utiliser les pilotes JDBC (librairie Java) fournis par l'éditeur de base. </a:t>
            </a:r>
            <a:endParaRPr b="0" lang="fr-FR" sz="2400" spc="-1" strike="noStrike">
              <a:solidFill>
                <a:srgbClr val="000000"/>
              </a:solidFill>
              <a:latin typeface="Arial"/>
            </a:endParaRPr>
          </a:p>
          <a:p>
            <a:pPr marL="343080" indent="-343080" defTabSz="457200">
              <a:lnSpc>
                <a:spcPct val="100000"/>
              </a:lnSpc>
              <a:spcBef>
                <a:spcPts val="439"/>
              </a:spcBef>
              <a:buClr>
                <a:srgbClr val="000000"/>
              </a:buClr>
              <a:buFont typeface="Arial"/>
              <a:buChar char="•"/>
            </a:pPr>
            <a:r>
              <a:rPr b="0" lang="en-US" sz="2400" spc="-1" strike="noStrike">
                <a:solidFill>
                  <a:schemeClr val="dk1"/>
                </a:solidFill>
                <a:latin typeface="Calibri"/>
              </a:rPr>
              <a:t>Configurer une connexions JDBC consiste à  fournir :</a:t>
            </a:r>
            <a:endParaRPr b="0" lang="fr-FR" sz="2400" spc="-1" strike="noStrike">
              <a:solidFill>
                <a:srgbClr val="000000"/>
              </a:solidFill>
              <a:latin typeface="Arial"/>
            </a:endParaRPr>
          </a:p>
          <a:p>
            <a:pPr lvl="1" marL="743040" indent="-285840" defTabSz="457200">
              <a:lnSpc>
                <a:spcPct val="100000"/>
              </a:lnSpc>
              <a:spcBef>
                <a:spcPts val="360"/>
              </a:spcBef>
              <a:buClr>
                <a:srgbClr val="000000"/>
              </a:buClr>
              <a:buFont typeface="Arial"/>
              <a:buChar char="–"/>
            </a:pPr>
            <a:r>
              <a:rPr b="0" lang="en-US" sz="2000" spc="-1" strike="noStrike">
                <a:solidFill>
                  <a:schemeClr val="dk1"/>
                </a:solidFill>
                <a:latin typeface="Calibri"/>
              </a:rPr>
              <a:t>La </a:t>
            </a:r>
            <a:r>
              <a:rPr b="1" lang="en-US" sz="2000" spc="-1" strike="noStrike">
                <a:solidFill>
                  <a:srgbClr val="0c32cf"/>
                </a:solidFill>
                <a:latin typeface="Calibri"/>
              </a:rPr>
              <a:t>classe principale</a:t>
            </a:r>
            <a:r>
              <a:rPr b="0" lang="en-US" sz="2000" spc="-1" strike="noStrike">
                <a:solidFill>
                  <a:schemeClr val="dk1"/>
                </a:solidFill>
                <a:latin typeface="Calibri"/>
              </a:rPr>
              <a:t> du Driver</a:t>
            </a:r>
            <a:endParaRPr b="0" lang="fr-FR" sz="2000" spc="-1" strike="noStrike">
              <a:solidFill>
                <a:srgbClr val="000000"/>
              </a:solidFill>
              <a:latin typeface="Arial"/>
            </a:endParaRPr>
          </a:p>
          <a:p>
            <a:pPr lvl="1" marL="743040" indent="-285840" defTabSz="457200">
              <a:lnSpc>
                <a:spcPct val="100000"/>
              </a:lnSpc>
              <a:spcBef>
                <a:spcPts val="360"/>
              </a:spcBef>
              <a:buClr>
                <a:srgbClr val="000000"/>
              </a:buClr>
              <a:buFont typeface="Arial"/>
              <a:buChar char="–"/>
            </a:pPr>
            <a:r>
              <a:rPr b="0" lang="en-US" sz="2000" spc="-1" strike="noStrike">
                <a:solidFill>
                  <a:srgbClr val="0c32cf"/>
                </a:solidFill>
                <a:latin typeface="Calibri"/>
              </a:rPr>
              <a:t>L'</a:t>
            </a:r>
            <a:r>
              <a:rPr b="1" lang="en-US" sz="2000" spc="-1" strike="noStrike">
                <a:solidFill>
                  <a:srgbClr val="0c32cf"/>
                </a:solidFill>
                <a:latin typeface="Calibri"/>
              </a:rPr>
              <a:t>URL</a:t>
            </a:r>
            <a:r>
              <a:rPr b="0" lang="en-US" sz="2000" spc="-1" strike="noStrike">
                <a:solidFill>
                  <a:schemeClr val="dk1"/>
                </a:solidFill>
                <a:latin typeface="Calibri"/>
              </a:rPr>
              <a:t> d'accès à la base (syntaxe dépendante de l'éditeur)</a:t>
            </a:r>
            <a:endParaRPr b="0" lang="fr-FR" sz="2000" spc="-1" strike="noStrike">
              <a:solidFill>
                <a:srgbClr val="000000"/>
              </a:solidFill>
              <a:latin typeface="Arial"/>
            </a:endParaRPr>
          </a:p>
          <a:p>
            <a:pPr lvl="1" marL="743040" indent="-285840" defTabSz="457200">
              <a:lnSpc>
                <a:spcPct val="100000"/>
              </a:lnSpc>
              <a:spcBef>
                <a:spcPts val="360"/>
              </a:spcBef>
              <a:buClr>
                <a:srgbClr val="000000"/>
              </a:buClr>
              <a:buFont typeface="Arial"/>
              <a:buChar char="–"/>
            </a:pPr>
            <a:r>
              <a:rPr b="0" lang="en-US" sz="2000" spc="-1" strike="noStrike">
                <a:solidFill>
                  <a:schemeClr val="dk1"/>
                </a:solidFill>
                <a:latin typeface="Calibri"/>
              </a:rPr>
              <a:t>Un </a:t>
            </a:r>
            <a:r>
              <a:rPr b="1" lang="en-US" sz="2000" spc="-1" strike="noStrike">
                <a:solidFill>
                  <a:srgbClr val="0c32cf"/>
                </a:solidFill>
                <a:latin typeface="Calibri"/>
              </a:rPr>
              <a:t>compte</a:t>
            </a:r>
            <a:r>
              <a:rPr b="0" lang="en-US" sz="2000" spc="-1" strike="noStrike">
                <a:solidFill>
                  <a:schemeClr val="dk1"/>
                </a:solidFill>
                <a:latin typeface="Calibri"/>
              </a:rPr>
              <a:t> base de données valide (login/mot de passe)</a:t>
            </a:r>
            <a:endParaRPr b="0" lang="fr-FR" sz="2000" spc="-1" strike="noStrike">
              <a:solidFill>
                <a:srgbClr val="000000"/>
              </a:solidFill>
              <a:latin typeface="Arial"/>
            </a:endParaRPr>
          </a:p>
          <a:p>
            <a:pPr indent="0" defTabSz="457200">
              <a:lnSpc>
                <a:spcPct val="100000"/>
              </a:lnSpc>
              <a:spcBef>
                <a:spcPts val="439"/>
              </a:spcBef>
              <a:buNone/>
              <a:tabLst>
                <a:tab algn="l" pos="0"/>
              </a:tabLst>
            </a:pPr>
            <a:r>
              <a:rPr b="0" i="1" lang="en-US" sz="2400" spc="-1" strike="noStrike">
                <a:solidFill>
                  <a:schemeClr val="dk1"/>
                </a:solidFill>
                <a:latin typeface="Calibri"/>
              </a:rPr>
              <a:t>jasperStudio</a:t>
            </a:r>
            <a:r>
              <a:rPr b="0" lang="en-US" sz="2400" spc="-1" strike="noStrike">
                <a:solidFill>
                  <a:schemeClr val="dk1"/>
                </a:solidFill>
                <a:latin typeface="Calibri"/>
              </a:rPr>
              <a:t> fournit les drivers JDBC pour </a:t>
            </a:r>
            <a:r>
              <a:rPr b="0" i="1" lang="en-US" sz="2400" spc="-1" strike="noStrike">
                <a:solidFill>
                  <a:schemeClr val="dk1"/>
                </a:solidFill>
                <a:latin typeface="Calibri"/>
              </a:rPr>
              <a:t>HyperSonic. </a:t>
            </a:r>
            <a:endParaRPr b="0" lang="fr-FR" sz="2400" spc="-1" strike="noStrike">
              <a:solidFill>
                <a:srgbClr val="000000"/>
              </a:solidFill>
              <a:latin typeface="Arial"/>
            </a:endParaRPr>
          </a:p>
          <a:p>
            <a:pPr marL="343080" indent="-343080" defTabSz="457200">
              <a:lnSpc>
                <a:spcPct val="100000"/>
              </a:lnSpc>
              <a:spcBef>
                <a:spcPts val="439"/>
              </a:spcBef>
              <a:buClr>
                <a:srgbClr val="000000"/>
              </a:buClr>
              <a:buFont typeface="Arial"/>
              <a:buChar char="•"/>
              <a:tabLst>
                <a:tab algn="l" pos="0"/>
              </a:tabLst>
            </a:pPr>
            <a:r>
              <a:rPr b="0" lang="en-US" sz="2400" spc="-1" strike="noStrike">
                <a:solidFill>
                  <a:schemeClr val="dk1"/>
                </a:solidFill>
                <a:latin typeface="Calibri"/>
              </a:rPr>
              <a:t>Les autres doivent être installés</a:t>
            </a:r>
            <a:endParaRPr b="0" lang="fr-F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Installation Driver</a:t>
            </a:r>
            <a:endParaRPr b="0" lang="fr-FR" sz="3600" spc="-1" strike="noStrike">
              <a:solidFill>
                <a:srgbClr val="000000"/>
              </a:solidFill>
              <a:latin typeface="Arial"/>
            </a:endParaRPr>
          </a:p>
        </p:txBody>
      </p:sp>
      <p:sp>
        <p:nvSpPr>
          <p:cNvPr id="136" name="PlaceHolder 2"/>
          <p:cNvSpPr>
            <a:spLocks noGrp="1"/>
          </p:cNvSpPr>
          <p:nvPr>
            <p:ph/>
          </p:nvPr>
        </p:nvSpPr>
        <p:spPr>
          <a:xfrm>
            <a:off x="990720" y="2195280"/>
            <a:ext cx="8950680" cy="2113920"/>
          </a:xfrm>
          <a:prstGeom prst="rect">
            <a:avLst/>
          </a:prstGeom>
          <a:noFill/>
          <a:ln w="0">
            <a:noFill/>
          </a:ln>
        </p:spPr>
        <p:txBody>
          <a:bodyPr lIns="91440" rIns="91440" tIns="45720" bIns="45720" anchor="t">
            <a:normAutofit/>
          </a:bodyPr>
          <a:p>
            <a:pPr indent="0" defTabSz="457200">
              <a:lnSpc>
                <a:spcPct val="100000"/>
              </a:lnSpc>
              <a:spcBef>
                <a:spcPts val="519"/>
              </a:spcBef>
              <a:buNone/>
              <a:tabLst>
                <a:tab algn="l" pos="0"/>
              </a:tabLst>
            </a:pPr>
            <a:r>
              <a:rPr b="0" lang="en-US" sz="2600" spc="-1" strike="noStrike">
                <a:solidFill>
                  <a:schemeClr val="dk1"/>
                </a:solidFill>
                <a:latin typeface="Calibri"/>
              </a:rPr>
              <a:t>La bibliothèque du driver JDBC doit être trouvée par </a:t>
            </a:r>
            <a:r>
              <a:rPr b="0" i="1" lang="en-US" sz="2600" spc="-1" strike="noStrike">
                <a:solidFill>
                  <a:schemeClr val="dk1"/>
                </a:solidFill>
                <a:latin typeface="Calibri"/>
              </a:rPr>
              <a:t>jasperStudio</a:t>
            </a:r>
            <a:r>
              <a:rPr b="0" lang="en-US" sz="2600" spc="-1" strike="noStrike">
                <a:solidFill>
                  <a:schemeClr val="dk1"/>
                </a:solidFill>
                <a:latin typeface="Calibri"/>
              </a:rPr>
              <a:t>. </a:t>
            </a:r>
            <a:endParaRPr b="0" lang="fr-FR" sz="2600" spc="-1" strike="noStrike">
              <a:solidFill>
                <a:srgbClr val="000000"/>
              </a:solidFill>
              <a:latin typeface="Arial"/>
            </a:endParaRPr>
          </a:p>
          <a:p>
            <a:pPr indent="0" defTabSz="457200">
              <a:lnSpc>
                <a:spcPct val="100000"/>
              </a:lnSpc>
              <a:spcBef>
                <a:spcPts val="519"/>
              </a:spcBef>
              <a:buNone/>
              <a:tabLst>
                <a:tab algn="l" pos="0"/>
              </a:tabLst>
            </a:pPr>
            <a:r>
              <a:rPr b="0" lang="en-US" sz="2600" spc="-1" strike="noStrike">
                <a:solidFill>
                  <a:schemeClr val="dk1"/>
                </a:solidFill>
                <a:latin typeface="Calibri"/>
              </a:rPr>
              <a:t>Lors de la création d’un DataAdapter, on lui indique ou se trouve le fichier .jar contenant le Driver</a:t>
            </a:r>
            <a:endParaRPr b="0" lang="fr-FR" sz="2600" spc="-1" strike="noStrike">
              <a:solidFill>
                <a:srgbClr val="000000"/>
              </a:solidFill>
              <a:latin typeface="Arial"/>
            </a:endParaRPr>
          </a:p>
        </p:txBody>
      </p:sp>
      <p:pic>
        <p:nvPicPr>
          <p:cNvPr id="137" name="Picture 3" descr="image.png"/>
          <p:cNvPicPr/>
          <p:nvPr/>
        </p:nvPicPr>
        <p:blipFill>
          <a:blip r:embed="rId1"/>
          <a:stretch/>
        </p:blipFill>
        <p:spPr>
          <a:xfrm>
            <a:off x="2691360" y="4473720"/>
            <a:ext cx="4622760" cy="3030840"/>
          </a:xfrm>
          <a:prstGeom prst="rect">
            <a:avLst/>
          </a:prstGeom>
          <a:ln w="0">
            <a:noFill/>
          </a:ln>
        </p:spPr>
      </p:pic>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Dissociation rapport et source de données</a:t>
            </a:r>
            <a:endParaRPr b="0" lang="fr-FR" sz="3600" spc="-1" strike="noStrike">
              <a:solidFill>
                <a:srgbClr val="000000"/>
              </a:solidFill>
              <a:latin typeface="Arial"/>
            </a:endParaRPr>
          </a:p>
        </p:txBody>
      </p:sp>
      <p:sp>
        <p:nvSpPr>
          <p:cNvPr id="139"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Il n'y a pas d'association stricte entre un rapport et une source de données. </a:t>
            </a:r>
            <a:endParaRPr b="0" lang="fr-FR"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Lors de la génération, la source de données est fournie en paramètre</a:t>
            </a:r>
            <a:endParaRPr b="0" lang="fr-FR"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Il est ainsi possible de réutiliser le même design sur différentes sources.</a:t>
            </a:r>
            <a:endParaRPr b="0" lang="fr-FR" sz="32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Exemple : Base de données de développement et base de données de production</a:t>
            </a:r>
            <a:endParaRPr b="0" lang="fr-F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Erreurs communes</a:t>
            </a:r>
            <a:endParaRPr b="0" lang="fr-FR" sz="3600" spc="-1" strike="noStrike">
              <a:solidFill>
                <a:srgbClr val="000000"/>
              </a:solidFill>
              <a:latin typeface="Arial"/>
            </a:endParaRPr>
          </a:p>
        </p:txBody>
      </p:sp>
      <p:sp>
        <p:nvSpPr>
          <p:cNvPr id="141"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3 types d'erreurs peuvent survenir lorsque l'on configure une connexion JDBC :</a:t>
            </a:r>
            <a:endParaRPr b="0" lang="fr-FR" sz="2800" spc="-1" strike="noStrike">
              <a:solidFill>
                <a:srgbClr val="000000"/>
              </a:solidFill>
              <a:latin typeface="Arial"/>
            </a:endParaRPr>
          </a:p>
          <a:p>
            <a:pPr lvl="1" marL="743040" indent="-285840" defTabSz="457200">
              <a:lnSpc>
                <a:spcPct val="100000"/>
              </a:lnSpc>
              <a:spcBef>
                <a:spcPts val="519"/>
              </a:spcBef>
              <a:buClr>
                <a:srgbClr val="000000"/>
              </a:buClr>
              <a:buFont typeface="Arial"/>
              <a:buChar char="–"/>
            </a:pPr>
            <a:r>
              <a:rPr b="1" i="1" lang="en-US" sz="2600" spc="-1" strike="noStrike">
                <a:solidFill>
                  <a:srgbClr val="0c32cf"/>
                </a:solidFill>
                <a:latin typeface="Calibri"/>
              </a:rPr>
              <a:t>ClassNotFoundError</a:t>
            </a:r>
            <a:r>
              <a:rPr b="0" lang="en-US" sz="2600" spc="-1" strike="noStrike">
                <a:solidFill>
                  <a:schemeClr val="dk1"/>
                </a:solidFill>
                <a:latin typeface="Calibri"/>
              </a:rPr>
              <a:t> : Le driver n'est pas dans le classpath</a:t>
            </a:r>
            <a:endParaRPr b="0" lang="fr-FR" sz="2600" spc="-1" strike="noStrike">
              <a:solidFill>
                <a:srgbClr val="000000"/>
              </a:solidFill>
              <a:latin typeface="Arial"/>
            </a:endParaRPr>
          </a:p>
          <a:p>
            <a:pPr lvl="1" marL="743040" indent="-285840" defTabSz="457200">
              <a:lnSpc>
                <a:spcPct val="100000"/>
              </a:lnSpc>
              <a:spcBef>
                <a:spcPts val="519"/>
              </a:spcBef>
              <a:buClr>
                <a:srgbClr val="000000"/>
              </a:buClr>
              <a:buFont typeface="Arial"/>
              <a:buChar char="–"/>
            </a:pPr>
            <a:r>
              <a:rPr b="1" lang="en-US" sz="2600" spc="-1" strike="noStrike">
                <a:solidFill>
                  <a:srgbClr val="0c32cf"/>
                </a:solidFill>
                <a:latin typeface="Calibri"/>
              </a:rPr>
              <a:t>L'URL</a:t>
            </a:r>
            <a:r>
              <a:rPr b="0" lang="en-US" sz="2600" spc="-1" strike="noStrike">
                <a:solidFill>
                  <a:schemeClr val="dk1"/>
                </a:solidFill>
                <a:latin typeface="Calibri"/>
              </a:rPr>
              <a:t> n'est pas correcte. Utiliser l'assistant de JasperStudio pour définir l'URL ou se référer au site de l'éditeur</a:t>
            </a:r>
            <a:endParaRPr b="0" lang="fr-FR" sz="2600" spc="-1" strike="noStrike">
              <a:solidFill>
                <a:srgbClr val="000000"/>
              </a:solidFill>
              <a:latin typeface="Arial"/>
            </a:endParaRPr>
          </a:p>
          <a:p>
            <a:pPr lvl="1" marL="743040" indent="-285840" defTabSz="457200">
              <a:lnSpc>
                <a:spcPct val="100000"/>
              </a:lnSpc>
              <a:spcBef>
                <a:spcPts val="519"/>
              </a:spcBef>
              <a:buClr>
                <a:srgbClr val="000000"/>
              </a:buClr>
              <a:buFont typeface="Arial"/>
              <a:buChar char="–"/>
            </a:pPr>
            <a:r>
              <a:rPr b="0" lang="en-US" sz="2600" spc="-1" strike="noStrike">
                <a:solidFill>
                  <a:schemeClr val="dk1"/>
                </a:solidFill>
                <a:latin typeface="Calibri"/>
              </a:rPr>
              <a:t>Les </a:t>
            </a:r>
            <a:r>
              <a:rPr b="1" lang="en-US" sz="2600" spc="-1" strike="noStrike">
                <a:solidFill>
                  <a:srgbClr val="0c32cf"/>
                </a:solidFill>
                <a:latin typeface="Calibri"/>
              </a:rPr>
              <a:t>paramètres de connexion</a:t>
            </a:r>
            <a:r>
              <a:rPr b="0" lang="en-US" sz="2600" spc="-1" strike="noStrike">
                <a:solidFill>
                  <a:schemeClr val="dk1"/>
                </a:solidFill>
                <a:latin typeface="Calibri"/>
              </a:rPr>
              <a:t> ne sont pas corrects. Vérifier le nom de la base, l'utilisateur et le mot de passe.</a:t>
            </a:r>
            <a:endParaRPr b="0" lang="fr-FR"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Requêtes SQL définies dans le rapport</a:t>
            </a:r>
            <a:endParaRPr b="0" lang="fr-FR" sz="3600" spc="-1" strike="noStrike">
              <a:solidFill>
                <a:srgbClr val="000000"/>
              </a:solidFill>
              <a:latin typeface="Arial"/>
            </a:endParaRPr>
          </a:p>
        </p:txBody>
      </p:sp>
      <p:sp>
        <p:nvSpPr>
          <p:cNvPr id="143"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fontScale="98333"/>
          </a:bodyPr>
          <a:p>
            <a:pPr marL="343080" indent="-343080" defTabSz="457200">
              <a:lnSpc>
                <a:spcPct val="100000"/>
              </a:lnSpc>
              <a:spcBef>
                <a:spcPts val="561"/>
              </a:spcBef>
              <a:buClr>
                <a:srgbClr val="000000"/>
              </a:buClr>
              <a:buFont typeface="Arial"/>
              <a:buChar char="•"/>
            </a:pPr>
            <a:r>
              <a:rPr b="0" i="1" lang="en-US" sz="2800" spc="-1" strike="noStrike">
                <a:solidFill>
                  <a:schemeClr val="dk1"/>
                </a:solidFill>
                <a:latin typeface="Calibri"/>
              </a:rPr>
              <a:t>jasperStudio</a:t>
            </a:r>
            <a:r>
              <a:rPr b="0" lang="en-US" sz="2800" spc="-1" strike="noStrike">
                <a:solidFill>
                  <a:schemeClr val="dk1"/>
                </a:solidFill>
                <a:latin typeface="Calibri"/>
              </a:rPr>
              <a:t> fournit plusieurs outils pour travailler avec JDBC et SQL </a:t>
            </a:r>
            <a:endParaRPr b="0" lang="fr-FR" sz="2800" spc="-1" strike="noStrike">
              <a:solidFill>
                <a:srgbClr val="000000"/>
              </a:solidFill>
              <a:latin typeface="Arial"/>
            </a:endParaRPr>
          </a:p>
          <a:p>
            <a:pPr lvl="1" marL="743040" indent="-285840" defTabSz="457200">
              <a:lnSpc>
                <a:spcPct val="100000"/>
              </a:lnSpc>
              <a:spcBef>
                <a:spcPts val="519"/>
              </a:spcBef>
              <a:buClr>
                <a:srgbClr val="000000"/>
              </a:buClr>
              <a:buFont typeface="Arial"/>
              <a:buChar char="–"/>
            </a:pPr>
            <a:r>
              <a:rPr b="0" lang="en-US" sz="2600" spc="-1" strike="noStrike">
                <a:solidFill>
                  <a:schemeClr val="dk1"/>
                </a:solidFill>
                <a:latin typeface="Calibri"/>
              </a:rPr>
              <a:t>Test de la connexion JDBC</a:t>
            </a:r>
            <a:endParaRPr b="0" lang="fr-FR" sz="2600" spc="-1" strike="noStrike">
              <a:solidFill>
                <a:srgbClr val="000000"/>
              </a:solidFill>
              <a:latin typeface="Arial"/>
            </a:endParaRPr>
          </a:p>
          <a:p>
            <a:pPr lvl="1" marL="743040" indent="-285840" defTabSz="457200">
              <a:lnSpc>
                <a:spcPct val="100000"/>
              </a:lnSpc>
              <a:spcBef>
                <a:spcPts val="519"/>
              </a:spcBef>
              <a:buClr>
                <a:srgbClr val="000000"/>
              </a:buClr>
              <a:buFont typeface="Arial"/>
              <a:buChar char="–"/>
            </a:pPr>
            <a:r>
              <a:rPr b="0" lang="en-US" sz="2600" spc="-1" strike="noStrike">
                <a:solidFill>
                  <a:schemeClr val="dk1"/>
                </a:solidFill>
                <a:latin typeface="Calibri"/>
              </a:rPr>
              <a:t>Découverte automatique des champs possibles avec leur type</a:t>
            </a:r>
            <a:endParaRPr b="0" lang="fr-FR" sz="2600" spc="-1" strike="noStrike">
              <a:solidFill>
                <a:srgbClr val="000000"/>
              </a:solidFill>
              <a:latin typeface="Arial"/>
            </a:endParaRPr>
          </a:p>
          <a:p>
            <a:pPr lvl="1" marL="743040" indent="-285840" defTabSz="457200">
              <a:lnSpc>
                <a:spcPct val="100000"/>
              </a:lnSpc>
              <a:spcBef>
                <a:spcPts val="519"/>
              </a:spcBef>
              <a:buClr>
                <a:srgbClr val="000000"/>
              </a:buClr>
              <a:buFont typeface="Arial"/>
              <a:buChar char="–"/>
            </a:pPr>
            <a:r>
              <a:rPr b="0" lang="en-US" sz="2600" spc="-1" strike="noStrike">
                <a:solidFill>
                  <a:schemeClr val="dk1"/>
                </a:solidFill>
                <a:latin typeface="Calibri"/>
              </a:rPr>
              <a:t>Possibilité d'enregistrer automatiquement les champs</a:t>
            </a:r>
            <a:endParaRPr b="0" lang="fr-FR" sz="2600" spc="-1" strike="noStrike">
              <a:solidFill>
                <a:srgbClr val="000000"/>
              </a:solidFill>
              <a:latin typeface="Arial"/>
            </a:endParaRPr>
          </a:p>
          <a:p>
            <a:pPr lvl="1" marL="743040" indent="-285840" defTabSz="457200">
              <a:lnSpc>
                <a:spcPct val="100000"/>
              </a:lnSpc>
              <a:spcBef>
                <a:spcPts val="519"/>
              </a:spcBef>
              <a:buClr>
                <a:srgbClr val="000000"/>
              </a:buClr>
              <a:buFont typeface="Arial"/>
              <a:buChar char="–"/>
            </a:pPr>
            <a:r>
              <a:rPr b="0" lang="en-US" sz="2600" spc="-1" strike="noStrike">
                <a:solidFill>
                  <a:schemeClr val="dk1"/>
                </a:solidFill>
                <a:latin typeface="Calibri"/>
              </a:rPr>
              <a:t>Un assistant pour mettre au point les requêtes (</a:t>
            </a:r>
            <a:r>
              <a:rPr b="0" i="1" lang="en-US" sz="2600" spc="-1" strike="noStrike">
                <a:solidFill>
                  <a:schemeClr val="dk1"/>
                </a:solidFill>
                <a:latin typeface="Calibri"/>
              </a:rPr>
              <a:t>Query Designer</a:t>
            </a:r>
            <a:r>
              <a:rPr b="0" lang="en-US" sz="2600" spc="-1" strike="noStrike">
                <a:solidFill>
                  <a:schemeClr val="dk1"/>
                </a:solidFill>
                <a:latin typeface="Calibri"/>
              </a:rPr>
              <a:t>)</a:t>
            </a:r>
            <a:endParaRPr b="0" lang="fr-FR" sz="2600" spc="-1" strike="noStrike">
              <a:solidFill>
                <a:srgbClr val="000000"/>
              </a:solidFill>
              <a:latin typeface="Arial"/>
            </a:endParaRPr>
          </a:p>
          <a:p>
            <a:pPr lvl="1" marL="743040" indent="-285840" defTabSz="457200">
              <a:lnSpc>
                <a:spcPct val="100000"/>
              </a:lnSpc>
              <a:spcBef>
                <a:spcPts val="519"/>
              </a:spcBef>
              <a:buClr>
                <a:srgbClr val="000000"/>
              </a:buClr>
              <a:buFont typeface="Arial"/>
              <a:buChar char="–"/>
            </a:pPr>
            <a:r>
              <a:rPr b="0" lang="en-US" sz="2600" spc="-1" strike="noStrike">
                <a:solidFill>
                  <a:schemeClr val="dk1"/>
                </a:solidFill>
                <a:latin typeface="Calibri"/>
              </a:rPr>
              <a:t>Un prévisualiseur des données renvoyées par la requête</a:t>
            </a:r>
            <a:endParaRPr b="0" lang="fr-FR"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Visualiser les données dans JasperStudio</a:t>
            </a:r>
            <a:endParaRPr b="0" lang="fr-FR" sz="3600" spc="-1" strike="noStrike">
              <a:solidFill>
                <a:srgbClr val="000000"/>
              </a:solidFill>
              <a:latin typeface="Arial"/>
            </a:endParaRPr>
          </a:p>
        </p:txBody>
      </p:sp>
      <p:sp>
        <p:nvSpPr>
          <p:cNvPr id="145"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200" spc="-1" strike="noStrike">
                <a:solidFill>
                  <a:schemeClr val="dk1"/>
                </a:solidFill>
                <a:latin typeface="Calibri"/>
              </a:rPr>
              <a:t>Bouton </a:t>
            </a:r>
            <a:r>
              <a:rPr b="1" lang="en-US" sz="2200" spc="-1" strike="noStrike">
                <a:solidFill>
                  <a:schemeClr val="dk1"/>
                </a:solidFill>
                <a:latin typeface="Calibri"/>
              </a:rPr>
              <a:t>Test</a:t>
            </a:r>
            <a:r>
              <a:rPr b="0" lang="en-US" sz="2200" spc="-1" strike="noStrike">
                <a:solidFill>
                  <a:schemeClr val="dk1"/>
                </a:solidFill>
                <a:latin typeface="Calibri"/>
              </a:rPr>
              <a:t> du data adapter : vérifie la connexion</a:t>
            </a:r>
            <a:endParaRPr b="0" lang="fr-FR" sz="22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200" spc="-1" strike="noStrike">
                <a:solidFill>
                  <a:schemeClr val="dk1"/>
                </a:solidFill>
                <a:latin typeface="Calibri"/>
              </a:rPr>
              <a:t>Dialogue </a:t>
            </a:r>
            <a:r>
              <a:rPr b="1" lang="en-US" sz="2200" spc="-1" strike="noStrike">
                <a:solidFill>
                  <a:schemeClr val="dk1"/>
                </a:solidFill>
                <a:latin typeface="Calibri"/>
              </a:rPr>
              <a:t>Dataset and Query</a:t>
            </a:r>
            <a:r>
              <a:rPr b="0" lang="en-US" sz="2200" spc="-1" strike="noStrike">
                <a:solidFill>
                  <a:schemeClr val="dk1"/>
                </a:solidFill>
                <a:latin typeface="Calibri"/>
              </a:rPr>
              <a:t> (icône « base » de la barre d'outils) :</a:t>
            </a:r>
            <a:endParaRPr b="0" lang="fr-FR" sz="22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2000" spc="-1" strike="noStrike">
                <a:solidFill>
                  <a:schemeClr val="dk1"/>
                </a:solidFill>
                <a:latin typeface="Calibri"/>
              </a:rPr>
              <a:t>Onglet Query : saisie de la requête SQL, </a:t>
            </a:r>
            <a:r>
              <a:rPr b="1" lang="en-US" sz="2000" spc="-1" strike="noStrike">
                <a:solidFill>
                  <a:schemeClr val="dk1"/>
                </a:solidFill>
                <a:latin typeface="Calibri"/>
              </a:rPr>
              <a:t>Read Fields</a:t>
            </a:r>
            <a:r>
              <a:rPr b="0" lang="en-US" sz="2000" spc="-1" strike="noStrike">
                <a:solidFill>
                  <a:schemeClr val="dk1"/>
                </a:solidFill>
                <a:latin typeface="Calibri"/>
              </a:rPr>
              <a:t> pour créer les champs</a:t>
            </a:r>
            <a:endParaRPr b="0" lang="fr-FR" sz="20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2000" spc="-1" strike="noStrike">
                <a:solidFill>
                  <a:schemeClr val="dk1"/>
                </a:solidFill>
                <a:latin typeface="Calibri"/>
              </a:rPr>
              <a:t>Onglet Data preview : les premières lignes renvoyées par la requête</a:t>
            </a:r>
            <a:endParaRPr b="0" lang="fr-FR" sz="20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2000" spc="-1" strike="noStrike">
                <a:solidFill>
                  <a:schemeClr val="dk1"/>
                </a:solidFill>
                <a:latin typeface="Calibri"/>
              </a:rPr>
              <a:t>Outline SQL : liste des tables et colonnes de la base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200" spc="-1" strike="noStrike">
                <a:solidFill>
                  <a:schemeClr val="dk1"/>
                </a:solidFill>
                <a:latin typeface="Calibri"/>
              </a:rPr>
              <a:t>Onglet Preview du rapport : les données réelles dans la mise en page</a:t>
            </a:r>
            <a:endParaRPr b="0" lang="fr-FR" sz="22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200" spc="-1" strike="noStrike">
                <a:solidFill>
                  <a:schemeClr val="dk1"/>
                </a:solidFill>
                <a:latin typeface="Calibri"/>
              </a:rPr>
              <a:t>Les champs non utilisés apparaissent dans l'Outline : pratique pour les glisser dans le rapport</a:t>
            </a:r>
            <a:endParaRPr b="0" lang="fr-FR"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DataSet Dialog</a:t>
            </a:r>
            <a:endParaRPr b="0" lang="fr-FR" sz="3600" spc="-1" strike="noStrike">
              <a:solidFill>
                <a:srgbClr val="000000"/>
              </a:solidFill>
              <a:latin typeface="Arial"/>
            </a:endParaRPr>
          </a:p>
        </p:txBody>
      </p:sp>
      <p:pic>
        <p:nvPicPr>
          <p:cNvPr id="147" name="Picture 2" descr="image.png"/>
          <p:cNvPicPr/>
          <p:nvPr/>
        </p:nvPicPr>
        <p:blipFill>
          <a:blip r:embed="rId1"/>
          <a:stretch/>
        </p:blipFill>
        <p:spPr>
          <a:xfrm>
            <a:off x="2511000" y="2330280"/>
            <a:ext cx="5769360" cy="5228640"/>
          </a:xfrm>
          <a:prstGeom prst="rect">
            <a:avLst/>
          </a:prstGeom>
          <a:ln w="0">
            <a:noFill/>
          </a:ln>
        </p:spPr>
      </p:pic>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Tri et filtre</a:t>
            </a:r>
            <a:endParaRPr b="0" lang="fr-FR" sz="3600" spc="-1" strike="noStrike">
              <a:solidFill>
                <a:srgbClr val="000000"/>
              </a:solidFill>
              <a:latin typeface="Arial"/>
            </a:endParaRPr>
          </a:p>
        </p:txBody>
      </p:sp>
      <p:sp>
        <p:nvSpPr>
          <p:cNvPr id="149"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561"/>
              </a:spcBef>
              <a:buClr>
                <a:srgbClr val="000000"/>
              </a:buClr>
              <a:buFont typeface="Arial"/>
              <a:buChar char="•"/>
            </a:pPr>
            <a:r>
              <a:rPr b="0" lang="fr-FR" sz="2800" spc="-1" strike="noStrike">
                <a:solidFill>
                  <a:schemeClr val="dk1"/>
                </a:solidFill>
                <a:latin typeface="Calibri"/>
              </a:rPr>
              <a:t>Les enregistrements récupérés d'une source de données peuvent être triés et filtrés programmatiquement par JasperReport</a:t>
            </a:r>
            <a:endParaRPr b="0" lang="fr-FR" sz="2800" spc="-1" strike="noStrike">
              <a:solidFill>
                <a:srgbClr val="000000"/>
              </a:solidFill>
              <a:latin typeface="Arial"/>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L'expression du filtre doit retourner un booléen </a:t>
            </a:r>
            <a:endParaRPr b="0" lang="fr-FR" sz="2400" spc="-1" strike="noStrike">
              <a:solidFill>
                <a:srgbClr val="000000"/>
              </a:solidFill>
              <a:latin typeface="Arial"/>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Le tri est basé sur un ou plusieurs champs en pouvant indiquer pour chaque la direction du tri</a:t>
            </a:r>
            <a:endParaRPr b="0" lang="fr-FR" sz="2400" spc="-1" strike="noStrike">
              <a:solidFill>
                <a:srgbClr val="000000"/>
              </a:solidFill>
              <a:latin typeface="Arial"/>
            </a:endParaRPr>
          </a:p>
          <a:p>
            <a:pPr marL="343080" indent="-343080" defTabSz="457200">
              <a:lnSpc>
                <a:spcPct val="100000"/>
              </a:lnSpc>
              <a:spcBef>
                <a:spcPts val="561"/>
              </a:spcBef>
              <a:buClr>
                <a:srgbClr val="000000"/>
              </a:buClr>
              <a:buFont typeface="Arial"/>
              <a:buChar char="•"/>
            </a:pPr>
            <a:r>
              <a:rPr b="0" lang="fr-FR" sz="2800" spc="-1" strike="noStrike">
                <a:solidFill>
                  <a:schemeClr val="dk1"/>
                </a:solidFill>
                <a:latin typeface="Calibri"/>
              </a:rPr>
              <a:t>Lorsque l'on utilise des bases de données relationnelles, il est en général plus performant d'utiliser les clauses SQL appropriées </a:t>
            </a:r>
            <a:endParaRPr b="0" lang="fr-F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Champs</a:t>
            </a:r>
            <a:endParaRPr b="0" lang="fr-FR" sz="3600" spc="-1" strike="noStrike">
              <a:solidFill>
                <a:srgbClr val="000000"/>
              </a:solidFill>
              <a:latin typeface="Arial"/>
            </a:endParaRPr>
          </a:p>
        </p:txBody>
      </p:sp>
      <p:sp>
        <p:nvSpPr>
          <p:cNvPr id="151"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fontScale="93333" lnSpcReduction="10000"/>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Les champs représentent l'unique façon de faire correspondre les données de la source avec les données du rapport. </a:t>
            </a:r>
            <a:endParaRPr b="0" lang="fr-FR" sz="2400" spc="-1" strike="noStrike">
              <a:solidFill>
                <a:srgbClr val="000000"/>
              </a:solidFill>
              <a:latin typeface="Arial"/>
            </a:endParaRPr>
          </a:p>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Ils doivent être déclarés dans le rapport via l'élément </a:t>
            </a:r>
            <a:r>
              <a:rPr b="1" i="1" lang="en-US" sz="2400" spc="-1" strike="noStrike">
                <a:solidFill>
                  <a:schemeClr val="dk1"/>
                </a:solidFill>
                <a:latin typeface="Calibri"/>
              </a:rPr>
              <a:t>&lt;field&gt;</a:t>
            </a:r>
            <a:r>
              <a:rPr b="0" lang="en-US" sz="2400" spc="-1" strike="noStrike">
                <a:solidFill>
                  <a:schemeClr val="dk1"/>
                </a:solidFill>
                <a:latin typeface="Calibri"/>
              </a:rPr>
              <a:t> en indiquant </a:t>
            </a:r>
            <a:endParaRPr b="0" lang="fr-FR" sz="2400" spc="-1" strike="noStrike">
              <a:solidFill>
                <a:srgbClr val="000000"/>
              </a:solidFill>
              <a:latin typeface="Arial"/>
            </a:endParaRPr>
          </a:p>
          <a:p>
            <a:pPr lvl="1" marL="864000" indent="-324000" defTabSz="457200">
              <a:lnSpc>
                <a:spcPct val="100000"/>
              </a:lnSpc>
              <a:spcBef>
                <a:spcPts val="1134"/>
              </a:spcBef>
              <a:buClr>
                <a:srgbClr val="000000"/>
              </a:buClr>
              <a:buSzPct val="75000"/>
              <a:buFont typeface="Symbol" charset="2"/>
              <a:buChar char=""/>
            </a:pPr>
            <a:r>
              <a:rPr b="0" lang="en-US" sz="2400" spc="-1" strike="noStrike">
                <a:solidFill>
                  <a:schemeClr val="dk1"/>
                </a:solidFill>
                <a:latin typeface="Calibri"/>
              </a:rPr>
              <a:t>L'attribut </a:t>
            </a:r>
            <a:r>
              <a:rPr b="1" i="1" lang="en-US" sz="2400" spc="-1" strike="noStrike">
                <a:solidFill>
                  <a:schemeClr val="dk1"/>
                </a:solidFill>
                <a:latin typeface="Calibri"/>
              </a:rPr>
              <a:t>name</a:t>
            </a:r>
            <a:r>
              <a:rPr b="0" lang="en-US" sz="2400" spc="-1" strike="noStrike">
                <a:solidFill>
                  <a:schemeClr val="dk1"/>
                </a:solidFill>
                <a:latin typeface="Calibri"/>
              </a:rPr>
              <a:t> : le nom de la colonne récupérée par la requêtes. Il doit être unique dans le rapport. Si plusieurs champs de la base ont le même nom, il faut utiliser des alias dans la requête SQL.</a:t>
            </a:r>
            <a:endParaRPr b="0" lang="fr-FR" sz="2400" spc="-1" strike="noStrike">
              <a:solidFill>
                <a:srgbClr val="000000"/>
              </a:solidFill>
              <a:latin typeface="Arial"/>
            </a:endParaRPr>
          </a:p>
          <a:p>
            <a:pPr lvl="1" marL="864000" indent="-324000" defTabSz="457200">
              <a:lnSpc>
                <a:spcPct val="100000"/>
              </a:lnSpc>
              <a:spcBef>
                <a:spcPts val="1134"/>
              </a:spcBef>
              <a:buClr>
                <a:srgbClr val="000000"/>
              </a:buClr>
              <a:buSzPct val="75000"/>
              <a:buFont typeface="Symbol" charset="2"/>
              <a:buChar char=""/>
            </a:pPr>
            <a:r>
              <a:rPr b="0" lang="en-US" sz="2400" spc="-1" strike="noStrike">
                <a:solidFill>
                  <a:schemeClr val="dk1"/>
                </a:solidFill>
                <a:latin typeface="Calibri"/>
              </a:rPr>
              <a:t>L'attribut </a:t>
            </a:r>
            <a:r>
              <a:rPr b="1" i="1" lang="en-US" sz="2400" spc="-1" strike="noStrike">
                <a:solidFill>
                  <a:schemeClr val="dk1"/>
                </a:solidFill>
                <a:latin typeface="Calibri"/>
              </a:rPr>
              <a:t>class</a:t>
            </a:r>
            <a:r>
              <a:rPr b="0" lang="en-US" sz="2400" spc="-1" strike="noStrike">
                <a:solidFill>
                  <a:schemeClr val="dk1"/>
                </a:solidFill>
                <a:latin typeface="Calibri"/>
              </a:rPr>
              <a:t> : Indiquant la classe de l'objet pouvant être utilisé dans le rapport. </a:t>
            </a:r>
            <a:br>
              <a:rPr sz="2400"/>
            </a:br>
            <a:r>
              <a:rPr b="0" lang="en-US" sz="2400" spc="-1" strike="noStrike">
                <a:solidFill>
                  <a:schemeClr val="dk1"/>
                </a:solidFill>
                <a:latin typeface="Calibri"/>
              </a:rPr>
              <a:t>Attention au nombre décimaux !</a:t>
            </a:r>
            <a:endParaRPr b="0" lang="fr-FR" sz="2400" spc="-1" strike="noStrike">
              <a:solidFill>
                <a:srgbClr val="000000"/>
              </a:solidFill>
              <a:latin typeface="Arial"/>
            </a:endParaRPr>
          </a:p>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Les éléments </a:t>
            </a:r>
            <a:r>
              <a:rPr b="0" i="1" lang="en-US" sz="2400" spc="-1" strike="noStrike">
                <a:solidFill>
                  <a:schemeClr val="dk1"/>
                </a:solidFill>
                <a:latin typeface="Calibri"/>
              </a:rPr>
              <a:t>&lt;field&gt;</a:t>
            </a:r>
            <a:r>
              <a:rPr b="0" lang="en-US" sz="2400" spc="-1" strike="noStrike">
                <a:solidFill>
                  <a:schemeClr val="dk1"/>
                </a:solidFill>
                <a:latin typeface="Calibri"/>
              </a:rPr>
              <a:t> sont placés sous l'élément </a:t>
            </a:r>
            <a:r>
              <a:rPr b="0" i="1" lang="en-US" sz="2400" spc="-1" strike="noStrike">
                <a:solidFill>
                  <a:schemeClr val="dk1"/>
                </a:solidFill>
                <a:latin typeface="Calibri"/>
              </a:rPr>
              <a:t>&lt;jasperReport&gt;</a:t>
            </a:r>
            <a:endParaRPr b="0" lang="fr-F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Correspondance de type</a:t>
            </a:r>
            <a:endParaRPr b="0" lang="fr-FR" sz="3600" spc="-1" strike="noStrike">
              <a:solidFill>
                <a:srgbClr val="000000"/>
              </a:solidFill>
              <a:latin typeface="Arial"/>
            </a:endParaRPr>
          </a:p>
        </p:txBody>
      </p:sp>
      <p:graphicFrame>
        <p:nvGraphicFramePr>
          <p:cNvPr id="153" name="Table 2"/>
          <p:cNvGraphicFramePr/>
          <p:nvPr/>
        </p:nvGraphicFramePr>
        <p:xfrm>
          <a:off x="1001880" y="1838160"/>
          <a:ext cx="8610840" cy="5555520"/>
        </p:xfrm>
        <a:graphic>
          <a:graphicData uri="http://schemas.openxmlformats.org/drawingml/2006/table">
            <a:tbl>
              <a:tblPr/>
              <a:tblGrid>
                <a:gridCol w="1376280"/>
                <a:gridCol w="2545920"/>
                <a:gridCol w="2387520"/>
                <a:gridCol w="2301480"/>
              </a:tblGrid>
              <a:tr h="654120">
                <a:tc>
                  <a:txBody>
                    <a:bodyPr lIns="50760" rIns="50760" anchor="t">
                      <a:noAutofit/>
                    </a:bodyPr>
                    <a:p>
                      <a:pPr defTabSz="457200">
                        <a:lnSpc>
                          <a:spcPct val="100000"/>
                        </a:lnSpc>
                      </a:pPr>
                      <a:r>
                        <a:rPr b="1" lang="en-US" sz="1800" spc="-1" strike="noStrike">
                          <a:solidFill>
                            <a:schemeClr val="dk1"/>
                          </a:solidFill>
                          <a:latin typeface="Calibri"/>
                        </a:rPr>
                        <a:t>Type SQL</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bcbcbc"/>
                      </a:solidFill>
                      <a:prstDash val="solid"/>
                    </a:lnT>
                    <a:lnB w="12240">
                      <a:solidFill>
                        <a:srgbClr val="000000"/>
                      </a:solidFill>
                      <a:prstDash val="solid"/>
                    </a:lnB>
                    <a:noFill/>
                  </a:tcPr>
                </a:tc>
                <a:tc>
                  <a:txBody>
                    <a:bodyPr lIns="50760" rIns="50760" anchor="t">
                      <a:noAutofit/>
                    </a:bodyPr>
                    <a:p>
                      <a:pPr defTabSz="457200">
                        <a:lnSpc>
                          <a:spcPct val="100000"/>
                        </a:lnSpc>
                      </a:pPr>
                      <a:r>
                        <a:rPr b="1" lang="en-US" sz="1800" spc="-1" strike="noStrike">
                          <a:solidFill>
                            <a:schemeClr val="dk1"/>
                          </a:solidFill>
                          <a:latin typeface="Calibri"/>
                        </a:rPr>
                        <a:t>Objet Java</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bcbcbc"/>
                      </a:solidFill>
                      <a:prstDash val="solid"/>
                    </a:lnT>
                    <a:lnB w="12240">
                      <a:solidFill>
                        <a:srgbClr val="000000"/>
                      </a:solidFill>
                      <a:prstDash val="solid"/>
                    </a:lnB>
                    <a:noFill/>
                  </a:tcPr>
                </a:tc>
                <a:tc>
                  <a:txBody>
                    <a:bodyPr lIns="50760" rIns="50760" anchor="t">
                      <a:noAutofit/>
                    </a:bodyPr>
                    <a:p>
                      <a:pPr defTabSz="457200">
                        <a:lnSpc>
                          <a:spcPct val="100000"/>
                        </a:lnSpc>
                      </a:pPr>
                      <a:r>
                        <a:rPr b="1" lang="en-US" sz="1800" spc="-1" strike="noStrike">
                          <a:solidFill>
                            <a:schemeClr val="dk1"/>
                          </a:solidFill>
                          <a:latin typeface="Calibri"/>
                        </a:rPr>
                        <a:t>Type SQL</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bcbcbc"/>
                      </a:solidFill>
                      <a:prstDash val="solid"/>
                    </a:lnT>
                    <a:lnB w="12240">
                      <a:solidFill>
                        <a:srgbClr val="000000"/>
                      </a:solidFill>
                      <a:prstDash val="solid"/>
                    </a:lnB>
                    <a:noFill/>
                  </a:tcPr>
                </a:tc>
                <a:tc>
                  <a:txBody>
                    <a:bodyPr lIns="50760" rIns="50760" anchor="t">
                      <a:noAutofit/>
                    </a:bodyPr>
                    <a:p>
                      <a:pPr defTabSz="457200">
                        <a:lnSpc>
                          <a:spcPct val="100000"/>
                        </a:lnSpc>
                      </a:pPr>
                      <a:r>
                        <a:rPr b="1" lang="en-US" sz="1800" spc="-1" strike="noStrike">
                          <a:solidFill>
                            <a:schemeClr val="dk1"/>
                          </a:solidFill>
                          <a:latin typeface="Calibri"/>
                        </a:rPr>
                        <a:t>Objet Java</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bcbcbc"/>
                      </a:solidFill>
                      <a:prstDash val="solid"/>
                    </a:lnT>
                    <a:lnB w="12240">
                      <a:solidFill>
                        <a:srgbClr val="000000"/>
                      </a:solidFill>
                      <a:prstDash val="solid"/>
                    </a:lnB>
                    <a:noFill/>
                  </a:tcPr>
                </a:tc>
              </a:tr>
              <a:tr h="653760">
                <a:tc>
                  <a:txBody>
                    <a:bodyPr lIns="50760" rIns="50760" anchor="t">
                      <a:noAutofit/>
                    </a:bodyPr>
                    <a:p>
                      <a:pPr defTabSz="457200">
                        <a:lnSpc>
                          <a:spcPct val="100000"/>
                        </a:lnSpc>
                      </a:pPr>
                      <a:r>
                        <a:rPr b="0" lang="en-US" sz="1800" spc="-1" strike="noStrike">
                          <a:solidFill>
                            <a:schemeClr val="dk1"/>
                          </a:solidFill>
                          <a:latin typeface="Calibri"/>
                        </a:rPr>
                        <a:t>CHAR</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600" spc="-1" strike="noStrike">
                          <a:solidFill>
                            <a:schemeClr val="dk1"/>
                          </a:solidFill>
                          <a:latin typeface="Calibri"/>
                        </a:rPr>
                        <a:t>String</a:t>
                      </a:r>
                      <a:endParaRPr b="0" lang="fr-FR" sz="16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REAL</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600" spc="-1" strike="noStrike">
                          <a:solidFill>
                            <a:schemeClr val="dk1"/>
                          </a:solidFill>
                          <a:latin typeface="Calibri"/>
                        </a:rPr>
                        <a:t>Float</a:t>
                      </a:r>
                      <a:endParaRPr b="0" lang="fr-FR" sz="16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654120">
                <a:tc>
                  <a:txBody>
                    <a:bodyPr lIns="50760" rIns="50760" anchor="t">
                      <a:noAutofit/>
                    </a:bodyPr>
                    <a:p>
                      <a:pPr defTabSz="457200">
                        <a:lnSpc>
                          <a:spcPct val="100000"/>
                        </a:lnSpc>
                      </a:pPr>
                      <a:r>
                        <a:rPr b="0" lang="en-US" sz="1800" spc="-1" strike="noStrike">
                          <a:solidFill>
                            <a:schemeClr val="dk1"/>
                          </a:solidFill>
                          <a:latin typeface="Calibri"/>
                        </a:rPr>
                        <a:t>VARCHAR</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600" spc="-1" strike="noStrike">
                          <a:solidFill>
                            <a:schemeClr val="dk1"/>
                          </a:solidFill>
                          <a:latin typeface="Calibri"/>
                        </a:rPr>
                        <a:t>String</a:t>
                      </a:r>
                      <a:endParaRPr b="0" lang="fr-FR" sz="16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FLOAT</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600" spc="-1" strike="noStrike">
                          <a:solidFill>
                            <a:schemeClr val="dk1"/>
                          </a:solidFill>
                          <a:latin typeface="Calibri"/>
                        </a:rPr>
                        <a:t>Double</a:t>
                      </a:r>
                      <a:endParaRPr b="0" lang="fr-FR" sz="16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978120">
                <a:tc>
                  <a:txBody>
                    <a:bodyPr lIns="50760" rIns="50760" anchor="t">
                      <a:noAutofit/>
                    </a:bodyPr>
                    <a:p>
                      <a:pPr defTabSz="457200">
                        <a:lnSpc>
                          <a:spcPct val="100000"/>
                        </a:lnSpc>
                      </a:pPr>
                      <a:r>
                        <a:rPr b="0" lang="en-US" sz="1800" spc="-1" strike="noStrike">
                          <a:solidFill>
                            <a:schemeClr val="dk1"/>
                          </a:solidFill>
                          <a:latin typeface="Calibri"/>
                        </a:rPr>
                        <a:t>LONGVAR CHAR</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600" spc="-1" strike="noStrike">
                          <a:solidFill>
                            <a:schemeClr val="dk1"/>
                          </a:solidFill>
                          <a:latin typeface="Calibri"/>
                        </a:rPr>
                        <a:t>String</a:t>
                      </a:r>
                      <a:endParaRPr b="0" lang="fr-FR" sz="16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DOUBLE</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600" spc="-1" strike="noStrike">
                          <a:solidFill>
                            <a:schemeClr val="dk1"/>
                          </a:solidFill>
                          <a:latin typeface="Calibri"/>
                        </a:rPr>
                        <a:t>Double</a:t>
                      </a:r>
                      <a:endParaRPr b="0" lang="fr-FR" sz="16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654120">
                <a:tc>
                  <a:txBody>
                    <a:bodyPr lIns="50760" rIns="50760" anchor="t">
                      <a:noAutofit/>
                    </a:bodyPr>
                    <a:p>
                      <a:pPr defTabSz="457200">
                        <a:lnSpc>
                          <a:spcPct val="100000"/>
                        </a:lnSpc>
                      </a:pPr>
                      <a:r>
                        <a:rPr b="0" lang="en-US" sz="1800" spc="-1" strike="noStrike">
                          <a:solidFill>
                            <a:schemeClr val="dk1"/>
                          </a:solidFill>
                          <a:latin typeface="Calibri"/>
                        </a:rPr>
                        <a:t>NUMERIC</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600" spc="-1" strike="noStrike">
                          <a:solidFill>
                            <a:srgbClr val="c9211e"/>
                          </a:solidFill>
                          <a:latin typeface="Calibri"/>
                        </a:rPr>
                        <a:t>java.math.BigDecimal</a:t>
                      </a:r>
                      <a:endParaRPr b="0" lang="fr-FR" sz="16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BINARY</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600" spc="-1" strike="noStrike">
                          <a:solidFill>
                            <a:schemeClr val="dk1"/>
                          </a:solidFill>
                          <a:latin typeface="Calibri"/>
                        </a:rPr>
                        <a:t>byte[]</a:t>
                      </a:r>
                      <a:endParaRPr b="0" lang="fr-FR" sz="16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653760">
                <a:tc>
                  <a:txBody>
                    <a:bodyPr lIns="50760" rIns="50760" anchor="t">
                      <a:noAutofit/>
                    </a:bodyPr>
                    <a:p>
                      <a:pPr defTabSz="457200">
                        <a:lnSpc>
                          <a:spcPct val="100000"/>
                        </a:lnSpc>
                      </a:pPr>
                      <a:r>
                        <a:rPr b="0" lang="en-US" sz="1800" spc="-1" strike="noStrike">
                          <a:solidFill>
                            <a:schemeClr val="dk1"/>
                          </a:solidFill>
                          <a:latin typeface="Calibri"/>
                        </a:rPr>
                        <a:t>DECIMAL</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600" spc="-1" strike="noStrike">
                          <a:solidFill>
                            <a:srgbClr val="c9211e"/>
                          </a:solidFill>
                          <a:latin typeface="Calibri"/>
                        </a:rPr>
                        <a:t>java.math.BigDecimal</a:t>
                      </a:r>
                      <a:endParaRPr b="0" lang="fr-FR" sz="16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VARBINARY</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600" spc="-1" strike="noStrike">
                          <a:solidFill>
                            <a:schemeClr val="dk1"/>
                          </a:solidFill>
                          <a:latin typeface="Calibri"/>
                        </a:rPr>
                        <a:t>byte[]</a:t>
                      </a:r>
                      <a:endParaRPr b="0" lang="fr-FR" sz="16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654120">
                <a:tc>
                  <a:txBody>
                    <a:bodyPr lIns="50760" rIns="50760" anchor="t">
                      <a:noAutofit/>
                    </a:bodyPr>
                    <a:p>
                      <a:pPr defTabSz="457200">
                        <a:lnSpc>
                          <a:spcPct val="100000"/>
                        </a:lnSpc>
                      </a:pPr>
                      <a:r>
                        <a:rPr b="0" lang="en-US" sz="1800" spc="-1" strike="noStrike">
                          <a:solidFill>
                            <a:schemeClr val="dk1"/>
                          </a:solidFill>
                          <a:latin typeface="Calibri"/>
                        </a:rPr>
                        <a:t>BIT</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600" spc="-1" strike="noStrike">
                          <a:solidFill>
                            <a:schemeClr val="dk1"/>
                          </a:solidFill>
                          <a:latin typeface="Calibri"/>
                        </a:rPr>
                        <a:t>Boolean</a:t>
                      </a:r>
                      <a:endParaRPr b="0" lang="fr-FR" sz="16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LONGVARBINARY</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600" spc="-1" strike="noStrike">
                          <a:solidFill>
                            <a:schemeClr val="dk1"/>
                          </a:solidFill>
                          <a:latin typeface="Calibri"/>
                        </a:rPr>
                        <a:t>byte[]</a:t>
                      </a:r>
                      <a:endParaRPr b="0" lang="fr-FR" sz="16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653760">
                <a:tc>
                  <a:txBody>
                    <a:bodyPr lIns="50760" rIns="50760" anchor="t">
                      <a:noAutofit/>
                    </a:bodyPr>
                    <a:p>
                      <a:pPr defTabSz="457200">
                        <a:lnSpc>
                          <a:spcPct val="100000"/>
                        </a:lnSpc>
                      </a:pPr>
                      <a:r>
                        <a:rPr b="0" lang="en-US" sz="1800" spc="-1" strike="noStrike">
                          <a:solidFill>
                            <a:schemeClr val="dk1"/>
                          </a:solidFill>
                          <a:latin typeface="Calibri"/>
                        </a:rPr>
                        <a:t>TINYINT</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bcbcbc"/>
                      </a:solidFill>
                      <a:prstDash val="solid"/>
                    </a:lnB>
                    <a:noFill/>
                  </a:tcPr>
                </a:tc>
                <a:tc>
                  <a:txBody>
                    <a:bodyPr lIns="50760" rIns="50760" anchor="t">
                      <a:noAutofit/>
                    </a:bodyPr>
                    <a:p>
                      <a:pPr defTabSz="457200">
                        <a:lnSpc>
                          <a:spcPct val="100000"/>
                        </a:lnSpc>
                      </a:pPr>
                      <a:r>
                        <a:rPr b="0" lang="en-US" sz="1600" spc="-1" strike="noStrike">
                          <a:solidFill>
                            <a:schemeClr val="dk1"/>
                          </a:solidFill>
                          <a:latin typeface="Calibri"/>
                        </a:rPr>
                        <a:t>Integer</a:t>
                      </a:r>
                      <a:endParaRPr b="0" lang="fr-FR" sz="16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bcbcbc"/>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DATE</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bcbcbc"/>
                      </a:solidFill>
                      <a:prstDash val="solid"/>
                    </a:lnB>
                    <a:noFill/>
                  </a:tcPr>
                </a:tc>
                <a:tc>
                  <a:txBody>
                    <a:bodyPr lIns="50760" rIns="50760" anchor="t">
                      <a:noAutofit/>
                    </a:bodyPr>
                    <a:p>
                      <a:pPr defTabSz="457200">
                        <a:lnSpc>
                          <a:spcPct val="100000"/>
                        </a:lnSpc>
                      </a:pPr>
                      <a:r>
                        <a:rPr b="0" lang="en-US" sz="1600" spc="-1" strike="noStrike">
                          <a:solidFill>
                            <a:schemeClr val="dk1"/>
                          </a:solidFill>
                          <a:latin typeface="Calibri"/>
                        </a:rPr>
                        <a:t>java.sql.Date</a:t>
                      </a:r>
                      <a:endParaRPr b="0" lang="fr-FR" sz="16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bcbcbc"/>
                      </a:solidFill>
                      <a:prstDash val="solid"/>
                    </a:lnB>
                    <a:noFill/>
                  </a:tcPr>
                </a:tc>
              </a:tr>
            </a:tbl>
          </a:graphicData>
        </a:graphic>
      </p:graphicFrame>
      <p:sp>
        <p:nvSpPr>
          <p:cNvPr id="154" name=""/>
          <p:cNvSpPr/>
          <p:nvPr/>
        </p:nvSpPr>
        <p:spPr>
          <a:xfrm>
            <a:off x="360000" y="180000"/>
            <a:ext cx="9298080" cy="345600"/>
          </a:xfrm>
          <a:prstGeom prst="rect">
            <a:avLst/>
          </a:prstGeom>
          <a:noFill/>
          <a:ln w="0">
            <a:noFill/>
          </a:ln>
        </p:spPr>
        <p:style>
          <a:lnRef idx="0"/>
          <a:fillRef idx="0"/>
          <a:effectRef idx="0"/>
          <a:fontRef idx="minor"/>
        </p:style>
        <p:txBody>
          <a:bodyPr wrap="none" lIns="90000" rIns="90000" tIns="45000" bIns="45000" anchor="t">
            <a:noAutofit/>
          </a:bodyPr>
          <a:p>
            <a:pPr defTabSz="457200">
              <a:lnSpc>
                <a:spcPct val="100000"/>
              </a:lnSpc>
            </a:pPr>
            <a:r>
              <a:rPr b="0" lang="fr-FR" sz="1800" spc="-1" strike="noStrike">
                <a:solidFill>
                  <a:srgbClr val="000000"/>
                </a:solidFill>
                <a:latin typeface="Arial"/>
                <a:ea typeface="Noto Sans CJK SC"/>
              </a:rPr>
              <a:t>1. </a:t>
            </a:r>
            <a:r>
              <a:rPr b="0" i="1" lang="en-US" sz="1600" spc="-1" strike="noStrike">
                <a:solidFill>
                  <a:srgbClr val="c9211e"/>
                </a:solidFill>
                <a:latin typeface="Calibri"/>
                <a:ea typeface="Noto Sans CJK SC"/>
              </a:rPr>
              <a:t>java.math.BigDecimal est à éviter si on veut le manipuler ensute, utiliser plutôt Double</a:t>
            </a:r>
            <a:endParaRPr b="0" lang="fr-FR"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Exemple XML</a:t>
            </a:r>
            <a:endParaRPr b="0" lang="fr-FR" sz="3600" spc="-1" strike="noStrike">
              <a:solidFill>
                <a:srgbClr val="000000"/>
              </a:solidFill>
              <a:latin typeface="Arial"/>
            </a:endParaRPr>
          </a:p>
        </p:txBody>
      </p:sp>
      <p:sp>
        <p:nvSpPr>
          <p:cNvPr id="156"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indent="0" defTabSz="457200">
              <a:lnSpc>
                <a:spcPct val="100000"/>
              </a:lnSpc>
              <a:spcBef>
                <a:spcPts val="519"/>
              </a:spcBef>
              <a:buNone/>
              <a:tabLst>
                <a:tab algn="l" pos="0"/>
              </a:tabLst>
            </a:pPr>
            <a:r>
              <a:rPr b="0" i="1" lang="en-US" sz="2600" spc="-1" strike="noStrike">
                <a:solidFill>
                  <a:schemeClr val="dk1"/>
                </a:solidFill>
                <a:latin typeface="Calibri"/>
              </a:rPr>
              <a:t>&lt;jasperReport&gt;</a:t>
            </a:r>
            <a:endParaRPr b="0" lang="fr-FR" sz="2600" spc="-1" strike="noStrike">
              <a:solidFill>
                <a:srgbClr val="000000"/>
              </a:solidFill>
              <a:latin typeface="Arial"/>
            </a:endParaRPr>
          </a:p>
          <a:p>
            <a:pPr indent="0" defTabSz="457200">
              <a:lnSpc>
                <a:spcPct val="100000"/>
              </a:lnSpc>
              <a:spcBef>
                <a:spcPts val="519"/>
              </a:spcBef>
              <a:buNone/>
              <a:tabLst>
                <a:tab algn="l" pos="0"/>
              </a:tabLst>
            </a:pPr>
            <a:r>
              <a:rPr b="0" i="1" lang="en-US" sz="2600" spc="-1" strike="noStrike">
                <a:solidFill>
                  <a:schemeClr val="dk1"/>
                </a:solidFill>
                <a:latin typeface="Calibri"/>
              </a:rPr>
              <a:t>&lt;field name="id" class="java.lang.Integer"/&gt;</a:t>
            </a:r>
            <a:endParaRPr b="0" lang="fr-FR" sz="2600" spc="-1" strike="noStrike">
              <a:solidFill>
                <a:srgbClr val="000000"/>
              </a:solidFill>
              <a:latin typeface="Arial"/>
            </a:endParaRPr>
          </a:p>
          <a:p>
            <a:pPr indent="0" defTabSz="457200">
              <a:lnSpc>
                <a:spcPct val="100000"/>
              </a:lnSpc>
              <a:spcBef>
                <a:spcPts val="519"/>
              </a:spcBef>
              <a:buNone/>
              <a:tabLst>
                <a:tab algn="l" pos="0"/>
              </a:tabLst>
            </a:pPr>
            <a:r>
              <a:rPr b="0" i="1" lang="en-US" sz="2600" spc="-1" strike="noStrike">
                <a:solidFill>
                  <a:schemeClr val="dk1"/>
                </a:solidFill>
                <a:latin typeface="Calibri"/>
              </a:rPr>
              <a:t>&lt;field name="name" class="java.lang.String"/&gt;</a:t>
            </a:r>
            <a:endParaRPr b="0" lang="fr-FR" sz="2600" spc="-1" strike="noStrike">
              <a:solidFill>
                <a:srgbClr val="000000"/>
              </a:solidFill>
              <a:latin typeface="Arial"/>
            </a:endParaRPr>
          </a:p>
          <a:p>
            <a:pPr indent="0" defTabSz="457200">
              <a:lnSpc>
                <a:spcPct val="100000"/>
              </a:lnSpc>
              <a:spcBef>
                <a:spcPts val="519"/>
              </a:spcBef>
              <a:buNone/>
              <a:tabLst>
                <a:tab algn="l" pos="0"/>
              </a:tabLst>
            </a:pPr>
            <a:r>
              <a:rPr b="0" i="1" lang="en-US" sz="2600" spc="-1" strike="noStrike">
                <a:solidFill>
                  <a:schemeClr val="dk1"/>
                </a:solidFill>
                <a:latin typeface="Calibri"/>
              </a:rPr>
              <a:t>&lt;field name="city" class="java.lang.String"&gt;</a:t>
            </a:r>
            <a:endParaRPr b="0" lang="fr-FR" sz="2600" spc="-1" strike="noStrike">
              <a:solidFill>
                <a:srgbClr val="000000"/>
              </a:solidFill>
              <a:latin typeface="Arial"/>
            </a:endParaRPr>
          </a:p>
          <a:p>
            <a:pPr indent="0" defTabSz="457200">
              <a:lnSpc>
                <a:spcPct val="100000"/>
              </a:lnSpc>
              <a:spcBef>
                <a:spcPts val="519"/>
              </a:spcBef>
              <a:buNone/>
              <a:tabLst>
                <a:tab algn="l" pos="0"/>
              </a:tabLst>
            </a:pPr>
            <a:r>
              <a:rPr b="0" i="1" lang="en-US" sz="2600" spc="-1" strike="noStrike">
                <a:solidFill>
                  <a:schemeClr val="dk1"/>
                </a:solidFill>
                <a:latin typeface="Calibri"/>
              </a:rPr>
              <a:t>&lt;fieldDescription&gt;</a:t>
            </a:r>
            <a:r>
              <a:rPr b="0" lang="en-US" sz="2600" spc="-1" strike="noStrike">
                <a:solidFill>
                  <a:schemeClr val="dk1"/>
                </a:solidFill>
                <a:latin typeface="Calibri"/>
              </a:rPr>
              <a:t> </a:t>
            </a:r>
            <a:r>
              <a:rPr b="0" i="1" lang="en-US" sz="2600" spc="-1" strike="noStrike">
                <a:solidFill>
                  <a:schemeClr val="dk1"/>
                </a:solidFill>
                <a:latin typeface="Calibri"/>
              </a:rPr>
              <a:t> Ville de naissance</a:t>
            </a:r>
            <a:r>
              <a:rPr b="0" lang="en-US" sz="2600" spc="-1" strike="noStrike">
                <a:solidFill>
                  <a:schemeClr val="dk1"/>
                </a:solidFill>
                <a:latin typeface="Calibri"/>
              </a:rPr>
              <a:t> </a:t>
            </a:r>
            <a:r>
              <a:rPr b="0" i="1" lang="en-US" sz="2600" spc="-1" strike="noStrike">
                <a:solidFill>
                  <a:schemeClr val="dk1"/>
                </a:solidFill>
                <a:latin typeface="Calibri"/>
              </a:rPr>
              <a:t> &lt;/fieldDescription&gt;</a:t>
            </a:r>
            <a:endParaRPr b="0" lang="fr-FR" sz="2600" spc="-1" strike="noStrike">
              <a:solidFill>
                <a:srgbClr val="000000"/>
              </a:solidFill>
              <a:latin typeface="Arial"/>
            </a:endParaRPr>
          </a:p>
          <a:p>
            <a:pPr indent="0" defTabSz="457200">
              <a:lnSpc>
                <a:spcPct val="100000"/>
              </a:lnSpc>
              <a:spcBef>
                <a:spcPts val="519"/>
              </a:spcBef>
              <a:buNone/>
              <a:tabLst>
                <a:tab algn="l" pos="0"/>
              </a:tabLst>
            </a:pPr>
            <a:r>
              <a:rPr b="0" i="1" lang="en-US" sz="2600" spc="-1" strike="noStrike">
                <a:solidFill>
                  <a:schemeClr val="dk1"/>
                </a:solidFill>
                <a:latin typeface="Calibri"/>
              </a:rPr>
              <a:t>&lt;/field&gt;</a:t>
            </a:r>
            <a:endParaRPr b="0" lang="fr-FR" sz="2600" spc="-1" strike="noStrike">
              <a:solidFill>
                <a:srgbClr val="000000"/>
              </a:solidFill>
              <a:latin typeface="Arial"/>
            </a:endParaRPr>
          </a:p>
          <a:p>
            <a:pPr indent="0" defTabSz="457200">
              <a:lnSpc>
                <a:spcPct val="100000"/>
              </a:lnSpc>
              <a:spcBef>
                <a:spcPts val="519"/>
              </a:spcBef>
              <a:buNone/>
              <a:tabLst>
                <a:tab algn="l" pos="0"/>
              </a:tabLst>
            </a:pPr>
            <a:r>
              <a:rPr b="0" i="1" lang="en-US" sz="2600" spc="-1" strike="noStrike">
                <a:solidFill>
                  <a:schemeClr val="dk1"/>
                </a:solidFill>
                <a:latin typeface="Calibri"/>
              </a:rPr>
              <a:t>....</a:t>
            </a:r>
            <a:endParaRPr b="0" lang="fr-FR" sz="2600" spc="-1" strike="noStrike">
              <a:solidFill>
                <a:srgbClr val="000000"/>
              </a:solidFill>
              <a:latin typeface="Arial"/>
            </a:endParaRPr>
          </a:p>
          <a:p>
            <a:pPr indent="0" defTabSz="457200">
              <a:lnSpc>
                <a:spcPct val="100000"/>
              </a:lnSpc>
              <a:spcBef>
                <a:spcPts val="519"/>
              </a:spcBef>
              <a:buNone/>
              <a:tabLst>
                <a:tab algn="l" pos="0"/>
              </a:tabLst>
            </a:pPr>
            <a:r>
              <a:rPr b="0" i="1" lang="en-US" sz="2600" spc="-1" strike="noStrike">
                <a:solidFill>
                  <a:schemeClr val="dk1"/>
                </a:solidFill>
                <a:latin typeface="Calibri"/>
              </a:rPr>
              <a:t>&lt;/japserReport&gt;</a:t>
            </a:r>
            <a:endParaRPr b="0" lang="fr-FR"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Règles sur les champs</a:t>
            </a:r>
            <a:endParaRPr b="0" lang="fr-FR" sz="3600" spc="-1" strike="noStrike">
              <a:solidFill>
                <a:srgbClr val="000000"/>
              </a:solidFill>
              <a:latin typeface="Arial"/>
            </a:endParaRPr>
          </a:p>
        </p:txBody>
      </p:sp>
      <p:sp>
        <p:nvSpPr>
          <p:cNvPr id="158"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Chaque champ doit correspondre alors à une colonne du </a:t>
            </a:r>
            <a:r>
              <a:rPr b="0" i="1" lang="en-US" sz="3200" spc="-1" strike="noStrike">
                <a:solidFill>
                  <a:schemeClr val="dk1"/>
                </a:solidFill>
                <a:latin typeface="Calibri"/>
              </a:rPr>
              <a:t>ResultSet</a:t>
            </a:r>
            <a:r>
              <a:rPr b="0" lang="en-US" sz="3200" spc="-1" strike="noStrike">
                <a:solidFill>
                  <a:schemeClr val="dk1"/>
                </a:solidFill>
                <a:latin typeface="Calibri"/>
              </a:rPr>
              <a:t>. C'est à dire avoir le </a:t>
            </a:r>
            <a:r>
              <a:rPr b="1" lang="en-US" sz="3200" spc="-1" strike="noStrike">
                <a:solidFill>
                  <a:srgbClr val="0c32cf"/>
                </a:solidFill>
                <a:latin typeface="Calibri"/>
              </a:rPr>
              <a:t>même nom ou alias et un type compatible</a:t>
            </a:r>
            <a:r>
              <a:rPr b="0" lang="en-US" sz="3200" spc="-1" strike="noStrike">
                <a:solidFill>
                  <a:schemeClr val="dk1"/>
                </a:solidFill>
                <a:latin typeface="Calibri"/>
              </a:rPr>
              <a:t> avec la colonne de la base. </a:t>
            </a:r>
            <a:endParaRPr b="0" lang="fr-FR" sz="32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pPr>
            <a:r>
              <a:rPr b="0" lang="fr-FR" sz="2800" spc="-1" strike="noStrike">
                <a:solidFill>
                  <a:schemeClr val="dk1"/>
                </a:solidFill>
                <a:latin typeface="Calibri"/>
              </a:rPr>
              <a:t>Si le nom indiqué ne correspond pas à une colonne du </a:t>
            </a:r>
            <a:r>
              <a:rPr b="0" i="1" lang="fr-FR" sz="2800" spc="-1" strike="noStrike">
                <a:solidFill>
                  <a:schemeClr val="dk1"/>
                </a:solidFill>
                <a:latin typeface="Calibri"/>
              </a:rPr>
              <a:t>ResultSet</a:t>
            </a:r>
            <a:r>
              <a:rPr b="0" lang="fr-FR" sz="2800" spc="-1" strike="noStrike">
                <a:solidFill>
                  <a:schemeClr val="dk1"/>
                </a:solidFill>
                <a:latin typeface="Calibri"/>
              </a:rPr>
              <a:t>, un exception sera lancée au moment de l'exécution</a:t>
            </a:r>
            <a:endParaRPr b="0" lang="fr-FR" sz="28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pPr>
            <a:r>
              <a:rPr b="0" lang="fr-FR" sz="2800" spc="-1" strike="noStrike">
                <a:solidFill>
                  <a:schemeClr val="dk1"/>
                </a:solidFill>
                <a:latin typeface="Calibri"/>
              </a:rPr>
              <a:t>Les colonnes présentes dans le </a:t>
            </a:r>
            <a:r>
              <a:rPr b="0" i="1" lang="fr-FR" sz="2800" spc="-1" strike="noStrike">
                <a:solidFill>
                  <a:schemeClr val="dk1"/>
                </a:solidFill>
                <a:latin typeface="Calibri"/>
              </a:rPr>
              <a:t>ResultSet</a:t>
            </a:r>
            <a:r>
              <a:rPr b="0" lang="fr-FR" sz="2800" spc="-1" strike="noStrike">
                <a:solidFill>
                  <a:schemeClr val="dk1"/>
                </a:solidFill>
                <a:latin typeface="Calibri"/>
              </a:rPr>
              <a:t> mais n'ayant pas de champs associés ne seront pas accessibles dans le rapport. </a:t>
            </a:r>
            <a:endParaRPr b="0" lang="fr-F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a:lnSpc>
                <a:spcPct val="100000"/>
              </a:lnSpc>
              <a:buNone/>
            </a:pPr>
            <a:r>
              <a:rPr b="0" lang="fr-FR" sz="3600" spc="-1" strike="noStrike">
                <a:solidFill>
                  <a:srgbClr val="000000"/>
                </a:solidFill>
                <a:latin typeface="Calibri"/>
              </a:rPr>
              <a:t>Atelier 2 : Premier rapport sur la base d'exemple</a:t>
            </a:r>
            <a:endParaRPr b="0" lang="fr-FR" sz="3600" spc="-1" strike="noStrike">
              <a:solidFill>
                <a:srgbClr val="000000"/>
              </a:solidFill>
              <a:latin typeface="Arial"/>
            </a:endParaRPr>
          </a:p>
        </p:txBody>
      </p:sp>
      <p:sp>
        <p:nvSpPr>
          <p:cNvPr id="160" name="PlaceHolder 2"/>
          <p:cNvSpPr>
            <a:spLocks noGrp="1"/>
          </p:cNvSpPr>
          <p:nvPr>
            <p:ph/>
          </p:nvPr>
        </p:nvSpPr>
        <p:spPr>
          <a:xfrm>
            <a:off x="762120" y="2158920"/>
            <a:ext cx="9397800" cy="482580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fr-FR" sz="2000" spc="-1" strike="noStrike">
                <a:solidFill>
                  <a:srgbClr val="000000"/>
                </a:solidFill>
                <a:latin typeface="Calibri"/>
              </a:rPr>
              <a:t>Créer un projet « Formation » et un rapport vide à partir du gabarit Blank A4</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2000" spc="-1" strike="noStrike">
                <a:solidFill>
                  <a:srgbClr val="000000"/>
                </a:solidFill>
                <a:latin typeface="Calibri"/>
              </a:rPr>
              <a:t>Choisir le data adapter </a:t>
            </a:r>
            <a:r>
              <a:rPr b="1" lang="fr-FR" sz="2000" spc="-1" strike="noStrike">
                <a:solidFill>
                  <a:srgbClr val="000000"/>
                </a:solidFill>
                <a:latin typeface="Calibri"/>
              </a:rPr>
              <a:t>Sample DB</a:t>
            </a:r>
            <a:r>
              <a:rPr b="0" lang="fr-FR" sz="2000" spc="-1" strike="noStrike">
                <a:solidFill>
                  <a:srgbClr val="000000"/>
                </a:solidFill>
                <a:latin typeface="Calibri"/>
              </a:rPr>
              <a:t> fourni par JasperStudio et le tester</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2000" spc="-1" strike="noStrike">
                <a:solidFill>
                  <a:srgbClr val="000000"/>
                </a:solidFill>
                <a:latin typeface="Calibri"/>
              </a:rPr>
              <a:t>Dataset and Query : </a:t>
            </a:r>
            <a:r>
              <a:rPr b="0" lang="fr-FR" sz="2000" spc="-1" strike="noStrike">
                <a:solidFill>
                  <a:srgbClr val="000000"/>
                </a:solidFill>
                <a:latin typeface="Courier New"/>
              </a:rPr>
              <a:t>SELECT FIRSTNAME, LASTNAME, STREET, CITY FROM ADDRESS ORDER BY CITY, LASTNAME</a:t>
            </a:r>
            <a:r>
              <a:rPr b="0" lang="fr-FR" sz="2000" spc="-1" strike="noStrike">
                <a:solidFill>
                  <a:srgbClr val="000000"/>
                </a:solidFill>
                <a:latin typeface="Calibri"/>
              </a:rPr>
              <a:t>, puis Read Fields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2000" spc="-1" strike="noStrike">
                <a:solidFill>
                  <a:srgbClr val="000000"/>
                </a:solidFill>
                <a:latin typeface="Calibri"/>
              </a:rPr>
              <a:t>Glisser les champs dans la bande Detail ; ajouter un titre statique et les entêtes en Column Header</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2000" spc="-1" strike="noStrike">
                <a:solidFill>
                  <a:srgbClr val="000000"/>
                </a:solidFill>
                <a:latin typeface="Calibri"/>
              </a:rPr>
              <a:t>Prévisualiser à l'écran, puis en PDF, et observer le nombre de pages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2000" spc="-1" strike="noStrike">
                <a:solidFill>
                  <a:srgbClr val="000000"/>
                </a:solidFill>
                <a:latin typeface="Calibri"/>
              </a:rPr>
              <a:t>Ouvrir l'onglet Source et repérer la requête, les champs et la bande Detail</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Anatomie d'un rapport Jasper</a:t>
            </a:r>
            <a:endParaRPr b="0" lang="fr-FR" sz="3600" spc="-1" strike="noStrike">
              <a:solidFill>
                <a:srgbClr val="000000"/>
              </a:solidFill>
              <a:latin typeface="Arial"/>
            </a:endParaRPr>
          </a:p>
        </p:txBody>
      </p:sp>
      <p:sp>
        <p:nvSpPr>
          <p:cNvPr id="162" name="PlaceHolder 2"/>
          <p:cNvSpPr>
            <a:spLocks noGrp="1"/>
          </p:cNvSpPr>
          <p:nvPr>
            <p:ph/>
          </p:nvPr>
        </p:nvSpPr>
        <p:spPr>
          <a:xfrm>
            <a:off x="762120" y="2540160"/>
            <a:ext cx="9397080" cy="4062960"/>
          </a:xfrm>
          <a:prstGeom prst="rect">
            <a:avLst/>
          </a:prstGeom>
          <a:noFill/>
          <a:ln w="0">
            <a:noFill/>
          </a:ln>
        </p:spPr>
        <p:txBody>
          <a:bodyPr lIns="91440" rIns="91440" tIns="45720" bIns="45720" anchor="t">
            <a:normAutofit/>
          </a:bodyPr>
          <a:p>
            <a:pPr indent="0" algn="ctr" defTabSz="457200">
              <a:lnSpc>
                <a:spcPct val="100000"/>
              </a:lnSpc>
              <a:spcBef>
                <a:spcPts val="519"/>
              </a:spcBef>
              <a:buNone/>
              <a:tabLst>
                <a:tab algn="l" pos="0"/>
              </a:tabLst>
            </a:pPr>
            <a:r>
              <a:rPr b="0" lang="en-US" sz="2600" spc="-1" strike="noStrike">
                <a:solidFill>
                  <a:schemeClr val="dk1"/>
                </a:solidFill>
                <a:latin typeface="Calibri"/>
              </a:rPr>
              <a:t>Structure globale</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Les bandes principales</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Rôle de chaque bande dans le rendu final</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Impact des bandes sur la pagination</a:t>
            </a:r>
            <a:endParaRPr b="0" lang="fr-FR"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Unité de mesure et attribut</a:t>
            </a:r>
            <a:endParaRPr b="0" lang="fr-FR" sz="3600" spc="-1" strike="noStrike">
              <a:solidFill>
                <a:srgbClr val="000000"/>
              </a:solidFill>
              <a:latin typeface="Arial"/>
            </a:endParaRPr>
          </a:p>
        </p:txBody>
      </p:sp>
      <p:sp>
        <p:nvSpPr>
          <p:cNvPr id="164"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519"/>
              </a:spcBef>
              <a:buClr>
                <a:srgbClr val="000000"/>
              </a:buClr>
              <a:buFont typeface="Arial"/>
              <a:buChar char="•"/>
            </a:pPr>
            <a:r>
              <a:rPr b="0" lang="en-US" sz="2600" spc="-1" strike="noStrike">
                <a:solidFill>
                  <a:schemeClr val="dk1"/>
                </a:solidFill>
                <a:latin typeface="Calibri"/>
              </a:rPr>
              <a:t>Les premières propriétés d'un rapport sont ses dimensions</a:t>
            </a:r>
            <a:endParaRPr b="0" lang="fr-FR" sz="2600" spc="-1" strike="noStrike">
              <a:solidFill>
                <a:srgbClr val="000000"/>
              </a:solidFill>
              <a:latin typeface="Arial"/>
            </a:endParaRPr>
          </a:p>
          <a:p>
            <a:pPr marL="343080" indent="-343080" defTabSz="457200">
              <a:lnSpc>
                <a:spcPct val="100000"/>
              </a:lnSpc>
              <a:spcBef>
                <a:spcPts val="519"/>
              </a:spcBef>
              <a:buClr>
                <a:srgbClr val="000000"/>
              </a:buClr>
              <a:buFont typeface="Arial"/>
              <a:buChar char="•"/>
            </a:pPr>
            <a:r>
              <a:rPr b="0" lang="en-US" sz="2600" spc="-1" strike="noStrike">
                <a:solidFill>
                  <a:schemeClr val="dk1"/>
                </a:solidFill>
                <a:latin typeface="Calibri"/>
              </a:rPr>
              <a:t>L'unité par défaut est le pixel et peut être changée</a:t>
            </a:r>
            <a:endParaRPr b="0" lang="fr-FR" sz="2600" spc="-1" strike="noStrike">
              <a:solidFill>
                <a:srgbClr val="000000"/>
              </a:solidFill>
              <a:latin typeface="Arial"/>
            </a:endParaRPr>
          </a:p>
          <a:p>
            <a:pPr marL="343080" indent="-343080" defTabSz="457200">
              <a:lnSpc>
                <a:spcPct val="100000"/>
              </a:lnSpc>
              <a:spcBef>
                <a:spcPts val="519"/>
              </a:spcBef>
              <a:buClr>
                <a:srgbClr val="000000"/>
              </a:buClr>
              <a:buFont typeface="Arial"/>
              <a:buChar char="•"/>
            </a:pPr>
            <a:r>
              <a:rPr b="0" lang="en-US" sz="2600" spc="-1" strike="noStrike">
                <a:solidFill>
                  <a:schemeClr val="dk1"/>
                </a:solidFill>
                <a:latin typeface="Calibri"/>
              </a:rPr>
              <a:t>Les attributs concernent la dimension de la zone de dessin :</a:t>
            </a:r>
            <a:endParaRPr b="0" lang="fr-FR" sz="2600" spc="-1" strike="noStrike">
              <a:solidFill>
                <a:srgbClr val="000000"/>
              </a:solidFill>
              <a:latin typeface="Arial"/>
            </a:endParaRPr>
          </a:p>
          <a:p>
            <a:pPr lvl="1" marL="743040" indent="-285840" defTabSz="457200">
              <a:lnSpc>
                <a:spcPct val="100000"/>
              </a:lnSpc>
              <a:spcBef>
                <a:spcPts val="519"/>
              </a:spcBef>
              <a:buClr>
                <a:srgbClr val="000000"/>
              </a:buClr>
              <a:buFont typeface="Arial"/>
              <a:buChar char="–"/>
            </a:pPr>
            <a:r>
              <a:rPr b="0" lang="en-US" sz="2600" spc="-1" strike="noStrike">
                <a:solidFill>
                  <a:schemeClr val="dk1"/>
                </a:solidFill>
                <a:latin typeface="Calibri"/>
              </a:rPr>
              <a:t>Largeur et hauteur de page. </a:t>
            </a:r>
            <a:endParaRPr b="0" lang="fr-FR" sz="2600" spc="-1" strike="noStrike">
              <a:solidFill>
                <a:srgbClr val="000000"/>
              </a:solidFill>
              <a:latin typeface="Arial"/>
            </a:endParaRPr>
          </a:p>
          <a:p>
            <a:pPr lvl="1" marL="743040" indent="-285840" defTabSz="457200">
              <a:lnSpc>
                <a:spcPct val="100000"/>
              </a:lnSpc>
              <a:spcBef>
                <a:spcPts val="519"/>
              </a:spcBef>
              <a:buClr>
                <a:srgbClr val="000000"/>
              </a:buClr>
              <a:buFont typeface="Arial"/>
              <a:buChar char="–"/>
            </a:pPr>
            <a:r>
              <a:rPr b="0" lang="en-US" sz="2600" spc="-1" strike="noStrike">
                <a:solidFill>
                  <a:schemeClr val="dk1"/>
                </a:solidFill>
                <a:latin typeface="Calibri"/>
              </a:rPr>
              <a:t>Largeur et hauteur des différentes marges</a:t>
            </a:r>
            <a:endParaRPr b="0" lang="fr-FR"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Bandes</a:t>
            </a:r>
            <a:endParaRPr b="0" lang="fr-FR" sz="3600" spc="-1" strike="noStrike">
              <a:solidFill>
                <a:srgbClr val="000000"/>
              </a:solidFill>
              <a:latin typeface="Arial"/>
            </a:endParaRPr>
          </a:p>
        </p:txBody>
      </p:sp>
      <p:sp>
        <p:nvSpPr>
          <p:cNvPr id="166"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200" spc="-1" strike="noStrike">
                <a:solidFill>
                  <a:schemeClr val="dk1"/>
                </a:solidFill>
                <a:latin typeface="Calibri"/>
              </a:rPr>
              <a:t>Un rapport est divisé en </a:t>
            </a:r>
            <a:r>
              <a:rPr b="1" lang="en-US" sz="2200" spc="-1" strike="noStrike">
                <a:solidFill>
                  <a:schemeClr val="dk1"/>
                </a:solidFill>
                <a:latin typeface="Calibri"/>
              </a:rPr>
              <a:t>bandes horizontales</a:t>
            </a:r>
            <a:r>
              <a:rPr b="0" lang="en-US" sz="2200" spc="-1" strike="noStrike">
                <a:solidFill>
                  <a:schemeClr val="dk1"/>
                </a:solidFill>
                <a:latin typeface="Calibri"/>
              </a:rPr>
              <a:t>. </a:t>
            </a:r>
            <a:endParaRPr b="0" lang="fr-FR" sz="2200" spc="-1" strike="noStrike">
              <a:solidFill>
                <a:srgbClr val="000000"/>
              </a:solidFill>
              <a:latin typeface="Arial"/>
            </a:endParaRPr>
          </a:p>
          <a:p>
            <a:pPr lvl="1" marL="743040" indent="-285840" defTabSz="457200">
              <a:lnSpc>
                <a:spcPct val="100000"/>
              </a:lnSpc>
              <a:spcBef>
                <a:spcPts val="400"/>
              </a:spcBef>
              <a:buClr>
                <a:srgbClr val="000000"/>
              </a:buClr>
              <a:buFont typeface="Arial"/>
              <a:buChar char="–"/>
            </a:pPr>
            <a:r>
              <a:rPr b="0" lang="en-US" sz="2200" spc="-1" strike="noStrike">
                <a:solidFill>
                  <a:schemeClr val="dk1"/>
                </a:solidFill>
                <a:latin typeface="Calibri"/>
              </a:rPr>
              <a:t>La construction d'un rapport consiste à définir le contenu et les dimensions de ses bandes.</a:t>
            </a:r>
            <a:endParaRPr b="0" lang="fr-FR" sz="2200" spc="-1" strike="noStrike">
              <a:solidFill>
                <a:srgbClr val="000000"/>
              </a:solidFill>
              <a:latin typeface="Arial"/>
            </a:endParaRPr>
          </a:p>
          <a:p>
            <a:pPr lvl="1" marL="743040" indent="-285840" defTabSz="457200">
              <a:lnSpc>
                <a:spcPct val="100000"/>
              </a:lnSpc>
              <a:spcBef>
                <a:spcPts val="400"/>
              </a:spcBef>
              <a:buClr>
                <a:srgbClr val="000000"/>
              </a:buClr>
              <a:buFont typeface="Arial"/>
              <a:buChar char="–"/>
            </a:pPr>
            <a:r>
              <a:rPr b="0" lang="en-US" sz="2200" spc="-1" strike="noStrike">
                <a:solidFill>
                  <a:schemeClr val="dk1"/>
                </a:solidFill>
                <a:latin typeface="Calibri"/>
              </a:rPr>
              <a:t>Chaque bande contient des éléments de rapport comme des lignes, des rectangles, des images ou des champs texte.</a:t>
            </a:r>
            <a:endParaRPr b="0" lang="fr-FR" sz="2200" spc="-1" strike="noStrike">
              <a:solidFill>
                <a:srgbClr val="000000"/>
              </a:solidFill>
              <a:latin typeface="Arial"/>
            </a:endParaRPr>
          </a:p>
          <a:p>
            <a:pPr lvl="1" marL="743040" indent="-285840" defTabSz="457200">
              <a:lnSpc>
                <a:spcPct val="100000"/>
              </a:lnSpc>
              <a:spcBef>
                <a:spcPts val="400"/>
              </a:spcBef>
              <a:buClr>
                <a:srgbClr val="000000"/>
              </a:buClr>
              <a:buFont typeface="Arial"/>
              <a:buChar char="–"/>
            </a:pPr>
            <a:r>
              <a:rPr b="0" lang="en-US" sz="2200" spc="-1" strike="noStrike">
                <a:solidFill>
                  <a:schemeClr val="dk1"/>
                </a:solidFill>
                <a:latin typeface="Calibri"/>
              </a:rPr>
              <a:t>La structure d'un document Jasper est prédéfini avec un ensemble de bandes de départ</a:t>
            </a:r>
            <a:endParaRPr b="0" lang="fr-FR" sz="2200" spc="-1" strike="noStrike">
              <a:solidFill>
                <a:srgbClr val="000000"/>
              </a:solidFill>
              <a:latin typeface="Arial"/>
            </a:endParaRPr>
          </a:p>
          <a:p>
            <a:pPr lvl="1" marL="743040" indent="-285840" defTabSz="457200">
              <a:lnSpc>
                <a:spcPct val="100000"/>
              </a:lnSpc>
              <a:spcBef>
                <a:spcPts val="400"/>
              </a:spcBef>
              <a:buClr>
                <a:srgbClr val="000000"/>
              </a:buClr>
              <a:buFont typeface="Arial"/>
              <a:buChar char="–"/>
            </a:pPr>
            <a:r>
              <a:rPr b="0" lang="en-US" sz="2200" spc="-1" strike="noStrike">
                <a:solidFill>
                  <a:schemeClr val="dk1"/>
                </a:solidFill>
                <a:latin typeface="Calibri"/>
              </a:rPr>
              <a:t>Les bandes peuvent être ajoutées/supprimées du rapport</a:t>
            </a:r>
            <a:endParaRPr b="0" lang="fr-FR" sz="2200" spc="-1" strike="noStrike">
              <a:solidFill>
                <a:srgbClr val="000000"/>
              </a:solidFill>
              <a:latin typeface="Arial"/>
            </a:endParaRPr>
          </a:p>
          <a:p>
            <a:pPr lvl="1" marL="743040" indent="-285840" defTabSz="457200">
              <a:lnSpc>
                <a:spcPct val="100000"/>
              </a:lnSpc>
              <a:spcBef>
                <a:spcPts val="400"/>
              </a:spcBef>
              <a:buClr>
                <a:srgbClr val="000000"/>
              </a:buClr>
              <a:buFont typeface="Arial"/>
              <a:buChar char="–"/>
            </a:pPr>
            <a:r>
              <a:rPr b="0" lang="en-US" sz="2200" spc="-1" strike="noStrike">
                <a:solidFill>
                  <a:schemeClr val="dk1"/>
                </a:solidFill>
                <a:latin typeface="Calibri"/>
              </a:rPr>
              <a:t>Une bande correspond section à l'élément </a:t>
            </a:r>
            <a:r>
              <a:rPr b="0" i="1" lang="en-US" sz="2200" spc="-1" strike="noStrike">
                <a:solidFill>
                  <a:schemeClr val="dk1"/>
                </a:solidFill>
                <a:latin typeface="Calibri"/>
              </a:rPr>
              <a:t>&lt;band&gt; </a:t>
            </a:r>
            <a:r>
              <a:rPr b="0" lang="en-US" sz="2200" spc="-1" strike="noStrike">
                <a:solidFill>
                  <a:schemeClr val="dk1"/>
                </a:solidFill>
                <a:latin typeface="Calibri"/>
              </a:rPr>
              <a:t>dans le fichier </a:t>
            </a:r>
            <a:r>
              <a:rPr b="0" i="1" lang="en-US" sz="2200" spc="-1" strike="noStrike">
                <a:solidFill>
                  <a:schemeClr val="dk1"/>
                </a:solidFill>
                <a:latin typeface="Calibri"/>
              </a:rPr>
              <a:t>.jrxml</a:t>
            </a:r>
            <a:endParaRPr b="0" lang="fr-FR"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Structure d'un rapport</a:t>
            </a:r>
            <a:endParaRPr b="0" lang="fr-FR" sz="3600" spc="-1" strike="noStrike">
              <a:solidFill>
                <a:srgbClr val="000000"/>
              </a:solidFill>
              <a:latin typeface="Arial"/>
            </a:endParaRPr>
          </a:p>
        </p:txBody>
      </p:sp>
      <p:sp>
        <p:nvSpPr>
          <p:cNvPr id="168"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La structure d'un rapport est basée sur les bandes suivantes : </a:t>
            </a:r>
            <a:endParaRPr b="0" lang="fr-FR" sz="2000" spc="-1" strike="noStrike">
              <a:solidFill>
                <a:srgbClr val="000000"/>
              </a:solidFill>
              <a:latin typeface="Arial"/>
            </a:endParaRPr>
          </a:p>
          <a:p>
            <a:pPr lvl="1" marL="743040" indent="-285840" defTabSz="457200">
              <a:lnSpc>
                <a:spcPct val="100000"/>
              </a:lnSpc>
              <a:spcBef>
                <a:spcPts val="360"/>
              </a:spcBef>
              <a:buClr>
                <a:srgbClr val="000000"/>
              </a:buClr>
              <a:buFont typeface="Arial"/>
              <a:buChar char="–"/>
            </a:pPr>
            <a:r>
              <a:rPr b="1" i="1" lang="en-US" sz="1800" spc="-1" strike="noStrike">
                <a:solidFill>
                  <a:srgbClr val="0c32cf"/>
                </a:solidFill>
                <a:latin typeface="Calibri"/>
              </a:rPr>
              <a:t>&lt;background&gt;</a:t>
            </a:r>
            <a:r>
              <a:rPr b="0" lang="en-US" sz="1800" spc="-1" strike="noStrike">
                <a:solidFill>
                  <a:schemeClr val="dk1"/>
                </a:solidFill>
                <a:latin typeface="Calibri"/>
              </a:rPr>
              <a:t> : Fond de page appliqué sur toutes les pages</a:t>
            </a:r>
            <a:endParaRPr b="0" lang="fr-FR" sz="1800" spc="-1" strike="noStrike">
              <a:solidFill>
                <a:srgbClr val="000000"/>
              </a:solidFill>
              <a:latin typeface="Arial"/>
            </a:endParaRPr>
          </a:p>
          <a:p>
            <a:pPr lvl="1" marL="743040" indent="-285840" defTabSz="457200">
              <a:lnSpc>
                <a:spcPct val="100000"/>
              </a:lnSpc>
              <a:spcBef>
                <a:spcPts val="360"/>
              </a:spcBef>
              <a:buClr>
                <a:srgbClr val="000000"/>
              </a:buClr>
              <a:buFont typeface="Arial"/>
              <a:buChar char="–"/>
            </a:pPr>
            <a:r>
              <a:rPr b="1" i="1" lang="en-US" sz="1800" spc="-1" strike="noStrike">
                <a:solidFill>
                  <a:srgbClr val="0c32cf"/>
                </a:solidFill>
                <a:latin typeface="Calibri"/>
              </a:rPr>
              <a:t>&lt;title&gt;</a:t>
            </a:r>
            <a:r>
              <a:rPr b="0" lang="en-US" sz="1800" spc="-1" strike="noStrike">
                <a:solidFill>
                  <a:schemeClr val="dk1"/>
                </a:solidFill>
                <a:latin typeface="Calibri"/>
              </a:rPr>
              <a:t> : Titre apparaissant une seule fois au début</a:t>
            </a:r>
            <a:endParaRPr b="0" lang="fr-FR" sz="1800" spc="-1" strike="noStrike">
              <a:solidFill>
                <a:srgbClr val="000000"/>
              </a:solidFill>
              <a:latin typeface="Arial"/>
            </a:endParaRPr>
          </a:p>
          <a:p>
            <a:pPr lvl="1" marL="743040" indent="-285840" defTabSz="457200">
              <a:lnSpc>
                <a:spcPct val="100000"/>
              </a:lnSpc>
              <a:spcBef>
                <a:spcPts val="360"/>
              </a:spcBef>
              <a:buClr>
                <a:srgbClr val="000000"/>
              </a:buClr>
              <a:buFont typeface="Arial"/>
              <a:buChar char="–"/>
            </a:pPr>
            <a:r>
              <a:rPr b="1" i="1" lang="en-US" sz="1800" spc="-1" strike="noStrike">
                <a:solidFill>
                  <a:srgbClr val="0c32cf"/>
                </a:solidFill>
                <a:latin typeface="Calibri"/>
              </a:rPr>
              <a:t>&lt;pageHeader&gt;</a:t>
            </a:r>
            <a:r>
              <a:rPr b="0" lang="en-US" sz="1800" spc="-1" strike="noStrike">
                <a:solidFill>
                  <a:schemeClr val="dk1"/>
                </a:solidFill>
                <a:latin typeface="Calibri"/>
              </a:rPr>
              <a:t>, </a:t>
            </a:r>
            <a:r>
              <a:rPr b="1" i="1" lang="en-US" sz="1800" spc="-1" strike="noStrike">
                <a:solidFill>
                  <a:srgbClr val="0c32cf"/>
                </a:solidFill>
                <a:latin typeface="Calibri"/>
              </a:rPr>
              <a:t>&lt;pageFooter&gt;</a:t>
            </a:r>
            <a:r>
              <a:rPr b="0" lang="en-US" sz="1800" spc="-1" strike="noStrike">
                <a:solidFill>
                  <a:schemeClr val="dk1"/>
                </a:solidFill>
                <a:latin typeface="Calibri"/>
              </a:rPr>
              <a:t> : Entête et pied de page</a:t>
            </a:r>
            <a:endParaRPr b="0" lang="fr-FR" sz="1800" spc="-1" strike="noStrike">
              <a:solidFill>
                <a:srgbClr val="000000"/>
              </a:solidFill>
              <a:latin typeface="Arial"/>
            </a:endParaRPr>
          </a:p>
          <a:p>
            <a:pPr lvl="1" marL="743040" indent="-285840" defTabSz="457200">
              <a:lnSpc>
                <a:spcPct val="100000"/>
              </a:lnSpc>
              <a:spcBef>
                <a:spcPts val="360"/>
              </a:spcBef>
              <a:buClr>
                <a:srgbClr val="000000"/>
              </a:buClr>
              <a:buFont typeface="Arial"/>
              <a:buChar char="–"/>
            </a:pPr>
            <a:r>
              <a:rPr b="1" i="1" lang="en-US" sz="1800" spc="-1" strike="noStrike">
                <a:solidFill>
                  <a:srgbClr val="0c32cf"/>
                </a:solidFill>
                <a:latin typeface="Calibri"/>
              </a:rPr>
              <a:t>&lt;columnHeader&gt;</a:t>
            </a:r>
            <a:r>
              <a:rPr b="0" lang="en-US" sz="1800" spc="-1" strike="noStrike">
                <a:solidFill>
                  <a:schemeClr val="dk1"/>
                </a:solidFill>
                <a:latin typeface="Calibri"/>
              </a:rPr>
              <a:t>, </a:t>
            </a:r>
            <a:r>
              <a:rPr b="1" i="1" lang="en-US" sz="1800" spc="-1" strike="noStrike">
                <a:solidFill>
                  <a:srgbClr val="0c32cf"/>
                </a:solidFill>
                <a:latin typeface="Calibri"/>
              </a:rPr>
              <a:t>&lt;columnFooter&gt;</a:t>
            </a:r>
            <a:r>
              <a:rPr b="0" lang="en-US" sz="1800" spc="-1" strike="noStrike">
                <a:solidFill>
                  <a:schemeClr val="dk1"/>
                </a:solidFill>
                <a:latin typeface="Calibri"/>
              </a:rPr>
              <a:t> : Pour les rapports multi-colonnes, entête et pied des détails de colonne</a:t>
            </a:r>
            <a:endParaRPr b="0" lang="fr-FR" sz="1800" spc="-1" strike="noStrike">
              <a:solidFill>
                <a:srgbClr val="000000"/>
              </a:solidFill>
              <a:latin typeface="Arial"/>
            </a:endParaRPr>
          </a:p>
          <a:p>
            <a:pPr lvl="1" marL="743040" indent="-285840" defTabSz="457200">
              <a:lnSpc>
                <a:spcPct val="100000"/>
              </a:lnSpc>
              <a:spcBef>
                <a:spcPts val="360"/>
              </a:spcBef>
              <a:buClr>
                <a:srgbClr val="000000"/>
              </a:buClr>
              <a:buFont typeface="Arial"/>
              <a:buChar char="–"/>
            </a:pPr>
            <a:r>
              <a:rPr b="1" i="1" lang="en-US" sz="1800" spc="-1" strike="noStrike">
                <a:solidFill>
                  <a:srgbClr val="0c32cf"/>
                </a:solidFill>
                <a:latin typeface="Calibri"/>
              </a:rPr>
              <a:t>&lt;groupHeader&gt;</a:t>
            </a:r>
            <a:r>
              <a:rPr b="1" lang="en-US" sz="1800" spc="-1" strike="noStrike">
                <a:solidFill>
                  <a:srgbClr val="0c32cf"/>
                </a:solidFill>
                <a:latin typeface="Calibri"/>
              </a:rPr>
              <a:t>, </a:t>
            </a:r>
            <a:r>
              <a:rPr b="1" i="1" lang="en-US" sz="1800" spc="-1" strike="noStrike">
                <a:solidFill>
                  <a:srgbClr val="0c32cf"/>
                </a:solidFill>
                <a:latin typeface="Calibri"/>
              </a:rPr>
              <a:t>&lt;groupFooter&gt;</a:t>
            </a:r>
            <a:r>
              <a:rPr b="0" lang="en-US" sz="1800" spc="-1" strike="noStrike">
                <a:solidFill>
                  <a:schemeClr val="dk1"/>
                </a:solidFill>
                <a:latin typeface="Calibri"/>
              </a:rPr>
              <a:t> : Entête et pied d'un groupe (0 ou plusieurs)</a:t>
            </a:r>
            <a:endParaRPr b="0" lang="fr-FR" sz="1800" spc="-1" strike="noStrike">
              <a:solidFill>
                <a:srgbClr val="000000"/>
              </a:solidFill>
              <a:latin typeface="Arial"/>
            </a:endParaRPr>
          </a:p>
          <a:p>
            <a:pPr lvl="1" marL="743040" indent="-285840" defTabSz="457200">
              <a:lnSpc>
                <a:spcPct val="100000"/>
              </a:lnSpc>
              <a:spcBef>
                <a:spcPts val="360"/>
              </a:spcBef>
              <a:buClr>
                <a:srgbClr val="000000"/>
              </a:buClr>
              <a:buFont typeface="Arial"/>
              <a:buChar char="–"/>
            </a:pPr>
            <a:r>
              <a:rPr b="1" i="1" lang="en-US" sz="1800" spc="-1" strike="noStrike">
                <a:solidFill>
                  <a:srgbClr val="0c32cf"/>
                </a:solidFill>
                <a:latin typeface="Calibri"/>
              </a:rPr>
              <a:t>&lt;detail&gt;</a:t>
            </a:r>
            <a:r>
              <a:rPr b="0" lang="en-US" sz="1800" spc="-1" strike="noStrike">
                <a:solidFill>
                  <a:schemeClr val="dk1"/>
                </a:solidFill>
                <a:latin typeface="Calibri"/>
              </a:rPr>
              <a:t> : Zone répétée pour chaque donnée. Possibilité de définir plusieurs sections </a:t>
            </a:r>
            <a:r>
              <a:rPr b="0" i="1" lang="en-US" sz="1800" spc="-1" strike="noStrike">
                <a:solidFill>
                  <a:schemeClr val="dk1"/>
                </a:solidFill>
                <a:latin typeface="Calibri"/>
              </a:rPr>
              <a:t>&lt;detail&gt;</a:t>
            </a:r>
            <a:endParaRPr b="0" lang="fr-FR" sz="1800" spc="-1" strike="noStrike">
              <a:solidFill>
                <a:srgbClr val="000000"/>
              </a:solidFill>
              <a:latin typeface="Arial"/>
            </a:endParaRPr>
          </a:p>
          <a:p>
            <a:pPr lvl="1" marL="743040" indent="-285840" defTabSz="457200">
              <a:lnSpc>
                <a:spcPct val="100000"/>
              </a:lnSpc>
              <a:spcBef>
                <a:spcPts val="360"/>
              </a:spcBef>
              <a:buClr>
                <a:srgbClr val="000000"/>
              </a:buClr>
              <a:buFont typeface="Arial"/>
              <a:buChar char="–"/>
            </a:pPr>
            <a:r>
              <a:rPr b="1" i="1" lang="en-US" sz="1800" spc="-1" strike="noStrike">
                <a:solidFill>
                  <a:srgbClr val="0c32cf"/>
                </a:solidFill>
                <a:latin typeface="Calibri"/>
              </a:rPr>
              <a:t>&lt;lastPageFooter&gt;</a:t>
            </a:r>
            <a:r>
              <a:rPr b="1" lang="en-US" sz="1800" spc="-1" strike="noStrike">
                <a:solidFill>
                  <a:schemeClr val="dk1"/>
                </a:solidFill>
                <a:latin typeface="Calibri"/>
              </a:rPr>
              <a:t> </a:t>
            </a:r>
            <a:r>
              <a:rPr b="0" lang="en-US" sz="1800" spc="-1" strike="noStrike">
                <a:solidFill>
                  <a:schemeClr val="dk1"/>
                </a:solidFill>
                <a:latin typeface="Calibri"/>
              </a:rPr>
              <a:t>: Pied de page pour la dernière page</a:t>
            </a:r>
            <a:endParaRPr b="0" lang="fr-FR" sz="1800" spc="-1" strike="noStrike">
              <a:solidFill>
                <a:srgbClr val="000000"/>
              </a:solidFill>
              <a:latin typeface="Arial"/>
            </a:endParaRPr>
          </a:p>
          <a:p>
            <a:pPr lvl="1" marL="743040" indent="-285840" defTabSz="457200">
              <a:lnSpc>
                <a:spcPct val="100000"/>
              </a:lnSpc>
              <a:spcBef>
                <a:spcPts val="360"/>
              </a:spcBef>
              <a:buClr>
                <a:srgbClr val="000000"/>
              </a:buClr>
              <a:buFont typeface="Arial"/>
              <a:buChar char="–"/>
            </a:pPr>
            <a:r>
              <a:rPr b="1" i="1" lang="en-US" sz="1800" spc="-1" strike="noStrike">
                <a:solidFill>
                  <a:srgbClr val="0c32cf"/>
                </a:solidFill>
                <a:latin typeface="Calibri"/>
              </a:rPr>
              <a:t>&lt;summary&gt;</a:t>
            </a:r>
            <a:r>
              <a:rPr b="0" lang="en-US" sz="1800" spc="-1" strike="noStrike">
                <a:solidFill>
                  <a:schemeClr val="dk1"/>
                </a:solidFill>
                <a:latin typeface="Calibri"/>
              </a:rPr>
              <a:t> : Affiché à la fin du rapport</a:t>
            </a:r>
            <a:endParaRPr b="0" lang="fr-FR" sz="1800" spc="-1" strike="noStrike">
              <a:solidFill>
                <a:srgbClr val="000000"/>
              </a:solidFill>
              <a:latin typeface="Arial"/>
            </a:endParaRPr>
          </a:p>
          <a:p>
            <a:pPr lvl="1" marL="743040" indent="-285840" defTabSz="457200">
              <a:lnSpc>
                <a:spcPct val="100000"/>
              </a:lnSpc>
              <a:spcBef>
                <a:spcPts val="360"/>
              </a:spcBef>
              <a:buClr>
                <a:srgbClr val="000000"/>
              </a:buClr>
              <a:buFont typeface="Arial"/>
              <a:buChar char="–"/>
            </a:pPr>
            <a:r>
              <a:rPr b="1" i="1" lang="en-US" sz="1800" spc="-1" strike="noStrike">
                <a:solidFill>
                  <a:srgbClr val="0c32cf"/>
                </a:solidFill>
                <a:latin typeface="Calibri"/>
              </a:rPr>
              <a:t>&lt;noData&gt;</a:t>
            </a:r>
            <a:r>
              <a:rPr b="0" lang="en-US" sz="1800" spc="-1" strike="noStrike">
                <a:solidFill>
                  <a:schemeClr val="dk1"/>
                </a:solidFill>
                <a:latin typeface="Calibri"/>
              </a:rPr>
              <a:t> : Texte alternatif lorsqu'il n'y a pas de données</a:t>
            </a:r>
            <a:endParaRPr b="0" lang="fr-F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Bandes par défaut</a:t>
            </a:r>
            <a:endParaRPr b="0" lang="fr-FR" sz="3600" spc="-1" strike="noStrike">
              <a:solidFill>
                <a:srgbClr val="000000"/>
              </a:solidFill>
              <a:latin typeface="Arial"/>
            </a:endParaRPr>
          </a:p>
        </p:txBody>
      </p:sp>
      <p:pic>
        <p:nvPicPr>
          <p:cNvPr id="170" name="Picture 2" descr="image.png"/>
          <p:cNvPicPr/>
          <p:nvPr/>
        </p:nvPicPr>
        <p:blipFill>
          <a:blip r:embed="rId1"/>
          <a:stretch/>
        </p:blipFill>
        <p:spPr>
          <a:xfrm>
            <a:off x="2432160" y="2661840"/>
            <a:ext cx="5885280" cy="4008960"/>
          </a:xfrm>
          <a:prstGeom prst="rect">
            <a:avLst/>
          </a:prstGeom>
          <a:ln w="0">
            <a:noFill/>
          </a:ln>
        </p:spPr>
      </p:pic>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Attributs d'une bande</a:t>
            </a:r>
            <a:endParaRPr b="0" lang="fr-FR" sz="3600" spc="-1" strike="noStrike">
              <a:solidFill>
                <a:srgbClr val="000000"/>
              </a:solidFill>
              <a:latin typeface="Arial"/>
            </a:endParaRPr>
          </a:p>
        </p:txBody>
      </p:sp>
      <p:sp>
        <p:nvSpPr>
          <p:cNvPr id="172"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320"/>
              </a:spcBef>
              <a:buClr>
                <a:srgbClr val="000000"/>
              </a:buClr>
              <a:buFont typeface="Arial"/>
              <a:buChar char="•"/>
            </a:pPr>
            <a:r>
              <a:rPr b="0" lang="en-US" sz="1600" spc="-1" strike="noStrike">
                <a:solidFill>
                  <a:schemeClr val="dk1"/>
                </a:solidFill>
                <a:latin typeface="Calibri"/>
              </a:rPr>
              <a:t>Attribut </a:t>
            </a:r>
            <a:r>
              <a:rPr b="1" i="1" lang="en-US" sz="1600" spc="-1" strike="noStrike">
                <a:solidFill>
                  <a:srgbClr val="0c32cf"/>
                </a:solidFill>
                <a:latin typeface="Calibri"/>
              </a:rPr>
              <a:t>height</a:t>
            </a:r>
            <a:endParaRPr b="0" lang="fr-FR" sz="16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1600" spc="-1" strike="noStrike">
                <a:solidFill>
                  <a:schemeClr val="dk1"/>
                </a:solidFill>
                <a:latin typeface="Calibri"/>
              </a:rPr>
              <a:t>C'est la hauteur de la bande dans la vue design. Cette hauteur peut varier lors de la fusion de données (si les données dépassent la hauteur spécifiée). C'est donc la hauteur minimale de la bande à la génération. </a:t>
            </a:r>
            <a:endParaRPr b="0" lang="fr-FR" sz="16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1600" spc="-1" strike="noStrike">
                <a:solidFill>
                  <a:schemeClr val="dk1"/>
                </a:solidFill>
                <a:latin typeface="Calibri"/>
              </a:rPr>
              <a:t>Lorsque cette valeur est modifiée, </a:t>
            </a:r>
            <a:r>
              <a:rPr b="0" i="1" lang="en-US" sz="1600" spc="-1" strike="noStrike">
                <a:solidFill>
                  <a:schemeClr val="dk1"/>
                </a:solidFill>
                <a:latin typeface="Calibri"/>
              </a:rPr>
              <a:t>JasperStudio</a:t>
            </a:r>
            <a:r>
              <a:rPr b="0" lang="en-US" sz="1600" spc="-1" strike="noStrike">
                <a:solidFill>
                  <a:schemeClr val="dk1"/>
                </a:solidFill>
                <a:latin typeface="Calibri"/>
              </a:rPr>
              <a:t> vérifie si la valeur est acceptable en fonction des éléments que la bande contient.</a:t>
            </a:r>
            <a:endParaRPr b="0" lang="fr-FR" sz="1600" spc="-1" strike="noStrike">
              <a:solidFill>
                <a:srgbClr val="000000"/>
              </a:solidFill>
              <a:latin typeface="Arial"/>
            </a:endParaRPr>
          </a:p>
          <a:p>
            <a:pPr marL="343080" indent="-343080" defTabSz="457200">
              <a:lnSpc>
                <a:spcPct val="100000"/>
              </a:lnSpc>
              <a:spcBef>
                <a:spcPts val="320"/>
              </a:spcBef>
              <a:buClr>
                <a:srgbClr val="000000"/>
              </a:buClr>
              <a:buFont typeface="Arial"/>
              <a:buChar char="•"/>
            </a:pPr>
            <a:r>
              <a:rPr b="0" lang="en-US" sz="1600" spc="-1" strike="noStrike">
                <a:solidFill>
                  <a:schemeClr val="dk1"/>
                </a:solidFill>
                <a:latin typeface="Calibri"/>
              </a:rPr>
              <a:t>Attribut </a:t>
            </a:r>
            <a:r>
              <a:rPr b="1" i="1" lang="en-US" sz="1600" spc="-1" strike="noStrike">
                <a:solidFill>
                  <a:srgbClr val="0c32cf"/>
                </a:solidFill>
                <a:latin typeface="Calibri"/>
              </a:rPr>
              <a:t>printWhenExpression</a:t>
            </a:r>
            <a:endParaRPr b="0" lang="fr-FR" sz="16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1600" spc="-1" strike="noStrike">
                <a:solidFill>
                  <a:schemeClr val="dk1"/>
                </a:solidFill>
                <a:latin typeface="Calibri"/>
              </a:rPr>
              <a:t>Expression booléenne permettant de cacher la bande </a:t>
            </a:r>
            <a:endParaRPr b="0" lang="fr-FR" sz="16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1600" spc="-1" strike="noStrike">
                <a:solidFill>
                  <a:schemeClr val="dk1"/>
                </a:solidFill>
                <a:latin typeface="Calibri"/>
              </a:rPr>
              <a:t>L'expression est évaluée à chaque fois que la bande est utilisée lors de la génération. (1 fois pour le titre, à chaque page pour l'entête de page, à chaque enregistrement pour le détail).</a:t>
            </a:r>
            <a:endParaRPr b="0" lang="fr-FR" sz="1600" spc="-1" strike="noStrike">
              <a:solidFill>
                <a:srgbClr val="000000"/>
              </a:solidFill>
              <a:latin typeface="Arial"/>
            </a:endParaRPr>
          </a:p>
          <a:p>
            <a:pPr marL="343080" indent="-343080" defTabSz="457200">
              <a:lnSpc>
                <a:spcPct val="100000"/>
              </a:lnSpc>
              <a:spcBef>
                <a:spcPts val="320"/>
              </a:spcBef>
              <a:buClr>
                <a:srgbClr val="000000"/>
              </a:buClr>
              <a:buFont typeface="Arial"/>
              <a:buChar char="•"/>
            </a:pPr>
            <a:r>
              <a:rPr b="0" lang="en-US" sz="1600" spc="-1" strike="noStrike">
                <a:solidFill>
                  <a:schemeClr val="dk1"/>
                </a:solidFill>
                <a:latin typeface="Calibri"/>
              </a:rPr>
              <a:t>Attribut </a:t>
            </a:r>
            <a:r>
              <a:rPr b="1" i="1" lang="en-US" sz="1600" spc="-1" strike="noStrike">
                <a:solidFill>
                  <a:srgbClr val="0c32cf"/>
                </a:solidFill>
                <a:latin typeface="Calibri"/>
              </a:rPr>
              <a:t>splitType</a:t>
            </a:r>
            <a:r>
              <a:rPr b="0" lang="en-US" sz="1600" spc="-1" strike="noStrike">
                <a:solidFill>
                  <a:schemeClr val="dk1"/>
                </a:solidFill>
                <a:latin typeface="Calibri"/>
              </a:rPr>
              <a:t> (anciennement </a:t>
            </a:r>
            <a:r>
              <a:rPr b="1" i="1" lang="en-US" sz="1600" spc="-1" strike="noStrike">
                <a:solidFill>
                  <a:srgbClr val="0c32cf"/>
                </a:solidFill>
                <a:latin typeface="Calibri"/>
              </a:rPr>
              <a:t>isSplitAllowed</a:t>
            </a:r>
            <a:r>
              <a:rPr b="0" lang="en-US" sz="1600" spc="-1" strike="noStrike">
                <a:solidFill>
                  <a:schemeClr val="dk1"/>
                </a:solidFill>
                <a:latin typeface="Calibri"/>
              </a:rPr>
              <a:t>)</a:t>
            </a:r>
            <a:endParaRPr b="0" lang="fr-FR" sz="16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1" i="1" lang="en-US" sz="1600" spc="-1" strike="noStrike">
                <a:solidFill>
                  <a:srgbClr val="0c32cf"/>
                </a:solidFill>
                <a:latin typeface="Calibri"/>
              </a:rPr>
              <a:t>stretch</a:t>
            </a:r>
            <a:r>
              <a:rPr b="0" lang="en-US" sz="1600" spc="-1" strike="noStrike">
                <a:solidFill>
                  <a:schemeClr val="dk1"/>
                </a:solidFill>
                <a:latin typeface="Calibri"/>
              </a:rPr>
              <a:t>: La bande est divisée sur différentes pages seulement si son contenu dépasse la hauteur précisée.</a:t>
            </a:r>
            <a:endParaRPr b="0" lang="fr-FR" sz="16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1" i="1" lang="en-US" sz="1600" spc="-1" strike="noStrike">
                <a:solidFill>
                  <a:srgbClr val="0c32cf"/>
                </a:solidFill>
                <a:latin typeface="Calibri"/>
              </a:rPr>
              <a:t>prevent</a:t>
            </a:r>
            <a:r>
              <a:rPr b="0" lang="en-US" sz="1600" spc="-1" strike="noStrike">
                <a:solidFill>
                  <a:schemeClr val="dk1"/>
                </a:solidFill>
                <a:latin typeface="Calibri"/>
              </a:rPr>
              <a:t> : La bande n'est pas divisée. (Seulement si sa taille dépasse la taille d'une page) </a:t>
            </a:r>
            <a:endParaRPr b="0" lang="fr-FR" sz="16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1" i="1" lang="en-US" sz="1600" spc="-1" strike="noStrike">
                <a:solidFill>
                  <a:srgbClr val="0c32cf"/>
                </a:solidFill>
                <a:latin typeface="Calibri"/>
              </a:rPr>
              <a:t>immediate</a:t>
            </a:r>
            <a:r>
              <a:rPr b="0" lang="en-US" sz="1600" spc="-1" strike="noStrike">
                <a:solidFill>
                  <a:schemeClr val="dk1"/>
                </a:solidFill>
                <a:latin typeface="Calibri"/>
              </a:rPr>
              <a:t> : La bande peut être divisée.</a:t>
            </a:r>
            <a:endParaRPr b="0" lang="fr-FR"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Colonnes</a:t>
            </a:r>
            <a:endParaRPr b="0" lang="fr-FR" sz="3600" spc="-1" strike="noStrike">
              <a:solidFill>
                <a:srgbClr val="000000"/>
              </a:solidFill>
              <a:latin typeface="Arial"/>
            </a:endParaRPr>
          </a:p>
        </p:txBody>
      </p:sp>
      <p:sp>
        <p:nvSpPr>
          <p:cNvPr id="174"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Les bandes pilotées par les enregistrements de la source de données (détail, groupe, sous-rapport, …) peuvent être organisées en colonnes afin d'optimiser l'espace disponible. </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L'attribut </a:t>
            </a:r>
            <a:r>
              <a:rPr b="1" i="1" lang="en-US" sz="2000" spc="-1" strike="noStrike">
                <a:solidFill>
                  <a:srgbClr val="0c32cf"/>
                </a:solidFill>
                <a:latin typeface="Calibri"/>
              </a:rPr>
              <a:t>columnCount</a:t>
            </a:r>
            <a:r>
              <a:rPr b="0" lang="en-US" sz="2000" spc="-1" strike="noStrike">
                <a:solidFill>
                  <a:schemeClr val="dk1"/>
                </a:solidFill>
                <a:latin typeface="Calibri"/>
              </a:rPr>
              <a:t> du rapport permet donc de fixer le nombre de colonnes : </a:t>
            </a:r>
            <a:endParaRPr b="0" lang="fr-FR" sz="2000" spc="-1" strike="noStrike">
              <a:solidFill>
                <a:srgbClr val="000000"/>
              </a:solidFill>
              <a:latin typeface="Arial"/>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Le remplissage des colonnes peut alors être vertical ou horizontal (Orientation)</a:t>
            </a:r>
            <a:endParaRPr b="0" lang="fr-FR" sz="2000" spc="-1" strike="noStrike">
              <a:solidFill>
                <a:srgbClr val="000000"/>
              </a:solidFill>
              <a:latin typeface="Arial"/>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La somme des marges, des largeurs de colonnes (</a:t>
            </a:r>
            <a:r>
              <a:rPr b="0" i="1" lang="en-US" sz="2000" spc="-1" strike="noStrike">
                <a:solidFill>
                  <a:schemeClr val="dk1"/>
                </a:solidFill>
                <a:latin typeface="Calibri"/>
              </a:rPr>
              <a:t>columnWidth</a:t>
            </a:r>
            <a:r>
              <a:rPr b="0" lang="en-US" sz="2000" spc="-1" strike="noStrike">
                <a:solidFill>
                  <a:schemeClr val="dk1"/>
                </a:solidFill>
                <a:latin typeface="Calibri"/>
              </a:rPr>
              <a:t>) et de chaque espace entre les colonnes doit être inférieure à la largeur de la page, sinon des erreurs de compilation peuvent apparaître.</a:t>
            </a:r>
            <a:endParaRPr b="0" lang="fr-FR" sz="2000" spc="-1" strike="noStrike">
              <a:solidFill>
                <a:srgbClr val="000000"/>
              </a:solidFill>
              <a:latin typeface="Arial"/>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Lors du design, les éléments (champs, images, etc...) sont placés uniquement dans la première colonne.</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Design</a:t>
            </a:r>
            <a:endParaRPr b="0" lang="fr-FR" sz="3600" spc="-1" strike="noStrike">
              <a:solidFill>
                <a:srgbClr val="000000"/>
              </a:solidFill>
              <a:latin typeface="Arial"/>
            </a:endParaRPr>
          </a:p>
        </p:txBody>
      </p:sp>
      <p:pic>
        <p:nvPicPr>
          <p:cNvPr id="176" name="Picture 2" descr="image.png"/>
          <p:cNvPicPr/>
          <p:nvPr/>
        </p:nvPicPr>
        <p:blipFill>
          <a:blip r:embed="rId1"/>
          <a:stretch/>
        </p:blipFill>
        <p:spPr>
          <a:xfrm>
            <a:off x="604800" y="2330280"/>
            <a:ext cx="9356400" cy="4677120"/>
          </a:xfrm>
          <a:prstGeom prst="rect">
            <a:avLst/>
          </a:prstGeom>
          <a:ln w="0">
            <a:noFill/>
          </a:ln>
        </p:spPr>
      </p:pic>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7" name="Picture 1" descr="image.png"/>
          <p:cNvPicPr/>
          <p:nvPr/>
        </p:nvPicPr>
        <p:blipFill>
          <a:blip r:embed="rId1"/>
          <a:stretch/>
        </p:blipFill>
        <p:spPr>
          <a:xfrm>
            <a:off x="2841480" y="624960"/>
            <a:ext cx="4990320" cy="6933960"/>
          </a:xfrm>
          <a:prstGeom prst="rect">
            <a:avLst/>
          </a:prstGeom>
          <a:ln w="0">
            <a:noFill/>
          </a:ln>
        </p:spPr>
      </p:pic>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Rôle de chaque bande dans le rendu final</a:t>
            </a:r>
            <a:endParaRPr b="0" lang="fr-FR" sz="3600" spc="-1" strike="noStrike">
              <a:solidFill>
                <a:srgbClr val="000000"/>
              </a:solidFill>
              <a:latin typeface="Arial"/>
            </a:endParaRPr>
          </a:p>
        </p:txBody>
      </p:sp>
      <p:sp>
        <p:nvSpPr>
          <p:cNvPr id="179"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1" lang="en-US" sz="2000" spc="-1" strike="noStrike">
                <a:solidFill>
                  <a:srgbClr val="0c32cf"/>
                </a:solidFill>
                <a:latin typeface="Calibri"/>
              </a:rPr>
              <a:t>Title</a:t>
            </a:r>
            <a:r>
              <a:rPr b="0" lang="en-US" sz="2000" spc="-1" strike="noStrike">
                <a:solidFill>
                  <a:schemeClr val="dk1"/>
                </a:solidFill>
                <a:latin typeface="Calibri"/>
              </a:rPr>
              <a:t> : une seule fois, en début de rapport (peut occuper une page entière : page de garde)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000" spc="-1" strike="noStrike">
                <a:solidFill>
                  <a:srgbClr val="0c32cf"/>
                </a:solidFill>
                <a:latin typeface="Calibri"/>
              </a:rPr>
              <a:t>Page Header / Page Footer</a:t>
            </a:r>
            <a:r>
              <a:rPr b="0" lang="en-US" sz="2000" spc="-1" strike="noStrike">
                <a:solidFill>
                  <a:schemeClr val="dk1"/>
                </a:solidFill>
                <a:latin typeface="Calibri"/>
              </a:rPr>
              <a:t> : sur chaque page (logo, date, numéro de page)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000" spc="-1" strike="noStrike">
                <a:solidFill>
                  <a:srgbClr val="0c32cf"/>
                </a:solidFill>
                <a:latin typeface="Calibri"/>
              </a:rPr>
              <a:t>Column Header / Column Footer</a:t>
            </a:r>
            <a:r>
              <a:rPr b="0" lang="en-US" sz="2000" spc="-1" strike="noStrike">
                <a:solidFill>
                  <a:schemeClr val="dk1"/>
                </a:solidFill>
                <a:latin typeface="Calibri"/>
              </a:rPr>
              <a:t> : au début et à la fin de chaque colonne, donc répétés à chaque page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000" spc="-1" strike="noStrike">
                <a:solidFill>
                  <a:srgbClr val="0c32cf"/>
                </a:solidFill>
                <a:latin typeface="Calibri"/>
              </a:rPr>
              <a:t>Detail</a:t>
            </a:r>
            <a:r>
              <a:rPr b="0" lang="en-US" sz="2000" spc="-1" strike="noStrike">
                <a:solidFill>
                  <a:schemeClr val="dk1"/>
                </a:solidFill>
                <a:latin typeface="Calibri"/>
              </a:rPr>
              <a:t> : une fois par enregistrement, c'est le cœur du rapport</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000" spc="-1" strike="noStrike">
                <a:solidFill>
                  <a:srgbClr val="0c32cf"/>
                </a:solidFill>
                <a:latin typeface="Calibri"/>
              </a:rPr>
              <a:t>Summary</a:t>
            </a:r>
            <a:r>
              <a:rPr b="0" lang="en-US" sz="2000" spc="-1" strike="noStrike">
                <a:solidFill>
                  <a:schemeClr val="dk1"/>
                </a:solidFill>
                <a:latin typeface="Calibri"/>
              </a:rPr>
              <a:t> : une fois, à la fin (totaux généraux, mentions légales)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000" spc="-1" strike="noStrike">
                <a:solidFill>
                  <a:srgbClr val="0c32cf"/>
                </a:solidFill>
                <a:latin typeface="Calibri"/>
              </a:rPr>
              <a:t>Background</a:t>
            </a:r>
            <a:r>
              <a:rPr b="0" lang="en-US" sz="2000" spc="-1" strike="noStrike">
                <a:solidFill>
                  <a:schemeClr val="dk1"/>
                </a:solidFill>
                <a:latin typeface="Calibri"/>
              </a:rPr>
              <a:t> : sous toutes les autres bandes, sur chaque page (filigrane, fond de page)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000" spc="-1" strike="noStrike">
                <a:solidFill>
                  <a:srgbClr val="0c32cf"/>
                </a:solidFill>
                <a:latin typeface="Calibri"/>
              </a:rPr>
              <a:t>No Data</a:t>
            </a:r>
            <a:r>
              <a:rPr b="0" lang="en-US" sz="2000" spc="-1" strike="noStrike">
                <a:solidFill>
                  <a:schemeClr val="dk1"/>
                </a:solidFill>
                <a:latin typeface="Calibri"/>
              </a:rPr>
              <a:t> : affiché à la place du rapport si la requête ne renvoie rien (propriété When No Data Type)</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Impact des bandes sur la pagination</a:t>
            </a:r>
            <a:endParaRPr b="0" lang="fr-FR" sz="3600" spc="-1" strike="noStrike">
              <a:solidFill>
                <a:srgbClr val="000000"/>
              </a:solidFill>
              <a:latin typeface="Arial"/>
            </a:endParaRPr>
          </a:p>
        </p:txBody>
      </p:sp>
      <p:sp>
        <p:nvSpPr>
          <p:cNvPr id="181"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Hauteur disponible pour les données = hauteur de page − marges − Page Header − Page Footer − Column Header − Column Footer</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2000" spc="-1" strike="noStrike">
                <a:solidFill>
                  <a:schemeClr val="dk1"/>
                </a:solidFill>
                <a:latin typeface="Calibri"/>
              </a:rPr>
              <a:t>Une bande dont la hauteur dépasse l'espace disponible provoque une erreur de compilation</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La hauteur d'une bande est un </a:t>
            </a:r>
            <a:r>
              <a:rPr b="1" lang="en-US" sz="2000" spc="-1" strike="noStrike">
                <a:solidFill>
                  <a:srgbClr val="0c32cf"/>
                </a:solidFill>
                <a:latin typeface="Calibri"/>
              </a:rPr>
              <a:t>minimum</a:t>
            </a:r>
            <a:r>
              <a:rPr b="0" lang="en-US" sz="2000" spc="-1" strike="noStrike">
                <a:solidFill>
                  <a:schemeClr val="dk1"/>
                </a:solidFill>
                <a:latin typeface="Calibri"/>
              </a:rPr>
              <a:t> : elle s'étire si un champ texte s'agrandit</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Quand la bande suivante ne tient plus sur la page, une nouvelle page est créée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2000" spc="-1" strike="noStrike">
                <a:solidFill>
                  <a:schemeClr val="dk1"/>
                </a:solidFill>
                <a:latin typeface="Calibri"/>
              </a:rPr>
              <a:t>Les propriétés </a:t>
            </a:r>
            <a:r>
              <a:rPr b="1" lang="fr-FR" sz="2000" spc="-1" strike="noStrike">
                <a:solidFill>
                  <a:srgbClr val="0c32cf"/>
                </a:solidFill>
                <a:latin typeface="Calibri"/>
              </a:rPr>
              <a:t>Split Type</a:t>
            </a:r>
            <a:r>
              <a:rPr b="0" lang="fr-FR" sz="2000" spc="-1" strike="noStrike">
                <a:solidFill>
                  <a:schemeClr val="dk1"/>
                </a:solidFill>
                <a:latin typeface="Calibri"/>
              </a:rPr>
              <a:t> (bande), </a:t>
            </a:r>
            <a:r>
              <a:rPr b="1" lang="fr-FR" sz="2000" spc="-1" strike="noStrike">
                <a:solidFill>
                  <a:srgbClr val="0c32cf"/>
                </a:solidFill>
                <a:latin typeface="Calibri"/>
              </a:rPr>
              <a:t>Position Type</a:t>
            </a:r>
            <a:r>
              <a:rPr b="0" lang="fr-FR" sz="2000" spc="-1" strike="noStrike">
                <a:solidFill>
                  <a:schemeClr val="dk1"/>
                </a:solidFill>
                <a:latin typeface="Calibri"/>
              </a:rPr>
              <a:t> et </a:t>
            </a:r>
            <a:r>
              <a:rPr b="1" lang="fr-FR" sz="2000" spc="-1" strike="noStrike">
                <a:solidFill>
                  <a:srgbClr val="0c32cf"/>
                </a:solidFill>
                <a:latin typeface="Calibri"/>
              </a:rPr>
              <a:t>Stretch Type</a:t>
            </a:r>
            <a:r>
              <a:rPr b="0" lang="fr-FR" sz="2000" spc="-1" strike="noStrike">
                <a:solidFill>
                  <a:schemeClr val="dk1"/>
                </a:solidFill>
                <a:latin typeface="Calibri"/>
              </a:rPr>
              <a:t> (éléments) contrôlent ce comportement : détail au jour 2</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a:lnSpc>
                <a:spcPct val="100000"/>
              </a:lnSpc>
              <a:buNone/>
            </a:pPr>
            <a:r>
              <a:rPr b="0" lang="fr-FR" sz="3600" spc="-1" strike="noStrike">
                <a:solidFill>
                  <a:srgbClr val="000000"/>
                </a:solidFill>
                <a:latin typeface="Calibri"/>
              </a:rPr>
              <a:t>Atelier 3 : Rapport de type liste à 2 colonnes</a:t>
            </a:r>
            <a:endParaRPr b="0" lang="fr-FR" sz="3600" spc="-1" strike="noStrike">
              <a:solidFill>
                <a:srgbClr val="000000"/>
              </a:solidFill>
              <a:latin typeface="Arial"/>
            </a:endParaRPr>
          </a:p>
        </p:txBody>
      </p:sp>
      <p:sp>
        <p:nvSpPr>
          <p:cNvPr id="183" name="PlaceHolder 2"/>
          <p:cNvSpPr>
            <a:spLocks noGrp="1"/>
          </p:cNvSpPr>
          <p:nvPr>
            <p:ph/>
          </p:nvPr>
        </p:nvSpPr>
        <p:spPr>
          <a:xfrm>
            <a:off x="762120" y="2158920"/>
            <a:ext cx="9397800" cy="482580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fr-FR" sz="2000" spc="-1" strike="noStrike">
                <a:solidFill>
                  <a:srgbClr val="000000"/>
                </a:solidFill>
                <a:latin typeface="Calibri"/>
              </a:rPr>
              <a:t>Fiche </a:t>
            </a:r>
            <a:r>
              <a:rPr b="0" lang="fr-FR" sz="2000" spc="-1" strike="noStrike">
                <a:solidFill>
                  <a:srgbClr val="000000"/>
                </a:solidFill>
                <a:latin typeface="Courier New"/>
              </a:rPr>
              <a:t>TPs/3_TwoColumns</a:t>
            </a:r>
            <a:r>
              <a:rPr b="0" lang="fr-FR" sz="2000" spc="-1" strike="noStrike">
                <a:solidFill>
                  <a:srgbClr val="000000"/>
                </a:solidFill>
                <a:latin typeface="Calibri"/>
              </a:rPr>
              <a:t>, résultat attendu fourni en PDF</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2000" spc="-1" strike="noStrike">
                <a:solidFill>
                  <a:srgbClr val="000000"/>
                </a:solidFill>
                <a:latin typeface="Calibri"/>
              </a:rPr>
              <a:t>Repartir du rapport de l'atelier 2 et le passer en 2 colonnes </a:t>
            </a:r>
            <a:r>
              <a:rPr b="0" lang="fr-FR" sz="2000" spc="-1" strike="noStrike">
                <a:solidFill>
                  <a:srgbClr val="000000"/>
                </a:solidFill>
                <a:latin typeface="Calibri"/>
              </a:rPr>
              <a:t>(propriété Columns du rapport)</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2000" spc="-1" strike="noStrike">
                <a:solidFill>
                  <a:srgbClr val="000000"/>
                </a:solidFill>
                <a:latin typeface="Calibri"/>
              </a:rPr>
              <a:t>Ajuster la largeur des colonnes et l'espacement ; placer les </a:t>
            </a:r>
            <a:r>
              <a:rPr b="0" lang="fr-FR" sz="2000" spc="-1" strike="noStrike">
                <a:solidFill>
                  <a:srgbClr val="000000"/>
                </a:solidFill>
                <a:latin typeface="Calibri"/>
              </a:rPr>
              <a:t>éléments dans la première colonne seulement</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2000" spc="-1" strike="noStrike">
                <a:solidFill>
                  <a:srgbClr val="000000"/>
                </a:solidFill>
                <a:latin typeface="Calibri"/>
              </a:rPr>
              <a:t>Titre, entête de page et entêtes de colonnes répétés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2000" spc="-1" strike="noStrike">
                <a:solidFill>
                  <a:srgbClr val="000000"/>
                </a:solidFill>
                <a:latin typeface="Calibri"/>
              </a:rPr>
              <a:t>Pied de page avec la date et l'heure de génération et un logo</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2000" spc="-1" strike="noStrike">
                <a:solidFill>
                  <a:srgbClr val="000000"/>
                </a:solidFill>
                <a:latin typeface="Calibri"/>
              </a:rPr>
              <a:t>Vérifier le rendu PDF sur plusieurs pages</a:t>
            </a:r>
            <a:endParaRPr b="0" lang="fr-FR" sz="2000" spc="-1" strike="noStrike">
              <a:solidFill>
                <a:srgbClr val="000000"/>
              </a:solidFill>
              <a:latin typeface="Arial"/>
            </a:endParaRPr>
          </a:p>
          <a:p>
            <a:pPr indent="0" defTabSz="457200">
              <a:lnSpc>
                <a:spcPct val="100000"/>
              </a:lnSpc>
              <a:spcBef>
                <a:spcPts val="400"/>
              </a:spcBef>
              <a:buNone/>
              <a:tabLst>
                <a:tab algn="l" pos="0"/>
              </a:tabLst>
            </a:pPr>
            <a:r>
              <a:rPr b="0" lang="fr-FR" sz="2000" spc="-1" strike="noStrike">
                <a:solidFill>
                  <a:srgbClr val="000000"/>
                </a:solidFill>
                <a:latin typeface="Calibri"/>
              </a:rPr>
              <a:t>À ce stade, mise en page seulement : la police Gentium, les styles et </a:t>
            </a:r>
            <a:r>
              <a:rPr b="0" lang="fr-FR" sz="2000" spc="-1" strike="noStrike">
                <a:solidFill>
                  <a:srgbClr val="000000"/>
                </a:solidFill>
                <a:latin typeface="Calibri"/>
              </a:rPr>
              <a:t>le fichier .jrtx de la fiche seront repris au jour 2</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Paramètres</a:t>
            </a:r>
            <a:endParaRPr b="0" lang="fr-FR" sz="3600" spc="-1" strike="noStrike">
              <a:solidFill>
                <a:srgbClr val="000000"/>
              </a:solidFill>
              <a:latin typeface="Arial"/>
            </a:endParaRPr>
          </a:p>
        </p:txBody>
      </p:sp>
      <p:sp>
        <p:nvSpPr>
          <p:cNvPr id="185"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561"/>
              </a:spcBef>
              <a:buClr>
                <a:srgbClr val="000000"/>
              </a:buClr>
              <a:buFont typeface="Arial"/>
              <a:buChar char="•"/>
            </a:pPr>
            <a:r>
              <a:rPr b="0" lang="fr-FR" sz="2800" spc="-1" strike="noStrike">
                <a:solidFill>
                  <a:schemeClr val="dk1"/>
                </a:solidFill>
                <a:latin typeface="Calibri"/>
              </a:rPr>
              <a:t>Les </a:t>
            </a:r>
            <a:r>
              <a:rPr b="1" lang="fr-FR" sz="2800" spc="-1" strike="noStrike">
                <a:solidFill>
                  <a:srgbClr val="0c32cf"/>
                </a:solidFill>
                <a:latin typeface="Calibri"/>
              </a:rPr>
              <a:t>paramètres</a:t>
            </a:r>
            <a:r>
              <a:rPr b="0" lang="fr-FR" sz="2800" spc="-1" strike="noStrike">
                <a:solidFill>
                  <a:schemeClr val="dk1"/>
                </a:solidFill>
                <a:latin typeface="Calibri"/>
              </a:rPr>
              <a:t> sont des données passées lors de la génération du document dynamique qui ne proviennent pas de la source de données:</a:t>
            </a:r>
            <a:endParaRPr b="0" lang="fr-FR" sz="2800" spc="-1" strike="noStrike">
              <a:solidFill>
                <a:srgbClr val="000000"/>
              </a:solidFill>
              <a:latin typeface="Arial"/>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Par exemple des données de présentation comme le nom de l'utilisateur, le titre du rapport, ... </a:t>
            </a:r>
            <a:endParaRPr b="0" lang="fr-FR" sz="2400" spc="-1" strike="noStrike">
              <a:solidFill>
                <a:srgbClr val="000000"/>
              </a:solidFill>
              <a:latin typeface="Arial"/>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Des paramètres de la requête SQL. Les paramètre agissent alors comme des filtres sur les données récupérées. Exemple : une période, un montant, etc …</a:t>
            </a:r>
            <a:endParaRPr b="0" lang="fr-FR" sz="2400" spc="-1" strike="noStrike">
              <a:solidFill>
                <a:srgbClr val="000000"/>
              </a:solidFill>
              <a:latin typeface="Arial"/>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Des paramètres servant à l'évaluation d'expression</a:t>
            </a:r>
            <a:endParaRPr b="0" lang="fr-F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Déclaration</a:t>
            </a:r>
            <a:endParaRPr b="0" lang="fr-FR" sz="3600" spc="-1" strike="noStrike">
              <a:solidFill>
                <a:srgbClr val="000000"/>
              </a:solidFill>
              <a:latin typeface="Arial"/>
            </a:endParaRPr>
          </a:p>
        </p:txBody>
      </p:sp>
      <p:sp>
        <p:nvSpPr>
          <p:cNvPr id="187"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641"/>
              </a:spcBef>
              <a:buClr>
                <a:srgbClr val="000000"/>
              </a:buClr>
              <a:buFont typeface="Arial"/>
              <a:buChar char="•"/>
            </a:pPr>
            <a:r>
              <a:rPr b="0" lang="fr-FR" sz="3200" spc="-1" strike="noStrike">
                <a:solidFill>
                  <a:schemeClr val="dk1"/>
                </a:solidFill>
                <a:latin typeface="Calibri"/>
              </a:rPr>
              <a:t>La déclaration d'un paramètre dans un design consiste à spécifier son </a:t>
            </a:r>
            <a:r>
              <a:rPr b="1" lang="fr-FR" sz="3200" spc="-1" strike="noStrike">
                <a:solidFill>
                  <a:srgbClr val="0c32cf"/>
                </a:solidFill>
                <a:latin typeface="Calibri"/>
              </a:rPr>
              <a:t>nom</a:t>
            </a:r>
            <a:r>
              <a:rPr b="0" lang="fr-FR" sz="3200" spc="-1" strike="noStrike">
                <a:solidFill>
                  <a:schemeClr val="dk1"/>
                </a:solidFill>
                <a:latin typeface="Calibri"/>
              </a:rPr>
              <a:t> et son </a:t>
            </a:r>
            <a:r>
              <a:rPr b="1" lang="fr-FR" sz="3200" spc="-1" strike="noStrike">
                <a:solidFill>
                  <a:srgbClr val="0c32cf"/>
                </a:solidFill>
                <a:latin typeface="Calibri"/>
              </a:rPr>
              <a:t>type</a:t>
            </a:r>
            <a:r>
              <a:rPr b="0" lang="fr-FR" sz="3200" spc="-1" strike="noStrike">
                <a:solidFill>
                  <a:schemeClr val="dk1"/>
                </a:solidFill>
                <a:latin typeface="Calibri"/>
              </a:rPr>
              <a:t> (classe Java):</a:t>
            </a:r>
            <a:endParaRPr b="0" lang="fr-FR"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Dans le fichier </a:t>
            </a:r>
            <a:r>
              <a:rPr b="0" i="1" lang="en-US" sz="3200" spc="-1" strike="noStrike">
                <a:solidFill>
                  <a:schemeClr val="dk1"/>
                </a:solidFill>
                <a:latin typeface="Calibri"/>
              </a:rPr>
              <a:t>.jrxml</a:t>
            </a:r>
            <a:r>
              <a:rPr b="0" lang="en-US" sz="3200" spc="-1" strike="noStrike">
                <a:solidFill>
                  <a:schemeClr val="dk1"/>
                </a:solidFill>
                <a:latin typeface="Calibri"/>
              </a:rPr>
              <a:t>, cela donne :</a:t>
            </a:r>
            <a:endParaRPr b="0" lang="fr-FR" sz="3200" spc="-1" strike="noStrike">
              <a:solidFill>
                <a:srgbClr val="000000"/>
              </a:solidFill>
              <a:latin typeface="Arial"/>
            </a:endParaRPr>
          </a:p>
          <a:p>
            <a:pPr indent="0" defTabSz="457200">
              <a:lnSpc>
                <a:spcPct val="100000"/>
              </a:lnSpc>
              <a:spcBef>
                <a:spcPts val="439"/>
              </a:spcBef>
              <a:buNone/>
              <a:tabLst>
                <a:tab algn="l" pos="0"/>
              </a:tabLst>
            </a:pPr>
            <a:r>
              <a:rPr b="0" i="1" lang="en-US" sz="2200" spc="-1" strike="noStrike">
                <a:solidFill>
                  <a:schemeClr val="dk1"/>
                </a:solidFill>
                <a:latin typeface="Calibri"/>
              </a:rPr>
              <a:t>&lt;parameter </a:t>
            </a:r>
            <a:r>
              <a:rPr b="1" i="1" lang="en-US" sz="2200" spc="-1" strike="noStrike">
                <a:solidFill>
                  <a:schemeClr val="dk1"/>
                </a:solidFill>
                <a:latin typeface="Calibri"/>
              </a:rPr>
              <a:t>name</a:t>
            </a:r>
            <a:r>
              <a:rPr b="0" i="1" lang="en-US" sz="2200" spc="-1" strike="noStrike">
                <a:solidFill>
                  <a:schemeClr val="dk1"/>
                </a:solidFill>
                <a:latin typeface="Calibri"/>
              </a:rPr>
              <a:t>="ReportTitle" </a:t>
            </a:r>
            <a:r>
              <a:rPr b="1" i="1" lang="en-US" sz="2200" spc="-1" strike="noStrike">
                <a:solidFill>
                  <a:schemeClr val="dk1"/>
                </a:solidFill>
                <a:latin typeface="Calibri"/>
              </a:rPr>
              <a:t>class</a:t>
            </a:r>
            <a:r>
              <a:rPr b="0" i="1" lang="en-US" sz="2200" spc="-1" strike="noStrike">
                <a:solidFill>
                  <a:schemeClr val="dk1"/>
                </a:solidFill>
                <a:latin typeface="Calibri"/>
              </a:rPr>
              <a:t>="java.lang.String"/&gt;</a:t>
            </a:r>
            <a:endParaRPr b="0" lang="fr-FR" sz="2200" spc="-1" strike="noStrike">
              <a:solidFill>
                <a:srgbClr val="000000"/>
              </a:solidFill>
              <a:latin typeface="Arial"/>
            </a:endParaRPr>
          </a:p>
          <a:p>
            <a:pPr indent="0" defTabSz="457200">
              <a:lnSpc>
                <a:spcPct val="100000"/>
              </a:lnSpc>
              <a:spcBef>
                <a:spcPts val="439"/>
              </a:spcBef>
              <a:buNone/>
              <a:tabLst>
                <a:tab algn="l" pos="0"/>
              </a:tabLst>
            </a:pPr>
            <a:r>
              <a:rPr b="0" i="1" lang="en-US" sz="2200" spc="-1" strike="noStrike">
                <a:solidFill>
                  <a:schemeClr val="dk1"/>
                </a:solidFill>
                <a:latin typeface="Calibri"/>
              </a:rPr>
              <a:t>&lt;parameter </a:t>
            </a:r>
            <a:r>
              <a:rPr b="1" i="1" lang="en-US" sz="2200" spc="-1" strike="noStrike">
                <a:solidFill>
                  <a:schemeClr val="dk1"/>
                </a:solidFill>
                <a:latin typeface="Calibri"/>
              </a:rPr>
              <a:t>name</a:t>
            </a:r>
            <a:r>
              <a:rPr b="0" i="1" lang="en-US" sz="2200" spc="-1" strike="noStrike">
                <a:solidFill>
                  <a:schemeClr val="dk1"/>
                </a:solidFill>
                <a:latin typeface="Calibri"/>
              </a:rPr>
              <a:t>="MaxOrderID" </a:t>
            </a:r>
            <a:r>
              <a:rPr b="1" i="1" lang="en-US" sz="2200" spc="-1" strike="noStrike">
                <a:solidFill>
                  <a:schemeClr val="dk1"/>
                </a:solidFill>
                <a:latin typeface="Calibri"/>
              </a:rPr>
              <a:t>class</a:t>
            </a:r>
            <a:r>
              <a:rPr b="0" i="1" lang="en-US" sz="2200" spc="-1" strike="noStrike">
                <a:solidFill>
                  <a:schemeClr val="dk1"/>
                </a:solidFill>
                <a:latin typeface="Calibri"/>
              </a:rPr>
              <a:t>="java.lang.Integer"/&gt;</a:t>
            </a:r>
            <a:endParaRPr b="0" lang="fr-FR" sz="2200" spc="-1" strike="noStrike">
              <a:solidFill>
                <a:srgbClr val="000000"/>
              </a:solidFill>
              <a:latin typeface="Arial"/>
            </a:endParaRPr>
          </a:p>
          <a:p>
            <a:pPr indent="0" defTabSz="457200">
              <a:lnSpc>
                <a:spcPct val="100000"/>
              </a:lnSpc>
              <a:spcBef>
                <a:spcPts val="439"/>
              </a:spcBef>
              <a:buNone/>
              <a:tabLst>
                <a:tab algn="l" pos="0"/>
              </a:tabLst>
            </a:pPr>
            <a:r>
              <a:rPr b="0" i="1" lang="en-US" sz="2200" spc="-1" strike="noStrike">
                <a:solidFill>
                  <a:schemeClr val="dk1"/>
                </a:solidFill>
                <a:latin typeface="Calibri"/>
              </a:rPr>
              <a:t>&lt;parameter </a:t>
            </a:r>
            <a:r>
              <a:rPr b="1" i="1" lang="en-US" sz="2200" spc="-1" strike="noStrike">
                <a:solidFill>
                  <a:schemeClr val="dk1"/>
                </a:solidFill>
                <a:latin typeface="Calibri"/>
              </a:rPr>
              <a:t>name</a:t>
            </a:r>
            <a:r>
              <a:rPr b="0" i="1" lang="en-US" sz="2200" spc="-1" strike="noStrike">
                <a:solidFill>
                  <a:schemeClr val="dk1"/>
                </a:solidFill>
                <a:latin typeface="Calibri"/>
              </a:rPr>
              <a:t>="SummaryImage" </a:t>
            </a:r>
            <a:r>
              <a:rPr b="1" i="1" lang="en-US" sz="2200" spc="-1" strike="noStrike">
                <a:solidFill>
                  <a:schemeClr val="dk1"/>
                </a:solidFill>
                <a:latin typeface="Calibri"/>
              </a:rPr>
              <a:t>class</a:t>
            </a:r>
            <a:r>
              <a:rPr b="0" i="1" lang="en-US" sz="2200" spc="-1" strike="noStrike">
                <a:solidFill>
                  <a:schemeClr val="dk1"/>
                </a:solidFill>
                <a:latin typeface="Calibri"/>
              </a:rPr>
              <a:t>="java.awt.Image"/&gt;</a:t>
            </a:r>
            <a:endParaRPr b="0" lang="fr-FR"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Attributs additionnels</a:t>
            </a:r>
            <a:endParaRPr b="0" lang="fr-FR" sz="3600" spc="-1" strike="noStrike">
              <a:solidFill>
                <a:srgbClr val="000000"/>
              </a:solidFill>
              <a:latin typeface="Arial"/>
            </a:endParaRPr>
          </a:p>
        </p:txBody>
      </p:sp>
      <p:sp>
        <p:nvSpPr>
          <p:cNvPr id="189"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39"/>
              </a:spcBef>
              <a:buClr>
                <a:srgbClr val="000000"/>
              </a:buClr>
              <a:buFont typeface="Arial"/>
              <a:buChar char="•"/>
            </a:pPr>
            <a:r>
              <a:rPr b="0" lang="en-US" sz="2200" spc="-1" strike="noStrike">
                <a:solidFill>
                  <a:schemeClr val="dk1"/>
                </a:solidFill>
                <a:latin typeface="Calibri"/>
              </a:rPr>
              <a:t>L'élément </a:t>
            </a:r>
            <a:r>
              <a:rPr b="1" i="1" lang="en-US" sz="2200" spc="-1" strike="noStrike">
                <a:solidFill>
                  <a:srgbClr val="0c32cf"/>
                </a:solidFill>
                <a:latin typeface="Calibri"/>
              </a:rPr>
              <a:t>defaultValueExpression</a:t>
            </a:r>
            <a:r>
              <a:rPr b="0" lang="en-US" sz="2200" spc="-1" strike="noStrike">
                <a:solidFill>
                  <a:schemeClr val="dk1"/>
                </a:solidFill>
                <a:latin typeface="Calibri"/>
              </a:rPr>
              <a:t> permet de spécifier une valeur par défaut. </a:t>
            </a:r>
            <a:br>
              <a:rPr sz="2200"/>
            </a:br>
            <a:r>
              <a:rPr b="0" lang="en-US" sz="2200" spc="-1" strike="noStrike">
                <a:solidFill>
                  <a:schemeClr val="dk1"/>
                </a:solidFill>
                <a:latin typeface="Calibri"/>
              </a:rPr>
              <a:t>Dans cette expression, il n'est pas possible d'utiliser des champs ou variables.</a:t>
            </a:r>
            <a:endParaRPr b="0" lang="fr-FR" sz="2200" spc="-1" strike="noStrike">
              <a:solidFill>
                <a:srgbClr val="000000"/>
              </a:solidFill>
              <a:latin typeface="Arial"/>
            </a:endParaRPr>
          </a:p>
          <a:p>
            <a:pPr marL="343080" indent="-343080" defTabSz="457200">
              <a:lnSpc>
                <a:spcPct val="100000"/>
              </a:lnSpc>
              <a:spcBef>
                <a:spcPts val="439"/>
              </a:spcBef>
              <a:buClr>
                <a:srgbClr val="000000"/>
              </a:buClr>
              <a:buFont typeface="Arial"/>
              <a:buChar char="•"/>
            </a:pPr>
            <a:r>
              <a:rPr b="0" lang="en-US" sz="2200" spc="-1" strike="noStrike">
                <a:solidFill>
                  <a:schemeClr val="dk1"/>
                </a:solidFill>
                <a:latin typeface="Calibri"/>
              </a:rPr>
              <a:t>Les attributs </a:t>
            </a:r>
            <a:r>
              <a:rPr b="1" i="1" lang="en-US" sz="2200" spc="-1" strike="noStrike">
                <a:solidFill>
                  <a:srgbClr val="0c32cf"/>
                </a:solidFill>
                <a:latin typeface="Calibri"/>
              </a:rPr>
              <a:t>IsForPrompting</a:t>
            </a:r>
            <a:r>
              <a:rPr b="1" i="1" lang="en-US" sz="2200" spc="-1" strike="noStrike">
                <a:solidFill>
                  <a:schemeClr val="dk1"/>
                </a:solidFill>
                <a:latin typeface="Calibri"/>
              </a:rPr>
              <a:t>, </a:t>
            </a:r>
            <a:r>
              <a:rPr b="1" i="1" lang="en-US" sz="2200" spc="-1" strike="noStrike">
                <a:solidFill>
                  <a:srgbClr val="0c32cf"/>
                </a:solidFill>
                <a:latin typeface="Calibri"/>
              </a:rPr>
              <a:t>Description</a:t>
            </a:r>
            <a:r>
              <a:rPr b="1" i="1" lang="en-US" sz="2200" spc="-1" strike="noStrike">
                <a:solidFill>
                  <a:schemeClr val="dk1"/>
                </a:solidFill>
                <a:latin typeface="Calibri"/>
              </a:rPr>
              <a:t> </a:t>
            </a:r>
            <a:r>
              <a:rPr b="0" lang="en-US" sz="2200" spc="-1" strike="noStrike">
                <a:solidFill>
                  <a:schemeClr val="dk1"/>
                </a:solidFill>
                <a:latin typeface="Calibri"/>
              </a:rPr>
              <a:t>et </a:t>
            </a:r>
            <a:r>
              <a:rPr b="1" i="1" lang="en-US" sz="2200" spc="-1" strike="noStrike">
                <a:solidFill>
                  <a:srgbClr val="0c32cf"/>
                </a:solidFill>
                <a:latin typeface="Calibri"/>
              </a:rPr>
              <a:t>properties</a:t>
            </a:r>
            <a:r>
              <a:rPr b="1" i="1" lang="en-US" sz="2200" spc="-1" strike="noStrike">
                <a:solidFill>
                  <a:schemeClr val="dk1"/>
                </a:solidFill>
                <a:latin typeface="Calibri"/>
              </a:rPr>
              <a:t> </a:t>
            </a:r>
            <a:r>
              <a:rPr b="0" lang="en-US" sz="2200" spc="-1" strike="noStrike">
                <a:solidFill>
                  <a:schemeClr val="dk1"/>
                </a:solidFill>
                <a:latin typeface="Calibri"/>
              </a:rPr>
              <a:t>ne sont pas utilisés directement par JasperReport mais peuvent être utilisés par d'autres applications externes :</a:t>
            </a:r>
            <a:endParaRPr b="0" lang="fr-FR" sz="2200" spc="-1" strike="noStrike">
              <a:solidFill>
                <a:srgbClr val="000000"/>
              </a:solidFill>
              <a:latin typeface="Arial"/>
            </a:endParaRPr>
          </a:p>
          <a:p>
            <a:pPr lvl="1" marL="743040" indent="-285840" defTabSz="457200">
              <a:lnSpc>
                <a:spcPct val="100000"/>
              </a:lnSpc>
              <a:spcBef>
                <a:spcPts val="360"/>
              </a:spcBef>
              <a:buClr>
                <a:srgbClr val="000000"/>
              </a:buClr>
              <a:buFont typeface="Arial"/>
              <a:buChar char="–"/>
            </a:pPr>
            <a:r>
              <a:rPr b="0" lang="en-US" sz="1800" spc="-1" strike="noStrike">
                <a:solidFill>
                  <a:schemeClr val="dk1"/>
                </a:solidFill>
                <a:latin typeface="Calibri"/>
              </a:rPr>
              <a:t>pour déterminer si ce paramètre doit être fourni interactivement.</a:t>
            </a:r>
            <a:endParaRPr b="0" lang="fr-FR" sz="1800" spc="-1" strike="noStrike">
              <a:solidFill>
                <a:srgbClr val="000000"/>
              </a:solidFill>
              <a:latin typeface="Arial"/>
            </a:endParaRPr>
          </a:p>
          <a:p>
            <a:pPr lvl="1" marL="743040" indent="-285840" defTabSz="457200">
              <a:lnSpc>
                <a:spcPct val="100000"/>
              </a:lnSpc>
              <a:spcBef>
                <a:spcPts val="360"/>
              </a:spcBef>
              <a:buClr>
                <a:srgbClr val="000000"/>
              </a:buClr>
              <a:buFont typeface="Arial"/>
              <a:buChar char="–"/>
            </a:pPr>
            <a:r>
              <a:rPr b="0" lang="en-US" sz="1800" spc="-1" strike="noStrike">
                <a:solidFill>
                  <a:schemeClr val="dk1"/>
                </a:solidFill>
                <a:latin typeface="Calibri"/>
              </a:rPr>
              <a:t>Une documentation</a:t>
            </a:r>
            <a:endParaRPr b="0" lang="fr-FR" sz="1800" spc="-1" strike="noStrike">
              <a:solidFill>
                <a:srgbClr val="000000"/>
              </a:solidFill>
              <a:latin typeface="Arial"/>
            </a:endParaRPr>
          </a:p>
          <a:p>
            <a:pPr lvl="1" marL="743040" indent="-285840" defTabSz="457200">
              <a:lnSpc>
                <a:spcPct val="100000"/>
              </a:lnSpc>
              <a:spcBef>
                <a:spcPts val="360"/>
              </a:spcBef>
              <a:buClr>
                <a:srgbClr val="000000"/>
              </a:buClr>
              <a:buFont typeface="Arial"/>
              <a:buChar char="–"/>
            </a:pPr>
            <a:r>
              <a:rPr b="0" lang="en-US" sz="1800" spc="-1" strike="noStrike">
                <a:solidFill>
                  <a:schemeClr val="dk1"/>
                </a:solidFill>
                <a:latin typeface="Calibri"/>
              </a:rPr>
              <a:t>Stockée un ensemble de propriétés liées au paramètre. Par exemple, la description du champ en différents langages</a:t>
            </a:r>
            <a:endParaRPr b="0" lang="fr-F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a:lnSpc>
                <a:spcPct val="100000"/>
              </a:lnSpc>
              <a:buNone/>
              <a:tabLst>
                <a:tab algn="l" pos="0"/>
              </a:tabLst>
            </a:pPr>
            <a:r>
              <a:rPr b="0" lang="fr-FR" sz="3600" spc="-1" strike="noStrike">
                <a:solidFill>
                  <a:srgbClr val="000000"/>
                </a:solidFill>
                <a:latin typeface="Calibri"/>
              </a:rPr>
              <a:t>Des requêtes le plus souvent paramétrées</a:t>
            </a:r>
            <a:endParaRPr b="0" lang="fr-FR" sz="3600" spc="-1" strike="noStrike">
              <a:solidFill>
                <a:srgbClr val="000000"/>
              </a:solidFill>
              <a:latin typeface="Arial"/>
            </a:endParaRPr>
          </a:p>
        </p:txBody>
      </p:sp>
      <p:sp>
        <p:nvSpPr>
          <p:cNvPr id="191" name="PlaceHolder 2"/>
          <p:cNvSpPr>
            <a:spLocks noGrp="1"/>
          </p:cNvSpPr>
          <p:nvPr>
            <p:ph/>
          </p:nvPr>
        </p:nvSpPr>
        <p:spPr>
          <a:xfrm>
            <a:off x="762120" y="2158920"/>
            <a:ext cx="9397440" cy="482544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fr-FR" sz="1900" spc="-1" strike="noStrike">
                <a:solidFill>
                  <a:srgbClr val="000000"/>
                </a:solidFill>
                <a:latin typeface="Calibri"/>
              </a:rPr>
              <a:t>Un rapport est rarement figé : on le lance pour une période, un client, un site, un statut…</a:t>
            </a:r>
            <a:endParaRPr b="0" lang="fr-FR" sz="19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1900" spc="-1" strike="noStrike">
                <a:solidFill>
                  <a:srgbClr val="000000"/>
                </a:solidFill>
                <a:latin typeface="Calibri"/>
              </a:rPr>
              <a:t>Ces critères ne sont pas connus à la conception : ce sont des </a:t>
            </a:r>
            <a:r>
              <a:rPr b="1" lang="fr-FR" sz="1900" spc="-1" strike="noStrike">
                <a:solidFill>
                  <a:srgbClr val="0c32cf"/>
                </a:solidFill>
                <a:latin typeface="Calibri"/>
              </a:rPr>
              <a:t>paramètres</a:t>
            </a:r>
            <a:r>
              <a:rPr b="0" lang="fr-FR" sz="1900" spc="-1" strike="noStrike">
                <a:solidFill>
                  <a:srgbClr val="000000"/>
                </a:solidFill>
                <a:latin typeface="Calibri"/>
              </a:rPr>
              <a:t> du rapport, fournis au lancement</a:t>
            </a:r>
            <a:endParaRPr b="0" lang="fr-FR" sz="19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1900" spc="-1" strike="noStrike">
                <a:solidFill>
                  <a:srgbClr val="000000"/>
                </a:solidFill>
                <a:latin typeface="Calibri"/>
              </a:rPr>
              <a:t>Dans la requête SQL, un paramètre s'écrit </a:t>
            </a:r>
            <a:r>
              <a:rPr b="0" lang="fr-FR" sz="1900" spc="-1" strike="noStrike">
                <a:solidFill>
                  <a:srgbClr val="000000"/>
                </a:solidFill>
                <a:latin typeface="Courier New"/>
              </a:rPr>
              <a:t>$P{NOM}</a:t>
            </a:r>
            <a:r>
              <a:rPr b="0" lang="fr-FR" sz="1900" spc="-1" strike="noStrike">
                <a:solidFill>
                  <a:srgbClr val="000000"/>
                </a:solidFill>
                <a:latin typeface="Calibri"/>
              </a:rPr>
              <a:t> :</a:t>
            </a:r>
            <a:endParaRPr b="0" lang="fr-FR" sz="1900" spc="-1" strike="noStrike">
              <a:solidFill>
                <a:srgbClr val="000000"/>
              </a:solidFill>
              <a:latin typeface="Arial"/>
            </a:endParaRPr>
          </a:p>
          <a:p>
            <a:pPr marL="743040" indent="-285840" defTabSz="457200">
              <a:lnSpc>
                <a:spcPct val="100000"/>
              </a:lnSpc>
              <a:spcBef>
                <a:spcPts val="201"/>
              </a:spcBef>
              <a:buClr>
                <a:srgbClr val="000000"/>
              </a:buClr>
              <a:buFont typeface="Arial"/>
              <a:buChar char="–"/>
            </a:pPr>
            <a:r>
              <a:rPr b="0" lang="fr-FR" sz="1500" spc="-1" strike="noStrike">
                <a:solidFill>
                  <a:srgbClr val="000000"/>
                </a:solidFill>
                <a:latin typeface="Courier New"/>
              </a:rPr>
              <a:t>SELECT * FROM commandes WHERE date_cmd BETWEEN </a:t>
            </a:r>
            <a:r>
              <a:rPr b="1" lang="fr-FR" sz="1500" spc="-1" strike="noStrike">
                <a:solidFill>
                  <a:srgbClr val="0c32cf"/>
                </a:solidFill>
                <a:latin typeface="Courier New"/>
              </a:rPr>
              <a:t>$P{DATE_DEBUT}</a:t>
            </a:r>
            <a:r>
              <a:rPr b="0" lang="fr-FR" sz="1500" spc="-1" strike="noStrike">
                <a:solidFill>
                  <a:srgbClr val="000000"/>
                </a:solidFill>
                <a:latin typeface="Courier New"/>
              </a:rPr>
              <a:t> AND </a:t>
            </a:r>
            <a:r>
              <a:rPr b="1" lang="fr-FR" sz="1500" spc="-1" strike="noStrike">
                <a:solidFill>
                  <a:srgbClr val="0c32cf"/>
                </a:solidFill>
                <a:latin typeface="Courier New"/>
              </a:rPr>
              <a:t>$P{DATE_FIN}</a:t>
            </a:r>
            <a:endParaRPr b="0" lang="fr-FR" sz="15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1900" spc="-1" strike="noStrike">
                <a:solidFill>
                  <a:srgbClr val="000000"/>
                </a:solidFill>
                <a:latin typeface="Calibri"/>
              </a:rPr>
              <a:t>À la génération, JasperReports remplace </a:t>
            </a:r>
            <a:r>
              <a:rPr b="0" lang="fr-FR" sz="1900" spc="-1" strike="noStrike">
                <a:solidFill>
                  <a:srgbClr val="000000"/>
                </a:solidFill>
                <a:latin typeface="Courier New"/>
              </a:rPr>
              <a:t>$P{}</a:t>
            </a:r>
            <a:r>
              <a:rPr b="0" lang="fr-FR" sz="1900" spc="-1" strike="noStrike">
                <a:solidFill>
                  <a:srgbClr val="000000"/>
                </a:solidFill>
                <a:latin typeface="Calibri"/>
              </a:rPr>
              <a:t> par la valeur fournie (requête préparée : pas de guillemets à gérer, protection contre les injections SQL)</a:t>
            </a:r>
            <a:endParaRPr b="0" lang="fr-FR" sz="19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1900" spc="-1" strike="noStrike">
                <a:solidFill>
                  <a:srgbClr val="000000"/>
                </a:solidFill>
                <a:latin typeface="Calibri"/>
              </a:rPr>
              <a:t>Dans Studio, l'aperçu demande les valeurs dans la vue </a:t>
            </a:r>
            <a:r>
              <a:rPr b="1" lang="fr-FR" sz="1900" spc="-1" strike="noStrike">
                <a:solidFill>
                  <a:srgbClr val="000000"/>
                </a:solidFill>
                <a:latin typeface="Calibri"/>
              </a:rPr>
              <a:t>Input Parameters</a:t>
            </a:r>
            <a:r>
              <a:rPr b="0" lang="fr-FR" sz="1900" spc="-1" strike="noStrike">
                <a:solidFill>
                  <a:srgbClr val="000000"/>
                </a:solidFill>
                <a:latin typeface="Calibri"/>
              </a:rPr>
              <a:t> ; en production, c'est l'application ou le serveur qui les fournit</a:t>
            </a:r>
            <a:endParaRPr b="0" lang="fr-FR" sz="19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1900" spc="-1" strike="noStrike">
                <a:solidFill>
                  <a:srgbClr val="000000"/>
                </a:solidFill>
                <a:latin typeface="Calibri"/>
              </a:rPr>
              <a:t>La même valeur sert aussi dans le rapport : titre « Période du … au … »</a:t>
            </a:r>
            <a:endParaRPr b="0" lang="fr-FR" sz="1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a:lnSpc>
                <a:spcPct val="100000"/>
              </a:lnSpc>
              <a:buNone/>
              <a:tabLst>
                <a:tab algn="l" pos="0"/>
              </a:tabLst>
            </a:pPr>
            <a:r>
              <a:rPr b="0" lang="fr-FR" sz="3600" spc="-1" strike="noStrike">
                <a:solidFill>
                  <a:srgbClr val="000000"/>
                </a:solidFill>
                <a:latin typeface="Calibri"/>
              </a:rPr>
              <a:t>Mettre en place une requête paramétrée dans JasperStudio</a:t>
            </a:r>
            <a:endParaRPr b="0" lang="fr-FR" sz="3600" spc="-1" strike="noStrike">
              <a:solidFill>
                <a:srgbClr val="000000"/>
              </a:solidFill>
              <a:latin typeface="Arial"/>
            </a:endParaRPr>
          </a:p>
        </p:txBody>
      </p:sp>
      <p:sp>
        <p:nvSpPr>
          <p:cNvPr id="193" name="PlaceHolder 2"/>
          <p:cNvSpPr>
            <a:spLocks noGrp="1"/>
          </p:cNvSpPr>
          <p:nvPr>
            <p:ph/>
          </p:nvPr>
        </p:nvSpPr>
        <p:spPr>
          <a:xfrm>
            <a:off x="762120" y="2158920"/>
            <a:ext cx="9397440" cy="482544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1" lang="fr-FR" sz="1900" spc="-1" strike="noStrike">
                <a:solidFill>
                  <a:srgbClr val="000000"/>
                </a:solidFill>
                <a:latin typeface="Calibri"/>
              </a:rPr>
              <a:t>1.</a:t>
            </a:r>
            <a:r>
              <a:rPr b="0" lang="fr-FR" sz="1900" spc="-1" strike="noStrike">
                <a:solidFill>
                  <a:srgbClr val="000000"/>
                </a:solidFill>
                <a:latin typeface="Calibri"/>
              </a:rPr>
              <a:t> </a:t>
            </a:r>
            <a:r>
              <a:rPr b="1" i="1" lang="fr-FR" sz="1900" spc="-1" strike="noStrike">
                <a:solidFill>
                  <a:srgbClr val="c9211e"/>
                </a:solidFill>
                <a:latin typeface="Calibri"/>
              </a:rPr>
              <a:t>Outline → Parameters → clic droit → Create Parameter</a:t>
            </a:r>
            <a:r>
              <a:rPr b="0" lang="fr-FR" sz="1900" spc="-1" strike="noStrike">
                <a:solidFill>
                  <a:srgbClr val="000000"/>
                </a:solidFill>
                <a:latin typeface="Calibri"/>
              </a:rPr>
              <a:t> : </a:t>
            </a:r>
            <a:br>
              <a:rPr sz="1900"/>
            </a:br>
            <a:r>
              <a:rPr b="0" lang="fr-FR" sz="1900" spc="-1" strike="noStrike">
                <a:solidFill>
                  <a:srgbClr val="000000"/>
                </a:solidFill>
                <a:latin typeface="Calibri"/>
              </a:rPr>
              <a:t>nom (en majuscules par convention) et classe (</a:t>
            </a:r>
            <a:r>
              <a:rPr b="0" lang="fr-FR" sz="1900" spc="-1" strike="noStrike">
                <a:solidFill>
                  <a:srgbClr val="000000"/>
                </a:solidFill>
                <a:latin typeface="Courier New"/>
              </a:rPr>
              <a:t>java.lang.String</a:t>
            </a:r>
            <a:r>
              <a:rPr b="0" lang="fr-FR" sz="1900" spc="-1" strike="noStrike">
                <a:solidFill>
                  <a:srgbClr val="000000"/>
                </a:solidFill>
                <a:latin typeface="Calibri"/>
              </a:rPr>
              <a:t>, </a:t>
            </a:r>
            <a:r>
              <a:rPr b="0" lang="fr-FR" sz="1900" spc="-1" strike="noStrike">
                <a:solidFill>
                  <a:srgbClr val="000000"/>
                </a:solidFill>
                <a:latin typeface="Courier New"/>
              </a:rPr>
              <a:t>java.lang.Integer</a:t>
            </a:r>
            <a:r>
              <a:rPr b="0" lang="fr-FR" sz="1900" spc="-1" strike="noStrike">
                <a:solidFill>
                  <a:srgbClr val="000000"/>
                </a:solidFill>
                <a:latin typeface="Calibri"/>
              </a:rPr>
              <a:t>, </a:t>
            </a:r>
            <a:r>
              <a:rPr b="0" lang="fr-FR" sz="1900" spc="-1" strike="noStrike">
                <a:solidFill>
                  <a:srgbClr val="000000"/>
                </a:solidFill>
                <a:latin typeface="Courier New"/>
              </a:rPr>
              <a:t>java.util.Date</a:t>
            </a:r>
            <a:r>
              <a:rPr b="0" lang="fr-FR" sz="1900" spc="-1" strike="noStrike">
                <a:solidFill>
                  <a:srgbClr val="000000"/>
                </a:solidFill>
                <a:latin typeface="Calibri"/>
              </a:rPr>
              <a:t>…)</a:t>
            </a:r>
            <a:endParaRPr b="0" lang="fr-FR" sz="19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fr-FR" sz="1900" spc="-1" strike="noStrike">
                <a:solidFill>
                  <a:srgbClr val="000000"/>
                </a:solidFill>
                <a:latin typeface="Calibri"/>
              </a:rPr>
              <a:t>2.</a:t>
            </a:r>
            <a:r>
              <a:rPr b="0" lang="fr-FR" sz="1900" spc="-1" strike="noStrike">
                <a:solidFill>
                  <a:srgbClr val="000000"/>
                </a:solidFill>
                <a:latin typeface="Calibri"/>
              </a:rPr>
              <a:t> </a:t>
            </a:r>
            <a:r>
              <a:rPr b="1" i="1" lang="fr-FR" sz="1900" spc="-1" strike="noStrike">
                <a:solidFill>
                  <a:srgbClr val="c9211e"/>
                </a:solidFill>
                <a:latin typeface="Calibri"/>
              </a:rPr>
              <a:t>Default Value Expression</a:t>
            </a:r>
            <a:r>
              <a:rPr b="0" lang="fr-FR" sz="1900" spc="-1" strike="noStrike">
                <a:solidFill>
                  <a:srgbClr val="000000"/>
                </a:solidFill>
                <a:latin typeface="Calibri"/>
              </a:rPr>
              <a:t> : </a:t>
            </a:r>
            <a:br>
              <a:rPr sz="1900"/>
            </a:br>
            <a:r>
              <a:rPr b="0" lang="fr-FR" sz="1900" spc="-1" strike="noStrike">
                <a:solidFill>
                  <a:srgbClr val="000000"/>
                </a:solidFill>
                <a:latin typeface="Calibri"/>
              </a:rPr>
              <a:t>Valeur par défaut pour que l'aperçu fonctionne sans saisie, ex. </a:t>
            </a:r>
            <a:r>
              <a:rPr b="0" lang="fr-FR" sz="1900" spc="-1" strike="noStrike">
                <a:solidFill>
                  <a:srgbClr val="000000"/>
                </a:solidFill>
                <a:latin typeface="Courier New"/>
              </a:rPr>
              <a:t>new java.util.Date()</a:t>
            </a:r>
            <a:r>
              <a:rPr b="0" lang="fr-FR" sz="1900" spc="-1" strike="noStrike">
                <a:solidFill>
                  <a:srgbClr val="000000"/>
                </a:solidFill>
                <a:latin typeface="Calibri"/>
              </a:rPr>
              <a:t> ou </a:t>
            </a:r>
            <a:r>
              <a:rPr b="0" lang="fr-FR" sz="1900" spc="-1" strike="noStrike">
                <a:solidFill>
                  <a:srgbClr val="000000"/>
                </a:solidFill>
                <a:latin typeface="Courier New"/>
              </a:rPr>
              <a:t>"Tous"</a:t>
            </a:r>
            <a:endParaRPr b="0" lang="fr-FR" sz="19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fr-FR" sz="1900" spc="-1" strike="noStrike">
                <a:solidFill>
                  <a:srgbClr val="000000"/>
                </a:solidFill>
                <a:latin typeface="Calibri"/>
              </a:rPr>
              <a:t>3.</a:t>
            </a:r>
            <a:r>
              <a:rPr b="0" lang="fr-FR" sz="1900" spc="-1" strike="noStrike">
                <a:solidFill>
                  <a:srgbClr val="000000"/>
                </a:solidFill>
                <a:latin typeface="Calibri"/>
              </a:rPr>
              <a:t> </a:t>
            </a:r>
            <a:r>
              <a:rPr b="1" i="1" lang="fr-FR" sz="1900" spc="-1" strike="noStrike">
                <a:solidFill>
                  <a:srgbClr val="c9211e"/>
                </a:solidFill>
                <a:latin typeface="Calibri"/>
              </a:rPr>
              <a:t>Is For Prompting</a:t>
            </a:r>
            <a:r>
              <a:rPr b="0" lang="fr-FR" sz="1900" spc="-1" strike="noStrike">
                <a:solidFill>
                  <a:srgbClr val="000000"/>
                </a:solidFill>
                <a:latin typeface="Calibri"/>
              </a:rPr>
              <a:t> : </a:t>
            </a:r>
            <a:br>
              <a:rPr sz="1900"/>
            </a:br>
            <a:r>
              <a:rPr b="0" lang="fr-FR" sz="1900" spc="-1" strike="noStrike">
                <a:solidFill>
                  <a:srgbClr val="000000"/>
                </a:solidFill>
                <a:latin typeface="Calibri"/>
              </a:rPr>
              <a:t>Coché, la valeur est demandée au lancement ; décoché, paramètre interne fixé par l'application</a:t>
            </a:r>
            <a:endParaRPr b="0" lang="fr-FR" sz="19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fr-FR" sz="1900" spc="-1" strike="noStrike">
                <a:solidFill>
                  <a:srgbClr val="000000"/>
                </a:solidFill>
                <a:latin typeface="Calibri"/>
              </a:rPr>
              <a:t>4.</a:t>
            </a:r>
            <a:r>
              <a:rPr b="0" lang="fr-FR" sz="1900" spc="-1" strike="noStrike">
                <a:solidFill>
                  <a:srgbClr val="000000"/>
                </a:solidFill>
                <a:latin typeface="Calibri"/>
              </a:rPr>
              <a:t> </a:t>
            </a:r>
            <a:r>
              <a:rPr b="1" i="1" lang="fr-FR" sz="1900" spc="-1" strike="noStrike">
                <a:solidFill>
                  <a:srgbClr val="c9211e"/>
                </a:solidFill>
                <a:latin typeface="Calibri"/>
              </a:rPr>
              <a:t>Dataset and Query</a:t>
            </a:r>
            <a:r>
              <a:rPr b="0" lang="fr-FR" sz="1900" spc="-1" strike="noStrike">
                <a:solidFill>
                  <a:srgbClr val="000000"/>
                </a:solidFill>
                <a:latin typeface="Calibri"/>
              </a:rPr>
              <a:t> : </a:t>
            </a:r>
            <a:br>
              <a:rPr sz="1900"/>
            </a:br>
            <a:r>
              <a:rPr b="0" lang="fr-FR" sz="1900" spc="-1" strike="noStrike">
                <a:solidFill>
                  <a:srgbClr val="000000"/>
                </a:solidFill>
                <a:latin typeface="Calibri"/>
              </a:rPr>
              <a:t>Ecrire </a:t>
            </a:r>
            <a:r>
              <a:rPr b="0" lang="fr-FR" sz="1900" spc="-1" strike="noStrike">
                <a:solidFill>
                  <a:srgbClr val="000000"/>
                </a:solidFill>
                <a:latin typeface="Courier New"/>
              </a:rPr>
              <a:t>$P{NOM}</a:t>
            </a:r>
            <a:r>
              <a:rPr b="0" lang="fr-FR" sz="1900" spc="-1" strike="noStrike">
                <a:solidFill>
                  <a:srgbClr val="000000"/>
                </a:solidFill>
                <a:latin typeface="Calibri"/>
              </a:rPr>
              <a:t> dans la requête, puis Read Fields</a:t>
            </a:r>
            <a:endParaRPr b="0" lang="fr-FR" sz="19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fr-FR" sz="1900" spc="-1" strike="noStrike">
                <a:solidFill>
                  <a:srgbClr val="000000"/>
                </a:solidFill>
                <a:latin typeface="Calibri"/>
              </a:rPr>
              <a:t>5.</a:t>
            </a:r>
            <a:r>
              <a:rPr b="0" lang="fr-FR" sz="1900" spc="-1" strike="noStrike">
                <a:solidFill>
                  <a:srgbClr val="000000"/>
                </a:solidFill>
                <a:latin typeface="Calibri"/>
              </a:rPr>
              <a:t> </a:t>
            </a:r>
            <a:r>
              <a:rPr b="1" i="1" lang="fr-FR" sz="1900" spc="-1" strike="noStrike">
                <a:solidFill>
                  <a:srgbClr val="c9211e"/>
                </a:solidFill>
                <a:latin typeface="Calibri"/>
              </a:rPr>
              <a:t>Onglet Preview</a:t>
            </a:r>
            <a:r>
              <a:rPr b="0" lang="fr-FR" sz="1900" spc="-1" strike="noStrike">
                <a:solidFill>
                  <a:srgbClr val="000000"/>
                </a:solidFill>
                <a:latin typeface="Calibri"/>
              </a:rPr>
              <a:t> : </a:t>
            </a:r>
            <a:br>
              <a:rPr sz="1900"/>
            </a:br>
            <a:r>
              <a:rPr b="0" lang="fr-FR" sz="1900" spc="-1" strike="noStrike">
                <a:solidFill>
                  <a:srgbClr val="000000"/>
                </a:solidFill>
                <a:latin typeface="Calibri"/>
              </a:rPr>
              <a:t>Saisir la valeur dans Input Parameters et vérifier les données</a:t>
            </a:r>
            <a:endParaRPr b="0" lang="fr-FR" sz="1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Utilisation dans une requête</a:t>
            </a:r>
            <a:endParaRPr b="0" lang="fr-FR" sz="3600" spc="-1" strike="noStrike">
              <a:solidFill>
                <a:srgbClr val="000000"/>
              </a:solidFill>
              <a:latin typeface="Arial"/>
            </a:endParaRPr>
          </a:p>
        </p:txBody>
      </p:sp>
      <p:sp>
        <p:nvSpPr>
          <p:cNvPr id="195"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Les paramètres peuvent être utilisés dans les requêtes SQL :</a:t>
            </a:r>
            <a:endParaRPr b="0" lang="fr-FR" sz="32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Comme paramètres normaux d'un </a:t>
            </a:r>
            <a:r>
              <a:rPr b="0" i="1" lang="en-US" sz="2800" spc="-1" strike="noStrike">
                <a:solidFill>
                  <a:schemeClr val="dk1"/>
                </a:solidFill>
                <a:latin typeface="Calibri"/>
              </a:rPr>
              <a:t>java.sql.PreparedStatement</a:t>
            </a:r>
            <a:r>
              <a:rPr b="0" lang="en-US" sz="2800" spc="-1" strike="noStrike">
                <a:solidFill>
                  <a:schemeClr val="dk1"/>
                </a:solidFill>
                <a:latin typeface="Calibri"/>
              </a:rPr>
              <a:t> :</a:t>
            </a:r>
            <a:endParaRPr b="0" lang="fr-FR" sz="2800" spc="-1" strike="noStrike">
              <a:solidFill>
                <a:srgbClr val="000000"/>
              </a:solidFill>
              <a:latin typeface="Arial"/>
            </a:endParaRPr>
          </a:p>
          <a:p>
            <a:pPr indent="0" defTabSz="457200">
              <a:lnSpc>
                <a:spcPct val="100000"/>
              </a:lnSpc>
              <a:spcBef>
                <a:spcPts val="400"/>
              </a:spcBef>
              <a:buNone/>
              <a:tabLst>
                <a:tab algn="l" pos="0"/>
              </a:tabLst>
            </a:pPr>
            <a:r>
              <a:rPr b="0" i="1" lang="en-US" sz="2000" spc="-1" strike="noStrike">
                <a:solidFill>
                  <a:schemeClr val="dk1"/>
                </a:solidFill>
                <a:latin typeface="Calibri"/>
              </a:rPr>
              <a:t>SELECT * FROM Orders WHERE CustomerID = </a:t>
            </a:r>
            <a:r>
              <a:rPr b="1" i="1" lang="en-US" sz="2000" spc="-1" strike="noStrike">
                <a:solidFill>
                  <a:srgbClr val="3650b1"/>
                </a:solidFill>
                <a:latin typeface="Calibri"/>
              </a:rPr>
              <a:t>$P{OrderCustomer}</a:t>
            </a:r>
            <a:endParaRPr b="0" lang="fr-FR" sz="20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tabLst>
                <a:tab algn="l" pos="0"/>
              </a:tabLst>
            </a:pPr>
            <a:r>
              <a:rPr b="0" lang="en-US" sz="2800" spc="-1" strike="noStrike">
                <a:solidFill>
                  <a:schemeClr val="dk1"/>
                </a:solidFill>
                <a:latin typeface="Calibri"/>
              </a:rPr>
              <a:t>Ou comme tout ou partie de la requête SQL </a:t>
            </a:r>
            <a:endParaRPr b="0" lang="fr-FR" sz="2800" spc="-1" strike="noStrike">
              <a:solidFill>
                <a:srgbClr val="000000"/>
              </a:solidFill>
              <a:latin typeface="Arial"/>
            </a:endParaRPr>
          </a:p>
          <a:p>
            <a:pPr indent="0" defTabSz="457200">
              <a:lnSpc>
                <a:spcPct val="100000"/>
              </a:lnSpc>
              <a:spcBef>
                <a:spcPts val="439"/>
              </a:spcBef>
              <a:buNone/>
              <a:tabLst>
                <a:tab algn="l" pos="0"/>
              </a:tabLst>
            </a:pPr>
            <a:r>
              <a:rPr b="0" i="1" lang="en-US" sz="2200" spc="-1" strike="noStrike">
                <a:solidFill>
                  <a:schemeClr val="dk1"/>
                </a:solidFill>
                <a:latin typeface="Calibri"/>
              </a:rPr>
              <a:t>SELECT * FROM </a:t>
            </a:r>
            <a:r>
              <a:rPr b="1" i="1" lang="en-US" sz="2200" spc="-1" strike="noStrike">
                <a:solidFill>
                  <a:srgbClr val="3650b1"/>
                </a:solidFill>
                <a:latin typeface="Calibri"/>
              </a:rPr>
              <a:t>$P!{TablesClause}</a:t>
            </a:r>
            <a:endParaRPr b="0" lang="fr-FR"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Clause IN et NOT IN</a:t>
            </a:r>
            <a:endParaRPr b="0" lang="fr-FR" sz="3600" spc="-1" strike="noStrike">
              <a:solidFill>
                <a:srgbClr val="000000"/>
              </a:solidFill>
              <a:latin typeface="Arial"/>
            </a:endParaRPr>
          </a:p>
        </p:txBody>
      </p:sp>
      <p:sp>
        <p:nvSpPr>
          <p:cNvPr id="197"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561"/>
              </a:spcBef>
              <a:buClr>
                <a:srgbClr val="000000"/>
              </a:buClr>
              <a:buFont typeface="Arial"/>
              <a:buChar char="•"/>
            </a:pPr>
            <a:r>
              <a:rPr b="0" i="1" lang="en-US" sz="2800" spc="-1" strike="noStrike">
                <a:solidFill>
                  <a:schemeClr val="dk1"/>
                </a:solidFill>
                <a:latin typeface="Calibri"/>
              </a:rPr>
              <a:t>JasperReports</a:t>
            </a:r>
            <a:r>
              <a:rPr b="0" lang="en-US" sz="2800" spc="-1" strike="noStrike">
                <a:solidFill>
                  <a:schemeClr val="dk1"/>
                </a:solidFill>
                <a:latin typeface="Calibri"/>
              </a:rPr>
              <a:t> propose une syntaxe spécifique à utiliser dans les clauses IN et NOT IN des requêtes SQL. Exemple :</a:t>
            </a:r>
            <a:endParaRPr b="0" lang="fr-FR" sz="2800" spc="-1" strike="noStrike">
              <a:solidFill>
                <a:srgbClr val="000000"/>
              </a:solidFill>
              <a:latin typeface="Arial"/>
            </a:endParaRPr>
          </a:p>
          <a:p>
            <a:pPr indent="0" defTabSz="457200">
              <a:lnSpc>
                <a:spcPct val="100000"/>
              </a:lnSpc>
              <a:spcBef>
                <a:spcPts val="561"/>
              </a:spcBef>
              <a:buNone/>
              <a:tabLst>
                <a:tab algn="l" pos="0"/>
              </a:tabLst>
            </a:pPr>
            <a:r>
              <a:rPr b="0" lang="en-US" sz="2800" spc="-1" strike="noStrike">
                <a:solidFill>
                  <a:schemeClr val="dk1"/>
                </a:solidFill>
                <a:latin typeface="Courier New"/>
              </a:rPr>
              <a:t>SELECT * FROM ORDERS WHERE </a:t>
            </a:r>
            <a:r>
              <a:rPr b="1" lang="en-US" sz="2800" spc="-1" strike="noStrike">
                <a:solidFill>
                  <a:schemeClr val="dk1"/>
                </a:solidFill>
                <a:latin typeface="Courier New"/>
              </a:rPr>
              <a:t>$X{IN, </a:t>
            </a:r>
            <a:endParaRPr b="0" lang="fr-FR" sz="2800" spc="-1" strike="noStrike">
              <a:solidFill>
                <a:srgbClr val="000000"/>
              </a:solidFill>
              <a:latin typeface="Arial"/>
            </a:endParaRPr>
          </a:p>
          <a:p>
            <a:pPr indent="0" defTabSz="457200">
              <a:lnSpc>
                <a:spcPct val="100000"/>
              </a:lnSpc>
              <a:spcBef>
                <a:spcPts val="561"/>
              </a:spcBef>
              <a:buNone/>
              <a:tabLst>
                <a:tab algn="l" pos="0"/>
              </a:tabLst>
            </a:pPr>
            <a:r>
              <a:rPr b="1" lang="en-US" sz="2800" spc="-1" strike="noStrike">
                <a:solidFill>
                  <a:schemeClr val="dk1"/>
                </a:solidFill>
                <a:latin typeface="Courier New"/>
              </a:rPr>
              <a:t>SHIPCOUNTRY,myCountries}</a:t>
            </a:r>
            <a:endParaRPr b="0" lang="fr-FR" sz="2800" spc="-1" strike="noStrike">
              <a:solidFill>
                <a:srgbClr val="000000"/>
              </a:solidFill>
              <a:latin typeface="Arial"/>
            </a:endParaRPr>
          </a:p>
          <a:p>
            <a:pPr marL="343080" indent="-343080" defTabSz="457200">
              <a:lnSpc>
                <a:spcPct val="100000"/>
              </a:lnSpc>
              <a:spcBef>
                <a:spcPts val="561"/>
              </a:spcBef>
              <a:buClr>
                <a:srgbClr val="000000"/>
              </a:buClr>
              <a:buFont typeface="Arial"/>
              <a:buChar char="•"/>
              <a:tabLst>
                <a:tab algn="l" pos="0"/>
              </a:tabLst>
            </a:pPr>
            <a:r>
              <a:rPr b="0" lang="en-US" sz="2800" spc="-1" strike="noStrike">
                <a:solidFill>
                  <a:schemeClr val="dk1"/>
                </a:solidFill>
                <a:latin typeface="Calibri"/>
              </a:rPr>
              <a:t>La clause $X{} prend 3 paramètres :</a:t>
            </a:r>
            <a:endParaRPr b="0" lang="fr-FR" sz="2800" spc="-1" strike="noStrike">
              <a:solidFill>
                <a:srgbClr val="000000"/>
              </a:solidFill>
              <a:latin typeface="Arial"/>
            </a:endParaRPr>
          </a:p>
          <a:p>
            <a:pPr lvl="1" marL="743040" indent="-285840" defTabSz="45720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Le type de la fonction à appliquer (IN ou NOT IN)</a:t>
            </a:r>
            <a:endParaRPr b="0" lang="fr-FR" sz="2400" spc="-1" strike="noStrike">
              <a:solidFill>
                <a:srgbClr val="000000"/>
              </a:solidFill>
              <a:latin typeface="Arial"/>
            </a:endParaRPr>
          </a:p>
          <a:p>
            <a:pPr lvl="1" marL="743040" indent="-285840" defTabSz="45720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Le nom du champ à évaluer</a:t>
            </a:r>
            <a:endParaRPr b="0" lang="fr-FR" sz="2400" spc="-1" strike="noStrike">
              <a:solidFill>
                <a:srgbClr val="000000"/>
              </a:solidFill>
              <a:latin typeface="Arial"/>
            </a:endParaRPr>
          </a:p>
          <a:p>
            <a:pPr lvl="1" marL="743040" indent="-285840" defTabSz="45720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Le nom du paramètre</a:t>
            </a:r>
            <a:endParaRPr b="0" lang="fr-F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198"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Paramètres, champs et variables</a:t>
            </a:r>
            <a:endParaRPr b="0" lang="fr-FR" sz="3600" spc="-1" strike="noStrike">
              <a:solidFill>
                <a:srgbClr val="000000"/>
              </a:solidFill>
              <a:latin typeface="Arial"/>
            </a:endParaRPr>
          </a:p>
        </p:txBody>
      </p:sp>
      <p:graphicFrame>
        <p:nvGraphicFramePr>
          <p:cNvPr id="199" name="Table 2"/>
          <p:cNvGraphicFramePr/>
          <p:nvPr/>
        </p:nvGraphicFramePr>
        <p:xfrm>
          <a:off x="762120" y="2158920"/>
          <a:ext cx="9397080" cy="3468240"/>
        </p:xfrm>
        <a:graphic>
          <a:graphicData uri="http://schemas.openxmlformats.org/drawingml/2006/table">
            <a:tbl>
              <a:tblPr/>
              <a:tblGrid>
                <a:gridCol w="1396800"/>
                <a:gridCol w="2666880"/>
                <a:gridCol w="2666880"/>
                <a:gridCol w="2666880"/>
              </a:tblGrid>
              <a:tr h="330120">
                <a:tc>
                  <a:txBody>
                    <a:bodyPr lIns="50760" rIns="50760" anchor="t">
                      <a:noAutofit/>
                    </a:bodyPr>
                    <a:p>
                      <a:endParaRPr b="0" lang="en-US" sz="1800" spc="-1" strike="noStrike">
                        <a:solidFill>
                          <a:schemeClr val="dk1"/>
                        </a:solidFill>
                        <a:latin typeface="Calibri"/>
                      </a:endParaRPr>
                    </a:p>
                  </a:txBody>
                  <a:tcPr anchor="t" marL="50760" marR="50760">
                    <a:lnL w="12240">
                      <a:solidFill>
                        <a:srgbClr val="bcbcbc"/>
                      </a:solidFill>
                      <a:prstDash val="solid"/>
                    </a:lnL>
                    <a:lnR w="12240">
                      <a:solidFill>
                        <a:srgbClr val="000000"/>
                      </a:solidFill>
                      <a:prstDash val="solid"/>
                    </a:lnR>
                    <a:lnT w="12240">
                      <a:solidFill>
                        <a:srgbClr val="bcbcbc"/>
                      </a:solidFill>
                      <a:prstDash val="solid"/>
                    </a:lnT>
                    <a:lnB w="12240">
                      <a:solidFill>
                        <a:srgbClr val="000000"/>
                      </a:solidFill>
                      <a:prstDash val="solid"/>
                    </a:lnB>
                    <a:noFill/>
                  </a:tcPr>
                </a:tc>
                <a:tc>
                  <a:txBody>
                    <a:bodyPr lIns="50760" rIns="50760" anchor="t">
                      <a:noAutofit/>
                    </a:bodyPr>
                    <a:p>
                      <a:pPr defTabSz="457200">
                        <a:lnSpc>
                          <a:spcPct val="100000"/>
                        </a:lnSpc>
                      </a:pPr>
                      <a:r>
                        <a:rPr b="1" lang="en-US" sz="1500" spc="-1" strike="noStrike">
                          <a:solidFill>
                            <a:schemeClr val="dk1"/>
                          </a:solidFill>
                          <a:latin typeface="Calibri"/>
                        </a:rPr>
                        <a:t>Paramètre </a:t>
                      </a:r>
                      <a:r>
                        <a:rPr b="1" lang="en-US" sz="1500" spc="-1" strike="noStrike">
                          <a:solidFill>
                            <a:schemeClr val="dk1"/>
                          </a:solidFill>
                          <a:latin typeface="Courier New"/>
                        </a:rPr>
                        <a:t>$P{}</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bcbcbc"/>
                      </a:solidFill>
                      <a:prstDash val="solid"/>
                    </a:lnT>
                    <a:lnB w="12240">
                      <a:solidFill>
                        <a:srgbClr val="000000"/>
                      </a:solidFill>
                      <a:prstDash val="solid"/>
                    </a:lnB>
                    <a:noFill/>
                  </a:tcPr>
                </a:tc>
                <a:tc>
                  <a:txBody>
                    <a:bodyPr lIns="50760" rIns="50760" anchor="t">
                      <a:noAutofit/>
                    </a:bodyPr>
                    <a:p>
                      <a:pPr defTabSz="457200">
                        <a:lnSpc>
                          <a:spcPct val="100000"/>
                        </a:lnSpc>
                      </a:pPr>
                      <a:r>
                        <a:rPr b="1" lang="en-US" sz="1500" spc="-1" strike="noStrike">
                          <a:solidFill>
                            <a:schemeClr val="dk1"/>
                          </a:solidFill>
                          <a:latin typeface="Calibri"/>
                        </a:rPr>
                        <a:t>Champ </a:t>
                      </a:r>
                      <a:r>
                        <a:rPr b="1" lang="en-US" sz="1500" spc="-1" strike="noStrike">
                          <a:solidFill>
                            <a:schemeClr val="dk1"/>
                          </a:solidFill>
                          <a:latin typeface="Courier New"/>
                        </a:rPr>
                        <a:t>$F{}</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bcbcbc"/>
                      </a:solidFill>
                      <a:prstDash val="solid"/>
                    </a:lnT>
                    <a:lnB w="12240">
                      <a:solidFill>
                        <a:srgbClr val="000000"/>
                      </a:solidFill>
                      <a:prstDash val="solid"/>
                    </a:lnB>
                    <a:noFill/>
                  </a:tcPr>
                </a:tc>
                <a:tc>
                  <a:txBody>
                    <a:bodyPr lIns="50760" rIns="50760" anchor="t">
                      <a:noAutofit/>
                    </a:bodyPr>
                    <a:p>
                      <a:pPr defTabSz="457200">
                        <a:lnSpc>
                          <a:spcPct val="100000"/>
                        </a:lnSpc>
                      </a:pPr>
                      <a:r>
                        <a:rPr b="1" lang="en-US" sz="1500" spc="-1" strike="noStrike">
                          <a:solidFill>
                            <a:schemeClr val="dk1"/>
                          </a:solidFill>
                          <a:latin typeface="Calibri"/>
                        </a:rPr>
                        <a:t>Variable </a:t>
                      </a:r>
                      <a:r>
                        <a:rPr b="1" lang="en-US" sz="1500" spc="-1" strike="noStrike">
                          <a:solidFill>
                            <a:schemeClr val="dk1"/>
                          </a:solidFill>
                          <a:latin typeface="Courier New"/>
                        </a:rPr>
                        <a:t>$V{}</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bcbcbc"/>
                      </a:solidFill>
                      <a:prstDash val="solid"/>
                    </a:lnT>
                    <a:lnB w="12240">
                      <a:solidFill>
                        <a:srgbClr val="000000"/>
                      </a:solidFill>
                      <a:prstDash val="solid"/>
                    </a:lnB>
                    <a:noFill/>
                  </a:tcPr>
                </a:tc>
              </a:tr>
              <a:tr h="330120">
                <a:tc>
                  <a:txBody>
                    <a:bodyPr lIns="50760" rIns="50760" anchor="t">
                      <a:noAutofit/>
                    </a:bodyPr>
                    <a:p>
                      <a:pPr defTabSz="457200">
                        <a:lnSpc>
                          <a:spcPct val="100000"/>
                        </a:lnSpc>
                      </a:pPr>
                      <a:r>
                        <a:rPr b="0" lang="en-US" sz="1500" spc="-1" strike="noStrike">
                          <a:solidFill>
                            <a:schemeClr val="dk1"/>
                          </a:solidFill>
                          <a:latin typeface="Calibri"/>
                        </a:rPr>
                        <a:t>Origine</a:t>
                      </a:r>
                      <a:endParaRPr b="0" lang="fr-FR" sz="15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Fourni avant la génération (utilisateur, application)</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Une colonne de la source de données</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Calculé par le rapport pendant la génération</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330120">
                <a:tc>
                  <a:txBody>
                    <a:bodyPr lIns="50760" rIns="50760" anchor="t">
                      <a:noAutofit/>
                    </a:bodyPr>
                    <a:p>
                      <a:pPr defTabSz="457200">
                        <a:lnSpc>
                          <a:spcPct val="100000"/>
                        </a:lnSpc>
                      </a:pPr>
                      <a:r>
                        <a:rPr b="0" lang="en-US" sz="1500" spc="-1" strike="noStrike">
                          <a:solidFill>
                            <a:schemeClr val="dk1"/>
                          </a:solidFill>
                          <a:latin typeface="Calibri"/>
                        </a:rPr>
                        <a:t>Change</a:t>
                      </a:r>
                      <a:endParaRPr b="0" lang="fr-FR" sz="15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Jamais pendant la génération</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À chaque enregistrement</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À chaque enregistrement, remise à zéro possible (page, groupe)</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330120">
                <a:tc>
                  <a:txBody>
                    <a:bodyPr lIns="50760" rIns="50760" anchor="t">
                      <a:noAutofit/>
                    </a:bodyPr>
                    <a:p>
                      <a:pPr defTabSz="457200">
                        <a:lnSpc>
                          <a:spcPct val="100000"/>
                        </a:lnSpc>
                      </a:pPr>
                      <a:r>
                        <a:rPr b="0" lang="en-US" sz="1500" spc="-1" strike="noStrike">
                          <a:solidFill>
                            <a:schemeClr val="dk1"/>
                          </a:solidFill>
                          <a:latin typeface="Calibri"/>
                        </a:rPr>
                        <a:t>Exemples</a:t>
                      </a:r>
                      <a:endParaRPr b="0" lang="fr-FR" sz="15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Date de début, code client, titre, chemin des images</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nom, montant, date_cmd</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Total, compteur, numéro de page</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330120">
                <a:tc>
                  <a:txBody>
                    <a:bodyPr lIns="50760" rIns="50760" anchor="t">
                      <a:noAutofit/>
                    </a:bodyPr>
                    <a:p>
                      <a:pPr defTabSz="457200">
                        <a:lnSpc>
                          <a:spcPct val="100000"/>
                        </a:lnSpc>
                      </a:pPr>
                      <a:r>
                        <a:rPr b="0" lang="en-US" sz="1500" spc="-1" strike="noStrike">
                          <a:solidFill>
                            <a:schemeClr val="dk1"/>
                          </a:solidFill>
                          <a:latin typeface="Calibri"/>
                        </a:rPr>
                        <a:t>Où le définir</a:t>
                      </a:r>
                      <a:endParaRPr b="0" lang="fr-FR" sz="15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Outline → Parameters</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Dataset and Query → Read Fields</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Outline → Variables</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330120">
                <a:tc>
                  <a:txBody>
                    <a:bodyPr lIns="50760" rIns="50760" anchor="t">
                      <a:noAutofit/>
                    </a:bodyPr>
                    <a:p>
                      <a:pPr defTabSz="457200">
                        <a:lnSpc>
                          <a:spcPct val="100000"/>
                        </a:lnSpc>
                      </a:pPr>
                      <a:r>
                        <a:rPr b="0" lang="en-US" sz="1500" spc="-1" strike="noStrike">
                          <a:solidFill>
                            <a:schemeClr val="dk1"/>
                          </a:solidFill>
                          <a:latin typeface="Calibri"/>
                        </a:rPr>
                        <a:t>Usage type</a:t>
                      </a:r>
                      <a:endParaRPr b="0" lang="fr-FR" sz="15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bcbcbc"/>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Filtrer la requête SQL, personnaliser le rapport</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bcbcbc"/>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Afficher la donnée</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bcbcbc"/>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Sous-totaux, comptages, numérotation</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bcbcbc"/>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a:lnSpc>
                <a:spcPct val="100000"/>
              </a:lnSpc>
              <a:buNone/>
            </a:pPr>
            <a:r>
              <a:rPr b="0" lang="fr-FR" sz="3600" spc="-1" strike="noStrike">
                <a:solidFill>
                  <a:srgbClr val="000000"/>
                </a:solidFill>
                <a:latin typeface="Calibri"/>
              </a:rPr>
              <a:t>Atelier 4 : Paramètres</a:t>
            </a:r>
            <a:endParaRPr b="0" lang="fr-FR" sz="3600" spc="-1" strike="noStrike">
              <a:solidFill>
                <a:srgbClr val="000000"/>
              </a:solidFill>
              <a:latin typeface="Arial"/>
            </a:endParaRPr>
          </a:p>
        </p:txBody>
      </p:sp>
      <p:sp>
        <p:nvSpPr>
          <p:cNvPr id="201" name="PlaceHolder 2"/>
          <p:cNvSpPr>
            <a:spLocks noGrp="1"/>
          </p:cNvSpPr>
          <p:nvPr>
            <p:ph/>
          </p:nvPr>
        </p:nvSpPr>
        <p:spPr>
          <a:xfrm>
            <a:off x="762120" y="2158920"/>
            <a:ext cx="9397800" cy="482580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fr-FR" sz="2000" spc="-1" strike="noStrike">
                <a:solidFill>
                  <a:srgbClr val="000000"/>
                </a:solidFill>
                <a:latin typeface="Calibri"/>
              </a:rPr>
              <a:t>Fiche </a:t>
            </a:r>
            <a:r>
              <a:rPr b="0" lang="fr-FR" sz="2000" spc="-1" strike="noStrike">
                <a:solidFill>
                  <a:srgbClr val="000000"/>
                </a:solidFill>
                <a:latin typeface="Courier New"/>
              </a:rPr>
              <a:t>TPs/4_Parametre</a:t>
            </a:r>
            <a:r>
              <a:rPr b="0" lang="fr-FR" sz="2000" spc="-1" strike="noStrike">
                <a:solidFill>
                  <a:srgbClr val="000000"/>
                </a:solidFill>
                <a:latin typeface="Calibri"/>
              </a:rPr>
              <a:t> (partie 4.1), résultat attendu fourni en PDF</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2000" spc="-1" strike="noStrike">
                <a:solidFill>
                  <a:srgbClr val="000000"/>
                </a:solidFill>
                <a:latin typeface="Calibri"/>
              </a:rPr>
              <a:t>Liste des commandes envoyées, triées par ville et employé</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2000" spc="-1" strike="noStrike">
                <a:solidFill>
                  <a:srgbClr val="000000"/>
                </a:solidFill>
                <a:latin typeface="Calibri"/>
              </a:rPr>
              <a:t>Un paramètre limite l'affichage à un pays : déclaration, valeur par défaut, utilisation dans la clause WHERE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2000" spc="-1" strike="noStrike">
                <a:solidFill>
                  <a:srgbClr val="000000"/>
                </a:solidFill>
                <a:latin typeface="Calibri"/>
              </a:rPr>
              <a:t>Afficher le pays choisi dans le titre du rapport</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2000" spc="-1" strike="noStrike">
                <a:solidFill>
                  <a:srgbClr val="000000"/>
                </a:solidFill>
                <a:latin typeface="Calibri"/>
              </a:rPr>
              <a:t>Pied de page : date, numéro de page et total de pages</a:t>
            </a:r>
            <a:endParaRPr b="0" lang="fr-FR" sz="2000" spc="-1" strike="noStrike">
              <a:solidFill>
                <a:srgbClr val="000000"/>
              </a:solidFill>
              <a:latin typeface="Arial"/>
            </a:endParaRPr>
          </a:p>
          <a:p>
            <a:pPr indent="0" defTabSz="457200">
              <a:lnSpc>
                <a:spcPct val="100000"/>
              </a:lnSpc>
              <a:spcBef>
                <a:spcPts val="400"/>
              </a:spcBef>
              <a:buNone/>
              <a:tabLst>
                <a:tab algn="l" pos="0"/>
              </a:tabLst>
            </a:pPr>
            <a:r>
              <a:rPr b="0" lang="fr-FR" sz="2000" spc="-1" strike="noStrike">
                <a:solidFill>
                  <a:srgbClr val="000000"/>
                </a:solidFill>
                <a:latin typeface="Calibri"/>
              </a:rPr>
              <a:t>Pour aller plus loin (fiche 4.1) : masquer les valeurs répétées, image d'avertissement conditionnelle</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Les éléments de base</a:t>
            </a:r>
            <a:endParaRPr b="0" lang="fr-FR" sz="3600" spc="-1" strike="noStrike">
              <a:solidFill>
                <a:srgbClr val="000000"/>
              </a:solidFill>
              <a:latin typeface="Arial"/>
            </a:endParaRPr>
          </a:p>
        </p:txBody>
      </p:sp>
      <p:sp>
        <p:nvSpPr>
          <p:cNvPr id="203" name="PlaceHolder 2"/>
          <p:cNvSpPr>
            <a:spLocks noGrp="1"/>
          </p:cNvSpPr>
          <p:nvPr>
            <p:ph/>
          </p:nvPr>
        </p:nvSpPr>
        <p:spPr>
          <a:xfrm>
            <a:off x="762120" y="2540160"/>
            <a:ext cx="9397080" cy="4062960"/>
          </a:xfrm>
          <a:prstGeom prst="rect">
            <a:avLst/>
          </a:prstGeom>
          <a:noFill/>
          <a:ln w="0">
            <a:noFill/>
          </a:ln>
        </p:spPr>
        <p:txBody>
          <a:bodyPr lIns="91440" rIns="91440" tIns="45720" bIns="45720" anchor="t">
            <a:normAutofit/>
          </a:bodyPr>
          <a:p>
            <a:pPr indent="0" algn="ctr" defTabSz="457200">
              <a:lnSpc>
                <a:spcPct val="100000"/>
              </a:lnSpc>
              <a:spcBef>
                <a:spcPts val="519"/>
              </a:spcBef>
              <a:buNone/>
              <a:tabLst>
                <a:tab algn="l" pos="0"/>
              </a:tabLst>
            </a:pPr>
            <a:r>
              <a:rPr b="0" lang="en-US" sz="2600" spc="-1" strike="noStrike">
                <a:solidFill>
                  <a:schemeClr val="dk1"/>
                </a:solidFill>
                <a:latin typeface="Calibri"/>
              </a:rPr>
              <a:t>Texte statique, texte dynamique</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Image, ligne, rectangle, cadre</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Positionnement et redimensionnement</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Propriétés essentielles</a:t>
            </a:r>
            <a:endParaRPr b="0" lang="fr-FR"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Introduction</a:t>
            </a:r>
            <a:endParaRPr b="0" lang="fr-FR" sz="3600" spc="-1" strike="noStrike">
              <a:solidFill>
                <a:srgbClr val="000000"/>
              </a:solidFill>
              <a:latin typeface="Arial"/>
            </a:endParaRPr>
          </a:p>
        </p:txBody>
      </p:sp>
      <p:sp>
        <p:nvSpPr>
          <p:cNvPr id="205"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Les éléments d'un rapport sont des objets d’affichage </a:t>
            </a:r>
            <a:r>
              <a:rPr b="0" lang="en-US" sz="2400" spc="-1" strike="noStrike">
                <a:solidFill>
                  <a:schemeClr val="dk1"/>
                </a:solidFill>
                <a:latin typeface="Calibri"/>
              </a:rPr>
              <a:t>(Texte, Image, Forme, Graphique, …) qui peuvent être </a:t>
            </a:r>
            <a:r>
              <a:rPr b="0" lang="en-US" sz="2400" spc="-1" strike="noStrike">
                <a:solidFill>
                  <a:schemeClr val="dk1"/>
                </a:solidFill>
                <a:latin typeface="Calibri"/>
              </a:rPr>
              <a:t>dimensionnés, alignés, formatés etc. </a:t>
            </a:r>
            <a:endParaRPr b="0" lang="fr-FR" sz="2400" spc="-1" strike="noStrike">
              <a:solidFill>
                <a:srgbClr val="000000"/>
              </a:solidFill>
              <a:latin typeface="Arial"/>
            </a:endParaRPr>
          </a:p>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Tout contenu est créé via ces éléments.</a:t>
            </a:r>
            <a:endParaRPr b="0" lang="fr-FR" sz="2400" spc="-1" strike="noStrike">
              <a:solidFill>
                <a:srgbClr val="000000"/>
              </a:solidFill>
              <a:latin typeface="Arial"/>
            </a:endParaRPr>
          </a:p>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La palette de </a:t>
            </a:r>
            <a:r>
              <a:rPr b="0" i="1" lang="en-US" sz="2400" spc="-1" strike="noStrike">
                <a:solidFill>
                  <a:schemeClr val="dk1"/>
                </a:solidFill>
                <a:latin typeface="Calibri"/>
              </a:rPr>
              <a:t>jasperStudio</a:t>
            </a:r>
            <a:r>
              <a:rPr b="0" lang="en-US" sz="2400" spc="-1" strike="noStrike">
                <a:solidFill>
                  <a:schemeClr val="dk1"/>
                </a:solidFill>
                <a:latin typeface="Calibri"/>
              </a:rPr>
              <a:t> proposent un certain nombres </a:t>
            </a:r>
            <a:r>
              <a:rPr b="0" lang="en-US" sz="2400" spc="-1" strike="noStrike">
                <a:solidFill>
                  <a:schemeClr val="dk1"/>
                </a:solidFill>
                <a:latin typeface="Calibri"/>
              </a:rPr>
              <a:t>d'éléments :</a:t>
            </a:r>
            <a:endParaRPr b="0" lang="fr-FR" sz="2400" spc="-1" strike="noStrike">
              <a:solidFill>
                <a:srgbClr val="000000"/>
              </a:solidFill>
              <a:latin typeface="Arial"/>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Ligne, Rectangle, Ellipse, Texte statique, Champ texte, Image, </a:t>
            </a:r>
            <a:r>
              <a:rPr b="0" lang="en-US" sz="2000" spc="-1" strike="noStrike">
                <a:solidFill>
                  <a:schemeClr val="dk1"/>
                </a:solidFill>
                <a:latin typeface="Calibri"/>
              </a:rPr>
              <a:t>Cadre, Sous-rapport, Tableau, Liste, Tableau croisé, Graphique, </a:t>
            </a:r>
            <a:r>
              <a:rPr b="0" lang="en-US" sz="2000" spc="-1" strike="noStrike">
                <a:solidFill>
                  <a:schemeClr val="dk1"/>
                </a:solidFill>
                <a:latin typeface="Calibri"/>
              </a:rPr>
              <a:t>Saut de page ou colonne </a:t>
            </a:r>
            <a:endParaRPr b="0" lang="fr-FR" sz="2000" spc="-1" strike="noStrike">
              <a:solidFill>
                <a:srgbClr val="000000"/>
              </a:solidFill>
              <a:latin typeface="Arial"/>
            </a:endParaRPr>
          </a:p>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Finalement, il est également possible d'étendre la </a:t>
            </a:r>
            <a:r>
              <a:rPr b="0" lang="en-US" sz="2400" spc="-1" strike="noStrike">
                <a:solidFill>
                  <a:schemeClr val="dk1"/>
                </a:solidFill>
                <a:latin typeface="Calibri"/>
              </a:rPr>
              <a:t>bibliothèque d'éléments avec du code java</a:t>
            </a:r>
            <a:endParaRPr b="0" lang="fr-F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Hiérarchie des éléments</a:t>
            </a:r>
            <a:endParaRPr b="0" lang="fr-FR" sz="3600" spc="-1" strike="noStrike">
              <a:solidFill>
                <a:srgbClr val="000000"/>
              </a:solidFill>
              <a:latin typeface="Arial"/>
            </a:endParaRPr>
          </a:p>
        </p:txBody>
      </p:sp>
      <p:sp>
        <p:nvSpPr>
          <p:cNvPr id="207" name="PlaceHolder 2"/>
          <p:cNvSpPr>
            <a:spLocks noGrp="1"/>
          </p:cNvSpPr>
          <p:nvPr>
            <p:ph/>
          </p:nvPr>
        </p:nvSpPr>
        <p:spPr>
          <a:xfrm>
            <a:off x="997200" y="2229120"/>
            <a:ext cx="9351000" cy="1110600"/>
          </a:xfrm>
          <a:prstGeom prst="rect">
            <a:avLst/>
          </a:prstGeom>
          <a:noFill/>
          <a:ln w="0">
            <a:noFill/>
          </a:ln>
        </p:spPr>
        <p:txBody>
          <a:bodyPr lIns="91440" rIns="91440" tIns="45720" bIns="45720" anchor="t">
            <a:normAutofit fontScale="93333"/>
          </a:bodyPr>
          <a:p>
            <a:pPr indent="0" defTabSz="457200">
              <a:lnSpc>
                <a:spcPct val="100000"/>
              </a:lnSpc>
              <a:spcBef>
                <a:spcPts val="479"/>
              </a:spcBef>
              <a:buNone/>
              <a:tabLst>
                <a:tab algn="l" pos="0"/>
              </a:tabLst>
            </a:pPr>
            <a:r>
              <a:rPr b="0" lang="en-US" sz="2400" spc="-1" strike="noStrike">
                <a:solidFill>
                  <a:schemeClr val="dk1"/>
                </a:solidFill>
                <a:latin typeface="Calibri"/>
              </a:rPr>
              <a:t>Les éléments sont organisés hiérarchiquement ; ils ont tous des propriétés communes et chaque niveau de la hiérarchie apporte ses spécificités</a:t>
            </a:r>
            <a:endParaRPr b="0" lang="fr-FR" sz="2400" spc="-1" strike="noStrike">
              <a:solidFill>
                <a:srgbClr val="000000"/>
              </a:solidFill>
              <a:latin typeface="Arial"/>
            </a:endParaRPr>
          </a:p>
        </p:txBody>
      </p:sp>
      <p:pic>
        <p:nvPicPr>
          <p:cNvPr id="208" name="Picture 3" descr="image.png"/>
          <p:cNvPicPr/>
          <p:nvPr/>
        </p:nvPicPr>
        <p:blipFill>
          <a:blip r:embed="rId1"/>
          <a:stretch/>
        </p:blipFill>
        <p:spPr>
          <a:xfrm>
            <a:off x="1376280" y="3366360"/>
            <a:ext cx="8030880" cy="4192560"/>
          </a:xfrm>
          <a:prstGeom prst="rect">
            <a:avLst/>
          </a:prstGeom>
          <a:ln w="0">
            <a:noFill/>
          </a:ln>
        </p:spPr>
      </p:pic>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Positionnement et taille</a:t>
            </a:r>
            <a:endParaRPr b="0" lang="fr-FR" sz="3600" spc="-1" strike="noStrike">
              <a:solidFill>
                <a:srgbClr val="000000"/>
              </a:solidFill>
              <a:latin typeface="Arial"/>
            </a:endParaRPr>
          </a:p>
        </p:txBody>
      </p:sp>
      <p:sp>
        <p:nvSpPr>
          <p:cNvPr id="210"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Les éléments sont positionnés via leurs attributs </a:t>
            </a:r>
            <a:r>
              <a:rPr b="1" i="1" lang="en-US" sz="3200" spc="-1" strike="noStrike">
                <a:solidFill>
                  <a:schemeClr val="dk1"/>
                </a:solidFill>
                <a:latin typeface="Calibri"/>
              </a:rPr>
              <a:t>top</a:t>
            </a:r>
            <a:r>
              <a:rPr b="0" lang="en-US" sz="3200" spc="-1" strike="noStrike">
                <a:solidFill>
                  <a:schemeClr val="dk1"/>
                </a:solidFill>
                <a:latin typeface="Calibri"/>
              </a:rPr>
              <a:t> et </a:t>
            </a:r>
            <a:r>
              <a:rPr b="1" i="1" lang="en-US" sz="3200" spc="-1" strike="noStrike">
                <a:solidFill>
                  <a:schemeClr val="dk1"/>
                </a:solidFill>
                <a:latin typeface="Calibri"/>
              </a:rPr>
              <a:t>left</a:t>
            </a:r>
            <a:endParaRPr b="0" lang="fr-FR" sz="32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Ces valeurs sont relatives au container parent (bande ou frame)</a:t>
            </a:r>
            <a:endParaRPr b="0" lang="fr-FR" sz="2800" spc="-1" strike="noStrike">
              <a:solidFill>
                <a:srgbClr val="000000"/>
              </a:solidFill>
              <a:latin typeface="Arial"/>
            </a:endParaRPr>
          </a:p>
          <a:p>
            <a:pPr indent="0" defTabSz="457200">
              <a:lnSpc>
                <a:spcPct val="100000"/>
              </a:lnSpc>
              <a:spcBef>
                <a:spcPts val="641"/>
              </a:spcBef>
              <a:buNone/>
              <a:tabLst>
                <a:tab algn="l" pos="0"/>
              </a:tabLst>
            </a:pPr>
            <a:r>
              <a:rPr b="0" lang="en-US" sz="3200" spc="-1" strike="noStrike">
                <a:solidFill>
                  <a:schemeClr val="dk1"/>
                </a:solidFill>
                <a:latin typeface="Calibri"/>
              </a:rPr>
              <a:t>=&gt; Il est impossible de positionner un </a:t>
            </a:r>
            <a:endParaRPr b="0" lang="fr-FR" sz="3200" spc="-1" strike="noStrike">
              <a:solidFill>
                <a:srgbClr val="000000"/>
              </a:solidFill>
              <a:latin typeface="Arial"/>
            </a:endParaRPr>
          </a:p>
          <a:p>
            <a:pPr indent="0" defTabSz="457200">
              <a:lnSpc>
                <a:spcPct val="100000"/>
              </a:lnSpc>
              <a:spcBef>
                <a:spcPts val="641"/>
              </a:spcBef>
              <a:buNone/>
              <a:tabLst>
                <a:tab algn="l" pos="0"/>
              </a:tabLst>
            </a:pPr>
            <a:r>
              <a:rPr b="0" lang="en-US" sz="3200" spc="-1" strike="noStrike">
                <a:solidFill>
                  <a:schemeClr val="dk1"/>
                </a:solidFill>
                <a:latin typeface="Calibri"/>
              </a:rPr>
              <a:t>élément à cheval sur deux bandes</a:t>
            </a:r>
            <a:endParaRPr b="0" lang="fr-FR"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tabLst>
                <a:tab algn="l" pos="0"/>
              </a:tabLst>
            </a:pPr>
            <a:r>
              <a:rPr b="0" lang="en-US" sz="3200" spc="-1" strike="noStrike">
                <a:solidFill>
                  <a:schemeClr val="dk1"/>
                </a:solidFill>
                <a:latin typeface="Calibri"/>
              </a:rPr>
              <a:t>La taille de l’élément est spécifié par les attributs </a:t>
            </a:r>
            <a:r>
              <a:rPr b="1" i="1" lang="en-US" sz="3200" spc="-1" strike="noStrike">
                <a:solidFill>
                  <a:schemeClr val="dk1"/>
                </a:solidFill>
                <a:latin typeface="Calibri"/>
              </a:rPr>
              <a:t>width</a:t>
            </a:r>
            <a:r>
              <a:rPr b="0" lang="en-US" sz="3200" spc="-1" strike="noStrike">
                <a:solidFill>
                  <a:schemeClr val="dk1"/>
                </a:solidFill>
                <a:latin typeface="Calibri"/>
              </a:rPr>
              <a:t> et </a:t>
            </a:r>
            <a:r>
              <a:rPr b="1" i="1" lang="en-US" sz="3200" spc="-1" strike="noStrike">
                <a:solidFill>
                  <a:schemeClr val="dk1"/>
                </a:solidFill>
                <a:latin typeface="Calibri"/>
              </a:rPr>
              <a:t>height</a:t>
            </a:r>
            <a:endParaRPr b="0" lang="fr-FR"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Outils de formattage</a:t>
            </a:r>
            <a:endParaRPr b="0" lang="fr-FR" sz="3600" spc="-1" strike="noStrike">
              <a:solidFill>
                <a:srgbClr val="000000"/>
              </a:solidFill>
              <a:latin typeface="Arial"/>
            </a:endParaRPr>
          </a:p>
        </p:txBody>
      </p:sp>
      <p:pic>
        <p:nvPicPr>
          <p:cNvPr id="212" name="Picture 2" descr="image.png"/>
          <p:cNvPicPr/>
          <p:nvPr/>
        </p:nvPicPr>
        <p:blipFill>
          <a:blip r:embed="rId1"/>
          <a:stretch/>
        </p:blipFill>
        <p:spPr>
          <a:xfrm>
            <a:off x="2841480" y="2330280"/>
            <a:ext cx="4575960" cy="4905360"/>
          </a:xfrm>
          <a:prstGeom prst="rect">
            <a:avLst/>
          </a:prstGeom>
          <a:ln w="0">
            <a:noFill/>
          </a:ln>
        </p:spPr>
      </p:pic>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Outils de formattage (2)</a:t>
            </a:r>
            <a:endParaRPr b="0" lang="fr-FR" sz="3600" spc="-1" strike="noStrike">
              <a:solidFill>
                <a:srgbClr val="000000"/>
              </a:solidFill>
              <a:latin typeface="Arial"/>
            </a:endParaRPr>
          </a:p>
        </p:txBody>
      </p:sp>
      <p:graphicFrame>
        <p:nvGraphicFramePr>
          <p:cNvPr id="214" name="Table 2"/>
          <p:cNvGraphicFramePr/>
          <p:nvPr/>
        </p:nvGraphicFramePr>
        <p:xfrm>
          <a:off x="1091880" y="2266560"/>
          <a:ext cx="8746200" cy="4949280"/>
        </p:xfrm>
        <a:graphic>
          <a:graphicData uri="http://schemas.openxmlformats.org/drawingml/2006/table">
            <a:tbl>
              <a:tblPr/>
              <a:tblGrid>
                <a:gridCol w="3119040"/>
                <a:gridCol w="4264560"/>
                <a:gridCol w="1362960"/>
              </a:tblGrid>
              <a:tr h="456480">
                <a:tc>
                  <a:txBody>
                    <a:bodyPr lIns="50760" rIns="50760" anchor="t">
                      <a:noAutofit/>
                    </a:bodyPr>
                    <a:p>
                      <a:pPr defTabSz="457200">
                        <a:lnSpc>
                          <a:spcPct val="100000"/>
                        </a:lnSpc>
                      </a:pPr>
                      <a:r>
                        <a:rPr b="1" lang="en-US" sz="1800" spc="-1" strike="noStrike">
                          <a:solidFill>
                            <a:schemeClr val="dk1"/>
                          </a:solidFill>
                          <a:latin typeface="Calibri"/>
                        </a:rPr>
                        <a:t>Outil</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bcbcbc"/>
                      </a:solidFill>
                      <a:prstDash val="solid"/>
                    </a:lnT>
                    <a:lnB w="12240">
                      <a:solidFill>
                        <a:srgbClr val="000000"/>
                      </a:solidFill>
                      <a:prstDash val="solid"/>
                    </a:lnB>
                    <a:noFill/>
                  </a:tcPr>
                </a:tc>
                <a:tc>
                  <a:txBody>
                    <a:bodyPr lIns="50760" rIns="50760" anchor="t">
                      <a:noAutofit/>
                    </a:bodyPr>
                    <a:p>
                      <a:pPr defTabSz="457200">
                        <a:lnSpc>
                          <a:spcPct val="100000"/>
                        </a:lnSpc>
                      </a:pPr>
                      <a:r>
                        <a:rPr b="1" lang="en-US" sz="1800" spc="-1" strike="noStrike">
                          <a:solidFill>
                            <a:schemeClr val="dk1"/>
                          </a:solidFill>
                          <a:latin typeface="Calibri"/>
                        </a:rPr>
                        <a:t>Description</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bcbcbc"/>
                      </a:solidFill>
                      <a:prstDash val="solid"/>
                    </a:lnT>
                    <a:lnB w="12240">
                      <a:solidFill>
                        <a:srgbClr val="000000"/>
                      </a:solidFill>
                      <a:prstDash val="solid"/>
                    </a:lnB>
                    <a:noFill/>
                  </a:tcPr>
                </a:tc>
                <a:tc>
                  <a:txBody>
                    <a:bodyPr lIns="50760" rIns="50760" anchor="t">
                      <a:noAutofit/>
                    </a:bodyPr>
                    <a:p>
                      <a:pPr defTabSz="457200">
                        <a:lnSpc>
                          <a:spcPct val="100000"/>
                        </a:lnSpc>
                      </a:pPr>
                      <a:r>
                        <a:rPr b="1" lang="en-US" sz="1800" spc="-1" strike="noStrike">
                          <a:solidFill>
                            <a:schemeClr val="dk1"/>
                          </a:solidFill>
                          <a:latin typeface="Calibri"/>
                        </a:rPr>
                        <a:t>Multi</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bcbcbc"/>
                      </a:solidFill>
                      <a:prstDash val="solid"/>
                    </a:lnT>
                    <a:lnB w="12240">
                      <a:solidFill>
                        <a:srgbClr val="000000"/>
                      </a:solidFill>
                      <a:prstDash val="solid"/>
                    </a:lnB>
                    <a:noFill/>
                  </a:tcPr>
                </a:tc>
              </a:tr>
              <a:tr h="644400">
                <a:tc>
                  <a:txBody>
                    <a:bodyPr lIns="50760" rIns="50760" anchor="t">
                      <a:noAutofit/>
                    </a:bodyPr>
                    <a:p>
                      <a:pPr defTabSz="457200">
                        <a:lnSpc>
                          <a:spcPct val="100000"/>
                        </a:lnSpc>
                      </a:pPr>
                      <a:r>
                        <a:rPr b="0" lang="en-US" sz="1800" spc="-1" strike="noStrike">
                          <a:solidFill>
                            <a:schemeClr val="dk1"/>
                          </a:solidFill>
                          <a:latin typeface="Calibri"/>
                        </a:rPr>
                        <a:t>Align (left, right, top, bottom)</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Aligne en fonction des côtés du 1er élément</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X</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644400">
                <a:tc>
                  <a:txBody>
                    <a:bodyPr lIns="50760" rIns="50760" anchor="t">
                      <a:noAutofit/>
                    </a:bodyPr>
                    <a:p>
                      <a:pPr defTabSz="457200">
                        <a:lnSpc>
                          <a:spcPct val="100000"/>
                        </a:lnSpc>
                      </a:pPr>
                      <a:r>
                        <a:rPr b="0" lang="en-US" sz="1800" spc="-1" strike="noStrike">
                          <a:solidFill>
                            <a:schemeClr val="dk1"/>
                          </a:solidFill>
                          <a:latin typeface="Calibri"/>
                        </a:rPr>
                        <a:t>Align Axis (horizontal, vertical)</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Aligne en fonction des axes du 1er élément</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X</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624600">
                <a:tc>
                  <a:txBody>
                    <a:bodyPr lIns="50760" rIns="50760" anchor="t">
                      <a:noAutofit/>
                    </a:bodyPr>
                    <a:p>
                      <a:pPr defTabSz="457200">
                        <a:lnSpc>
                          <a:spcPct val="100000"/>
                        </a:lnSpc>
                      </a:pPr>
                      <a:r>
                        <a:rPr b="0" lang="en-US" sz="1800" spc="-1" strike="noStrike">
                          <a:solidFill>
                            <a:schemeClr val="dk1"/>
                          </a:solidFill>
                          <a:latin typeface="Calibri"/>
                        </a:rPr>
                        <a:t>Align band (top, bottom)</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Aligne en fonction de la bande parente</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644400">
                <a:tc>
                  <a:txBody>
                    <a:bodyPr lIns="50760" rIns="50760" anchor="t">
                      <a:noAutofit/>
                    </a:bodyPr>
                    <a:p>
                      <a:pPr defTabSz="457200">
                        <a:lnSpc>
                          <a:spcPct val="100000"/>
                        </a:lnSpc>
                      </a:pPr>
                      <a:r>
                        <a:rPr b="0" lang="en-US" sz="1800" spc="-1" strike="noStrike">
                          <a:solidFill>
                            <a:schemeClr val="dk1"/>
                          </a:solidFill>
                          <a:latin typeface="Calibri"/>
                        </a:rPr>
                        <a:t>Same (width, height, size)</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Fixe les dimensions par rapport au 1er élément</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x</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644760">
                <a:tc>
                  <a:txBody>
                    <a:bodyPr lIns="50760" rIns="50760" anchor="t">
                      <a:noAutofit/>
                    </a:bodyPr>
                    <a:p>
                      <a:pPr defTabSz="457200">
                        <a:lnSpc>
                          <a:spcPct val="100000"/>
                        </a:lnSpc>
                      </a:pPr>
                      <a:r>
                        <a:rPr b="0" lang="en-US" sz="1800" spc="-1" strike="noStrike">
                          <a:solidFill>
                            <a:schemeClr val="dk1"/>
                          </a:solidFill>
                          <a:latin typeface="Calibri"/>
                        </a:rPr>
                        <a:t>Same max (width,height)</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Fixe les dimensions par rapport à l'élément le plus grand</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x</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644400">
                <a:tc>
                  <a:txBody>
                    <a:bodyPr lIns="50760" rIns="50760" anchor="t">
                      <a:noAutofit/>
                    </a:bodyPr>
                    <a:p>
                      <a:pPr defTabSz="457200">
                        <a:lnSpc>
                          <a:spcPct val="100000"/>
                        </a:lnSpc>
                      </a:pPr>
                      <a:r>
                        <a:rPr b="0" lang="en-US" sz="1800" spc="-1" strike="noStrike">
                          <a:solidFill>
                            <a:schemeClr val="dk1"/>
                          </a:solidFill>
                          <a:latin typeface="Calibri"/>
                        </a:rPr>
                        <a:t>Same min (width,height)</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Fixe les dimensions par rapport à l'élément le plus petit</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x</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645840">
                <a:tc>
                  <a:txBody>
                    <a:bodyPr lIns="50760" rIns="50760" anchor="t">
                      <a:noAutofit/>
                    </a:bodyPr>
                    <a:p>
                      <a:pPr defTabSz="457200">
                        <a:lnSpc>
                          <a:spcPct val="100000"/>
                        </a:lnSpc>
                      </a:pPr>
                      <a:r>
                        <a:rPr b="0" lang="en-US" sz="1800" spc="-1" strike="noStrike">
                          <a:solidFill>
                            <a:schemeClr val="dk1"/>
                          </a:solidFill>
                          <a:latin typeface="Calibri"/>
                        </a:rPr>
                        <a:t>Center (horizontally, vertically)</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bcbcbc"/>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Centre par rapport au container</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bcbcbc"/>
                      </a:solidFill>
                      <a:prstDash val="solid"/>
                    </a:lnB>
                    <a:noFill/>
                  </a:tcPr>
                </a:tc>
                <a:tc>
                  <a:txBody>
                    <a:bodyPr lIns="50760" rIns="50760" anchor="t">
                      <a:noAutofit/>
                    </a:bodyPr>
                    <a:p>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bcbcbc"/>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Outils de formattage (3)</a:t>
            </a:r>
            <a:endParaRPr b="0" lang="fr-FR" sz="3600" spc="-1" strike="noStrike">
              <a:solidFill>
                <a:srgbClr val="000000"/>
              </a:solidFill>
              <a:latin typeface="Arial"/>
            </a:endParaRPr>
          </a:p>
        </p:txBody>
      </p:sp>
      <p:graphicFrame>
        <p:nvGraphicFramePr>
          <p:cNvPr id="216" name="Table 2"/>
          <p:cNvGraphicFramePr/>
          <p:nvPr/>
        </p:nvGraphicFramePr>
        <p:xfrm>
          <a:off x="1091880" y="2266560"/>
          <a:ext cx="8441280" cy="4030560"/>
        </p:xfrm>
        <a:graphic>
          <a:graphicData uri="http://schemas.openxmlformats.org/drawingml/2006/table">
            <a:tbl>
              <a:tblPr/>
              <a:tblGrid>
                <a:gridCol w="2813760"/>
                <a:gridCol w="4302720"/>
                <a:gridCol w="1325160"/>
              </a:tblGrid>
              <a:tr h="459000">
                <a:tc>
                  <a:txBody>
                    <a:bodyPr lIns="50760" rIns="50760" anchor="t">
                      <a:noAutofit/>
                    </a:bodyPr>
                    <a:p>
                      <a:pPr defTabSz="457200">
                        <a:lnSpc>
                          <a:spcPct val="100000"/>
                        </a:lnSpc>
                      </a:pPr>
                      <a:r>
                        <a:rPr b="1" lang="en-US" sz="1800" spc="-1" strike="noStrike">
                          <a:solidFill>
                            <a:schemeClr val="dk1"/>
                          </a:solidFill>
                          <a:latin typeface="Calibri"/>
                        </a:rPr>
                        <a:t>Outil</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bcbcbc"/>
                      </a:solidFill>
                      <a:prstDash val="solid"/>
                    </a:lnT>
                    <a:lnB w="12240">
                      <a:solidFill>
                        <a:srgbClr val="000000"/>
                      </a:solidFill>
                      <a:prstDash val="solid"/>
                    </a:lnB>
                    <a:noFill/>
                  </a:tcPr>
                </a:tc>
                <a:tc>
                  <a:txBody>
                    <a:bodyPr lIns="50760" rIns="50760" anchor="t">
                      <a:noAutofit/>
                    </a:bodyPr>
                    <a:p>
                      <a:pPr defTabSz="457200">
                        <a:lnSpc>
                          <a:spcPct val="100000"/>
                        </a:lnSpc>
                      </a:pPr>
                      <a:r>
                        <a:rPr b="1" lang="en-US" sz="1800" spc="-1" strike="noStrike">
                          <a:solidFill>
                            <a:schemeClr val="dk1"/>
                          </a:solidFill>
                          <a:latin typeface="Calibri"/>
                        </a:rPr>
                        <a:t>Description</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bcbcbc"/>
                      </a:solidFill>
                      <a:prstDash val="solid"/>
                    </a:lnT>
                    <a:lnB w="12240">
                      <a:solidFill>
                        <a:srgbClr val="000000"/>
                      </a:solidFill>
                      <a:prstDash val="solid"/>
                    </a:lnB>
                    <a:noFill/>
                  </a:tcPr>
                </a:tc>
                <a:tc>
                  <a:txBody>
                    <a:bodyPr lIns="50760" rIns="50760" anchor="t">
                      <a:noAutofit/>
                    </a:bodyPr>
                    <a:p>
                      <a:pPr defTabSz="457200">
                        <a:lnSpc>
                          <a:spcPct val="100000"/>
                        </a:lnSpc>
                      </a:pPr>
                      <a:r>
                        <a:rPr b="1" lang="en-US" sz="1800" spc="-1" strike="noStrike">
                          <a:solidFill>
                            <a:schemeClr val="dk1"/>
                          </a:solidFill>
                          <a:latin typeface="Calibri"/>
                        </a:rPr>
                        <a:t>Multi</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bcbcbc"/>
                      </a:solidFill>
                      <a:prstDash val="solid"/>
                    </a:lnT>
                    <a:lnB w="12240">
                      <a:solidFill>
                        <a:srgbClr val="000000"/>
                      </a:solidFill>
                      <a:prstDash val="solid"/>
                    </a:lnB>
                    <a:noFill/>
                  </a:tcPr>
                </a:tc>
              </a:tr>
              <a:tr h="647640">
                <a:tc>
                  <a:txBody>
                    <a:bodyPr lIns="50760" rIns="50760" anchor="t">
                      <a:noAutofit/>
                    </a:bodyPr>
                    <a:p>
                      <a:pPr defTabSz="457200">
                        <a:lnSpc>
                          <a:spcPct val="100000"/>
                        </a:lnSpc>
                      </a:pPr>
                      <a:r>
                        <a:rPr b="0" lang="en-US" sz="1800" spc="-1" strike="noStrike">
                          <a:solidFill>
                            <a:schemeClr val="dk1"/>
                          </a:solidFill>
                          <a:latin typeface="Calibri"/>
                        </a:rPr>
                        <a:t>Center in background</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Centre par rapport à la page et positionne dans le fond</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627840">
                <a:tc>
                  <a:txBody>
                    <a:bodyPr lIns="50760" rIns="50760" anchor="t">
                      <a:noAutofit/>
                    </a:bodyPr>
                    <a:p>
                      <a:pPr defTabSz="457200">
                        <a:lnSpc>
                          <a:spcPct val="100000"/>
                        </a:lnSpc>
                      </a:pPr>
                      <a:r>
                        <a:rPr b="0" lang="en-US" sz="1800" spc="-1" strike="noStrike">
                          <a:solidFill>
                            <a:schemeClr val="dk1"/>
                          </a:solidFill>
                          <a:latin typeface="Calibri"/>
                        </a:rPr>
                        <a:t>Join sides (right, left)</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Juxtapose horizontalement les éléments</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x</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648000">
                <a:tc>
                  <a:txBody>
                    <a:bodyPr lIns="50760" rIns="50760" anchor="t">
                      <a:noAutofit/>
                    </a:bodyPr>
                    <a:p>
                      <a:pPr defTabSz="457200">
                        <a:lnSpc>
                          <a:spcPct val="100000"/>
                        </a:lnSpc>
                      </a:pPr>
                      <a:r>
                        <a:rPr b="0" lang="en-US" sz="1800" spc="-1" strike="noStrike">
                          <a:solidFill>
                            <a:schemeClr val="dk1"/>
                          </a:solidFill>
                          <a:latin typeface="Calibri"/>
                        </a:rPr>
                        <a:t>Horizontal space</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Modifie les espaces horizontaux entre éléments</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x</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647640">
                <a:tc>
                  <a:txBody>
                    <a:bodyPr lIns="50760" rIns="50760" anchor="t">
                      <a:noAutofit/>
                    </a:bodyPr>
                    <a:p>
                      <a:pPr defTabSz="457200">
                        <a:lnSpc>
                          <a:spcPct val="100000"/>
                        </a:lnSpc>
                      </a:pPr>
                      <a:r>
                        <a:rPr b="0" lang="en-US" sz="1800" spc="-1" strike="noStrike">
                          <a:solidFill>
                            <a:schemeClr val="dk1"/>
                          </a:solidFill>
                          <a:latin typeface="Calibri"/>
                        </a:rPr>
                        <a:t>Vertical space</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Modifie les espaces verticaux entre éléments</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x</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627840">
                <a:tc>
                  <a:txBody>
                    <a:bodyPr lIns="50760" rIns="50760" anchor="t">
                      <a:noAutofit/>
                    </a:bodyPr>
                    <a:p>
                      <a:pPr defTabSz="457200">
                        <a:lnSpc>
                          <a:spcPct val="100000"/>
                        </a:lnSpc>
                      </a:pPr>
                      <a:r>
                        <a:rPr b="0" lang="en-US" sz="1800" spc="-1" strike="noStrike">
                          <a:solidFill>
                            <a:schemeClr val="dk1"/>
                          </a:solidFill>
                          <a:latin typeface="Calibri"/>
                        </a:rPr>
                        <a:t>Adapt to parent</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Redimensionne en fonction du parent</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372600">
                <a:tc>
                  <a:txBody>
                    <a:bodyPr lIns="50760" rIns="50760" anchor="t">
                      <a:noAutofit/>
                    </a:bodyPr>
                    <a:p>
                      <a:pPr defTabSz="457200">
                        <a:lnSpc>
                          <a:spcPct val="100000"/>
                        </a:lnSpc>
                      </a:pPr>
                      <a:r>
                        <a:rPr b="0" lang="en-US" sz="1800" spc="-1" strike="noStrike">
                          <a:solidFill>
                            <a:schemeClr val="dk1"/>
                          </a:solidFill>
                          <a:latin typeface="Calibri"/>
                        </a:rPr>
                        <a:t>Organize as table</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bcbcbc"/>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Espace les éléments de façon égale</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bcbcbc"/>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x</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bcbcbc"/>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Axe z</a:t>
            </a:r>
            <a:endParaRPr b="0" lang="fr-FR" sz="3600" spc="-1" strike="noStrike">
              <a:solidFill>
                <a:srgbClr val="000000"/>
              </a:solidFill>
              <a:latin typeface="Arial"/>
            </a:endParaRPr>
          </a:p>
        </p:txBody>
      </p:sp>
      <p:sp>
        <p:nvSpPr>
          <p:cNvPr id="218"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L'ordre des éléments d'une bande est important car il définit l'ordre d'impression. C'est le </a:t>
            </a:r>
            <a:r>
              <a:rPr b="1" lang="en-US" sz="2400" spc="-1" strike="noStrike">
                <a:solidFill>
                  <a:schemeClr val="dk1"/>
                </a:solidFill>
                <a:latin typeface="Calibri"/>
              </a:rPr>
              <a:t>z-index</a:t>
            </a:r>
            <a:r>
              <a:rPr b="0" lang="en-US" sz="2400" spc="-1" strike="noStrike">
                <a:solidFill>
                  <a:schemeClr val="dk1"/>
                </a:solidFill>
                <a:latin typeface="Calibri"/>
              </a:rPr>
              <a:t>.</a:t>
            </a:r>
            <a:endParaRPr b="0" lang="fr-FR" sz="2400" spc="-1" strike="noStrike">
              <a:solidFill>
                <a:srgbClr val="000000"/>
              </a:solidFill>
              <a:latin typeface="Arial"/>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Si les postions d'un élément se superposent avec celles d'un de ces prédécesseurs, il risque de le recouvrir lors de l'impression. </a:t>
            </a:r>
            <a:endParaRPr b="0" lang="fr-FR" sz="2400" spc="-1" strike="noStrike">
              <a:solidFill>
                <a:srgbClr val="000000"/>
              </a:solidFill>
              <a:latin typeface="Arial"/>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Dans d'autres situations, on peut prévoir deux éléments à la même position mais un seul est affiché grâce à l'attribut </a:t>
            </a:r>
            <a:r>
              <a:rPr b="0" i="1" lang="en-US" sz="2400" spc="-1" strike="noStrike">
                <a:solidFill>
                  <a:schemeClr val="dk1"/>
                </a:solidFill>
                <a:latin typeface="Calibri"/>
              </a:rPr>
              <a:t>printWhenExpression.</a:t>
            </a:r>
            <a:endParaRPr b="0" lang="fr-FR" sz="2400" spc="-1" strike="noStrike">
              <a:solidFill>
                <a:srgbClr val="000000"/>
              </a:solidFill>
              <a:latin typeface="Arial"/>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Certains exporters, comme l'exporter HTML ne supportent pas les éléments superposés et donc les ignore.</a:t>
            </a:r>
            <a:endParaRPr b="0" lang="fr-F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Attributs des éléments</a:t>
            </a:r>
            <a:endParaRPr b="0" lang="fr-FR" sz="3600" spc="-1" strike="noStrike">
              <a:solidFill>
                <a:srgbClr val="000000"/>
              </a:solidFill>
              <a:latin typeface="Arial"/>
            </a:endParaRPr>
          </a:p>
        </p:txBody>
      </p:sp>
      <p:sp>
        <p:nvSpPr>
          <p:cNvPr id="220"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561"/>
              </a:spcBef>
              <a:buClr>
                <a:srgbClr val="000000"/>
              </a:buClr>
              <a:buFont typeface="Arial"/>
              <a:buChar char="•"/>
            </a:pPr>
            <a:r>
              <a:rPr b="1" i="1" lang="en-US" sz="2800" spc="-1" strike="noStrike">
                <a:solidFill>
                  <a:schemeClr val="dk1"/>
                </a:solidFill>
                <a:latin typeface="Calibri"/>
              </a:rPr>
              <a:t>key</a:t>
            </a:r>
            <a:r>
              <a:rPr b="0" i="1" lang="en-US" sz="2800" spc="-1" strike="noStrike">
                <a:solidFill>
                  <a:schemeClr val="dk1"/>
                </a:solidFill>
                <a:latin typeface="Calibri"/>
              </a:rPr>
              <a:t> : </a:t>
            </a:r>
            <a:r>
              <a:rPr b="0" lang="en-US" sz="2800" spc="-1" strike="noStrike">
                <a:solidFill>
                  <a:schemeClr val="dk1"/>
                </a:solidFill>
                <a:latin typeface="Calibri"/>
              </a:rPr>
              <a:t>Nom unique de l'élément </a:t>
            </a:r>
            <a:endParaRPr b="0" lang="fr-FR" sz="2800" spc="-1" strike="noStrike">
              <a:solidFill>
                <a:srgbClr val="000000"/>
              </a:solidFill>
              <a:latin typeface="Arial"/>
            </a:endParaRPr>
          </a:p>
          <a:p>
            <a:pPr marL="343080" indent="-343080" defTabSz="457200">
              <a:lnSpc>
                <a:spcPct val="100000"/>
              </a:lnSpc>
              <a:spcBef>
                <a:spcPts val="561"/>
              </a:spcBef>
              <a:buClr>
                <a:srgbClr val="000000"/>
              </a:buClr>
              <a:buFont typeface="Arial"/>
              <a:buChar char="•"/>
            </a:pPr>
            <a:r>
              <a:rPr b="1" i="1" lang="en-US" sz="2800" spc="-1" strike="noStrike">
                <a:solidFill>
                  <a:schemeClr val="dk1"/>
                </a:solidFill>
                <a:latin typeface="Calibri"/>
              </a:rPr>
              <a:t>x, y</a:t>
            </a:r>
            <a:r>
              <a:rPr b="1" lang="en-US" sz="2800" spc="-1" strike="noStrike">
                <a:solidFill>
                  <a:schemeClr val="dk1"/>
                </a:solidFill>
                <a:latin typeface="Calibri"/>
              </a:rPr>
              <a:t>, </a:t>
            </a:r>
            <a:r>
              <a:rPr b="1" i="1" lang="en-US" sz="2800" spc="-1" strike="noStrike">
                <a:solidFill>
                  <a:schemeClr val="dk1"/>
                </a:solidFill>
                <a:latin typeface="Calibri"/>
              </a:rPr>
              <a:t>width</a:t>
            </a:r>
            <a:r>
              <a:rPr b="1" lang="en-US" sz="2800" spc="-1" strike="noStrike">
                <a:solidFill>
                  <a:schemeClr val="dk1"/>
                </a:solidFill>
                <a:latin typeface="Calibri"/>
              </a:rPr>
              <a:t>, </a:t>
            </a:r>
            <a:r>
              <a:rPr b="1" i="1" lang="en-US" sz="2800" spc="-1" strike="noStrike">
                <a:solidFill>
                  <a:schemeClr val="dk1"/>
                </a:solidFill>
                <a:latin typeface="Calibri"/>
              </a:rPr>
              <a:t>height </a:t>
            </a:r>
            <a:r>
              <a:rPr b="0" i="1" lang="en-US" sz="2800" spc="-1" strike="noStrike">
                <a:solidFill>
                  <a:schemeClr val="dk1"/>
                </a:solidFill>
                <a:latin typeface="Calibri"/>
              </a:rPr>
              <a:t>: </a:t>
            </a:r>
            <a:r>
              <a:rPr b="0" lang="en-US" sz="2800" spc="-1" strike="noStrike">
                <a:solidFill>
                  <a:schemeClr val="dk1"/>
                </a:solidFill>
                <a:latin typeface="Calibri"/>
              </a:rPr>
              <a:t>Positions </a:t>
            </a:r>
            <a:endParaRPr b="0" lang="fr-FR" sz="2800" spc="-1" strike="noStrike">
              <a:solidFill>
                <a:srgbClr val="000000"/>
              </a:solidFill>
              <a:latin typeface="Arial"/>
            </a:endParaRPr>
          </a:p>
          <a:p>
            <a:pPr marL="343080" indent="-343080" defTabSz="457200">
              <a:lnSpc>
                <a:spcPct val="100000"/>
              </a:lnSpc>
              <a:spcBef>
                <a:spcPts val="561"/>
              </a:spcBef>
              <a:buClr>
                <a:srgbClr val="000000"/>
              </a:buClr>
              <a:buFont typeface="Arial"/>
              <a:buChar char="•"/>
            </a:pPr>
            <a:r>
              <a:rPr b="1" i="1" lang="en-US" sz="2800" spc="-1" strike="noStrike">
                <a:solidFill>
                  <a:schemeClr val="dk1"/>
                </a:solidFill>
                <a:latin typeface="Calibri"/>
              </a:rPr>
              <a:t>foreground</a:t>
            </a:r>
            <a:r>
              <a:rPr b="1" lang="en-US" sz="2800" spc="-1" strike="noStrike">
                <a:solidFill>
                  <a:schemeClr val="dk1"/>
                </a:solidFill>
                <a:latin typeface="Calibri"/>
              </a:rPr>
              <a:t>, </a:t>
            </a:r>
            <a:r>
              <a:rPr b="1" i="1" lang="en-US" sz="2800" spc="-1" strike="noStrike">
                <a:solidFill>
                  <a:schemeClr val="dk1"/>
                </a:solidFill>
                <a:latin typeface="Calibri"/>
              </a:rPr>
              <a:t>background</a:t>
            </a:r>
            <a:r>
              <a:rPr b="1" lang="en-US" sz="2800" spc="-1" strike="noStrike">
                <a:solidFill>
                  <a:schemeClr val="dk1"/>
                </a:solidFill>
                <a:latin typeface="Calibri"/>
              </a:rPr>
              <a:t>, </a:t>
            </a:r>
            <a:r>
              <a:rPr b="1" i="1" lang="en-US" sz="2800" spc="-1" strike="noStrike">
                <a:solidFill>
                  <a:schemeClr val="dk1"/>
                </a:solidFill>
                <a:latin typeface="Calibri"/>
              </a:rPr>
              <a:t>opaque</a:t>
            </a:r>
            <a:r>
              <a:rPr b="0" i="1" lang="en-US" sz="2800" spc="-1" strike="noStrike">
                <a:solidFill>
                  <a:schemeClr val="dk1"/>
                </a:solidFill>
                <a:latin typeface="Calibri"/>
              </a:rPr>
              <a:t> : </a:t>
            </a:r>
            <a:r>
              <a:rPr b="0" lang="en-US" sz="2800" spc="-1" strike="noStrike">
                <a:solidFill>
                  <a:schemeClr val="dk1"/>
                </a:solidFill>
                <a:latin typeface="Calibri"/>
              </a:rPr>
              <a:t>Couleurs </a:t>
            </a:r>
            <a:endParaRPr b="0" lang="fr-FR" sz="2800" spc="-1" strike="noStrike">
              <a:solidFill>
                <a:srgbClr val="000000"/>
              </a:solidFill>
              <a:latin typeface="Arial"/>
            </a:endParaRPr>
          </a:p>
          <a:p>
            <a:pPr marL="343080" indent="-343080" defTabSz="457200">
              <a:lnSpc>
                <a:spcPct val="100000"/>
              </a:lnSpc>
              <a:spcBef>
                <a:spcPts val="561"/>
              </a:spcBef>
              <a:buClr>
                <a:srgbClr val="000000"/>
              </a:buClr>
              <a:buFont typeface="Arial"/>
              <a:buChar char="•"/>
            </a:pPr>
            <a:r>
              <a:rPr b="1" i="1" lang="en-US" sz="2800" spc="-1" strike="noStrike">
                <a:solidFill>
                  <a:schemeClr val="dk1"/>
                </a:solidFill>
                <a:latin typeface="Calibri"/>
              </a:rPr>
              <a:t>style</a:t>
            </a:r>
            <a:r>
              <a:rPr b="0" i="1" lang="en-US" sz="2800" spc="-1" strike="noStrike">
                <a:solidFill>
                  <a:schemeClr val="dk1"/>
                </a:solidFill>
                <a:latin typeface="Calibri"/>
              </a:rPr>
              <a:t> : </a:t>
            </a:r>
            <a:r>
              <a:rPr b="0" lang="en-US" sz="2800" spc="-1" strike="noStrike">
                <a:solidFill>
                  <a:schemeClr val="dk1"/>
                </a:solidFill>
                <a:latin typeface="Calibri"/>
              </a:rPr>
              <a:t>Style de l'élément.</a:t>
            </a:r>
            <a:endParaRPr b="0" lang="fr-FR" sz="2800" spc="-1" strike="noStrike">
              <a:solidFill>
                <a:srgbClr val="000000"/>
              </a:solidFill>
              <a:latin typeface="Arial"/>
            </a:endParaRPr>
          </a:p>
          <a:p>
            <a:pPr marL="343080" indent="-343080" defTabSz="457200">
              <a:lnSpc>
                <a:spcPct val="100000"/>
              </a:lnSpc>
              <a:spcBef>
                <a:spcPts val="561"/>
              </a:spcBef>
              <a:buClr>
                <a:srgbClr val="000000"/>
              </a:buClr>
              <a:buFont typeface="Arial"/>
              <a:buChar char="•"/>
            </a:pPr>
            <a:r>
              <a:rPr b="1" i="1" lang="en-US" sz="2800" spc="-1" strike="noStrike">
                <a:solidFill>
                  <a:schemeClr val="dk1"/>
                </a:solidFill>
                <a:latin typeface="Calibri"/>
              </a:rPr>
              <a:t>isRemoveLineWhenBlank</a:t>
            </a:r>
            <a:r>
              <a:rPr b="0" i="1" lang="en-US" sz="2800" spc="-1" strike="noStrike">
                <a:solidFill>
                  <a:schemeClr val="dk1"/>
                </a:solidFill>
                <a:latin typeface="Calibri"/>
              </a:rPr>
              <a:t> : </a:t>
            </a:r>
            <a:r>
              <a:rPr b="0" lang="en-US" sz="2800" spc="-1" strike="noStrike">
                <a:solidFill>
                  <a:schemeClr val="dk1"/>
                </a:solidFill>
                <a:latin typeface="Calibri"/>
              </a:rPr>
              <a:t>Suppression de l'espace si l'élément est vide </a:t>
            </a:r>
            <a:endParaRPr b="0" lang="fr-FR" sz="2800" spc="-1" strike="noStrike">
              <a:solidFill>
                <a:srgbClr val="000000"/>
              </a:solidFill>
              <a:latin typeface="Arial"/>
            </a:endParaRPr>
          </a:p>
          <a:p>
            <a:pPr marL="343080" indent="-343080" defTabSz="457200">
              <a:lnSpc>
                <a:spcPct val="100000"/>
              </a:lnSpc>
              <a:spcBef>
                <a:spcPts val="561"/>
              </a:spcBef>
              <a:buClr>
                <a:srgbClr val="000000"/>
              </a:buClr>
              <a:buFont typeface="Arial"/>
              <a:buChar char="•"/>
            </a:pPr>
            <a:r>
              <a:rPr b="1" i="1" lang="en-US" sz="2800" spc="-1" strike="noStrike">
                <a:solidFill>
                  <a:schemeClr val="dk1"/>
                </a:solidFill>
                <a:latin typeface="Calibri"/>
              </a:rPr>
              <a:t>properties</a:t>
            </a:r>
            <a:r>
              <a:rPr b="0" i="1" lang="en-US" sz="2800" spc="-1" strike="noStrike">
                <a:solidFill>
                  <a:schemeClr val="dk1"/>
                </a:solidFill>
                <a:latin typeface="Calibri"/>
              </a:rPr>
              <a:t> </a:t>
            </a:r>
            <a:r>
              <a:rPr b="0" lang="en-US" sz="2800" spc="-1" strike="noStrike">
                <a:solidFill>
                  <a:schemeClr val="dk1"/>
                </a:solidFill>
                <a:latin typeface="Calibri"/>
              </a:rPr>
              <a:t>: Propriétés arbitraires de l'élément.</a:t>
            </a:r>
            <a:endParaRPr b="0" lang="fr-F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Type de position</a:t>
            </a:r>
            <a:endParaRPr b="0" lang="fr-FR" sz="3600" spc="-1" strike="noStrike">
              <a:solidFill>
                <a:srgbClr val="000000"/>
              </a:solidFill>
              <a:latin typeface="Arial"/>
            </a:endParaRPr>
          </a:p>
        </p:txBody>
      </p:sp>
      <p:sp>
        <p:nvSpPr>
          <p:cNvPr id="222"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519"/>
              </a:spcBef>
              <a:buClr>
                <a:srgbClr val="000000"/>
              </a:buClr>
              <a:buFont typeface="Arial"/>
              <a:buChar char="•"/>
            </a:pPr>
            <a:r>
              <a:rPr b="0" lang="en-US" sz="2600" spc="-1" strike="noStrike">
                <a:solidFill>
                  <a:schemeClr val="dk1"/>
                </a:solidFill>
                <a:latin typeface="Calibri"/>
              </a:rPr>
              <a:t>L'attribut </a:t>
            </a:r>
            <a:r>
              <a:rPr b="1" i="1" lang="en-US" sz="2600" spc="-1" strike="noStrike">
                <a:solidFill>
                  <a:schemeClr val="dk1"/>
                </a:solidFill>
                <a:latin typeface="Calibri"/>
              </a:rPr>
              <a:t>PositionType</a:t>
            </a:r>
            <a:r>
              <a:rPr b="0" lang="en-US" sz="2600" spc="-1" strike="noStrike">
                <a:solidFill>
                  <a:schemeClr val="dk1"/>
                </a:solidFill>
                <a:latin typeface="Calibri"/>
              </a:rPr>
              <a:t> détermine comment les coordonnées sont modifiées lorsque la hauteur de la bande change (lors de la fusion de données).</a:t>
            </a:r>
            <a:endParaRPr b="0" lang="fr-FR" sz="2600" spc="-1" strike="noStrike">
              <a:solidFill>
                <a:srgbClr val="000000"/>
              </a:solidFill>
              <a:latin typeface="Arial"/>
            </a:endParaRPr>
          </a:p>
          <a:p>
            <a:pPr marL="343080" indent="-343080" defTabSz="457200">
              <a:lnSpc>
                <a:spcPct val="100000"/>
              </a:lnSpc>
              <a:spcBef>
                <a:spcPts val="519"/>
              </a:spcBef>
              <a:buClr>
                <a:srgbClr val="000000"/>
              </a:buClr>
              <a:buFont typeface="Arial"/>
              <a:buChar char="•"/>
            </a:pPr>
            <a:r>
              <a:rPr b="0" lang="en-US" sz="2600" spc="-1" strike="noStrike">
                <a:solidFill>
                  <a:schemeClr val="dk1"/>
                </a:solidFill>
                <a:latin typeface="Calibri"/>
              </a:rPr>
              <a:t>3 valeurs sont possibles :</a:t>
            </a:r>
            <a:endParaRPr b="0" lang="fr-FR" sz="2600" spc="-1" strike="noStrike">
              <a:solidFill>
                <a:srgbClr val="000000"/>
              </a:solidFill>
              <a:latin typeface="Arial"/>
            </a:endParaRPr>
          </a:p>
          <a:p>
            <a:pPr lvl="1" marL="743040" indent="-285840" defTabSz="457200">
              <a:lnSpc>
                <a:spcPct val="100000"/>
              </a:lnSpc>
              <a:spcBef>
                <a:spcPts val="439"/>
              </a:spcBef>
              <a:buClr>
                <a:srgbClr val="000000"/>
              </a:buClr>
              <a:buFont typeface="Arial"/>
              <a:buChar char="–"/>
            </a:pPr>
            <a:r>
              <a:rPr b="1" i="1" lang="en-US" sz="2200" spc="-1" strike="noStrike">
                <a:solidFill>
                  <a:schemeClr val="dk1"/>
                </a:solidFill>
                <a:latin typeface="Calibri"/>
              </a:rPr>
              <a:t>FixRelativeToTop</a:t>
            </a:r>
            <a:r>
              <a:rPr b="0" lang="en-US" sz="2200" spc="-1" strike="noStrike">
                <a:solidFill>
                  <a:schemeClr val="dk1"/>
                </a:solidFill>
                <a:latin typeface="Calibri"/>
              </a:rPr>
              <a:t> : Valeur par défaut, les coordonnées ne changent jamais. </a:t>
            </a:r>
            <a:endParaRPr b="0" lang="fr-FR" sz="2200" spc="-1" strike="noStrike">
              <a:solidFill>
                <a:srgbClr val="000000"/>
              </a:solidFill>
              <a:latin typeface="Arial"/>
            </a:endParaRPr>
          </a:p>
          <a:p>
            <a:pPr lvl="1" marL="743040" indent="-285840" defTabSz="457200">
              <a:lnSpc>
                <a:spcPct val="100000"/>
              </a:lnSpc>
              <a:spcBef>
                <a:spcPts val="439"/>
              </a:spcBef>
              <a:buClr>
                <a:srgbClr val="000000"/>
              </a:buClr>
              <a:buFont typeface="Arial"/>
              <a:buChar char="–"/>
            </a:pPr>
            <a:r>
              <a:rPr b="1" i="1" lang="en-US" sz="2200" spc="-1" strike="noStrike">
                <a:solidFill>
                  <a:schemeClr val="dk1"/>
                </a:solidFill>
                <a:latin typeface="Calibri"/>
              </a:rPr>
              <a:t>Float</a:t>
            </a:r>
            <a:r>
              <a:rPr b="0" lang="en-US" sz="2200" spc="-1" strike="noStrike">
                <a:solidFill>
                  <a:schemeClr val="dk1"/>
                </a:solidFill>
                <a:latin typeface="Calibri"/>
              </a:rPr>
              <a:t> : L'élément est progressivement déplacé vers le bas par les éléments précédents qui augmente leur taille</a:t>
            </a:r>
            <a:endParaRPr b="0" lang="fr-FR" sz="2200" spc="-1" strike="noStrike">
              <a:solidFill>
                <a:srgbClr val="000000"/>
              </a:solidFill>
              <a:latin typeface="Arial"/>
            </a:endParaRPr>
          </a:p>
          <a:p>
            <a:pPr lvl="1" marL="743040" indent="-285840" defTabSz="457200">
              <a:lnSpc>
                <a:spcPct val="100000"/>
              </a:lnSpc>
              <a:spcBef>
                <a:spcPts val="439"/>
              </a:spcBef>
              <a:buClr>
                <a:srgbClr val="000000"/>
              </a:buClr>
              <a:buFont typeface="Arial"/>
              <a:buChar char="–"/>
            </a:pPr>
            <a:r>
              <a:rPr b="1" i="1" lang="en-US" sz="2200" spc="-1" strike="noStrike">
                <a:solidFill>
                  <a:schemeClr val="dk1"/>
                </a:solidFill>
                <a:latin typeface="Calibri"/>
              </a:rPr>
              <a:t>FixRelativeToBot</a:t>
            </a:r>
            <a:r>
              <a:rPr b="0" lang="en-US" sz="2200" spc="-1" strike="noStrike">
                <a:solidFill>
                  <a:schemeClr val="dk1"/>
                </a:solidFill>
                <a:latin typeface="Calibri"/>
              </a:rPr>
              <a:t> : La distance entre l'élément et le bas de la bande reste constant. </a:t>
            </a:r>
            <a:endParaRPr b="0" lang="fr-FR"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Stretch Type : hauteur d'un élément quand la bande s'étire</a:t>
            </a:r>
            <a:endParaRPr b="0" lang="fr-FR" sz="3600" spc="-1" strike="noStrike">
              <a:solidFill>
                <a:srgbClr val="000000"/>
              </a:solidFill>
              <a:latin typeface="Arial"/>
            </a:endParaRPr>
          </a:p>
        </p:txBody>
      </p:sp>
      <p:sp>
        <p:nvSpPr>
          <p:cNvPr id="224"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1" lang="en-US" sz="2000" spc="-1" strike="noStrike">
                <a:solidFill>
                  <a:schemeClr val="dk1"/>
                </a:solidFill>
                <a:latin typeface="Calibri"/>
              </a:rPr>
              <a:t>NoStretch</a:t>
            </a:r>
            <a:r>
              <a:rPr b="0" lang="en-US" sz="2000" spc="-1" strike="noStrike">
                <a:solidFill>
                  <a:schemeClr val="dk1"/>
                </a:solidFill>
                <a:latin typeface="Calibri"/>
              </a:rPr>
              <a:t> (défaut) : la hauteur ne change pas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000" spc="-1" strike="noStrike">
                <a:solidFill>
                  <a:schemeClr val="dk1"/>
                </a:solidFill>
                <a:latin typeface="Calibri"/>
              </a:rPr>
              <a:t>ElementGroupHeight</a:t>
            </a:r>
            <a:r>
              <a:rPr b="0" lang="en-US" sz="2000" spc="-1" strike="noStrike">
                <a:solidFill>
                  <a:schemeClr val="dk1"/>
                </a:solidFill>
                <a:latin typeface="Calibri"/>
              </a:rPr>
              <a:t> : l'élément prend la hauteur du groupe d'éléments qui l'entoure (ligne verticale simulant une bordure de tableau)</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000" spc="-1" strike="noStrike">
                <a:solidFill>
                  <a:schemeClr val="dk1"/>
                </a:solidFill>
                <a:latin typeface="Calibri"/>
              </a:rPr>
              <a:t>ElementGroupBottom</a:t>
            </a:r>
            <a:r>
              <a:rPr b="0" lang="en-US" sz="2000" spc="-1" strike="noStrike">
                <a:solidFill>
                  <a:schemeClr val="dk1"/>
                </a:solidFill>
                <a:latin typeface="Calibri"/>
              </a:rPr>
              <a:t> : le bas de l'élément suit le bas du groupe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000" spc="-1" strike="noStrike">
                <a:solidFill>
                  <a:schemeClr val="dk1"/>
                </a:solidFill>
                <a:latin typeface="Calibri"/>
              </a:rPr>
              <a:t>ContainerHeight</a:t>
            </a:r>
            <a:r>
              <a:rPr b="0" lang="en-US" sz="2000" spc="-1" strike="noStrike">
                <a:solidFill>
                  <a:schemeClr val="dk1"/>
                </a:solidFill>
                <a:latin typeface="Calibri"/>
              </a:rPr>
              <a:t> / </a:t>
            </a:r>
            <a:r>
              <a:rPr b="1" lang="en-US" sz="2000" spc="-1" strike="noStrike">
                <a:solidFill>
                  <a:schemeClr val="dk1"/>
                </a:solidFill>
                <a:latin typeface="Calibri"/>
              </a:rPr>
              <a:t>ContainerBottom</a:t>
            </a:r>
            <a:r>
              <a:rPr b="0" lang="en-US" sz="2000" spc="-1" strike="noStrike">
                <a:solidFill>
                  <a:schemeClr val="dk1"/>
                </a:solidFill>
                <a:latin typeface="Calibri"/>
              </a:rPr>
              <a:t> : même chose par rapport à la bande ou au cadre conteneur</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Les anciennes valeurs RelativeToBandHeight et RelativeToTallestObject (version 6) sont converties automatiquement par Studio 7</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Impression</a:t>
            </a:r>
            <a:endParaRPr b="0" lang="fr-FR" sz="3600" spc="-1" strike="noStrike">
              <a:solidFill>
                <a:srgbClr val="000000"/>
              </a:solidFill>
              <a:latin typeface="Arial"/>
            </a:endParaRPr>
          </a:p>
        </p:txBody>
      </p:sp>
      <p:sp>
        <p:nvSpPr>
          <p:cNvPr id="226"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79"/>
              </a:spcBef>
              <a:buClr>
                <a:srgbClr val="000000"/>
              </a:buClr>
              <a:buFont typeface="Arial"/>
              <a:buChar char="•"/>
            </a:pPr>
            <a:r>
              <a:rPr b="1" i="1" lang="en-US" sz="2400" spc="-1" strike="noStrike">
                <a:solidFill>
                  <a:schemeClr val="dk1"/>
                </a:solidFill>
                <a:latin typeface="Calibri"/>
              </a:rPr>
              <a:t>isPrintRepeatedValues</a:t>
            </a:r>
            <a:r>
              <a:rPr b="0" lang="en-US" sz="2400" spc="-1" strike="noStrike">
                <a:solidFill>
                  <a:schemeClr val="dk1"/>
                </a:solidFill>
                <a:latin typeface="Calibri"/>
              </a:rPr>
              <a:t> : Impression si valeur égale au précédent enregistrement</a:t>
            </a:r>
            <a:endParaRPr b="0" lang="fr-FR" sz="2400" spc="-1" strike="noStrike">
              <a:solidFill>
                <a:srgbClr val="000000"/>
              </a:solidFill>
              <a:latin typeface="Arial"/>
            </a:endParaRPr>
          </a:p>
          <a:p>
            <a:pPr marL="343080" indent="-343080" defTabSz="457200">
              <a:lnSpc>
                <a:spcPct val="100000"/>
              </a:lnSpc>
              <a:spcBef>
                <a:spcPts val="479"/>
              </a:spcBef>
              <a:buClr>
                <a:srgbClr val="000000"/>
              </a:buClr>
              <a:buFont typeface="Arial"/>
              <a:buChar char="•"/>
            </a:pPr>
            <a:r>
              <a:rPr b="1" i="1" lang="en-US" sz="2400" spc="-1" strike="noStrike">
                <a:solidFill>
                  <a:schemeClr val="dk1"/>
                </a:solidFill>
                <a:latin typeface="Calibri"/>
              </a:rPr>
              <a:t>isPrintInFirstWholeBand</a:t>
            </a:r>
            <a:r>
              <a:rPr b="0" lang="en-US" sz="2400" spc="-1" strike="noStrike">
                <a:solidFill>
                  <a:schemeClr val="dk1"/>
                </a:solidFill>
                <a:latin typeface="Calibri"/>
              </a:rPr>
              <a:t> : Garantit l'impression de l'élément lors d'une nouvelle page ou nouvelle colonne. </a:t>
            </a:r>
            <a:endParaRPr b="0" lang="fr-FR" sz="2400" spc="-1" strike="noStrike">
              <a:solidFill>
                <a:srgbClr val="000000"/>
              </a:solidFill>
              <a:latin typeface="Arial"/>
            </a:endParaRPr>
          </a:p>
          <a:p>
            <a:pPr marL="343080" indent="-343080" defTabSz="457200">
              <a:lnSpc>
                <a:spcPct val="100000"/>
              </a:lnSpc>
              <a:spcBef>
                <a:spcPts val="479"/>
              </a:spcBef>
              <a:buClr>
                <a:srgbClr val="000000"/>
              </a:buClr>
              <a:buFont typeface="Arial"/>
              <a:buChar char="•"/>
            </a:pPr>
            <a:r>
              <a:rPr b="1" i="1" lang="en-US" sz="2400" spc="-1" strike="noStrike">
                <a:solidFill>
                  <a:schemeClr val="dk1"/>
                </a:solidFill>
                <a:latin typeface="Calibri"/>
              </a:rPr>
              <a:t>isPrintWhenDetailOverflows</a:t>
            </a:r>
            <a:r>
              <a:rPr b="0" lang="en-US" sz="2400" spc="-1" strike="noStrike">
                <a:solidFill>
                  <a:schemeClr val="dk1"/>
                </a:solidFill>
                <a:latin typeface="Calibri"/>
              </a:rPr>
              <a:t> : Imprimé sur la page suivante, lorsque la bande ne tient pas sur la page courante</a:t>
            </a:r>
            <a:endParaRPr b="0" lang="fr-FR" sz="2400" spc="-1" strike="noStrike">
              <a:solidFill>
                <a:srgbClr val="000000"/>
              </a:solidFill>
              <a:latin typeface="Arial"/>
            </a:endParaRPr>
          </a:p>
          <a:p>
            <a:pPr marL="343080" indent="-343080" defTabSz="457200">
              <a:lnSpc>
                <a:spcPct val="100000"/>
              </a:lnSpc>
              <a:spcBef>
                <a:spcPts val="479"/>
              </a:spcBef>
              <a:buClr>
                <a:srgbClr val="000000"/>
              </a:buClr>
              <a:buFont typeface="Arial"/>
              <a:buChar char="•"/>
            </a:pPr>
            <a:r>
              <a:rPr b="1" i="1" lang="en-US" sz="2400" spc="-1" strike="noStrike">
                <a:solidFill>
                  <a:schemeClr val="dk1"/>
                </a:solidFill>
                <a:latin typeface="Calibri"/>
              </a:rPr>
              <a:t>printWhenGroupChanges</a:t>
            </a:r>
            <a:r>
              <a:rPr b="0" lang="en-US" sz="2400" spc="-1" strike="noStrike">
                <a:solidFill>
                  <a:schemeClr val="dk1"/>
                </a:solidFill>
                <a:latin typeface="Calibri"/>
              </a:rPr>
              <a:t> : Imprimé lors d'une rupture de groupe</a:t>
            </a:r>
            <a:endParaRPr b="0" lang="fr-FR" sz="2400" spc="-1" strike="noStrike">
              <a:solidFill>
                <a:srgbClr val="000000"/>
              </a:solidFill>
              <a:latin typeface="Arial"/>
            </a:endParaRPr>
          </a:p>
          <a:p>
            <a:pPr marL="343080" indent="-343080" defTabSz="457200">
              <a:lnSpc>
                <a:spcPct val="100000"/>
              </a:lnSpc>
              <a:spcBef>
                <a:spcPts val="479"/>
              </a:spcBef>
              <a:buClr>
                <a:srgbClr val="000000"/>
              </a:buClr>
              <a:buFont typeface="Arial"/>
              <a:buChar char="•"/>
            </a:pPr>
            <a:r>
              <a:rPr b="1" i="1" lang="en-US" sz="2400" spc="-1" strike="noStrike">
                <a:solidFill>
                  <a:schemeClr val="dk1"/>
                </a:solidFill>
                <a:latin typeface="Calibri"/>
              </a:rPr>
              <a:t>printWhenExpression</a:t>
            </a:r>
            <a:r>
              <a:rPr b="0" lang="en-US" sz="2400" spc="-1" strike="noStrike">
                <a:solidFill>
                  <a:schemeClr val="dk1"/>
                </a:solidFill>
                <a:latin typeface="Calibri"/>
              </a:rPr>
              <a:t> : Expression booléenne conditionnant l'impression</a:t>
            </a:r>
            <a:endParaRPr b="0" lang="fr-F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Éléments graphiques</a:t>
            </a:r>
            <a:endParaRPr b="0" lang="fr-FR" sz="3600" spc="-1" strike="noStrike">
              <a:solidFill>
                <a:srgbClr val="000000"/>
              </a:solidFill>
              <a:latin typeface="Arial"/>
            </a:endParaRPr>
          </a:p>
        </p:txBody>
      </p:sp>
      <p:sp>
        <p:nvSpPr>
          <p:cNvPr id="228"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Les éléments graphiques sont :</a:t>
            </a:r>
            <a:endParaRPr b="0" lang="fr-FR" sz="32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Les ligne</a:t>
            </a:r>
            <a:endParaRPr b="0" lang="fr-FR" sz="28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Les rectangles</a:t>
            </a:r>
            <a:endParaRPr b="0" lang="fr-FR" sz="28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Les ellipses</a:t>
            </a:r>
            <a:endParaRPr b="0" lang="fr-FR" sz="28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Ces éléments ont des attributs supplémentaires communs</a:t>
            </a:r>
            <a:endParaRPr b="0" lang="fr-FR" sz="32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pPr>
            <a:r>
              <a:rPr b="1" i="1" lang="en-US" sz="2800" spc="-1" strike="noStrike">
                <a:solidFill>
                  <a:schemeClr val="dk1"/>
                </a:solidFill>
                <a:latin typeface="Calibri"/>
              </a:rPr>
              <a:t>pen</a:t>
            </a:r>
            <a:r>
              <a:rPr b="0" lang="en-US" sz="2800" spc="-1" strike="noStrike">
                <a:solidFill>
                  <a:schemeClr val="dk1"/>
                </a:solidFill>
                <a:latin typeface="Calibri"/>
              </a:rPr>
              <a:t> : Le trait dessinant la forme</a:t>
            </a:r>
            <a:endParaRPr b="0" lang="fr-FR" sz="28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pPr>
            <a:r>
              <a:rPr b="1" i="1" lang="en-US" sz="2800" spc="-1" strike="noStrike">
                <a:solidFill>
                  <a:schemeClr val="dk1"/>
                </a:solidFill>
                <a:latin typeface="Calibri"/>
              </a:rPr>
              <a:t>fill</a:t>
            </a:r>
            <a:r>
              <a:rPr b="0" lang="en-US" sz="2800" spc="-1" strike="noStrike">
                <a:solidFill>
                  <a:schemeClr val="dk1"/>
                </a:solidFill>
                <a:latin typeface="Calibri"/>
              </a:rPr>
              <a:t> : Le remplissage de la forme</a:t>
            </a:r>
            <a:endParaRPr b="0" lang="fr-F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Ligne</a:t>
            </a:r>
            <a:endParaRPr b="0" lang="fr-FR" sz="3600" spc="-1" strike="noStrike">
              <a:solidFill>
                <a:srgbClr val="000000"/>
              </a:solidFill>
              <a:latin typeface="Arial"/>
            </a:endParaRPr>
          </a:p>
        </p:txBody>
      </p:sp>
      <p:sp>
        <p:nvSpPr>
          <p:cNvPr id="230" name="PlaceHolder 2"/>
          <p:cNvSpPr>
            <a:spLocks noGrp="1"/>
          </p:cNvSpPr>
          <p:nvPr>
            <p:ph/>
          </p:nvPr>
        </p:nvSpPr>
        <p:spPr>
          <a:xfrm>
            <a:off x="990720" y="2222280"/>
            <a:ext cx="9234360" cy="3566160"/>
          </a:xfrm>
          <a:prstGeom prst="rect">
            <a:avLst/>
          </a:prstGeom>
          <a:noFill/>
          <a:ln w="0">
            <a:noFill/>
          </a:ln>
        </p:spPr>
        <p:txBody>
          <a:bodyPr lIns="91440" rIns="91440" tIns="45720" bIns="45720" anchor="t">
            <a:norm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Une ligne est définie par la diagonale d'un rectangle</a:t>
            </a:r>
            <a:endParaRPr b="0" lang="fr-FR" sz="3200" spc="-1" strike="noStrike">
              <a:solidFill>
                <a:srgbClr val="000000"/>
              </a:solidFill>
              <a:latin typeface="Arial"/>
            </a:endParaRPr>
          </a:p>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L'attribut </a:t>
            </a:r>
            <a:r>
              <a:rPr b="1" i="1" lang="en-US" sz="3200" spc="-1" strike="noStrike">
                <a:solidFill>
                  <a:schemeClr val="dk1"/>
                </a:solidFill>
                <a:latin typeface="Calibri"/>
              </a:rPr>
              <a:t>direction</a:t>
            </a:r>
            <a:r>
              <a:rPr b="0" lang="en-US" sz="3200" spc="-1" strike="noStrike">
                <a:solidFill>
                  <a:schemeClr val="dk1"/>
                </a:solidFill>
                <a:latin typeface="Calibri"/>
              </a:rPr>
              <a:t> détermine la diagonale:</a:t>
            </a:r>
            <a:endParaRPr b="0" lang="fr-FR" sz="32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pPr>
            <a:r>
              <a:rPr b="0" i="1" lang="en-US" sz="2800" spc="-1" strike="noStrike">
                <a:solidFill>
                  <a:schemeClr val="dk1"/>
                </a:solidFill>
                <a:latin typeface="Calibri"/>
              </a:rPr>
              <a:t>TopDown</a:t>
            </a:r>
            <a:endParaRPr b="0" lang="fr-FR" sz="28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pPr>
            <a:r>
              <a:rPr b="0" i="1" lang="en-US" sz="2800" spc="-1" strike="noStrike">
                <a:solidFill>
                  <a:schemeClr val="dk1"/>
                </a:solidFill>
                <a:latin typeface="Calibri"/>
              </a:rPr>
              <a:t>BotttomUp</a:t>
            </a:r>
            <a:endParaRPr b="0" lang="fr-FR" sz="2800" spc="-1" strike="noStrike">
              <a:solidFill>
                <a:srgbClr val="000000"/>
              </a:solidFill>
              <a:latin typeface="Arial"/>
            </a:endParaRPr>
          </a:p>
        </p:txBody>
      </p:sp>
      <p:pic>
        <p:nvPicPr>
          <p:cNvPr id="231" name="Picture 3" descr="image.png"/>
          <p:cNvPicPr/>
          <p:nvPr/>
        </p:nvPicPr>
        <p:blipFill>
          <a:blip r:embed="rId1"/>
          <a:stretch/>
        </p:blipFill>
        <p:spPr>
          <a:xfrm>
            <a:off x="3784680" y="5901840"/>
            <a:ext cx="2732400" cy="1170720"/>
          </a:xfrm>
          <a:prstGeom prst="rect">
            <a:avLst/>
          </a:prstGeom>
          <a:ln w="0">
            <a:noFill/>
          </a:ln>
        </p:spPr>
      </p:pic>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Rectangle / Rectangle arrondis</a:t>
            </a:r>
            <a:endParaRPr b="0" lang="fr-FR" sz="3600" spc="-1" strike="noStrike">
              <a:solidFill>
                <a:srgbClr val="000000"/>
              </a:solidFill>
              <a:latin typeface="Arial"/>
            </a:endParaRPr>
          </a:p>
        </p:txBody>
      </p:sp>
      <p:sp>
        <p:nvSpPr>
          <p:cNvPr id="233" name="PlaceHolder 2"/>
          <p:cNvSpPr>
            <a:spLocks noGrp="1"/>
          </p:cNvSpPr>
          <p:nvPr>
            <p:ph/>
          </p:nvPr>
        </p:nvSpPr>
        <p:spPr>
          <a:xfrm>
            <a:off x="990720" y="2222280"/>
            <a:ext cx="9013680" cy="1379520"/>
          </a:xfrm>
          <a:prstGeom prst="rect">
            <a:avLst/>
          </a:prstGeom>
          <a:noFill/>
          <a:ln w="0">
            <a:noFill/>
          </a:ln>
        </p:spPr>
        <p:txBody>
          <a:bodyPr lIns="91440" rIns="91440" tIns="45720" bIns="45720" anchor="t">
            <a:normAutofit/>
          </a:bodyPr>
          <a:p>
            <a:pPr marL="343080" indent="-343080" defTabSz="457200">
              <a:lnSpc>
                <a:spcPct val="100000"/>
              </a:lnSpc>
              <a:spcBef>
                <a:spcPts val="641"/>
              </a:spcBef>
              <a:buClr>
                <a:srgbClr val="000000"/>
              </a:buClr>
              <a:buFont typeface="Arial"/>
              <a:buChar char="•"/>
            </a:pPr>
            <a:r>
              <a:rPr b="0" lang="fr-FR" sz="3200" spc="-1" strike="noStrike">
                <a:solidFill>
                  <a:schemeClr val="dk1"/>
                </a:solidFill>
                <a:latin typeface="Calibri"/>
              </a:rPr>
              <a:t>Possibilité d'avoir des coins arrondis en utilisant l'attribut </a:t>
            </a:r>
            <a:r>
              <a:rPr b="1" i="1" lang="fr-FR" sz="3200" spc="-1" strike="noStrike">
                <a:solidFill>
                  <a:schemeClr val="dk1"/>
                </a:solidFill>
                <a:latin typeface="Calibri"/>
              </a:rPr>
              <a:t>radius</a:t>
            </a:r>
            <a:endParaRPr b="0" lang="fr-FR" sz="3200" spc="-1" strike="noStrike">
              <a:solidFill>
                <a:srgbClr val="000000"/>
              </a:solidFill>
              <a:latin typeface="Arial"/>
            </a:endParaRPr>
          </a:p>
        </p:txBody>
      </p:sp>
      <p:pic>
        <p:nvPicPr>
          <p:cNvPr id="234" name="Picture 3" descr="image.png"/>
          <p:cNvPicPr/>
          <p:nvPr/>
        </p:nvPicPr>
        <p:blipFill>
          <a:blip r:embed="rId1"/>
          <a:stretch/>
        </p:blipFill>
        <p:spPr>
          <a:xfrm>
            <a:off x="3784680" y="5362200"/>
            <a:ext cx="2732400" cy="1170720"/>
          </a:xfrm>
          <a:prstGeom prst="rect">
            <a:avLst/>
          </a:prstGeom>
          <a:ln w="0">
            <a:noFill/>
          </a:ln>
        </p:spPr>
      </p:pic>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Ellipse</a:t>
            </a:r>
            <a:endParaRPr b="0" lang="fr-FR" sz="3600" spc="-1" strike="noStrike">
              <a:solidFill>
                <a:srgbClr val="000000"/>
              </a:solidFill>
              <a:latin typeface="Arial"/>
            </a:endParaRPr>
          </a:p>
        </p:txBody>
      </p:sp>
      <p:sp>
        <p:nvSpPr>
          <p:cNvPr id="236" name="PlaceHolder 2"/>
          <p:cNvSpPr>
            <a:spLocks noGrp="1"/>
          </p:cNvSpPr>
          <p:nvPr>
            <p:ph/>
          </p:nvPr>
        </p:nvSpPr>
        <p:spPr>
          <a:xfrm>
            <a:off x="990720" y="2222280"/>
            <a:ext cx="7849800" cy="1828080"/>
          </a:xfrm>
          <a:prstGeom prst="rect">
            <a:avLst/>
          </a:prstGeom>
          <a:noFill/>
          <a:ln w="0">
            <a:noFill/>
          </a:ln>
        </p:spPr>
        <p:txBody>
          <a:bodyPr lIns="91440" rIns="91440" tIns="45720" bIns="45720" anchor="t">
            <a:norm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Défini également à partir d'un rectangle, cet élément n'a pas d'attributs spécifiques</a:t>
            </a:r>
            <a:endParaRPr b="0" lang="fr-FR" sz="3200" spc="-1" strike="noStrike">
              <a:solidFill>
                <a:srgbClr val="000000"/>
              </a:solidFill>
              <a:latin typeface="Arial"/>
            </a:endParaRPr>
          </a:p>
        </p:txBody>
      </p:sp>
      <p:pic>
        <p:nvPicPr>
          <p:cNvPr id="237" name="Picture 3" descr="image.png"/>
          <p:cNvPicPr/>
          <p:nvPr/>
        </p:nvPicPr>
        <p:blipFill>
          <a:blip r:embed="rId1"/>
          <a:stretch/>
        </p:blipFill>
        <p:spPr>
          <a:xfrm>
            <a:off x="3741840" y="4820760"/>
            <a:ext cx="2732400" cy="1170720"/>
          </a:xfrm>
          <a:prstGeom prst="rect">
            <a:avLst/>
          </a:prstGeom>
          <a:ln w="0">
            <a:noFill/>
          </a:ln>
        </p:spPr>
      </p:pic>
    </p:spTree>
  </p:cSld>
  <mc:AlternateContent>
    <mc:Choice Requires="p14">
      <p:transition spd="slow" p14:dur="20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Cadre</a:t>
            </a:r>
            <a:endParaRPr b="0" lang="fr-FR" sz="3600" spc="-1" strike="noStrike">
              <a:solidFill>
                <a:srgbClr val="000000"/>
              </a:solidFill>
              <a:latin typeface="Arial"/>
            </a:endParaRPr>
          </a:p>
        </p:txBody>
      </p:sp>
      <p:sp>
        <p:nvSpPr>
          <p:cNvPr id="239"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Un </a:t>
            </a:r>
            <a:r>
              <a:rPr b="1" lang="en-US" sz="2400" spc="-1" strike="noStrike">
                <a:solidFill>
                  <a:schemeClr val="dk1"/>
                </a:solidFill>
                <a:latin typeface="Calibri"/>
              </a:rPr>
              <a:t>cadre</a:t>
            </a:r>
            <a:r>
              <a:rPr b="0" lang="en-US" sz="2400" spc="-1" strike="noStrike">
                <a:solidFill>
                  <a:schemeClr val="dk1"/>
                </a:solidFill>
                <a:latin typeface="Calibri"/>
              </a:rPr>
              <a:t> (</a:t>
            </a:r>
            <a:r>
              <a:rPr b="0" i="1" lang="en-US" sz="2400" spc="-1" strike="noStrike">
                <a:solidFill>
                  <a:schemeClr val="dk1"/>
                </a:solidFill>
                <a:latin typeface="Calibri"/>
              </a:rPr>
              <a:t>frame</a:t>
            </a:r>
            <a:r>
              <a:rPr b="0" lang="en-US" sz="2400" spc="-1" strike="noStrike">
                <a:solidFill>
                  <a:schemeClr val="dk1"/>
                </a:solidFill>
                <a:latin typeface="Calibri"/>
              </a:rPr>
              <a:t>) est un élément qui contient d'autres éléments. Éventuellement, il peut définir une bordure </a:t>
            </a:r>
            <a:endParaRPr b="0" lang="fr-FR" sz="2400" spc="-1" strike="noStrike">
              <a:solidFill>
                <a:srgbClr val="000000"/>
              </a:solidFill>
              <a:latin typeface="Arial"/>
            </a:endParaRPr>
          </a:p>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On peut imbriquer autant de niveau que l'on veut.</a:t>
            </a:r>
            <a:endParaRPr b="0" lang="fr-FR" sz="2400" spc="-1" strike="noStrike">
              <a:solidFill>
                <a:srgbClr val="000000"/>
              </a:solidFill>
              <a:latin typeface="Arial"/>
            </a:endParaRPr>
          </a:p>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Par rapport à l'utilisation d'un rectangle, un cadre permet de :</a:t>
            </a:r>
            <a:endParaRPr b="0" lang="fr-FR" sz="2400" spc="-1" strike="noStrike">
              <a:solidFill>
                <a:srgbClr val="000000"/>
              </a:solidFill>
              <a:latin typeface="Arial"/>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Déplacer tous les éléments du cadre en même temps</a:t>
            </a:r>
            <a:endParaRPr b="0" lang="fr-FR" sz="2000" spc="-1" strike="noStrike">
              <a:solidFill>
                <a:srgbClr val="000000"/>
              </a:solidFill>
              <a:latin typeface="Arial"/>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Disposer automatiquement les éléments contenus via un layout particulier</a:t>
            </a:r>
            <a:endParaRPr b="0" lang="fr-FR" sz="2000" spc="-1" strike="noStrike">
              <a:solidFill>
                <a:srgbClr val="000000"/>
              </a:solidFill>
              <a:latin typeface="Arial"/>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Pas besoin de jouer sur l'axe Z</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Images</a:t>
            </a:r>
            <a:endParaRPr b="0" lang="fr-FR" sz="3600" spc="-1" strike="noStrike">
              <a:solidFill>
                <a:srgbClr val="000000"/>
              </a:solidFill>
              <a:latin typeface="Arial"/>
            </a:endParaRPr>
          </a:p>
        </p:txBody>
      </p:sp>
      <p:sp>
        <p:nvSpPr>
          <p:cNvPr id="241"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C'est l'objet le plus complexe des objets graphiques. Il sert à :</a:t>
            </a:r>
            <a:endParaRPr b="0" lang="fr-FR" sz="32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Insérer un fichier image binaire (JPEG, PNG, GIF)</a:t>
            </a:r>
            <a:endParaRPr b="0" lang="fr-FR" sz="28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Ou définir une zone de </a:t>
            </a:r>
            <a:r>
              <a:rPr b="0" i="1" lang="en-US" sz="2800" spc="-1" strike="noStrike">
                <a:solidFill>
                  <a:schemeClr val="dk1"/>
                </a:solidFill>
                <a:latin typeface="Calibri"/>
              </a:rPr>
              <a:t>Canvas</a:t>
            </a:r>
            <a:r>
              <a:rPr b="0" lang="en-US" sz="2800" spc="-1" strike="noStrike">
                <a:solidFill>
                  <a:schemeClr val="dk1"/>
                </a:solidFill>
                <a:latin typeface="Calibri"/>
              </a:rPr>
              <a:t>. Un code Java pourra alors dessiner le graphique ou produire une image binaire.</a:t>
            </a:r>
            <a:endParaRPr b="0" lang="fr-F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Textes</a:t>
            </a:r>
            <a:endParaRPr b="0" lang="fr-FR" sz="3600" spc="-1" strike="noStrike">
              <a:solidFill>
                <a:srgbClr val="000000"/>
              </a:solidFill>
              <a:latin typeface="Arial"/>
            </a:endParaRPr>
          </a:p>
        </p:txBody>
      </p:sp>
      <p:sp>
        <p:nvSpPr>
          <p:cNvPr id="243"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Deux éléments sont prévus pour afficher du texte :</a:t>
            </a:r>
            <a:endParaRPr b="0" lang="fr-FR" sz="3200" spc="-1" strike="noStrike">
              <a:solidFill>
                <a:srgbClr val="000000"/>
              </a:solidFill>
              <a:latin typeface="Arial"/>
            </a:endParaRPr>
          </a:p>
          <a:p>
            <a:pPr lvl="1" marL="743040" indent="-285840" defTabSz="457200">
              <a:lnSpc>
                <a:spcPct val="100000"/>
              </a:lnSpc>
              <a:spcBef>
                <a:spcPts val="641"/>
              </a:spcBef>
              <a:buClr>
                <a:srgbClr val="000000"/>
              </a:buClr>
              <a:buFont typeface="Arial"/>
              <a:buChar char="–"/>
            </a:pPr>
            <a:r>
              <a:rPr b="0" lang="en-US" sz="3200" spc="-1" strike="noStrike">
                <a:solidFill>
                  <a:schemeClr val="dk1"/>
                </a:solidFill>
                <a:latin typeface="Calibri"/>
              </a:rPr>
              <a:t>Les </a:t>
            </a:r>
            <a:r>
              <a:rPr b="1" lang="en-US" sz="3200" spc="-1" strike="noStrike">
                <a:solidFill>
                  <a:schemeClr val="dk1"/>
                </a:solidFill>
                <a:latin typeface="Calibri"/>
              </a:rPr>
              <a:t>textes statiques</a:t>
            </a:r>
            <a:r>
              <a:rPr b="0" lang="en-US" sz="3200" spc="-1" strike="noStrike">
                <a:solidFill>
                  <a:schemeClr val="dk1"/>
                </a:solidFill>
                <a:latin typeface="Calibri"/>
              </a:rPr>
              <a:t> dont la valeur ne change pas et est connue au moment du design : </a:t>
            </a:r>
            <a:endParaRPr b="0" lang="fr-FR" sz="3200" spc="-1" strike="noStrike">
              <a:solidFill>
                <a:srgbClr val="000000"/>
              </a:solidFill>
              <a:latin typeface="Arial"/>
            </a:endParaRPr>
          </a:p>
          <a:p>
            <a:pPr indent="0" defTabSz="457200">
              <a:lnSpc>
                <a:spcPct val="100000"/>
              </a:lnSpc>
              <a:spcBef>
                <a:spcPts val="561"/>
              </a:spcBef>
              <a:buNone/>
              <a:tabLst>
                <a:tab algn="l" pos="0"/>
              </a:tabLst>
            </a:pPr>
            <a:r>
              <a:rPr b="0" i="1" lang="en-US" sz="2800" spc="-1" strike="noStrike">
                <a:solidFill>
                  <a:schemeClr val="dk1"/>
                </a:solidFill>
                <a:latin typeface="Courier New"/>
              </a:rPr>
              <a:t>&lt;staticText&gt;</a:t>
            </a:r>
            <a:endParaRPr b="0" lang="fr-FR" sz="2800" spc="-1" strike="noStrike">
              <a:solidFill>
                <a:srgbClr val="000000"/>
              </a:solidFill>
              <a:latin typeface="Arial"/>
            </a:endParaRPr>
          </a:p>
          <a:p>
            <a:pPr lvl="1" marL="743040" indent="-285840" defTabSz="457200">
              <a:lnSpc>
                <a:spcPct val="100000"/>
              </a:lnSpc>
              <a:spcBef>
                <a:spcPts val="641"/>
              </a:spcBef>
              <a:buClr>
                <a:srgbClr val="000000"/>
              </a:buClr>
              <a:buFont typeface="Arial"/>
              <a:buChar char="–"/>
              <a:tabLst>
                <a:tab algn="l" pos="0"/>
              </a:tabLst>
            </a:pPr>
            <a:r>
              <a:rPr b="0" lang="en-US" sz="3200" spc="-1" strike="noStrike">
                <a:solidFill>
                  <a:schemeClr val="dk1"/>
                </a:solidFill>
                <a:latin typeface="Calibri"/>
              </a:rPr>
              <a:t>Les </a:t>
            </a:r>
            <a:r>
              <a:rPr b="1" lang="en-US" sz="3200" spc="-1" strike="noStrike">
                <a:solidFill>
                  <a:schemeClr val="dk1"/>
                </a:solidFill>
                <a:latin typeface="Calibri"/>
              </a:rPr>
              <a:t>champs</a:t>
            </a:r>
            <a:r>
              <a:rPr b="0" lang="en-US" sz="3200" spc="-1" strike="noStrike">
                <a:solidFill>
                  <a:schemeClr val="dk1"/>
                </a:solidFill>
                <a:latin typeface="Calibri"/>
              </a:rPr>
              <a:t> </a:t>
            </a:r>
            <a:r>
              <a:rPr b="1" lang="en-US" sz="3200" spc="-1" strike="noStrike">
                <a:solidFill>
                  <a:schemeClr val="dk1"/>
                </a:solidFill>
                <a:latin typeface="Calibri"/>
              </a:rPr>
              <a:t>textes</a:t>
            </a:r>
            <a:r>
              <a:rPr b="0" lang="en-US" sz="3200" spc="-1" strike="noStrike">
                <a:solidFill>
                  <a:schemeClr val="dk1"/>
                </a:solidFill>
                <a:latin typeface="Calibri"/>
              </a:rPr>
              <a:t> dont la valeur est fournie sous forme d'expression : </a:t>
            </a:r>
            <a:endParaRPr b="0" lang="fr-FR" sz="3200" spc="-1" strike="noStrike">
              <a:solidFill>
                <a:srgbClr val="000000"/>
              </a:solidFill>
              <a:latin typeface="Arial"/>
            </a:endParaRPr>
          </a:p>
          <a:p>
            <a:pPr indent="0" defTabSz="457200">
              <a:lnSpc>
                <a:spcPct val="100000"/>
              </a:lnSpc>
              <a:spcBef>
                <a:spcPts val="561"/>
              </a:spcBef>
              <a:buNone/>
              <a:tabLst>
                <a:tab algn="l" pos="0"/>
              </a:tabLst>
            </a:pPr>
            <a:r>
              <a:rPr b="0" i="1" lang="en-US" sz="2800" spc="-1" strike="noStrike">
                <a:solidFill>
                  <a:schemeClr val="dk1"/>
                </a:solidFill>
                <a:latin typeface="Courier New"/>
              </a:rPr>
              <a:t>&lt;textField&gt;</a:t>
            </a:r>
            <a:endParaRPr b="0" lang="fr-F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Attributs</a:t>
            </a:r>
            <a:endParaRPr b="0" lang="fr-FR" sz="3600" spc="-1" strike="noStrike">
              <a:solidFill>
                <a:srgbClr val="000000"/>
              </a:solidFill>
              <a:latin typeface="Arial"/>
            </a:endParaRPr>
          </a:p>
        </p:txBody>
      </p:sp>
      <p:sp>
        <p:nvSpPr>
          <p:cNvPr id="245"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519"/>
              </a:spcBef>
              <a:buClr>
                <a:srgbClr val="000000"/>
              </a:buClr>
              <a:buFont typeface="Arial"/>
              <a:buChar char="•"/>
            </a:pPr>
            <a:r>
              <a:rPr b="0" lang="en-US" sz="2600" spc="-1" strike="noStrike">
                <a:solidFill>
                  <a:schemeClr val="dk1"/>
                </a:solidFill>
                <a:latin typeface="Calibri"/>
              </a:rPr>
              <a:t>Police : </a:t>
            </a:r>
            <a:r>
              <a:rPr b="0" i="1" lang="en-US" sz="2600" spc="-1" strike="noStrike">
                <a:solidFill>
                  <a:schemeClr val="dk1"/>
                </a:solidFill>
                <a:latin typeface="Calibri"/>
              </a:rPr>
              <a:t>jasperStudio</a:t>
            </a:r>
            <a:r>
              <a:rPr b="0" lang="en-US" sz="2600" spc="-1" strike="noStrike">
                <a:solidFill>
                  <a:schemeClr val="dk1"/>
                </a:solidFill>
                <a:latin typeface="Calibri"/>
              </a:rPr>
              <a:t> présente toutes les polices trouvées dans le système mais attention à la compatibilité au moment de la génération. </a:t>
            </a:r>
            <a:endParaRPr b="0" lang="fr-FR" sz="2600" spc="-1" strike="noStrike">
              <a:solidFill>
                <a:srgbClr val="000000"/>
              </a:solidFill>
              <a:latin typeface="Arial"/>
            </a:endParaRPr>
          </a:p>
          <a:p>
            <a:pPr marL="343080" indent="-343080" defTabSz="457200">
              <a:lnSpc>
                <a:spcPct val="100000"/>
              </a:lnSpc>
              <a:spcBef>
                <a:spcPts val="519"/>
              </a:spcBef>
              <a:buClr>
                <a:srgbClr val="000000"/>
              </a:buClr>
              <a:buFont typeface="Arial"/>
              <a:buChar char="•"/>
            </a:pPr>
            <a:r>
              <a:rPr b="0" lang="en-US" sz="2600" spc="-1" strike="noStrike">
                <a:solidFill>
                  <a:schemeClr val="dk1"/>
                </a:solidFill>
                <a:latin typeface="Calibri"/>
              </a:rPr>
              <a:t>Taille de police (entier), Gras et italique, Souligné, Barré </a:t>
            </a:r>
            <a:endParaRPr b="0" lang="fr-FR" sz="2600" spc="-1" strike="noStrike">
              <a:solidFill>
                <a:srgbClr val="000000"/>
              </a:solidFill>
              <a:latin typeface="Arial"/>
            </a:endParaRPr>
          </a:p>
          <a:p>
            <a:pPr marL="343080" indent="-343080" defTabSz="457200">
              <a:lnSpc>
                <a:spcPct val="100000"/>
              </a:lnSpc>
              <a:spcBef>
                <a:spcPts val="519"/>
              </a:spcBef>
              <a:buClr>
                <a:srgbClr val="000000"/>
              </a:buClr>
              <a:buFont typeface="Arial"/>
              <a:buChar char="•"/>
            </a:pPr>
            <a:r>
              <a:rPr b="0" lang="en-US" sz="2600" spc="-1" strike="noStrike">
                <a:solidFill>
                  <a:schemeClr val="dk1"/>
                </a:solidFill>
                <a:latin typeface="Calibri"/>
              </a:rPr>
              <a:t>Alignements horizontaux et verticaux </a:t>
            </a:r>
            <a:endParaRPr b="0" lang="fr-FR" sz="2600" spc="-1" strike="noStrike">
              <a:solidFill>
                <a:srgbClr val="000000"/>
              </a:solidFill>
              <a:latin typeface="Arial"/>
            </a:endParaRPr>
          </a:p>
          <a:p>
            <a:pPr marL="343080" indent="-343080" defTabSz="457200">
              <a:lnSpc>
                <a:spcPct val="100000"/>
              </a:lnSpc>
              <a:spcBef>
                <a:spcPts val="519"/>
              </a:spcBef>
              <a:buClr>
                <a:srgbClr val="000000"/>
              </a:buClr>
              <a:buFont typeface="Arial"/>
              <a:buChar char="•"/>
            </a:pPr>
            <a:r>
              <a:rPr b="0" lang="en-US" sz="2600" spc="-1" strike="noStrike">
                <a:solidFill>
                  <a:schemeClr val="dk1"/>
                </a:solidFill>
                <a:latin typeface="Calibri"/>
              </a:rPr>
              <a:t>Rotation : None, Left , Right, UpsideDown</a:t>
            </a:r>
            <a:endParaRPr b="0" lang="fr-FR" sz="2600" spc="-1" strike="noStrike">
              <a:solidFill>
                <a:srgbClr val="000000"/>
              </a:solidFill>
              <a:latin typeface="Arial"/>
            </a:endParaRPr>
          </a:p>
          <a:p>
            <a:pPr marL="343080" indent="-343080" defTabSz="457200">
              <a:lnSpc>
                <a:spcPct val="100000"/>
              </a:lnSpc>
              <a:spcBef>
                <a:spcPts val="519"/>
              </a:spcBef>
              <a:buClr>
                <a:srgbClr val="000000"/>
              </a:buClr>
              <a:buFont typeface="Arial"/>
              <a:buChar char="•"/>
            </a:pPr>
            <a:r>
              <a:rPr b="0" lang="en-US" sz="2600" spc="-1" strike="noStrike">
                <a:solidFill>
                  <a:schemeClr val="dk1"/>
                </a:solidFill>
                <a:latin typeface="Calibri"/>
              </a:rPr>
              <a:t>Espacement des lignes : Simple, 1.5 ou Double</a:t>
            </a:r>
            <a:endParaRPr b="0" lang="fr-FR" sz="2600" spc="-1" strike="noStrike">
              <a:solidFill>
                <a:srgbClr val="000000"/>
              </a:solidFill>
              <a:latin typeface="Arial"/>
            </a:endParaRPr>
          </a:p>
          <a:p>
            <a:pPr marL="343080" indent="-343080" defTabSz="457200">
              <a:lnSpc>
                <a:spcPct val="100000"/>
              </a:lnSpc>
              <a:spcBef>
                <a:spcPts val="519"/>
              </a:spcBef>
              <a:buClr>
                <a:srgbClr val="000000"/>
              </a:buClr>
              <a:buFont typeface="Arial"/>
              <a:buChar char="•"/>
            </a:pPr>
            <a:r>
              <a:rPr b="0" lang="en-US" sz="2600" spc="-1" strike="noStrike">
                <a:solidFill>
                  <a:schemeClr val="dk1"/>
                </a:solidFill>
                <a:latin typeface="Calibri"/>
              </a:rPr>
              <a:t>Markup : Utilisation d'un langage de balise (HTML ou RTF)</a:t>
            </a:r>
            <a:endParaRPr b="0" lang="fr-FR"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Attributs d'un champ texte</a:t>
            </a:r>
            <a:endParaRPr b="0" lang="fr-FR" sz="3600" spc="-1" strike="noStrike">
              <a:solidFill>
                <a:srgbClr val="000000"/>
              </a:solidFill>
              <a:latin typeface="Arial"/>
            </a:endParaRPr>
          </a:p>
        </p:txBody>
      </p:sp>
      <p:sp>
        <p:nvSpPr>
          <p:cNvPr id="247"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1" lang="en-US" sz="2000" spc="-1" strike="noStrike">
                <a:solidFill>
                  <a:schemeClr val="dk1"/>
                </a:solidFill>
                <a:latin typeface="Calibri"/>
              </a:rPr>
              <a:t>Blank When Null</a:t>
            </a:r>
            <a:r>
              <a:rPr b="0" lang="en-US" sz="2000" spc="-1" strike="noStrike">
                <a:solidFill>
                  <a:schemeClr val="dk1"/>
                </a:solidFill>
                <a:latin typeface="Calibri"/>
              </a:rPr>
              <a:t> : affiche une chaîne vide au lieu de « null »</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000" spc="-1" strike="noStrike">
                <a:solidFill>
                  <a:schemeClr val="dk1"/>
                </a:solidFill>
                <a:latin typeface="Calibri"/>
              </a:rPr>
              <a:t>Text Adjust</a:t>
            </a:r>
            <a:r>
              <a:rPr b="0" lang="en-US" sz="2000" spc="-1" strike="noStrike">
                <a:solidFill>
                  <a:schemeClr val="dk1"/>
                </a:solidFill>
                <a:latin typeface="Calibri"/>
              </a:rPr>
              <a:t> : comportement quand le texte dépasse la taille de l'élément</a:t>
            </a:r>
            <a:endParaRPr b="0" lang="fr-FR" sz="20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1600" spc="-1" strike="noStrike">
                <a:solidFill>
                  <a:schemeClr val="dk1"/>
                </a:solidFill>
                <a:latin typeface="Calibri"/>
              </a:rPr>
              <a:t>CutText : le texte est coupé (défaut)</a:t>
            </a:r>
            <a:endParaRPr b="0" lang="fr-FR" sz="16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1" lang="en-US" sz="1600" spc="-1" strike="noStrike">
                <a:solidFill>
                  <a:schemeClr val="dk1"/>
                </a:solidFill>
                <a:latin typeface="Calibri"/>
              </a:rPr>
              <a:t>StretchHeight</a:t>
            </a:r>
            <a:r>
              <a:rPr b="0" lang="en-US" sz="1600" spc="-1" strike="noStrike">
                <a:solidFill>
                  <a:schemeClr val="dk1"/>
                </a:solidFill>
                <a:latin typeface="Calibri"/>
              </a:rPr>
              <a:t> : l'élément s'agrandit en hauteur, la bande aussi</a:t>
            </a:r>
            <a:endParaRPr b="0" lang="fr-FR" sz="16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1600" spc="-1" strike="noStrike">
                <a:solidFill>
                  <a:schemeClr val="dk1"/>
                </a:solidFill>
                <a:latin typeface="Calibri"/>
              </a:rPr>
              <a:t>ScaleFont : la taille de police est réduite pour tenir</a:t>
            </a:r>
            <a:endParaRPr b="0" lang="fr-FR" sz="16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000" spc="-1" strike="noStrike">
                <a:solidFill>
                  <a:schemeClr val="dk1"/>
                </a:solidFill>
                <a:latin typeface="Calibri"/>
              </a:rPr>
              <a:t>Pattern</a:t>
            </a:r>
            <a:r>
              <a:rPr b="0" lang="en-US" sz="2000" spc="-1" strike="noStrike">
                <a:solidFill>
                  <a:schemeClr val="dk1"/>
                </a:solidFill>
                <a:latin typeface="Calibri"/>
              </a:rPr>
              <a:t> : format d'affichage des nombres et des dates, ex. </a:t>
            </a:r>
            <a:r>
              <a:rPr b="0" lang="en-US" sz="2000" spc="-1" strike="noStrike">
                <a:solidFill>
                  <a:schemeClr val="dk1"/>
                </a:solidFill>
                <a:latin typeface="Courier New"/>
              </a:rPr>
              <a:t>dd/MM/yyyy</a:t>
            </a:r>
            <a:r>
              <a:rPr b="0" lang="en-US" sz="2000" spc="-1" strike="noStrike">
                <a:solidFill>
                  <a:schemeClr val="dk1"/>
                </a:solidFill>
                <a:latin typeface="Calibri"/>
              </a:rPr>
              <a:t> ou </a:t>
            </a:r>
            <a:r>
              <a:rPr b="0" lang="en-US" sz="2000" spc="-1" strike="noStrike">
                <a:solidFill>
                  <a:schemeClr val="dk1"/>
                </a:solidFill>
                <a:latin typeface="Courier New"/>
              </a:rPr>
              <a:t>#,##0.00</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000" spc="-1" strike="noStrike">
                <a:solidFill>
                  <a:schemeClr val="dk1"/>
                </a:solidFill>
                <a:latin typeface="Calibri"/>
              </a:rPr>
              <a:t>Evaluation Time</a:t>
            </a:r>
            <a:r>
              <a:rPr b="0" lang="en-US" sz="2000" spc="-1" strike="noStrike">
                <a:solidFill>
                  <a:schemeClr val="dk1"/>
                </a:solidFill>
                <a:latin typeface="Calibri"/>
              </a:rPr>
              <a:t> : moment où l'expression est calculée (Now, Report pour un « Page x sur y », Group pour un total de groupe)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Markup : interprétation de balises (HTML simplifié, styled) dans le texte</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Bordures et marges internes</a:t>
            </a:r>
            <a:endParaRPr b="0" lang="fr-FR" sz="3600" spc="-1" strike="noStrike">
              <a:solidFill>
                <a:srgbClr val="000000"/>
              </a:solidFill>
              <a:latin typeface="Arial"/>
            </a:endParaRPr>
          </a:p>
        </p:txBody>
      </p:sp>
      <p:sp>
        <p:nvSpPr>
          <p:cNvPr id="249"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Onglet </a:t>
            </a:r>
            <a:r>
              <a:rPr b="1" lang="en-US" sz="2000" spc="-1" strike="noStrike">
                <a:solidFill>
                  <a:schemeClr val="dk1"/>
                </a:solidFill>
                <a:latin typeface="Calibri"/>
              </a:rPr>
              <a:t>Borders</a:t>
            </a:r>
            <a:r>
              <a:rPr b="0" lang="en-US" sz="2000" spc="-1" strike="noStrike">
                <a:solidFill>
                  <a:schemeClr val="dk1"/>
                </a:solidFill>
                <a:latin typeface="Calibri"/>
              </a:rPr>
              <a:t> de la vue Properties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Chaque côté se règle séparément : épaisseur, style (plein, pointillé, double), couleur</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000" spc="-1" strike="noStrike">
                <a:solidFill>
                  <a:schemeClr val="dk1"/>
                </a:solidFill>
                <a:latin typeface="Calibri"/>
              </a:rPr>
              <a:t>Padding</a:t>
            </a:r>
            <a:r>
              <a:rPr b="0" lang="en-US" sz="2000" spc="-1" strike="noStrike">
                <a:solidFill>
                  <a:schemeClr val="dk1"/>
                </a:solidFill>
                <a:latin typeface="Calibri"/>
              </a:rPr>
              <a:t> : marge interne entre la bordure et le texte, par côté</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Un tableau se dessine avec les bordures des champs texte, plutôt qu'avec des lignes séparées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Pour que les bordures suivent un texte qui s'étire : même Stretch Type sur tous les éléments de la ligne, ou utiliser un cadre (Frame)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Les bordures se définissent de préférence dans un style pour rester homogènes</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Propriétés essentielles : synthèse</a:t>
            </a:r>
            <a:endParaRPr b="0" lang="fr-FR" sz="3600" spc="-1" strike="noStrike">
              <a:solidFill>
                <a:srgbClr val="000000"/>
              </a:solidFill>
              <a:latin typeface="Arial"/>
            </a:endParaRPr>
          </a:p>
        </p:txBody>
      </p:sp>
      <p:sp>
        <p:nvSpPr>
          <p:cNvPr id="251"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Taille et coordonnées : x, y, width, height, en pixels à 72 dpi (1 cm ≈ 28 px)</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Alignement du texte : horizontal (gauche, centre, droite, justifié) et vertical (haut, milieu, bas)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Bordures et marges internes : onglet Borders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Redimensionnement : Text Adjust pour le texte, Stretch Type pour suivre la bande, Position Type pour se décaler</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Print When Expression : afficher l'élément sous condition</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Remove Line When Blank : libérer l'espace vertical si l'élément est vide</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a:lnSpc>
                <a:spcPct val="100000"/>
              </a:lnSpc>
              <a:buNone/>
            </a:pPr>
            <a:r>
              <a:rPr b="0" lang="fr-FR" sz="3600" spc="-1" strike="noStrike">
                <a:solidFill>
                  <a:srgbClr val="000000"/>
                </a:solidFill>
                <a:latin typeface="Calibri"/>
              </a:rPr>
              <a:t>Atelier 5 : Mise en forme de type tableau</a:t>
            </a:r>
            <a:endParaRPr b="0" lang="fr-FR" sz="3600" spc="-1" strike="noStrike">
              <a:solidFill>
                <a:srgbClr val="000000"/>
              </a:solidFill>
              <a:latin typeface="Arial"/>
            </a:endParaRPr>
          </a:p>
        </p:txBody>
      </p:sp>
      <p:sp>
        <p:nvSpPr>
          <p:cNvPr id="253" name="PlaceHolder 2"/>
          <p:cNvSpPr>
            <a:spLocks noGrp="1"/>
          </p:cNvSpPr>
          <p:nvPr>
            <p:ph/>
          </p:nvPr>
        </p:nvSpPr>
        <p:spPr>
          <a:xfrm>
            <a:off x="762120" y="2158920"/>
            <a:ext cx="9397800" cy="482580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fr-FR" sz="2000" spc="-1" strike="noStrike">
                <a:solidFill>
                  <a:srgbClr val="000000"/>
                </a:solidFill>
                <a:latin typeface="Calibri"/>
              </a:rPr>
              <a:t>Construire un tableau : entêtes en Column Header, données en Detail</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2000" spc="-1" strike="noStrike">
                <a:solidFill>
                  <a:srgbClr val="000000"/>
                </a:solidFill>
                <a:latin typeface="Calibri"/>
              </a:rPr>
              <a:t>Bordures et marges internes des champs texte, alignements (nombres à droite, textes à gauche)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2000" spc="-1" strike="noStrike">
                <a:solidFill>
                  <a:srgbClr val="000000"/>
                </a:solidFill>
                <a:latin typeface="Calibri"/>
              </a:rPr>
              <a:t>Même hauteur pour tous les éléments d'une ligne, Text Adjust cohérent</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2000" spc="-1" strike="noStrike">
                <a:solidFill>
                  <a:srgbClr val="000000"/>
                </a:solidFill>
                <a:latin typeface="Calibri"/>
              </a:rPr>
              <a:t>Ajouter une ligne ou un cadre pour délimiter les blocs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fr-FR" sz="2000" spc="-1" strike="noStrike">
                <a:solidFill>
                  <a:srgbClr val="000000"/>
                </a:solidFill>
                <a:latin typeface="Calibri"/>
              </a:rPr>
              <a:t>Vérifier le rendu en PDF sur plusieurs pages</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Jour 2 : Formatage de rapport</a:t>
            </a:r>
            <a:endParaRPr b="0" lang="fr-FR" sz="3600" spc="-1" strike="noStrike">
              <a:solidFill>
                <a:srgbClr val="000000"/>
              </a:solidFill>
              <a:latin typeface="Arial"/>
            </a:endParaRPr>
          </a:p>
        </p:txBody>
      </p:sp>
      <p:sp>
        <p:nvSpPr>
          <p:cNvPr id="255" name="PlaceHolder 2"/>
          <p:cNvSpPr>
            <a:spLocks noGrp="1"/>
          </p:cNvSpPr>
          <p:nvPr>
            <p:ph/>
          </p:nvPr>
        </p:nvSpPr>
        <p:spPr>
          <a:xfrm>
            <a:off x="762120" y="2540160"/>
            <a:ext cx="9397080" cy="4062960"/>
          </a:xfrm>
          <a:prstGeom prst="rect">
            <a:avLst/>
          </a:prstGeom>
          <a:noFill/>
          <a:ln w="0">
            <a:noFill/>
          </a:ln>
        </p:spPr>
        <p:txBody>
          <a:bodyPr lIns="91440" rIns="91440" tIns="45720" bIns="45720" anchor="t">
            <a:normAutofit/>
          </a:bodyPr>
          <a:p>
            <a:pPr indent="0" algn="ctr" defTabSz="457200">
              <a:lnSpc>
                <a:spcPct val="100000"/>
              </a:lnSpc>
              <a:spcBef>
                <a:spcPts val="519"/>
              </a:spcBef>
              <a:buNone/>
              <a:tabLst>
                <a:tab algn="l" pos="0"/>
              </a:tabLst>
            </a:pPr>
            <a:r>
              <a:rPr b="0" lang="en-US" sz="2600" spc="-1" strike="noStrike">
                <a:solidFill>
                  <a:schemeClr val="dk1"/>
                </a:solidFill>
                <a:latin typeface="Calibri"/>
              </a:rPr>
              <a:t>Gestion des images et logos</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Gestion des polices</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Styles et formats</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Contrôler la pagination</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Expressions simples</a:t>
            </a:r>
            <a:endParaRPr b="0" lang="fr-FR"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Gestion des images et logos</a:t>
            </a:r>
            <a:endParaRPr b="0" lang="fr-FR" sz="3600" spc="-1" strike="noStrike">
              <a:solidFill>
                <a:srgbClr val="000000"/>
              </a:solidFill>
              <a:latin typeface="Arial"/>
            </a:endParaRPr>
          </a:p>
        </p:txBody>
      </p:sp>
      <p:sp>
        <p:nvSpPr>
          <p:cNvPr id="257" name="PlaceHolder 2"/>
          <p:cNvSpPr>
            <a:spLocks noGrp="1"/>
          </p:cNvSpPr>
          <p:nvPr>
            <p:ph/>
          </p:nvPr>
        </p:nvSpPr>
        <p:spPr>
          <a:xfrm>
            <a:off x="762120" y="2540160"/>
            <a:ext cx="9397080" cy="4062960"/>
          </a:xfrm>
          <a:prstGeom prst="rect">
            <a:avLst/>
          </a:prstGeom>
          <a:noFill/>
          <a:ln w="0">
            <a:noFill/>
          </a:ln>
        </p:spPr>
        <p:txBody>
          <a:bodyPr lIns="91440" rIns="91440" tIns="45720" bIns="45720" anchor="t">
            <a:normAutofit/>
          </a:bodyPr>
          <a:p>
            <a:pPr indent="0" algn="ctr" defTabSz="457200">
              <a:lnSpc>
                <a:spcPct val="100000"/>
              </a:lnSpc>
              <a:spcBef>
                <a:spcPts val="519"/>
              </a:spcBef>
              <a:buNone/>
              <a:tabLst>
                <a:tab algn="l" pos="0"/>
              </a:tabLst>
            </a:pPr>
            <a:r>
              <a:rPr b="0" lang="en-US" sz="2600" spc="-1" strike="noStrike">
                <a:solidFill>
                  <a:schemeClr val="dk1"/>
                </a:solidFill>
                <a:latin typeface="Calibri"/>
              </a:rPr>
              <a:t>Insertion et remplacement d'un logo</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Dimensions et proportions</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Positionnement dans l'en-tête</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Image en filigrane</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Qualité de rendu</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Erreurs courantes</a:t>
            </a:r>
            <a:endParaRPr b="0" lang="fr-FR"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ImageExpression</a:t>
            </a:r>
            <a:endParaRPr b="0" lang="fr-FR" sz="3600" spc="-1" strike="noStrike">
              <a:solidFill>
                <a:srgbClr val="000000"/>
              </a:solidFill>
              <a:latin typeface="Arial"/>
            </a:endParaRPr>
          </a:p>
        </p:txBody>
      </p:sp>
      <p:sp>
        <p:nvSpPr>
          <p:cNvPr id="259"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Les images ne sont pas stockées avec le rapport, seule sa référence via l'élément </a:t>
            </a:r>
            <a:r>
              <a:rPr b="1" i="1" lang="en-US" sz="2000" spc="-1" strike="noStrike">
                <a:solidFill>
                  <a:schemeClr val="dk1"/>
                </a:solidFill>
                <a:latin typeface="Calibri"/>
              </a:rPr>
              <a:t>&lt;imageExpression&gt;</a:t>
            </a:r>
            <a:r>
              <a:rPr b="0" lang="en-US" sz="2000" spc="-1" strike="noStrike">
                <a:solidFill>
                  <a:schemeClr val="dk1"/>
                </a:solidFill>
                <a:latin typeface="Calibri"/>
              </a:rPr>
              <a:t> y est présente.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L'attribut </a:t>
            </a:r>
            <a:r>
              <a:rPr b="1" i="1" lang="en-US" sz="2000" spc="-1" strike="noStrike">
                <a:solidFill>
                  <a:schemeClr val="dk1"/>
                </a:solidFill>
                <a:latin typeface="Calibri"/>
              </a:rPr>
              <a:t>class</a:t>
            </a:r>
            <a:r>
              <a:rPr b="0" lang="en-US" sz="2000" spc="-1" strike="noStrike">
                <a:solidFill>
                  <a:schemeClr val="dk1"/>
                </a:solidFill>
                <a:latin typeface="Calibri"/>
              </a:rPr>
              <a:t> de la balise indique le type de l'expression ; les principales valeurs sont :</a:t>
            </a:r>
            <a:endParaRPr b="0" lang="fr-FR" sz="2000" spc="-1" strike="noStrike">
              <a:solidFill>
                <a:srgbClr val="000000"/>
              </a:solidFill>
              <a:latin typeface="Arial"/>
            </a:endParaRPr>
          </a:p>
          <a:p>
            <a:pPr lvl="1" marL="743040" indent="-285840" defTabSz="457200">
              <a:lnSpc>
                <a:spcPct val="100000"/>
              </a:lnSpc>
              <a:spcBef>
                <a:spcPts val="400"/>
              </a:spcBef>
              <a:buClr>
                <a:srgbClr val="000000"/>
              </a:buClr>
              <a:buFont typeface="Arial"/>
              <a:buChar char="–"/>
            </a:pPr>
            <a:r>
              <a:rPr b="1" i="1" lang="en-US" sz="2000" spc="-1" strike="noStrike">
                <a:solidFill>
                  <a:schemeClr val="dk1"/>
                </a:solidFill>
                <a:latin typeface="Calibri"/>
              </a:rPr>
              <a:t>java.lang.String</a:t>
            </a:r>
            <a:r>
              <a:rPr b="0" lang="en-US" sz="2000" spc="-1" strike="noStrike">
                <a:solidFill>
                  <a:schemeClr val="dk1"/>
                </a:solidFill>
                <a:latin typeface="Calibri"/>
              </a:rPr>
              <a:t> : Emplacement et nom du fichier. Ex : </a:t>
            </a:r>
            <a:r>
              <a:rPr b="0" i="1" lang="en-US" sz="2000" spc="-1" strike="noStrike">
                <a:solidFill>
                  <a:schemeClr val="dk1"/>
                </a:solidFill>
                <a:latin typeface="Calibri"/>
              </a:rPr>
              <a:t>/home/public/images/logo-footer.gif</a:t>
            </a:r>
            <a:endParaRPr b="0" lang="fr-FR" sz="2000" spc="-1" strike="noStrike">
              <a:solidFill>
                <a:srgbClr val="000000"/>
              </a:solidFill>
              <a:latin typeface="Arial"/>
            </a:endParaRPr>
          </a:p>
          <a:p>
            <a:pPr lvl="1" marL="743040" indent="-285840" defTabSz="457200">
              <a:lnSpc>
                <a:spcPct val="100000"/>
              </a:lnSpc>
              <a:spcBef>
                <a:spcPts val="400"/>
              </a:spcBef>
              <a:buClr>
                <a:srgbClr val="000000"/>
              </a:buClr>
              <a:buFont typeface="Arial"/>
              <a:buChar char="–"/>
            </a:pPr>
            <a:r>
              <a:rPr b="1" i="1" lang="en-US" sz="2000" spc="-1" strike="noStrike">
                <a:solidFill>
                  <a:schemeClr val="dk1"/>
                </a:solidFill>
                <a:latin typeface="Calibri"/>
              </a:rPr>
              <a:t>java.io.File</a:t>
            </a:r>
            <a:r>
              <a:rPr b="0" lang="en-US" sz="2000" spc="-1" strike="noStrike">
                <a:solidFill>
                  <a:schemeClr val="dk1"/>
                </a:solidFill>
                <a:latin typeface="Calibri"/>
              </a:rPr>
              <a:t> : Objet Java File. Ex : </a:t>
            </a:r>
            <a:r>
              <a:rPr b="0" i="1" lang="en-US" sz="2000" spc="-1" strike="noStrike">
                <a:solidFill>
                  <a:schemeClr val="dk1"/>
                </a:solidFill>
                <a:latin typeface="Calibri"/>
              </a:rPr>
              <a:t>new java.io.File(“c:\\myImage.jpg”)</a:t>
            </a:r>
            <a:endParaRPr b="0" lang="fr-FR" sz="2000" spc="-1" strike="noStrike">
              <a:solidFill>
                <a:srgbClr val="000000"/>
              </a:solidFill>
              <a:latin typeface="Arial"/>
            </a:endParaRPr>
          </a:p>
          <a:p>
            <a:pPr lvl="1" marL="743040" indent="-285840" defTabSz="457200">
              <a:lnSpc>
                <a:spcPct val="100000"/>
              </a:lnSpc>
              <a:spcBef>
                <a:spcPts val="400"/>
              </a:spcBef>
              <a:buClr>
                <a:srgbClr val="000000"/>
              </a:buClr>
              <a:buFont typeface="Arial"/>
              <a:buChar char="–"/>
            </a:pPr>
            <a:r>
              <a:rPr b="1" i="1" lang="en-US" sz="2000" spc="-1" strike="noStrike">
                <a:solidFill>
                  <a:schemeClr val="dk1"/>
                </a:solidFill>
                <a:latin typeface="Calibri"/>
              </a:rPr>
              <a:t>java.net.URL</a:t>
            </a:r>
            <a:r>
              <a:rPr b="0" lang="en-US" sz="2000" spc="-1" strike="noStrike">
                <a:solidFill>
                  <a:schemeClr val="dk1"/>
                </a:solidFill>
                <a:latin typeface="Calibri"/>
              </a:rPr>
              <a:t> : L'URL de l'objet Ex : </a:t>
            </a:r>
            <a:r>
              <a:rPr b="0" i="1" lang="en-US" sz="2000" spc="-1" strike="noStrike">
                <a:solidFill>
                  <a:schemeClr val="dk1"/>
                </a:solidFill>
                <a:latin typeface="Calibri"/>
              </a:rPr>
              <a:t>new java.net.URL(“http://127.0.0.1/test.jpg”)</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Portabilité</a:t>
            </a:r>
            <a:endParaRPr b="0" lang="fr-FR" sz="3600" spc="-1" strike="noStrike">
              <a:solidFill>
                <a:srgbClr val="000000"/>
              </a:solidFill>
              <a:latin typeface="Arial"/>
            </a:endParaRPr>
          </a:p>
        </p:txBody>
      </p:sp>
      <p:sp>
        <p:nvSpPr>
          <p:cNvPr id="261"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Lorsque l'on définit une image en précisant son emplacement, il faut que cet emplacement soit valide dans l’environnement de développement </a:t>
            </a:r>
            <a:r>
              <a:rPr b="1" lang="en-US" sz="2000" spc="-1" strike="noStrike">
                <a:solidFill>
                  <a:schemeClr val="dk1"/>
                </a:solidFill>
                <a:latin typeface="Calibri"/>
              </a:rPr>
              <a:t>ET</a:t>
            </a:r>
            <a:r>
              <a:rPr b="0" lang="en-US" sz="2000" spc="-1" strike="noStrike">
                <a:solidFill>
                  <a:schemeClr val="dk1"/>
                </a:solidFill>
                <a:latin typeface="Calibri"/>
              </a:rPr>
              <a:t> de production</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Les meilleurs pratiques pour éviter les problèmes en production sont : </a:t>
            </a:r>
            <a:endParaRPr b="0" lang="fr-FR" sz="20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1600" spc="-1" strike="noStrike">
                <a:solidFill>
                  <a:schemeClr val="dk1"/>
                </a:solidFill>
                <a:latin typeface="Calibri"/>
              </a:rPr>
              <a:t>Utiliser un </a:t>
            </a:r>
            <a:r>
              <a:rPr b="1" lang="en-US" sz="1600" spc="-1" strike="noStrike">
                <a:solidFill>
                  <a:schemeClr val="dk1"/>
                </a:solidFill>
                <a:latin typeface="Calibri"/>
              </a:rPr>
              <a:t>paramètre</a:t>
            </a:r>
            <a:r>
              <a:rPr b="0" lang="en-US" sz="1600" spc="-1" strike="noStrike">
                <a:solidFill>
                  <a:schemeClr val="dk1"/>
                </a:solidFill>
                <a:latin typeface="Calibri"/>
              </a:rPr>
              <a:t> dans l'expression indiquant le répertoire ou sont placées les images : </a:t>
            </a:r>
            <a:r>
              <a:rPr b="1" i="1" lang="en-US" sz="1600" spc="-1" strike="noStrike">
                <a:solidFill>
                  <a:schemeClr val="dk1"/>
                </a:solidFill>
                <a:latin typeface="Calibri"/>
              </a:rPr>
              <a:t>$P{MY_IMAGES_DIRECTORY} + “myImage.png”</a:t>
            </a:r>
            <a:r>
              <a:rPr b="0" lang="en-US" sz="1600" spc="-1" strike="noStrike">
                <a:solidFill>
                  <a:schemeClr val="dk1"/>
                </a:solidFill>
                <a:latin typeface="Calibri"/>
              </a:rPr>
              <a:t> Au moment de la génération, l'application métier ou jasperServer positionne ce paramètre.</a:t>
            </a:r>
            <a:endParaRPr b="0" lang="fr-FR" sz="16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1600" spc="-1" strike="noStrike">
                <a:solidFill>
                  <a:schemeClr val="dk1"/>
                </a:solidFill>
                <a:latin typeface="Calibri"/>
              </a:rPr>
              <a:t>Utiliser le </a:t>
            </a:r>
            <a:r>
              <a:rPr b="1" lang="en-US" sz="1600" spc="-1" strike="noStrike">
                <a:solidFill>
                  <a:schemeClr val="dk1"/>
                </a:solidFill>
                <a:latin typeface="Calibri"/>
              </a:rPr>
              <a:t>classpath</a:t>
            </a:r>
            <a:r>
              <a:rPr b="0" lang="en-US" sz="1600" spc="-1" strike="noStrike">
                <a:solidFill>
                  <a:schemeClr val="dk1"/>
                </a:solidFill>
                <a:latin typeface="Calibri"/>
              </a:rPr>
              <a:t> JAVA. (Recommandé) Dans ce cas, l'expression de l'emplacement est relative au classpath et le déploiement de l'application inclut les images dans l’archive de l’application.</a:t>
            </a:r>
            <a:endParaRPr b="0" lang="fr-FR" sz="1600" spc="-1" strike="noStrike">
              <a:solidFill>
                <a:srgbClr val="000000"/>
              </a:solidFill>
              <a:latin typeface="Arial"/>
            </a:endParaRPr>
          </a:p>
          <a:p>
            <a:pPr indent="0" defTabSz="457200">
              <a:lnSpc>
                <a:spcPct val="100000"/>
              </a:lnSpc>
              <a:spcBef>
                <a:spcPts val="400"/>
              </a:spcBef>
              <a:buNone/>
              <a:tabLst>
                <a:tab algn="l" pos="0"/>
              </a:tabLst>
            </a:pPr>
            <a:r>
              <a:rPr b="0" lang="en-US" sz="2000" spc="-1" strike="noStrike">
                <a:solidFill>
                  <a:schemeClr val="dk1"/>
                </a:solidFill>
                <a:latin typeface="Calibri"/>
              </a:rPr>
              <a:t>Ces méthodes sont utilisées pour les autres types de ressources externes (sous-rapport, police externe, scriptlet, ressource bundle, …)</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Attributs de chargement</a:t>
            </a:r>
            <a:endParaRPr b="0" lang="fr-FR" sz="3600" spc="-1" strike="noStrike">
              <a:solidFill>
                <a:srgbClr val="000000"/>
              </a:solidFill>
              <a:latin typeface="Arial"/>
            </a:endParaRPr>
          </a:p>
        </p:txBody>
      </p:sp>
      <p:sp>
        <p:nvSpPr>
          <p:cNvPr id="263"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fontScale="94444"/>
          </a:bodyPr>
          <a:p>
            <a:pPr marL="343080" indent="-343080" defTabSz="457200">
              <a:lnSpc>
                <a:spcPct val="100000"/>
              </a:lnSpc>
              <a:spcBef>
                <a:spcPts val="519"/>
              </a:spcBef>
              <a:buClr>
                <a:srgbClr val="000000"/>
              </a:buClr>
              <a:buFont typeface="Arial"/>
              <a:buChar char="•"/>
            </a:pPr>
            <a:r>
              <a:rPr b="1" i="1" lang="en-US" sz="2600" spc="-1" strike="noStrike">
                <a:solidFill>
                  <a:schemeClr val="dk1"/>
                </a:solidFill>
                <a:latin typeface="Calibri"/>
              </a:rPr>
              <a:t>isLazy</a:t>
            </a:r>
            <a:r>
              <a:rPr b="0" lang="en-US" sz="2600" spc="-1" strike="noStrike">
                <a:solidFill>
                  <a:schemeClr val="dk1"/>
                </a:solidFill>
                <a:latin typeface="Calibri"/>
              </a:rPr>
              <a:t> : L'image n'est chargée qu'à l'exécution du rapport</a:t>
            </a:r>
            <a:endParaRPr b="0" lang="fr-FR" sz="2600" spc="-1" strike="noStrike">
              <a:solidFill>
                <a:srgbClr val="000000"/>
              </a:solidFill>
              <a:latin typeface="Arial"/>
            </a:endParaRPr>
          </a:p>
          <a:p>
            <a:pPr marL="343080" indent="-343080" defTabSz="457200">
              <a:lnSpc>
                <a:spcPct val="100000"/>
              </a:lnSpc>
              <a:spcBef>
                <a:spcPts val="519"/>
              </a:spcBef>
              <a:buClr>
                <a:srgbClr val="000000"/>
              </a:buClr>
              <a:buFont typeface="Arial"/>
              <a:buChar char="•"/>
            </a:pPr>
            <a:r>
              <a:rPr b="1" i="1" lang="en-US" sz="2600" spc="-1" strike="noStrike">
                <a:solidFill>
                  <a:schemeClr val="dk1"/>
                </a:solidFill>
                <a:latin typeface="Calibri"/>
              </a:rPr>
              <a:t>isUsingCache</a:t>
            </a:r>
            <a:r>
              <a:rPr b="0" lang="en-US" sz="2600" spc="-1" strike="noStrike">
                <a:solidFill>
                  <a:schemeClr val="dk1"/>
                </a:solidFill>
                <a:latin typeface="Calibri"/>
              </a:rPr>
              <a:t> : L'image est gardée en mémoire pour être réutilisée</a:t>
            </a:r>
            <a:endParaRPr b="0" lang="fr-FR" sz="2600" spc="-1" strike="noStrike">
              <a:solidFill>
                <a:srgbClr val="000000"/>
              </a:solidFill>
              <a:latin typeface="Arial"/>
            </a:endParaRPr>
          </a:p>
          <a:p>
            <a:pPr marL="343080" indent="-343080" defTabSz="457200">
              <a:lnSpc>
                <a:spcPct val="100000"/>
              </a:lnSpc>
              <a:spcBef>
                <a:spcPts val="561"/>
              </a:spcBef>
              <a:buClr>
                <a:srgbClr val="000000"/>
              </a:buClr>
              <a:buFont typeface="Arial"/>
              <a:buChar char="•"/>
            </a:pPr>
            <a:r>
              <a:rPr b="1" i="1" lang="en-US" sz="2800" spc="-1" strike="noStrike">
                <a:solidFill>
                  <a:schemeClr val="dk1"/>
                </a:solidFill>
                <a:latin typeface="Calibri"/>
              </a:rPr>
              <a:t>onErrorType</a:t>
            </a:r>
            <a:r>
              <a:rPr b="0" lang="en-US" sz="2800" spc="-1" strike="noStrike">
                <a:solidFill>
                  <a:schemeClr val="dk1"/>
                </a:solidFill>
                <a:latin typeface="Calibri"/>
              </a:rPr>
              <a:t> : Spécifie le comportement si l'image ne peut pas être chargée :</a:t>
            </a:r>
            <a:endParaRPr b="0" lang="fr-FR" sz="28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pPr>
            <a:r>
              <a:rPr b="1" i="1" lang="en-US" sz="2800" spc="-1" strike="noStrike">
                <a:solidFill>
                  <a:schemeClr val="dk1"/>
                </a:solidFill>
                <a:latin typeface="Calibri"/>
              </a:rPr>
              <a:t>Error</a:t>
            </a:r>
            <a:r>
              <a:rPr b="0" lang="en-US" sz="2800" spc="-1" strike="noStrike">
                <a:solidFill>
                  <a:schemeClr val="dk1"/>
                </a:solidFill>
                <a:latin typeface="Calibri"/>
              </a:rPr>
              <a:t> : Une exception Java est lancée.</a:t>
            </a:r>
            <a:endParaRPr b="0" lang="fr-FR" sz="28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pPr>
            <a:r>
              <a:rPr b="1" i="1" lang="en-US" sz="2800" spc="-1" strike="noStrike">
                <a:solidFill>
                  <a:schemeClr val="dk1"/>
                </a:solidFill>
                <a:latin typeface="Calibri"/>
              </a:rPr>
              <a:t>Blank</a:t>
            </a:r>
            <a:r>
              <a:rPr b="0" lang="en-US" sz="2800" spc="-1" strike="noStrike">
                <a:solidFill>
                  <a:schemeClr val="dk1"/>
                </a:solidFill>
                <a:latin typeface="Calibri"/>
              </a:rPr>
              <a:t> : L'exception est ignorée et l'image est remplacée par un rectangle blanc.</a:t>
            </a:r>
            <a:endParaRPr b="0" lang="fr-FR" sz="28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pPr>
            <a:r>
              <a:rPr b="1" i="1" lang="en-US" sz="2800" spc="-1" strike="noStrike">
                <a:solidFill>
                  <a:schemeClr val="dk1"/>
                </a:solidFill>
                <a:latin typeface="Calibri"/>
              </a:rPr>
              <a:t>Icon</a:t>
            </a:r>
            <a:r>
              <a:rPr b="0" lang="en-US" sz="2800" spc="-1" strike="noStrike">
                <a:solidFill>
                  <a:schemeClr val="dk1"/>
                </a:solidFill>
                <a:latin typeface="Calibri"/>
              </a:rPr>
              <a:t> : L'exception est ignorée et un icône de remplacement est affiché.</a:t>
            </a:r>
            <a:endParaRPr b="0" lang="fr-F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Autres attributs</a:t>
            </a:r>
            <a:endParaRPr b="0" lang="fr-FR" sz="3600" spc="-1" strike="noStrike">
              <a:solidFill>
                <a:srgbClr val="000000"/>
              </a:solidFill>
              <a:latin typeface="Arial"/>
            </a:endParaRPr>
          </a:p>
        </p:txBody>
      </p:sp>
      <p:sp>
        <p:nvSpPr>
          <p:cNvPr id="265"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79"/>
              </a:spcBef>
              <a:buClr>
                <a:srgbClr val="000000"/>
              </a:buClr>
              <a:buFont typeface="Arial"/>
              <a:buChar char="•"/>
            </a:pPr>
            <a:r>
              <a:rPr b="1" i="1" lang="en-US" sz="2400" spc="-1" strike="noStrike">
                <a:solidFill>
                  <a:schemeClr val="dk1"/>
                </a:solidFill>
                <a:latin typeface="Calibri"/>
              </a:rPr>
              <a:t>Scale</a:t>
            </a:r>
            <a:r>
              <a:rPr b="0" lang="en-US" sz="2400" spc="-1" strike="noStrike">
                <a:solidFill>
                  <a:schemeClr val="dk1"/>
                </a:solidFill>
                <a:latin typeface="Calibri"/>
              </a:rPr>
              <a:t> : Définit comment l'image se comporte par rapport aux dimensions de l'élément :</a:t>
            </a:r>
            <a:endParaRPr b="0" lang="fr-FR" sz="2400" spc="-1" strike="noStrike">
              <a:solidFill>
                <a:srgbClr val="000000"/>
              </a:solidFill>
              <a:latin typeface="Arial"/>
            </a:endParaRPr>
          </a:p>
          <a:p>
            <a:pPr lvl="1" marL="743040" indent="-285840" defTabSz="457200">
              <a:lnSpc>
                <a:spcPct val="100000"/>
              </a:lnSpc>
              <a:spcBef>
                <a:spcPts val="400"/>
              </a:spcBef>
              <a:buClr>
                <a:srgbClr val="000000"/>
              </a:buClr>
              <a:buFont typeface="Arial"/>
              <a:buChar char="–"/>
            </a:pPr>
            <a:r>
              <a:rPr b="1" i="1" lang="en-US" sz="2000" spc="-1" strike="noStrike">
                <a:solidFill>
                  <a:schemeClr val="dk1"/>
                </a:solidFill>
                <a:latin typeface="Calibri"/>
              </a:rPr>
              <a:t>Clip</a:t>
            </a:r>
            <a:r>
              <a:rPr b="0" lang="en-US" sz="2000" spc="-1" strike="noStrike">
                <a:solidFill>
                  <a:schemeClr val="dk1"/>
                </a:solidFill>
                <a:latin typeface="Calibri"/>
              </a:rPr>
              <a:t> : L'image n'est pas modifiée, et seule la partie correspondant aux dimensions de l'élément est affichée </a:t>
            </a:r>
            <a:endParaRPr b="0" lang="fr-FR" sz="2000" spc="-1" strike="noStrike">
              <a:solidFill>
                <a:srgbClr val="000000"/>
              </a:solidFill>
              <a:latin typeface="Arial"/>
            </a:endParaRPr>
          </a:p>
          <a:p>
            <a:pPr lvl="1" marL="743040" indent="-285840" defTabSz="457200">
              <a:lnSpc>
                <a:spcPct val="100000"/>
              </a:lnSpc>
              <a:spcBef>
                <a:spcPts val="400"/>
              </a:spcBef>
              <a:buClr>
                <a:srgbClr val="000000"/>
              </a:buClr>
              <a:buFont typeface="Arial"/>
              <a:buChar char="–"/>
            </a:pPr>
            <a:r>
              <a:rPr b="1" i="1" lang="en-US" sz="2000" spc="-1" strike="noStrike">
                <a:solidFill>
                  <a:schemeClr val="dk1"/>
                </a:solidFill>
                <a:latin typeface="Calibri"/>
              </a:rPr>
              <a:t>FillFrame</a:t>
            </a:r>
            <a:r>
              <a:rPr b="0" lang="en-US" sz="2000" spc="-1" strike="noStrike">
                <a:solidFill>
                  <a:schemeClr val="dk1"/>
                </a:solidFill>
                <a:latin typeface="Calibri"/>
              </a:rPr>
              <a:t> : L'image remplit le cadre</a:t>
            </a:r>
            <a:endParaRPr b="0" lang="fr-FR" sz="2000" spc="-1" strike="noStrike">
              <a:solidFill>
                <a:srgbClr val="000000"/>
              </a:solidFill>
              <a:latin typeface="Arial"/>
            </a:endParaRPr>
          </a:p>
          <a:p>
            <a:pPr lvl="1" marL="743040" indent="-285840" defTabSz="457200">
              <a:lnSpc>
                <a:spcPct val="100000"/>
              </a:lnSpc>
              <a:spcBef>
                <a:spcPts val="400"/>
              </a:spcBef>
              <a:buClr>
                <a:srgbClr val="000000"/>
              </a:buClr>
              <a:buFont typeface="Arial"/>
              <a:buChar char="–"/>
            </a:pPr>
            <a:r>
              <a:rPr b="1" i="1" lang="en-US" sz="2000" spc="-1" strike="noStrike">
                <a:solidFill>
                  <a:schemeClr val="dk1"/>
                </a:solidFill>
                <a:latin typeface="Calibri"/>
              </a:rPr>
              <a:t>RetainShape</a:t>
            </a:r>
            <a:r>
              <a:rPr b="0" lang="en-US" sz="2000" spc="-1" strike="noStrike">
                <a:solidFill>
                  <a:schemeClr val="dk1"/>
                </a:solidFill>
                <a:latin typeface="Calibri"/>
              </a:rPr>
              <a:t> : L'image est adaptée en conservant les proportions</a:t>
            </a:r>
            <a:endParaRPr b="0" lang="fr-FR" sz="2000" spc="-1" strike="noStrike">
              <a:solidFill>
                <a:srgbClr val="000000"/>
              </a:solidFill>
              <a:latin typeface="Arial"/>
            </a:endParaRPr>
          </a:p>
          <a:p>
            <a:pPr lvl="1" marL="743040" indent="-285840" defTabSz="457200">
              <a:lnSpc>
                <a:spcPct val="100000"/>
              </a:lnSpc>
              <a:spcBef>
                <a:spcPts val="400"/>
              </a:spcBef>
              <a:buClr>
                <a:srgbClr val="000000"/>
              </a:buClr>
              <a:buFont typeface="Arial"/>
              <a:buChar char="–"/>
            </a:pPr>
            <a:r>
              <a:rPr b="1" i="1" lang="en-US" sz="2000" spc="-1" strike="noStrike">
                <a:solidFill>
                  <a:schemeClr val="dk1"/>
                </a:solidFill>
                <a:latin typeface="Calibri"/>
              </a:rPr>
              <a:t>RealHeight</a:t>
            </a:r>
            <a:r>
              <a:rPr b="0" lang="en-US" sz="2000" spc="-1" strike="noStrike">
                <a:solidFill>
                  <a:schemeClr val="dk1"/>
                </a:solidFill>
                <a:latin typeface="Calibri"/>
              </a:rPr>
              <a:t> : Conserve la hauteur réelle de l'image (</a:t>
            </a:r>
            <a:r>
              <a:rPr b="0" i="1" lang="en-US" sz="2000" spc="-1" strike="noStrike">
                <a:solidFill>
                  <a:schemeClr val="dk1"/>
                </a:solidFill>
                <a:latin typeface="Calibri"/>
              </a:rPr>
              <a:t>JRRenderable</a:t>
            </a:r>
            <a:r>
              <a:rPr b="0" lang="en-US" sz="2000" spc="-1" strike="noStrike">
                <a:solidFill>
                  <a:schemeClr val="dk1"/>
                </a:solidFill>
                <a:latin typeface="Calibri"/>
              </a:rPr>
              <a:t>)</a:t>
            </a:r>
            <a:endParaRPr b="0" lang="fr-FR" sz="2000" spc="-1" strike="noStrike">
              <a:solidFill>
                <a:srgbClr val="000000"/>
              </a:solidFill>
              <a:latin typeface="Arial"/>
            </a:endParaRPr>
          </a:p>
          <a:p>
            <a:pPr lvl="1" marL="743040" indent="-285840" defTabSz="457200">
              <a:lnSpc>
                <a:spcPct val="100000"/>
              </a:lnSpc>
              <a:spcBef>
                <a:spcPts val="400"/>
              </a:spcBef>
              <a:buClr>
                <a:srgbClr val="000000"/>
              </a:buClr>
              <a:buFont typeface="Arial"/>
              <a:buChar char="–"/>
            </a:pPr>
            <a:r>
              <a:rPr b="1" i="1" lang="en-US" sz="2000" spc="-1" strike="noStrike">
                <a:solidFill>
                  <a:schemeClr val="dk1"/>
                </a:solidFill>
                <a:latin typeface="Calibri"/>
              </a:rPr>
              <a:t>RealSize</a:t>
            </a:r>
            <a:r>
              <a:rPr b="0" lang="en-US" sz="2000" spc="-1" strike="noStrike">
                <a:solidFill>
                  <a:schemeClr val="dk1"/>
                </a:solidFill>
                <a:latin typeface="Calibri"/>
              </a:rPr>
              <a:t> : Conserve la taille réelle de l'image (</a:t>
            </a:r>
            <a:r>
              <a:rPr b="0" i="1" lang="en-US" sz="2000" spc="-1" strike="noStrike">
                <a:solidFill>
                  <a:schemeClr val="dk1"/>
                </a:solidFill>
                <a:latin typeface="Calibri"/>
              </a:rPr>
              <a:t>JRRenderable</a:t>
            </a:r>
            <a:r>
              <a:rPr b="0" lang="en-US" sz="2000" spc="-1" strike="noStrike">
                <a:solidFill>
                  <a:schemeClr val="dk1"/>
                </a:solidFill>
                <a:latin typeface="Calibri"/>
              </a:rPr>
              <a:t>)</a:t>
            </a:r>
            <a:endParaRPr b="0" lang="fr-FR" sz="2000" spc="-1" strike="noStrike">
              <a:solidFill>
                <a:srgbClr val="000000"/>
              </a:solidFill>
              <a:latin typeface="Arial"/>
            </a:endParaRPr>
          </a:p>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Alignements verticaux et horizontaux (</a:t>
            </a:r>
            <a:r>
              <a:rPr b="1" i="1" lang="en-US" sz="2400" spc="-1" strike="noStrike">
                <a:solidFill>
                  <a:schemeClr val="dk1"/>
                </a:solidFill>
                <a:latin typeface="Calibri"/>
              </a:rPr>
              <a:t>halign</a:t>
            </a:r>
            <a:r>
              <a:rPr b="0" lang="en-US" sz="2400" spc="-1" strike="noStrike">
                <a:solidFill>
                  <a:schemeClr val="dk1"/>
                </a:solidFill>
                <a:latin typeface="Calibri"/>
              </a:rPr>
              <a:t> et </a:t>
            </a:r>
            <a:r>
              <a:rPr b="1" i="1" lang="en-US" sz="2400" spc="-1" strike="noStrike">
                <a:solidFill>
                  <a:schemeClr val="dk1"/>
                </a:solidFill>
                <a:latin typeface="Calibri"/>
              </a:rPr>
              <a:t>valign</a:t>
            </a:r>
            <a:r>
              <a:rPr b="0" lang="en-US" sz="2400" spc="-1" strike="noStrike">
                <a:solidFill>
                  <a:schemeClr val="dk1"/>
                </a:solidFill>
                <a:latin typeface="Calibri"/>
              </a:rPr>
              <a:t>)</a:t>
            </a:r>
            <a:endParaRPr b="0" lang="fr-F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Insérer et remplacer un logo</a:t>
            </a:r>
            <a:endParaRPr b="0" lang="fr-FR" sz="3600" spc="-1" strike="noStrike">
              <a:solidFill>
                <a:srgbClr val="000000"/>
              </a:solidFill>
              <a:latin typeface="Arial"/>
            </a:endParaRPr>
          </a:p>
        </p:txBody>
      </p:sp>
      <p:sp>
        <p:nvSpPr>
          <p:cNvPr id="267"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Copier le fichier image dans le projet (dossier </a:t>
            </a:r>
            <a:r>
              <a:rPr b="0" lang="en-US" sz="2000" spc="-1" strike="noStrike">
                <a:solidFill>
                  <a:schemeClr val="dk1"/>
                </a:solidFill>
                <a:latin typeface="Courier New"/>
              </a:rPr>
              <a:t>images/</a:t>
            </a:r>
            <a:r>
              <a:rPr b="0" lang="en-US" sz="2000" spc="-1" strike="noStrike">
                <a:solidFill>
                  <a:schemeClr val="dk1"/>
                </a:solidFill>
                <a:latin typeface="Calibri"/>
              </a:rPr>
              <a:t>) avant de l'insérer</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Glisser l'élément </a:t>
            </a:r>
            <a:r>
              <a:rPr b="1" lang="en-US" sz="2000" spc="-1" strike="noStrike">
                <a:solidFill>
                  <a:schemeClr val="dk1"/>
                </a:solidFill>
                <a:latin typeface="Calibri"/>
              </a:rPr>
              <a:t>Image</a:t>
            </a:r>
            <a:r>
              <a:rPr b="0" lang="en-US" sz="2000" spc="-1" strike="noStrike">
                <a:solidFill>
                  <a:schemeClr val="dk1"/>
                </a:solidFill>
                <a:latin typeface="Calibri"/>
              </a:rPr>
              <a:t> de la palette dans la bande Page Header, choisir le fichier</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L'expression de l'image contient le chemin : </a:t>
            </a:r>
            <a:r>
              <a:rPr b="0" lang="en-US" sz="2000" spc="-1" strike="noStrike">
                <a:solidFill>
                  <a:schemeClr val="dk1"/>
                </a:solidFill>
                <a:latin typeface="Courier New"/>
              </a:rPr>
              <a:t>"images/logo.png"</a:t>
            </a:r>
            <a:r>
              <a:rPr b="0" lang="en-US" sz="2000" spc="-1" strike="noStrike">
                <a:solidFill>
                  <a:schemeClr val="dk1"/>
                </a:solidFill>
                <a:latin typeface="Calibri"/>
              </a:rPr>
              <a:t> (relatif au rapport) ou un paramètre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Remplacer un logo : remplacer le fichier en gardant le même nom, ou modifier l'expression</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En production, l'image doit être livrée avec le rapport : même chemin relatif, ou paramètre fixé par l'application</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Éviter les chemins absolus (</a:t>
            </a:r>
            <a:r>
              <a:rPr b="0" lang="en-US" sz="2000" spc="-1" strike="noStrike">
                <a:solidFill>
                  <a:schemeClr val="dk1"/>
                </a:solidFill>
                <a:latin typeface="Courier New"/>
              </a:rPr>
              <a:t>C:\Users\…</a:t>
            </a:r>
            <a:r>
              <a:rPr b="0" lang="en-US" sz="2000" spc="-1" strike="noStrike">
                <a:solidFill>
                  <a:schemeClr val="dk1"/>
                </a:solidFill>
                <a:latin typeface="Calibri"/>
              </a:rPr>
              <a:t>) : ils ne fonctionnent que sur le poste du concepteur</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Dimensions et proportions</a:t>
            </a:r>
            <a:endParaRPr b="0" lang="fr-FR" sz="3600" spc="-1" strike="noStrike">
              <a:solidFill>
                <a:srgbClr val="000000"/>
              </a:solidFill>
              <a:latin typeface="Arial"/>
            </a:endParaRPr>
          </a:p>
        </p:txBody>
      </p:sp>
      <p:sp>
        <p:nvSpPr>
          <p:cNvPr id="269"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L'élément a sa propre taille ; l'image est adaptée selon </a:t>
            </a:r>
            <a:r>
              <a:rPr b="1" lang="en-US" sz="2000" spc="-1" strike="noStrike">
                <a:solidFill>
                  <a:schemeClr val="dk1"/>
                </a:solidFill>
                <a:latin typeface="Calibri"/>
              </a:rPr>
              <a:t>Scale Image</a:t>
            </a:r>
            <a:r>
              <a:rPr b="0" lang="en-US" sz="2000" spc="-1" strike="noStrike">
                <a:solidFill>
                  <a:schemeClr val="dk1"/>
                </a:solidFill>
                <a:latin typeface="Calibri"/>
              </a:rPr>
              <a:t> :</a:t>
            </a:r>
            <a:endParaRPr b="0" lang="fr-FR" sz="20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1" lang="en-US" sz="1600" spc="-1" strike="noStrike">
                <a:solidFill>
                  <a:schemeClr val="dk1"/>
                </a:solidFill>
                <a:latin typeface="Calibri"/>
              </a:rPr>
              <a:t>RetainShape</a:t>
            </a:r>
            <a:r>
              <a:rPr b="0" lang="en-US" sz="1600" spc="-1" strike="noStrike">
                <a:solidFill>
                  <a:schemeClr val="dk1"/>
                </a:solidFill>
                <a:latin typeface="Calibri"/>
              </a:rPr>
              <a:t> : proportions conservées, l'image tient dans l'élément (choix conseillé pour un logo)</a:t>
            </a:r>
            <a:endParaRPr b="0" lang="fr-FR" sz="16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1600" spc="-1" strike="noStrike">
                <a:solidFill>
                  <a:schemeClr val="dk1"/>
                </a:solidFill>
                <a:latin typeface="Calibri"/>
              </a:rPr>
              <a:t>FillFrame : l'image remplit l'élément et se déforme</a:t>
            </a:r>
            <a:endParaRPr b="0" lang="fr-FR" sz="16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1600" spc="-1" strike="noStrike">
                <a:solidFill>
                  <a:schemeClr val="dk1"/>
                </a:solidFill>
                <a:latin typeface="Calibri"/>
              </a:rPr>
              <a:t>Clip : taille réelle, la partie qui dépasse est coupée</a:t>
            </a:r>
            <a:endParaRPr b="0" lang="fr-FR" sz="16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1600" spc="-1" strike="noStrike">
                <a:solidFill>
                  <a:schemeClr val="dk1"/>
                </a:solidFill>
                <a:latin typeface="Calibri"/>
              </a:rPr>
              <a:t>RealHeight / RealSize : l'élément prend la taille réelle de l'image</a:t>
            </a:r>
            <a:endParaRPr b="0" lang="fr-FR" sz="16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Alignement horizontal et vertical de l'image dans l'élément</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Régler la taille de l'élément aux proportions de l'image pour éviter les espaces blancs</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Positionnement précis dans l'en-tête</a:t>
            </a:r>
            <a:endParaRPr b="0" lang="fr-FR" sz="3600" spc="-1" strike="noStrike">
              <a:solidFill>
                <a:srgbClr val="000000"/>
              </a:solidFill>
              <a:latin typeface="Arial"/>
            </a:endParaRPr>
          </a:p>
        </p:txBody>
      </p:sp>
      <p:sp>
        <p:nvSpPr>
          <p:cNvPr id="271"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Saisir x, y, width, height dans la vue Properties plutôt qu'à la souris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Grille et aimantation (View → Snap to grid), guides depuis les règles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Outils d'alignement : aligner à gauche, centrer dans la bande, répartir</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Un élément ne doit pas dépasser sa bande : erreur « element is outside the band »</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Ajuster la hauteur de la bande Page Header à l'image la plus haute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Position Type : FixRelativeToTop pour un logo d'en-tête</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Image en filigrane</a:t>
            </a:r>
            <a:endParaRPr b="0" lang="fr-FR" sz="3600" spc="-1" strike="noStrike">
              <a:solidFill>
                <a:srgbClr val="000000"/>
              </a:solidFill>
              <a:latin typeface="Arial"/>
            </a:endParaRPr>
          </a:p>
        </p:txBody>
      </p:sp>
      <p:sp>
        <p:nvSpPr>
          <p:cNvPr id="273"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Placer l'image dans la bande </a:t>
            </a:r>
            <a:r>
              <a:rPr b="1" lang="en-US" sz="2000" spc="-1" strike="noStrike">
                <a:solidFill>
                  <a:schemeClr val="dk1"/>
                </a:solidFill>
                <a:latin typeface="Calibri"/>
              </a:rPr>
              <a:t>Background</a:t>
            </a:r>
            <a:r>
              <a:rPr b="0" lang="en-US" sz="2000" spc="-1" strike="noStrike">
                <a:solidFill>
                  <a:schemeClr val="dk1"/>
                </a:solidFill>
                <a:latin typeface="Calibri"/>
              </a:rPr>
              <a:t> : elle est dessinée sous le contenu de chaque page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Donner à la bande la hauteur de la page et centrer l'image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Utiliser un PNG avec transparence ou une image très claire : le texte doit rester lisible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Un texte statique en gros caractères gris clair (« BROUILLON », « CONFIDENTIEL ») peut jouer le même rôle, avec une rotation</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Afficher le filigrane sous condition avec Print When Expression, par exemple un paramètre </a:t>
            </a:r>
            <a:r>
              <a:rPr b="0" lang="en-US" sz="2000" spc="-1" strike="noStrike">
                <a:solidFill>
                  <a:schemeClr val="dk1"/>
                </a:solidFill>
                <a:latin typeface="Courier New"/>
              </a:rPr>
              <a:t>$P{BROUILLON}</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Le fond n'est pas exporté dans tous les formats (Excel notamment)</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Qualité de rendu à l'écran et à l'impression</a:t>
            </a:r>
            <a:endParaRPr b="0" lang="fr-FR" sz="3600" spc="-1" strike="noStrike">
              <a:solidFill>
                <a:srgbClr val="000000"/>
              </a:solidFill>
              <a:latin typeface="Arial"/>
            </a:endParaRPr>
          </a:p>
        </p:txBody>
      </p:sp>
      <p:sp>
        <p:nvSpPr>
          <p:cNvPr id="275"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Le rapport est conçu en pixels à 72 dpi ; l'impression se fait à 300 dpi ou plus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Fournir des images d'une résolution suffisante (au moins 3 à 4 fois la taille affichée) : le PDF conserve l'image d'origine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000" spc="-1" strike="noStrike">
                <a:solidFill>
                  <a:schemeClr val="dk1"/>
                </a:solidFill>
                <a:latin typeface="Calibri"/>
              </a:rPr>
              <a:t>SVG</a:t>
            </a:r>
            <a:r>
              <a:rPr b="0" lang="en-US" sz="2000" spc="-1" strike="noStrike">
                <a:solidFill>
                  <a:schemeClr val="dk1"/>
                </a:solidFill>
                <a:latin typeface="Calibri"/>
              </a:rPr>
              <a:t> : format vectoriel, net à toutes les tailles, idéal pour un logo</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Éviter d'agrandir une petite image : pixellisation</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Un logo lourd dans Page Header est répété sur chaque page : privilégier un fichier optimisé</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Vérifier le rendu dans le format final, l'aperçu écran ne suffit pas</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Erreurs courantes avec les images</a:t>
            </a:r>
            <a:endParaRPr b="0" lang="fr-FR" sz="3600" spc="-1" strike="noStrike">
              <a:solidFill>
                <a:srgbClr val="000000"/>
              </a:solidFill>
              <a:latin typeface="Arial"/>
            </a:endParaRPr>
          </a:p>
        </p:txBody>
      </p:sp>
      <p:sp>
        <p:nvSpPr>
          <p:cNvPr id="277"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1" lang="en-US" sz="2000" spc="-1" strike="noStrike">
                <a:solidFill>
                  <a:schemeClr val="dk1"/>
                </a:solidFill>
                <a:latin typeface="Calibri"/>
              </a:rPr>
              <a:t>Image déformée</a:t>
            </a:r>
            <a:r>
              <a:rPr b="0" lang="en-US" sz="2000" spc="-1" strike="noStrike">
                <a:solidFill>
                  <a:schemeClr val="dk1"/>
                </a:solidFill>
                <a:latin typeface="Calibri"/>
              </a:rPr>
              <a:t> : Scale Image = FillFrame → passer en RetainShape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000" spc="-1" strike="noStrike">
                <a:solidFill>
                  <a:schemeClr val="dk1"/>
                </a:solidFill>
                <a:latin typeface="Calibri"/>
              </a:rPr>
              <a:t>Image tronquée</a:t>
            </a:r>
            <a:r>
              <a:rPr b="0" lang="en-US" sz="2000" spc="-1" strike="noStrike">
                <a:solidFill>
                  <a:schemeClr val="dk1"/>
                </a:solidFill>
                <a:latin typeface="Calibri"/>
              </a:rPr>
              <a:t> : Scale Image = Clip ou élément trop petit → agrandir l'élément ou changer le mode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000" spc="-1" strike="noStrike">
                <a:solidFill>
                  <a:schemeClr val="dk1"/>
                </a:solidFill>
                <a:latin typeface="Calibri"/>
              </a:rPr>
              <a:t>Mauvais ancrage</a:t>
            </a:r>
            <a:r>
              <a:rPr b="0" lang="en-US" sz="2000" spc="-1" strike="noStrike">
                <a:solidFill>
                  <a:schemeClr val="dk1"/>
                </a:solidFill>
                <a:latin typeface="Calibri"/>
              </a:rPr>
              <a:t> : l'image se décale quand la bande s'étire → vérifier Position Type et Stretch Type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000" spc="-1" strike="noStrike">
                <a:solidFill>
                  <a:schemeClr val="dk1"/>
                </a:solidFill>
                <a:latin typeface="Calibri"/>
              </a:rPr>
              <a:t>Espace vide à la place de l'image</a:t>
            </a:r>
            <a:r>
              <a:rPr b="0" lang="en-US" sz="2000" spc="-1" strike="noStrike">
                <a:solidFill>
                  <a:schemeClr val="dk1"/>
                </a:solidFill>
                <a:latin typeface="Calibri"/>
              </a:rPr>
              <a:t> : chemin introuvable et On Error Type = Blank → mettre Error pendant la conception pour voir le message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000" spc="-1" strike="noStrike">
                <a:solidFill>
                  <a:schemeClr val="dk1"/>
                </a:solidFill>
                <a:latin typeface="Calibri"/>
              </a:rPr>
              <a:t>Image présente dans Studio, absente en production</a:t>
            </a:r>
            <a:r>
              <a:rPr b="0" lang="en-US" sz="2000" spc="-1" strike="noStrike">
                <a:solidFill>
                  <a:schemeClr val="dk1"/>
                </a:solidFill>
                <a:latin typeface="Calibri"/>
              </a:rPr>
              <a:t> : chemin absolu ou fichier non livré</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000" spc="-1" strike="noStrike">
                <a:solidFill>
                  <a:schemeClr val="dk1"/>
                </a:solidFill>
                <a:latin typeface="Calibri"/>
              </a:rPr>
              <a:t>Image qui déborde sur l'élément voisin</a:t>
            </a:r>
            <a:r>
              <a:rPr b="0" lang="en-US" sz="2000" spc="-1" strike="noStrike">
                <a:solidFill>
                  <a:schemeClr val="dk1"/>
                </a:solidFill>
                <a:latin typeface="Calibri"/>
              </a:rPr>
              <a:t> : hauteur de bande insuffisante</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Atelier 6 : Adaptation logo, images de background</a:t>
            </a:r>
            <a:endParaRPr b="0" lang="fr-FR" sz="3600" spc="-1" strike="noStrike">
              <a:solidFill>
                <a:srgbClr val="000000"/>
              </a:solidFill>
              <a:latin typeface="Arial"/>
            </a:endParaRPr>
          </a:p>
        </p:txBody>
      </p:sp>
      <p:sp>
        <p:nvSpPr>
          <p:cNvPr id="279"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39"/>
              </a:spcBef>
              <a:buClr>
                <a:srgbClr val="000000"/>
              </a:buClr>
              <a:buFont typeface="Arial"/>
              <a:buChar char="•"/>
            </a:pPr>
            <a:r>
              <a:rPr b="0" lang="en-US" sz="2200" spc="-1" strike="noStrike">
                <a:solidFill>
                  <a:schemeClr val="dk1"/>
                </a:solidFill>
                <a:latin typeface="Calibri"/>
              </a:rPr>
              <a:t>Remplacer le logo d'un rapport existant par le logo de l'entreprise, sans déformation</a:t>
            </a:r>
            <a:endParaRPr b="0" lang="fr-FR" sz="2200" spc="-1" strike="noStrike">
              <a:solidFill>
                <a:srgbClr val="000000"/>
              </a:solidFill>
              <a:latin typeface="Arial"/>
            </a:endParaRPr>
          </a:p>
          <a:p>
            <a:pPr marL="343080" indent="-343080" defTabSz="457200">
              <a:lnSpc>
                <a:spcPct val="100000"/>
              </a:lnSpc>
              <a:spcBef>
                <a:spcPts val="439"/>
              </a:spcBef>
              <a:buClr>
                <a:srgbClr val="000000"/>
              </a:buClr>
              <a:buFont typeface="Arial"/>
              <a:buChar char="•"/>
            </a:pPr>
            <a:r>
              <a:rPr b="0" lang="en-US" sz="2200" spc="-1" strike="noStrike">
                <a:solidFill>
                  <a:schemeClr val="dk1"/>
                </a:solidFill>
                <a:latin typeface="Calibri"/>
              </a:rPr>
              <a:t>Positionner le logo et le titre dans l'en-tête de page</a:t>
            </a:r>
            <a:endParaRPr b="0" lang="fr-FR" sz="2200" spc="-1" strike="noStrike">
              <a:solidFill>
                <a:srgbClr val="000000"/>
              </a:solidFill>
              <a:latin typeface="Arial"/>
            </a:endParaRPr>
          </a:p>
          <a:p>
            <a:pPr marL="343080" indent="-343080" defTabSz="457200">
              <a:lnSpc>
                <a:spcPct val="100000"/>
              </a:lnSpc>
              <a:spcBef>
                <a:spcPts val="439"/>
              </a:spcBef>
              <a:buClr>
                <a:srgbClr val="000000"/>
              </a:buClr>
              <a:buFont typeface="Arial"/>
              <a:buChar char="•"/>
            </a:pPr>
            <a:r>
              <a:rPr b="0" lang="en-US" sz="2200" spc="-1" strike="noStrike">
                <a:solidFill>
                  <a:schemeClr val="dk1"/>
                </a:solidFill>
                <a:latin typeface="Calibri"/>
              </a:rPr>
              <a:t>Ajouter un filigrane « BROUILLON » conditionné par un paramètre</a:t>
            </a:r>
            <a:endParaRPr b="0" lang="fr-FR" sz="2200" spc="-1" strike="noStrike">
              <a:solidFill>
                <a:srgbClr val="000000"/>
              </a:solidFill>
              <a:latin typeface="Arial"/>
            </a:endParaRPr>
          </a:p>
          <a:p>
            <a:pPr marL="343080" indent="-343080" defTabSz="457200">
              <a:lnSpc>
                <a:spcPct val="100000"/>
              </a:lnSpc>
              <a:spcBef>
                <a:spcPts val="439"/>
              </a:spcBef>
              <a:buClr>
                <a:srgbClr val="000000"/>
              </a:buClr>
              <a:buFont typeface="Arial"/>
              <a:buChar char="•"/>
            </a:pPr>
            <a:r>
              <a:rPr b="0" lang="en-US" sz="2200" spc="-1" strike="noStrike">
                <a:solidFill>
                  <a:schemeClr val="dk1"/>
                </a:solidFill>
                <a:latin typeface="Calibri"/>
              </a:rPr>
              <a:t>Comparer le rendu PDF et Excel</a:t>
            </a:r>
            <a:endParaRPr b="0" lang="fr-FR"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Gestion des polices</a:t>
            </a:r>
            <a:endParaRPr b="0" lang="fr-FR" sz="3600" spc="-1" strike="noStrike">
              <a:solidFill>
                <a:srgbClr val="000000"/>
              </a:solidFill>
              <a:latin typeface="Arial"/>
            </a:endParaRPr>
          </a:p>
        </p:txBody>
      </p:sp>
      <p:sp>
        <p:nvSpPr>
          <p:cNvPr id="281" name="PlaceHolder 2"/>
          <p:cNvSpPr>
            <a:spLocks noGrp="1"/>
          </p:cNvSpPr>
          <p:nvPr>
            <p:ph/>
          </p:nvPr>
        </p:nvSpPr>
        <p:spPr>
          <a:xfrm>
            <a:off x="762120" y="2540160"/>
            <a:ext cx="9397080" cy="4062960"/>
          </a:xfrm>
          <a:prstGeom prst="rect">
            <a:avLst/>
          </a:prstGeom>
          <a:noFill/>
          <a:ln w="0">
            <a:noFill/>
          </a:ln>
        </p:spPr>
        <p:txBody>
          <a:bodyPr lIns="91440" rIns="91440" tIns="45720" bIns="45720" anchor="t">
            <a:normAutofit/>
          </a:bodyPr>
          <a:p>
            <a:pPr indent="0" algn="ctr" defTabSz="457200">
              <a:lnSpc>
                <a:spcPct val="100000"/>
              </a:lnSpc>
              <a:spcBef>
                <a:spcPts val="519"/>
              </a:spcBef>
              <a:buNone/>
              <a:tabLst>
                <a:tab algn="l" pos="0"/>
              </a:tabLst>
            </a:pPr>
            <a:r>
              <a:rPr b="0" lang="en-US" sz="2600" spc="-1" strike="noStrike">
                <a:solidFill>
                  <a:schemeClr val="dk1"/>
                </a:solidFill>
                <a:latin typeface="Calibri"/>
              </a:rPr>
              <a:t>Polices standard et polices spécifiques</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Éditeur vs PDF</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Import d'une police</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Taille, graisse, style, interlignage</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Bonnes pratiques</a:t>
            </a:r>
            <a:endParaRPr b="0" lang="fr-FR"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Polices</a:t>
            </a:r>
            <a:endParaRPr b="0" lang="fr-FR" sz="3600" spc="-1" strike="noStrike">
              <a:solidFill>
                <a:srgbClr val="000000"/>
              </a:solidFill>
              <a:latin typeface="Arial"/>
            </a:endParaRPr>
          </a:p>
        </p:txBody>
      </p:sp>
      <p:sp>
        <p:nvSpPr>
          <p:cNvPr id="283"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fontScale="93333"/>
          </a:bodyPr>
          <a:p>
            <a:pPr indent="0" defTabSz="457200">
              <a:lnSpc>
                <a:spcPct val="100000"/>
              </a:lnSpc>
              <a:spcBef>
                <a:spcPts val="641"/>
              </a:spcBef>
              <a:buNone/>
              <a:tabLst>
                <a:tab algn="l" pos="0"/>
              </a:tabLst>
            </a:pPr>
            <a:r>
              <a:rPr b="0" lang="en-US" sz="3200" spc="-1" strike="noStrike">
                <a:solidFill>
                  <a:schemeClr val="dk1"/>
                </a:solidFill>
                <a:latin typeface="Calibri"/>
              </a:rPr>
              <a:t>Java et donc JasperReport distingue 2 types de Police :</a:t>
            </a:r>
            <a:br>
              <a:rPr sz="3200"/>
            </a:br>
            <a:r>
              <a:rPr b="0" lang="en-US" sz="2800" spc="-1" strike="noStrike">
                <a:solidFill>
                  <a:schemeClr val="dk1"/>
                </a:solidFill>
                <a:latin typeface="Calibri"/>
              </a:rPr>
              <a:t>Les polices physiques installées sur le </a:t>
            </a:r>
            <a:endParaRPr b="0" lang="fr-FR" sz="28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tabLst>
                <a:tab algn="l" pos="0"/>
              </a:tabLst>
            </a:pPr>
            <a:r>
              <a:rPr b="0" lang="en-US" sz="2800" spc="-1" strike="noStrike">
                <a:solidFill>
                  <a:schemeClr val="dk1"/>
                </a:solidFill>
                <a:latin typeface="Calibri"/>
              </a:rPr>
              <a:t>système </a:t>
            </a:r>
            <a:br>
              <a:rPr sz="2800"/>
            </a:br>
            <a:r>
              <a:rPr b="0" lang="en-US" sz="2800" spc="-1" strike="noStrike">
                <a:solidFill>
                  <a:schemeClr val="dk1"/>
                </a:solidFill>
                <a:latin typeface="Calibri"/>
              </a:rPr>
              <a:t>Les polices logiques : </a:t>
            </a:r>
            <a:r>
              <a:rPr b="0" i="1" lang="en-US" sz="2800" spc="-1" strike="noStrike">
                <a:solidFill>
                  <a:schemeClr val="dk1"/>
                </a:solidFill>
                <a:latin typeface="Calibri"/>
              </a:rPr>
              <a:t>Serif</a:t>
            </a:r>
            <a:r>
              <a:rPr b="0" lang="en-US" sz="2800" spc="-1" strike="noStrike">
                <a:solidFill>
                  <a:schemeClr val="dk1"/>
                </a:solidFill>
                <a:latin typeface="Calibri"/>
              </a:rPr>
              <a:t>, </a:t>
            </a:r>
            <a:r>
              <a:rPr b="0" i="1" lang="en-US" sz="2800" spc="-1" strike="noStrike">
                <a:solidFill>
                  <a:schemeClr val="dk1"/>
                </a:solidFill>
                <a:latin typeface="Calibri"/>
              </a:rPr>
              <a:t>SansSerif</a:t>
            </a:r>
            <a:r>
              <a:rPr b="0" lang="en-US" sz="2800" spc="-1" strike="noStrike">
                <a:solidFill>
                  <a:schemeClr val="dk1"/>
                </a:solidFill>
                <a:latin typeface="Calibri"/>
              </a:rPr>
              <a:t>, </a:t>
            </a:r>
            <a:endParaRPr b="0" lang="fr-FR" sz="28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tabLst>
                <a:tab algn="l" pos="0"/>
              </a:tabLst>
            </a:pPr>
            <a:r>
              <a:rPr b="0" i="1" lang="en-US" sz="2800" spc="-1" strike="noStrike">
                <a:solidFill>
                  <a:schemeClr val="dk1"/>
                </a:solidFill>
                <a:latin typeface="Calibri"/>
              </a:rPr>
              <a:t>Monospaced</a:t>
            </a:r>
            <a:r>
              <a:rPr b="0" lang="en-US" sz="2800" spc="-1" strike="noStrike">
                <a:solidFill>
                  <a:schemeClr val="dk1"/>
                </a:solidFill>
                <a:latin typeface="Calibri"/>
              </a:rPr>
              <a:t>, </a:t>
            </a:r>
            <a:r>
              <a:rPr b="0" i="1" lang="en-US" sz="2800" spc="-1" strike="noStrike">
                <a:solidFill>
                  <a:schemeClr val="dk1"/>
                </a:solidFill>
                <a:latin typeface="Calibri"/>
              </a:rPr>
              <a:t>Dialog</a:t>
            </a:r>
            <a:r>
              <a:rPr b="0" lang="en-US" sz="2800" spc="-1" strike="noStrike">
                <a:solidFill>
                  <a:schemeClr val="dk1"/>
                </a:solidFill>
                <a:latin typeface="Calibri"/>
              </a:rPr>
              <a:t> et </a:t>
            </a:r>
            <a:r>
              <a:rPr b="0" i="1" lang="en-US" sz="2800" spc="-1" strike="noStrike">
                <a:solidFill>
                  <a:schemeClr val="dk1"/>
                </a:solidFill>
                <a:latin typeface="Calibri"/>
              </a:rPr>
              <a:t>DialogInput. </a:t>
            </a:r>
            <a:br>
              <a:rPr sz="2800"/>
            </a:br>
            <a:r>
              <a:rPr b="0" lang="en-US" sz="2800" spc="-1" strike="noStrike">
                <a:solidFill>
                  <a:schemeClr val="dk1"/>
                </a:solidFill>
                <a:latin typeface="Calibri"/>
              </a:rPr>
              <a:t>Elles n'ont pas de fichier installé sur le </a:t>
            </a:r>
            <a:br>
              <a:rPr sz="2800"/>
            </a:br>
            <a:r>
              <a:rPr b="0" lang="en-US" sz="2800" spc="-1" strike="noStrike">
                <a:solidFill>
                  <a:schemeClr val="dk1"/>
                </a:solidFill>
                <a:latin typeface="Calibri"/>
              </a:rPr>
              <a:t>système mais elles sont associés à </a:t>
            </a:r>
            <a:br>
              <a:rPr sz="2800"/>
            </a:br>
            <a:r>
              <a:rPr b="0" lang="en-US" sz="2800" spc="-1" strike="noStrike">
                <a:solidFill>
                  <a:schemeClr val="dk1"/>
                </a:solidFill>
                <a:latin typeface="Calibri"/>
              </a:rPr>
              <a:t>une des polices physique. </a:t>
            </a:r>
            <a:br>
              <a:rPr sz="2800"/>
            </a:br>
            <a:r>
              <a:rPr b="0" lang="en-US" sz="2800" spc="-1" strike="noStrike">
                <a:solidFill>
                  <a:schemeClr val="dk1"/>
                </a:solidFill>
                <a:latin typeface="Calibri"/>
              </a:rPr>
              <a:t>La correspondance peut dépendre du </a:t>
            </a:r>
            <a:br>
              <a:rPr sz="2800"/>
            </a:br>
            <a:r>
              <a:rPr b="0" lang="en-US" sz="2800" spc="-1" strike="noStrike">
                <a:solidFill>
                  <a:schemeClr val="dk1"/>
                </a:solidFill>
                <a:latin typeface="Calibri"/>
              </a:rPr>
              <a:t>système !!</a:t>
            </a:r>
            <a:endParaRPr b="0" lang="fr-F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Polices standard et polices spécifiques</a:t>
            </a:r>
            <a:endParaRPr b="0" lang="fr-FR" sz="3600" spc="-1" strike="noStrike">
              <a:solidFill>
                <a:srgbClr val="000000"/>
              </a:solidFill>
              <a:latin typeface="Arial"/>
            </a:endParaRPr>
          </a:p>
        </p:txBody>
      </p:sp>
      <p:sp>
        <p:nvSpPr>
          <p:cNvPr id="285"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Le PDF connaît nativement 14 polices standard : Helvetica, Times, Courier et leurs variantes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Les autres polices doivent être </a:t>
            </a:r>
            <a:r>
              <a:rPr b="1" lang="en-US" sz="2000" spc="-1" strike="noStrike">
                <a:solidFill>
                  <a:schemeClr val="dk1"/>
                </a:solidFill>
                <a:latin typeface="Calibri"/>
              </a:rPr>
              <a:t>embarquées</a:t>
            </a:r>
            <a:r>
              <a:rPr b="0" lang="en-US" sz="2000" spc="-1" strike="noStrike">
                <a:solidFill>
                  <a:schemeClr val="dk1"/>
                </a:solidFill>
                <a:latin typeface="Calibri"/>
              </a:rPr>
              <a:t> dans le PDF, sinon le lecteur en substitue une autre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JasperReports fournit des </a:t>
            </a:r>
            <a:r>
              <a:rPr b="1" lang="en-US" sz="2000" spc="-1" strike="noStrike">
                <a:solidFill>
                  <a:schemeClr val="dk1"/>
                </a:solidFill>
                <a:latin typeface="Calibri"/>
              </a:rPr>
              <a:t>extensions de police</a:t>
            </a:r>
            <a:r>
              <a:rPr b="0" lang="en-US" sz="2000" spc="-1" strike="noStrike">
                <a:solidFill>
                  <a:schemeClr val="dk1"/>
                </a:solidFill>
                <a:latin typeface="Calibri"/>
              </a:rPr>
              <a:t> prêtes à l'emploi : DejaVu Sans, DejaVu Serif, DejaVu Sans Mono</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Une police d'entreprise (Arial, Calibri, police de la charte) doit être ajoutée comme extension</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Les polices logiques Java (SansSerif, Serif) dépendent du système : à éviter dans les rapports</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La police fonctionne dans l'éditeur mais pas dans le PDF</a:t>
            </a:r>
            <a:endParaRPr b="0" lang="fr-FR" sz="3600" spc="-1" strike="noStrike">
              <a:solidFill>
                <a:srgbClr val="000000"/>
              </a:solidFill>
              <a:latin typeface="Arial"/>
            </a:endParaRPr>
          </a:p>
        </p:txBody>
      </p:sp>
      <p:sp>
        <p:nvSpPr>
          <p:cNvPr id="287"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L'aperçu écran utilise les polices installées sur le poste : tout semble correct</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L'export PDF ne peut embarquer que les polices déclarées en </a:t>
            </a:r>
            <a:r>
              <a:rPr b="1" lang="en-US" sz="2000" spc="-1" strike="noStrike">
                <a:solidFill>
                  <a:schemeClr val="dk1"/>
                </a:solidFill>
                <a:latin typeface="Calibri"/>
              </a:rPr>
              <a:t>extension de police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Symptômes : police remplacée par Helvetica, gras ou italique perdus, caractères accentués ou spéciaux manquants, erreur « Font … is not available to the JVM »</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Cause fréquente : nom de police tapé à la main dans les propriétés, non déclaré dans Studio</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Solution : déclarer la police dans Studio (extension), l'exporter en jar et livrer ce jar avec le rapport</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Bonne pratique</a:t>
            </a:r>
            <a:endParaRPr b="0" lang="fr-FR" sz="3600" spc="-1" strike="noStrike">
              <a:solidFill>
                <a:srgbClr val="000000"/>
              </a:solidFill>
              <a:latin typeface="Arial"/>
            </a:endParaRPr>
          </a:p>
        </p:txBody>
      </p:sp>
      <p:sp>
        <p:nvSpPr>
          <p:cNvPr id="289"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indent="0" defTabSz="457200">
              <a:lnSpc>
                <a:spcPct val="100000"/>
              </a:lnSpc>
              <a:spcBef>
                <a:spcPts val="439"/>
              </a:spcBef>
              <a:buNone/>
              <a:tabLst>
                <a:tab algn="l" pos="0"/>
              </a:tabLst>
            </a:pPr>
            <a:r>
              <a:rPr b="0" lang="en-US" sz="2200" spc="-1" strike="noStrike">
                <a:solidFill>
                  <a:schemeClr val="dk1"/>
                </a:solidFill>
                <a:latin typeface="Calibri"/>
              </a:rPr>
              <a:t>L'utilisation de police système comporte toujours le risque qu'une police utilisée lors du développement ne soit pas présente dans l'environnement de production.</a:t>
            </a:r>
            <a:endParaRPr b="0" lang="fr-FR" sz="2200" spc="-1" strike="noStrike">
              <a:solidFill>
                <a:srgbClr val="000000"/>
              </a:solidFill>
              <a:latin typeface="Arial"/>
            </a:endParaRPr>
          </a:p>
          <a:p>
            <a:pPr indent="0" defTabSz="457200">
              <a:lnSpc>
                <a:spcPct val="100000"/>
              </a:lnSpc>
              <a:spcBef>
                <a:spcPts val="439"/>
              </a:spcBef>
              <a:buNone/>
              <a:tabLst>
                <a:tab algn="l" pos="0"/>
              </a:tabLst>
            </a:pPr>
            <a:r>
              <a:rPr b="0" lang="en-US" sz="2200" spc="-1" strike="noStrike">
                <a:solidFill>
                  <a:schemeClr val="dk1"/>
                </a:solidFill>
                <a:latin typeface="Calibri"/>
              </a:rPr>
              <a:t>La bonne pratique est d'embarquer les fichiers de polices dans l'archive déployée.</a:t>
            </a:r>
            <a:endParaRPr b="0" lang="fr-FR" sz="2200" spc="-1" strike="noStrike">
              <a:solidFill>
                <a:srgbClr val="000000"/>
              </a:solidFill>
              <a:latin typeface="Arial"/>
            </a:endParaRPr>
          </a:p>
          <a:p>
            <a:pPr indent="0" defTabSz="457200">
              <a:lnSpc>
                <a:spcPct val="100000"/>
              </a:lnSpc>
              <a:spcBef>
                <a:spcPts val="439"/>
              </a:spcBef>
              <a:buNone/>
              <a:tabLst>
                <a:tab algn="l" pos="0"/>
              </a:tabLst>
            </a:pPr>
            <a:r>
              <a:rPr b="0" lang="en-US" sz="2200" spc="-1" strike="noStrike">
                <a:solidFill>
                  <a:schemeClr val="dk1"/>
                </a:solidFill>
                <a:latin typeface="Calibri"/>
              </a:rPr>
              <a:t>Cette technique appelé « </a:t>
            </a:r>
            <a:r>
              <a:rPr b="1" i="1" lang="en-US" sz="2200" spc="-1" strike="noStrike">
                <a:solidFill>
                  <a:schemeClr val="dk1"/>
                </a:solidFill>
                <a:latin typeface="Calibri"/>
              </a:rPr>
              <a:t>Font Extension</a:t>
            </a:r>
            <a:r>
              <a:rPr b="0" lang="en-US" sz="2200" spc="-1" strike="noStrike">
                <a:solidFill>
                  <a:schemeClr val="dk1"/>
                </a:solidFill>
                <a:latin typeface="Calibri"/>
              </a:rPr>
              <a:t> » nécessite de fournir un fichier jar contenant les fichiers polices, un fichier </a:t>
            </a:r>
            <a:r>
              <a:rPr b="0" i="1" lang="en-US" sz="2200" spc="-1" strike="noStrike">
                <a:solidFill>
                  <a:schemeClr val="dk1"/>
                </a:solidFill>
                <a:latin typeface="Calibri"/>
              </a:rPr>
              <a:t>properties</a:t>
            </a:r>
            <a:r>
              <a:rPr b="0" lang="en-US" sz="2200" spc="-1" strike="noStrike">
                <a:solidFill>
                  <a:schemeClr val="dk1"/>
                </a:solidFill>
                <a:latin typeface="Calibri"/>
              </a:rPr>
              <a:t> et un descripteur XML associant les fichiers polices aux locales et style de police (italique, gras, …)</a:t>
            </a:r>
            <a:endParaRPr b="0" lang="fr-FR" sz="2200" spc="-1" strike="noStrike">
              <a:solidFill>
                <a:srgbClr val="000000"/>
              </a:solidFill>
              <a:latin typeface="Arial"/>
            </a:endParaRPr>
          </a:p>
          <a:p>
            <a:pPr indent="0" defTabSz="457200">
              <a:lnSpc>
                <a:spcPct val="100000"/>
              </a:lnSpc>
              <a:spcBef>
                <a:spcPts val="439"/>
              </a:spcBef>
              <a:buNone/>
              <a:tabLst>
                <a:tab algn="l" pos="0"/>
              </a:tabLst>
            </a:pPr>
            <a:r>
              <a:rPr b="0" lang="en-US" sz="2200" spc="-1" strike="noStrike">
                <a:solidFill>
                  <a:schemeClr val="dk1"/>
                </a:solidFill>
                <a:latin typeface="Calibri"/>
              </a:rPr>
              <a:t>Le jar peut être généré directement à partir de </a:t>
            </a:r>
            <a:r>
              <a:rPr b="0" i="1" lang="en-US" sz="2200" spc="-1" strike="noStrike">
                <a:solidFill>
                  <a:schemeClr val="dk1"/>
                </a:solidFill>
                <a:latin typeface="Calibri"/>
              </a:rPr>
              <a:t>jasperStudio</a:t>
            </a:r>
            <a:r>
              <a:rPr b="0" lang="en-US" sz="2200" spc="-1" strike="noStrike">
                <a:solidFill>
                  <a:schemeClr val="dk1"/>
                </a:solidFill>
                <a:latin typeface="Calibri"/>
              </a:rPr>
              <a:t>  après avoir ajouté la police voulue</a:t>
            </a:r>
            <a:endParaRPr b="0" lang="fr-FR" sz="2200" spc="-1" strike="noStrike">
              <a:solidFill>
                <a:srgbClr val="000000"/>
              </a:solidFill>
              <a:latin typeface="Arial"/>
            </a:endParaRPr>
          </a:p>
          <a:p>
            <a:pPr indent="0" defTabSz="457200">
              <a:lnSpc>
                <a:spcPct val="100000"/>
              </a:lnSpc>
              <a:spcBef>
                <a:spcPts val="439"/>
              </a:spcBef>
              <a:buNone/>
              <a:tabLst>
                <a:tab algn="l" pos="0"/>
              </a:tabLst>
            </a:pPr>
            <a:r>
              <a:rPr b="0" lang="en-US" sz="2200" spc="-1" strike="noStrike">
                <a:solidFill>
                  <a:schemeClr val="dk1"/>
                </a:solidFill>
                <a:latin typeface="Calibri"/>
              </a:rPr>
              <a:t>Voir l'exemple dans </a:t>
            </a:r>
            <a:r>
              <a:rPr b="0" i="1" lang="en-US" sz="2200" spc="-1" strike="noStrike">
                <a:solidFill>
                  <a:schemeClr val="dk1"/>
                </a:solidFill>
                <a:latin typeface="Calibri"/>
              </a:rPr>
              <a:t>/demo/samples</a:t>
            </a:r>
            <a:endParaRPr b="0" lang="fr-FR"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Importer une police dans JasperStudio</a:t>
            </a:r>
            <a:endParaRPr b="0" lang="fr-FR" sz="3600" spc="-1" strike="noStrike">
              <a:solidFill>
                <a:srgbClr val="000000"/>
              </a:solidFill>
              <a:latin typeface="Arial"/>
            </a:endParaRPr>
          </a:p>
        </p:txBody>
      </p:sp>
      <p:sp>
        <p:nvSpPr>
          <p:cNvPr id="291"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Window → Preferences → Jaspersoft Studio → </a:t>
            </a:r>
            <a:r>
              <a:rPr b="1" lang="en-US" sz="2000" spc="-1" strike="noStrike">
                <a:solidFill>
                  <a:schemeClr val="dk1"/>
                </a:solidFill>
                <a:latin typeface="Calibri"/>
              </a:rPr>
              <a:t>Fonts</a:t>
            </a:r>
            <a:r>
              <a:rPr b="0" lang="en-US" sz="2000" spc="-1" strike="noStrike">
                <a:solidFill>
                  <a:schemeClr val="dk1"/>
                </a:solidFill>
                <a:latin typeface="Calibri"/>
              </a:rPr>
              <a:t> → Add</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Renseigner le nom de la famille et les fichiers </a:t>
            </a:r>
            <a:r>
              <a:rPr b="0" lang="en-US" sz="2000" spc="-1" strike="noStrike">
                <a:solidFill>
                  <a:schemeClr val="dk1"/>
                </a:solidFill>
                <a:latin typeface="Courier New"/>
              </a:rPr>
              <a:t>.ttf</a:t>
            </a:r>
            <a:r>
              <a:rPr b="0" lang="en-US" sz="2000" spc="-1" strike="noStrike">
                <a:solidFill>
                  <a:schemeClr val="dk1"/>
                </a:solidFill>
                <a:latin typeface="Calibri"/>
              </a:rPr>
              <a:t> : normal, gras, italique, gras italique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Cocher </a:t>
            </a:r>
            <a:r>
              <a:rPr b="1" lang="en-US" sz="2000" spc="-1" strike="noStrike">
                <a:solidFill>
                  <a:schemeClr val="dk1"/>
                </a:solidFill>
                <a:latin typeface="Calibri"/>
              </a:rPr>
              <a:t>Embed this font in PDF document</a:t>
            </a:r>
            <a:r>
              <a:rPr b="0" lang="en-US" sz="2000" spc="-1" strike="noStrike">
                <a:solidFill>
                  <a:schemeClr val="dk1"/>
                </a:solidFill>
                <a:latin typeface="Calibri"/>
              </a:rPr>
              <a:t> ; encodage PDF Identity-H pour les accents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Ajouter les locales concernées si la police ne couvre pas tous les alphabets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La police apparaît alors dans la liste des polices des éléments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000" spc="-1" strike="noStrike">
                <a:solidFill>
                  <a:schemeClr val="dk1"/>
                </a:solidFill>
                <a:latin typeface="Calibri"/>
              </a:rPr>
              <a:t>Export</a:t>
            </a:r>
            <a:r>
              <a:rPr b="0" lang="en-US" sz="2000" spc="-1" strike="noStrike">
                <a:solidFill>
                  <a:schemeClr val="dk1"/>
                </a:solidFill>
                <a:latin typeface="Calibri"/>
              </a:rPr>
              <a:t> : produit un jar à déposer dans l'application ou à charger dans JasperReports Server ; sans ce jar, la production retombe sur une police de substitution</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Taille, graisse, style, interlignage</a:t>
            </a:r>
            <a:endParaRPr b="0" lang="fr-FR" sz="3600" spc="-1" strike="noStrike">
              <a:solidFill>
                <a:srgbClr val="000000"/>
              </a:solidFill>
              <a:latin typeface="Arial"/>
            </a:endParaRPr>
          </a:p>
        </p:txBody>
      </p:sp>
      <p:sp>
        <p:nvSpPr>
          <p:cNvPr id="293"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Onglet Text de la vue Properties : famille, taille, gras, italique, souligné, barré</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Alignement horizontal et vertical, rotation du texte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000" spc="-1" strike="noStrike">
                <a:solidFill>
                  <a:schemeClr val="dk1"/>
                </a:solidFill>
                <a:latin typeface="Calibri"/>
              </a:rPr>
              <a:t>Interlignage</a:t>
            </a:r>
            <a:r>
              <a:rPr b="0" lang="en-US" sz="2000" spc="-1" strike="noStrike">
                <a:solidFill>
                  <a:schemeClr val="dk1"/>
                </a:solidFill>
                <a:latin typeface="Calibri"/>
              </a:rPr>
              <a:t> (Line Spacing) : simple, 1,5, double, proportionnel ou fixe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Paragraphe : retrait de première ligne, espacement avant et après, tabulations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La hauteur de l'élément doit suivre la taille de police : 12 pt de texte demandent environ 15 px</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Markup « styled » pour mettre en gras une partie seulement d'un champ texte</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Bonnes pratiques pour éviter les écarts de rendu</a:t>
            </a:r>
            <a:endParaRPr b="0" lang="fr-FR" sz="3600" spc="-1" strike="noStrike">
              <a:solidFill>
                <a:srgbClr val="000000"/>
              </a:solidFill>
              <a:latin typeface="Arial"/>
            </a:endParaRPr>
          </a:p>
        </p:txBody>
      </p:sp>
      <p:sp>
        <p:nvSpPr>
          <p:cNvPr id="295"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Une seule famille de police par rapport, déclarée en extension et définie dans le style par défaut</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Ne jamais dépendre des polices installées sur le poste de conception</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Tester l'export PDF dès le début, puis à chaque changement de police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Livrer et versionner le jar de police avec les rapports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Vérifier les caractères spéciaux utilisés (€, œ, guillemets typographiques) avec la police choisie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Excel et HTML utilisent les polices du poste du lecteur : rester sur des polices répandues pour ces formats</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Atelier 7 : Déploiement d'une police spécifique</a:t>
            </a:r>
            <a:endParaRPr b="0" lang="fr-FR" sz="3600" spc="-1" strike="noStrike">
              <a:solidFill>
                <a:srgbClr val="000000"/>
              </a:solidFill>
              <a:latin typeface="Arial"/>
            </a:endParaRPr>
          </a:p>
        </p:txBody>
      </p:sp>
      <p:sp>
        <p:nvSpPr>
          <p:cNvPr id="297"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39"/>
              </a:spcBef>
              <a:buClr>
                <a:srgbClr val="000000"/>
              </a:buClr>
              <a:buFont typeface="Arial"/>
              <a:buChar char="•"/>
            </a:pPr>
            <a:r>
              <a:rPr b="0" lang="en-US" sz="2200" spc="-1" strike="noStrike">
                <a:solidFill>
                  <a:schemeClr val="dk1"/>
                </a:solidFill>
                <a:latin typeface="Calibri"/>
              </a:rPr>
              <a:t>Déclarer une police TrueType dans JasperStudio avec ses quatre variantes</a:t>
            </a:r>
            <a:endParaRPr b="0" lang="fr-FR" sz="2200" spc="-1" strike="noStrike">
              <a:solidFill>
                <a:srgbClr val="000000"/>
              </a:solidFill>
              <a:latin typeface="Arial"/>
            </a:endParaRPr>
          </a:p>
          <a:p>
            <a:pPr marL="343080" indent="-343080" defTabSz="457200">
              <a:lnSpc>
                <a:spcPct val="100000"/>
              </a:lnSpc>
              <a:spcBef>
                <a:spcPts val="439"/>
              </a:spcBef>
              <a:buClr>
                <a:srgbClr val="000000"/>
              </a:buClr>
              <a:buFont typeface="Arial"/>
              <a:buChar char="•"/>
            </a:pPr>
            <a:r>
              <a:rPr b="0" lang="en-US" sz="2200" spc="-1" strike="noStrike">
                <a:solidFill>
                  <a:schemeClr val="dk1"/>
                </a:solidFill>
                <a:latin typeface="Calibri"/>
              </a:rPr>
              <a:t>L'appliquer au rapport et vérifier le rendu PDF (accents, gras)</a:t>
            </a:r>
            <a:endParaRPr b="0" lang="fr-FR" sz="2200" spc="-1" strike="noStrike">
              <a:solidFill>
                <a:srgbClr val="000000"/>
              </a:solidFill>
              <a:latin typeface="Arial"/>
            </a:endParaRPr>
          </a:p>
          <a:p>
            <a:pPr marL="343080" indent="-343080" defTabSz="457200">
              <a:lnSpc>
                <a:spcPct val="100000"/>
              </a:lnSpc>
              <a:spcBef>
                <a:spcPts val="439"/>
              </a:spcBef>
              <a:buClr>
                <a:srgbClr val="000000"/>
              </a:buClr>
              <a:buFont typeface="Arial"/>
              <a:buChar char="•"/>
            </a:pPr>
            <a:r>
              <a:rPr b="0" lang="en-US" sz="2200" spc="-1" strike="noStrike">
                <a:solidFill>
                  <a:schemeClr val="dk1"/>
                </a:solidFill>
                <a:latin typeface="Calibri"/>
              </a:rPr>
              <a:t>Exporter le jar de police et le livrer avec le rapport</a:t>
            </a:r>
            <a:endParaRPr b="0" lang="fr-FR" sz="2200" spc="-1" strike="noStrike">
              <a:solidFill>
                <a:srgbClr val="000000"/>
              </a:solidFill>
              <a:latin typeface="Arial"/>
            </a:endParaRPr>
          </a:p>
          <a:p>
            <a:pPr marL="343080" indent="-343080" defTabSz="457200">
              <a:lnSpc>
                <a:spcPct val="100000"/>
              </a:lnSpc>
              <a:spcBef>
                <a:spcPts val="439"/>
              </a:spcBef>
              <a:buClr>
                <a:srgbClr val="000000"/>
              </a:buClr>
              <a:buFont typeface="Arial"/>
              <a:buChar char="•"/>
            </a:pPr>
            <a:r>
              <a:rPr b="0" lang="en-US" sz="2200" spc="-1" strike="noStrike">
                <a:solidFill>
                  <a:schemeClr val="dk1"/>
                </a:solidFill>
                <a:latin typeface="Calibri"/>
              </a:rPr>
              <a:t>Reproduire le cas d'erreur d'une police non déclarée et l'interpréter</a:t>
            </a:r>
            <a:endParaRPr b="0" lang="fr-FR"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Styles et formats</a:t>
            </a:r>
            <a:endParaRPr b="0" lang="fr-FR" sz="3600" spc="-1" strike="noStrike">
              <a:solidFill>
                <a:srgbClr val="000000"/>
              </a:solidFill>
              <a:latin typeface="Arial"/>
            </a:endParaRPr>
          </a:p>
        </p:txBody>
      </p:sp>
      <p:sp>
        <p:nvSpPr>
          <p:cNvPr id="299" name="PlaceHolder 2"/>
          <p:cNvSpPr>
            <a:spLocks noGrp="1"/>
          </p:cNvSpPr>
          <p:nvPr>
            <p:ph/>
          </p:nvPr>
        </p:nvSpPr>
        <p:spPr>
          <a:xfrm>
            <a:off x="762120" y="2540160"/>
            <a:ext cx="9397080" cy="4062960"/>
          </a:xfrm>
          <a:prstGeom prst="rect">
            <a:avLst/>
          </a:prstGeom>
          <a:noFill/>
          <a:ln w="0">
            <a:noFill/>
          </a:ln>
        </p:spPr>
        <p:txBody>
          <a:bodyPr lIns="91440" rIns="91440" tIns="45720" bIns="45720" anchor="t">
            <a:normAutofit/>
          </a:bodyPr>
          <a:p>
            <a:pPr indent="0" algn="ctr" defTabSz="457200">
              <a:lnSpc>
                <a:spcPct val="100000"/>
              </a:lnSpc>
              <a:spcBef>
                <a:spcPts val="519"/>
              </a:spcBef>
              <a:buNone/>
              <a:tabLst>
                <a:tab algn="l" pos="0"/>
              </a:tabLst>
            </a:pPr>
            <a:r>
              <a:rPr b="0" lang="en-US" sz="2600" spc="-1" strike="noStrike">
                <a:solidFill>
                  <a:schemeClr val="dk1"/>
                </a:solidFill>
                <a:latin typeface="Calibri"/>
              </a:rPr>
              <a:t>Intérêt des styles</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Appliquer un style commun</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Formats de données</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Règles de lisibilité</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Titres, sous-titres, données et totaux</a:t>
            </a:r>
            <a:endParaRPr b="0" lang="fr-FR"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Styles</a:t>
            </a:r>
            <a:endParaRPr b="0" lang="fr-FR" sz="3600" spc="-1" strike="noStrike">
              <a:solidFill>
                <a:srgbClr val="000000"/>
              </a:solidFill>
              <a:latin typeface="Arial"/>
            </a:endParaRPr>
          </a:p>
        </p:txBody>
      </p:sp>
      <p:sp>
        <p:nvSpPr>
          <p:cNvPr id="301"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519"/>
              </a:spcBef>
              <a:buClr>
                <a:srgbClr val="000000"/>
              </a:buClr>
              <a:buFont typeface="Arial"/>
              <a:buChar char="•"/>
            </a:pPr>
            <a:r>
              <a:rPr b="0" lang="en-US" sz="2600" spc="-1" strike="noStrike">
                <a:solidFill>
                  <a:schemeClr val="dk1"/>
                </a:solidFill>
                <a:latin typeface="Calibri"/>
              </a:rPr>
              <a:t>Les styles sont utilisés pour regrouper un ensemble de propriétés de présentation et peuvent ensuite être appliqués aux éléments du rapport </a:t>
            </a:r>
            <a:endParaRPr b="0" lang="fr-FR" sz="2600" spc="-1" strike="noStrike">
              <a:solidFill>
                <a:srgbClr val="000000"/>
              </a:solidFill>
              <a:latin typeface="Arial"/>
            </a:endParaRPr>
          </a:p>
          <a:p>
            <a:pPr indent="0" defTabSz="457200">
              <a:lnSpc>
                <a:spcPct val="100000"/>
              </a:lnSpc>
              <a:spcBef>
                <a:spcPts val="519"/>
              </a:spcBef>
              <a:buNone/>
              <a:tabLst>
                <a:tab algn="l" pos="0"/>
              </a:tabLst>
            </a:pPr>
            <a:r>
              <a:rPr b="0" lang="en-US" sz="2600" spc="-1" strike="noStrike">
                <a:solidFill>
                  <a:schemeClr val="dk1"/>
                </a:solidFill>
                <a:latin typeface="Calibri"/>
              </a:rPr>
              <a:t>=&gt; Ainsi, la modification d'un style peut affecter un ensemble d'éléments du rapport</a:t>
            </a:r>
            <a:endParaRPr b="0" lang="fr-FR" sz="2600" spc="-1" strike="noStrike">
              <a:solidFill>
                <a:srgbClr val="000000"/>
              </a:solidFill>
              <a:latin typeface="Arial"/>
            </a:endParaRPr>
          </a:p>
          <a:p>
            <a:pPr marL="343080" indent="-343080" defTabSz="457200">
              <a:lnSpc>
                <a:spcPct val="100000"/>
              </a:lnSpc>
              <a:spcBef>
                <a:spcPts val="519"/>
              </a:spcBef>
              <a:buClr>
                <a:srgbClr val="000000"/>
              </a:buClr>
              <a:buFont typeface="Arial"/>
              <a:buChar char="•"/>
              <a:tabLst>
                <a:tab algn="l" pos="0"/>
              </a:tabLst>
            </a:pPr>
            <a:r>
              <a:rPr b="0" lang="en-US" sz="2600" spc="-1" strike="noStrike">
                <a:solidFill>
                  <a:schemeClr val="dk1"/>
                </a:solidFill>
                <a:latin typeface="Calibri"/>
              </a:rPr>
              <a:t>Les éléments peuvent individuellement surcharger les propriétés définis par leur style</a:t>
            </a:r>
            <a:endParaRPr b="0" lang="fr-FR" sz="2600" spc="-1" strike="noStrike">
              <a:solidFill>
                <a:srgbClr val="000000"/>
              </a:solidFill>
              <a:latin typeface="Arial"/>
            </a:endParaRPr>
          </a:p>
          <a:p>
            <a:pPr marL="343080" indent="-343080" defTabSz="457200">
              <a:lnSpc>
                <a:spcPct val="100000"/>
              </a:lnSpc>
              <a:spcBef>
                <a:spcPts val="519"/>
              </a:spcBef>
              <a:buClr>
                <a:srgbClr val="000000"/>
              </a:buClr>
              <a:buFont typeface="Arial"/>
              <a:buChar char="•"/>
              <a:tabLst>
                <a:tab algn="l" pos="0"/>
              </a:tabLst>
            </a:pPr>
            <a:r>
              <a:rPr b="0" lang="en-US" sz="2600" spc="-1" strike="noStrike">
                <a:solidFill>
                  <a:schemeClr val="dk1"/>
                </a:solidFill>
                <a:latin typeface="Calibri"/>
              </a:rPr>
              <a:t>Il est possible de définir un style par défaut au niveau du rapport.</a:t>
            </a:r>
            <a:endParaRPr b="0" lang="fr-FR"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Ajout de style</a:t>
            </a:r>
            <a:endParaRPr b="0" lang="fr-FR" sz="3600" spc="-1" strike="noStrike">
              <a:solidFill>
                <a:srgbClr val="000000"/>
              </a:solidFill>
              <a:latin typeface="Arial"/>
            </a:endParaRPr>
          </a:p>
        </p:txBody>
      </p:sp>
      <p:pic>
        <p:nvPicPr>
          <p:cNvPr id="303" name="Picture 2" descr="image.png"/>
          <p:cNvPicPr/>
          <p:nvPr/>
        </p:nvPicPr>
        <p:blipFill>
          <a:blip r:embed="rId1"/>
          <a:stretch/>
        </p:blipFill>
        <p:spPr>
          <a:xfrm>
            <a:off x="3560760" y="2330280"/>
            <a:ext cx="2956320" cy="4186080"/>
          </a:xfrm>
          <a:prstGeom prst="rect">
            <a:avLst/>
          </a:prstGeom>
          <a:ln w="0">
            <a:noFill/>
          </a:ln>
        </p:spPr>
      </p:pic>
    </p:spTree>
  </p:cSld>
  <mc:AlternateContent>
    <mc:Choice Requires="p14">
      <p:transition spd="slow" p14:dur="2000"/>
    </mc:Choice>
    <mc:Fallback>
      <p:transition spd="slow"/>
    </mc:Fallback>
  </mc:AlternateContent>
</p:sld>
</file>

<file path=ppt/slides/slide1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Appliquer un style commun à plusieurs éléments</a:t>
            </a:r>
            <a:endParaRPr b="0" lang="fr-FR" sz="3600" spc="-1" strike="noStrike">
              <a:solidFill>
                <a:srgbClr val="000000"/>
              </a:solidFill>
              <a:latin typeface="Arial"/>
            </a:endParaRPr>
          </a:p>
        </p:txBody>
      </p:sp>
      <p:sp>
        <p:nvSpPr>
          <p:cNvPr id="305"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Outline → Styles → clic droit → Create Style : nom, police, taille, couleurs, bordures, alignement</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Un style peut hériter d'un autre (Parent Style) : « Total » hérite de « Données » et ajoute le gras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Cocher </a:t>
            </a:r>
            <a:r>
              <a:rPr b="1" lang="en-US" sz="2000" spc="-1" strike="noStrike">
                <a:solidFill>
                  <a:schemeClr val="dk1"/>
                </a:solidFill>
                <a:latin typeface="Calibri"/>
              </a:rPr>
              <a:t>Default Style</a:t>
            </a:r>
            <a:r>
              <a:rPr b="0" lang="en-US" sz="2000" spc="-1" strike="noStrike">
                <a:solidFill>
                  <a:schemeClr val="dk1"/>
                </a:solidFill>
                <a:latin typeface="Calibri"/>
              </a:rPr>
              <a:t> pour qu'il s'applique à tout élément sans style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Appliquer : sélection multiple des éléments → propriété Style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Modifier le style modifie tous les éléments d'un coup</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Un élément peut surcharger localement une propriété du style ; l'onglet Inheritance montre d'où vient chaque valeur</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Styles conditionnels</a:t>
            </a:r>
            <a:endParaRPr b="0" lang="fr-FR" sz="3600" spc="-1" strike="noStrike">
              <a:solidFill>
                <a:srgbClr val="000000"/>
              </a:solidFill>
              <a:latin typeface="Arial"/>
            </a:endParaRPr>
          </a:p>
        </p:txBody>
      </p:sp>
      <p:sp>
        <p:nvSpPr>
          <p:cNvPr id="307"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519"/>
              </a:spcBef>
              <a:buClr>
                <a:srgbClr val="000000"/>
              </a:buClr>
              <a:buFont typeface="Arial"/>
              <a:buChar char="•"/>
            </a:pPr>
            <a:r>
              <a:rPr b="0" lang="en-US" sz="2600" spc="-1" strike="noStrike">
                <a:solidFill>
                  <a:schemeClr val="dk1"/>
                </a:solidFill>
                <a:latin typeface="Calibri"/>
              </a:rPr>
              <a:t>Il est possible de créer des rapports où le style appliqué change dynamiquement en fonction de variable ou d'expression du rapport</a:t>
            </a:r>
            <a:r>
              <a:rPr b="0" lang="en-US" sz="2400" spc="-1" strike="noStrike">
                <a:solidFill>
                  <a:schemeClr val="dk1"/>
                </a:solidFill>
                <a:latin typeface="Calibri"/>
              </a:rPr>
              <a:t> </a:t>
            </a:r>
            <a:r>
              <a:rPr b="0" i="1" lang="en-US" sz="2400" spc="-1" strike="noStrike">
                <a:solidFill>
                  <a:schemeClr val="dk1"/>
                </a:solidFill>
                <a:latin typeface="Calibri"/>
              </a:rPr>
              <a:t>Exemple : Mettre en rouge un texte en fonction d'une condition</a:t>
            </a:r>
            <a:endParaRPr b="0" lang="fr-FR" sz="2400" spc="-1" strike="noStrike">
              <a:solidFill>
                <a:srgbClr val="000000"/>
              </a:solidFill>
              <a:latin typeface="Arial"/>
            </a:endParaRPr>
          </a:p>
          <a:p>
            <a:pPr marL="343080" indent="-343080" defTabSz="457200">
              <a:lnSpc>
                <a:spcPct val="100000"/>
              </a:lnSpc>
              <a:spcBef>
                <a:spcPts val="519"/>
              </a:spcBef>
              <a:buClr>
                <a:srgbClr val="000000"/>
              </a:buClr>
              <a:buFont typeface="Arial"/>
              <a:buChar char="•"/>
            </a:pPr>
            <a:r>
              <a:rPr b="0" i="1" lang="en-US" sz="2600" spc="-1" strike="noStrike">
                <a:solidFill>
                  <a:schemeClr val="dk1"/>
                </a:solidFill>
                <a:latin typeface="Calibri"/>
              </a:rPr>
              <a:t>jasperStudio</a:t>
            </a:r>
            <a:r>
              <a:rPr b="0" lang="en-US" sz="2600" spc="-1" strike="noStrike">
                <a:solidFill>
                  <a:schemeClr val="dk1"/>
                </a:solidFill>
                <a:latin typeface="Calibri"/>
              </a:rPr>
              <a:t> permet d'associer à un style, un </a:t>
            </a:r>
            <a:r>
              <a:rPr b="1" lang="en-US" sz="2600" spc="-1" strike="noStrike">
                <a:solidFill>
                  <a:schemeClr val="dk1"/>
                </a:solidFill>
                <a:latin typeface="Calibri"/>
              </a:rPr>
              <a:t>style conditionnel </a:t>
            </a:r>
            <a:r>
              <a:rPr b="0" lang="en-US" sz="2600" spc="-1" strike="noStrike">
                <a:solidFill>
                  <a:schemeClr val="dk1"/>
                </a:solidFill>
                <a:latin typeface="Calibri"/>
              </a:rPr>
              <a:t>qui lorsque certaines conditions seront remplies surchargera certaines propriétés du style </a:t>
            </a:r>
            <a:endParaRPr b="0" lang="fr-FR" sz="2600" spc="-1" strike="noStrike">
              <a:solidFill>
                <a:srgbClr val="000000"/>
              </a:solidFill>
              <a:latin typeface="Arial"/>
            </a:endParaRPr>
          </a:p>
          <a:p>
            <a:pPr marL="343080" indent="-343080" defTabSz="457200">
              <a:lnSpc>
                <a:spcPct val="100000"/>
              </a:lnSpc>
              <a:spcBef>
                <a:spcPts val="519"/>
              </a:spcBef>
              <a:buClr>
                <a:srgbClr val="000000"/>
              </a:buClr>
              <a:buFont typeface="Arial"/>
              <a:buChar char="•"/>
            </a:pPr>
            <a:r>
              <a:rPr b="0" lang="en-US" sz="2600" spc="-1" strike="noStrike">
                <a:solidFill>
                  <a:schemeClr val="dk1"/>
                </a:solidFill>
                <a:latin typeface="Calibri"/>
              </a:rPr>
              <a:t>La condition peut s'exprimer en fonction de toutes les propriétés du rapport (paramètres, champs, variables, ...)</a:t>
            </a:r>
            <a:endParaRPr b="0" lang="fr-FR"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Ajout de style conditionnel</a:t>
            </a:r>
            <a:endParaRPr b="0" lang="fr-FR" sz="3600" spc="-1" strike="noStrike">
              <a:solidFill>
                <a:srgbClr val="000000"/>
              </a:solidFill>
              <a:latin typeface="Arial"/>
            </a:endParaRPr>
          </a:p>
        </p:txBody>
      </p:sp>
      <p:pic>
        <p:nvPicPr>
          <p:cNvPr id="309" name="Picture 2" descr="image.png"/>
          <p:cNvPicPr/>
          <p:nvPr/>
        </p:nvPicPr>
        <p:blipFill>
          <a:blip r:embed="rId1"/>
          <a:stretch/>
        </p:blipFill>
        <p:spPr>
          <a:xfrm>
            <a:off x="3022560" y="2661840"/>
            <a:ext cx="4277160" cy="3885120"/>
          </a:xfrm>
          <a:prstGeom prst="rect">
            <a:avLst/>
          </a:prstGeom>
          <a:ln w="0">
            <a:noFill/>
          </a:ln>
        </p:spPr>
      </p:pic>
    </p:spTree>
  </p:cSld>
  <mc:AlternateContent>
    <mc:Choice Requires="p14">
      <p:transition spd="slow" p14:dur="2000"/>
    </mc:Choice>
    <mc:Fallback>
      <p:transition spd="slow"/>
    </mc:Fallback>
  </mc:AlternateContent>
</p:sld>
</file>

<file path=ppt/slides/slide1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Librairie de styles</a:t>
            </a:r>
            <a:endParaRPr b="0" lang="fr-FR" sz="3600" spc="-1" strike="noStrike">
              <a:solidFill>
                <a:srgbClr val="000000"/>
              </a:solidFill>
              <a:latin typeface="Arial"/>
            </a:endParaRPr>
          </a:p>
        </p:txBody>
      </p:sp>
      <p:sp>
        <p:nvSpPr>
          <p:cNvPr id="311"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indent="0" defTabSz="457200">
              <a:lnSpc>
                <a:spcPct val="100000"/>
              </a:lnSpc>
              <a:spcBef>
                <a:spcPts val="641"/>
              </a:spcBef>
              <a:buNone/>
              <a:tabLst>
                <a:tab algn="l" pos="0"/>
              </a:tabLst>
            </a:pPr>
            <a:r>
              <a:rPr b="0" lang="en-US" sz="3200" spc="-1" strike="noStrike">
                <a:solidFill>
                  <a:schemeClr val="dk1"/>
                </a:solidFill>
                <a:latin typeface="Calibri"/>
              </a:rPr>
              <a:t>Au lieu de définir les styles indépendamment dans chaque rapport.</a:t>
            </a:r>
            <a:endParaRPr b="0" lang="fr-FR" sz="3200" spc="-1" strike="noStrike">
              <a:solidFill>
                <a:srgbClr val="000000"/>
              </a:solidFill>
              <a:latin typeface="Arial"/>
            </a:endParaRPr>
          </a:p>
          <a:p>
            <a:pPr indent="0" defTabSz="457200">
              <a:lnSpc>
                <a:spcPct val="100000"/>
              </a:lnSpc>
              <a:spcBef>
                <a:spcPts val="641"/>
              </a:spcBef>
              <a:buNone/>
              <a:tabLst>
                <a:tab algn="l" pos="0"/>
              </a:tabLst>
            </a:pPr>
            <a:r>
              <a:rPr b="0" lang="en-US" sz="3200" spc="-1" strike="noStrike">
                <a:solidFill>
                  <a:schemeClr val="dk1"/>
                </a:solidFill>
                <a:latin typeface="Calibri"/>
              </a:rPr>
              <a:t>Il est possible de référencer une librairie de style dans un rapport</a:t>
            </a:r>
            <a:endParaRPr b="0" lang="fr-FR" sz="3200" spc="-1" strike="noStrike">
              <a:solidFill>
                <a:srgbClr val="000000"/>
              </a:solidFill>
              <a:latin typeface="Arial"/>
            </a:endParaRPr>
          </a:p>
          <a:p>
            <a:pPr indent="0" defTabSz="457200">
              <a:lnSpc>
                <a:spcPct val="100000"/>
              </a:lnSpc>
              <a:spcBef>
                <a:spcPts val="641"/>
              </a:spcBef>
              <a:buNone/>
              <a:tabLst>
                <a:tab algn="l" pos="0"/>
              </a:tabLst>
            </a:pPr>
            <a:r>
              <a:rPr b="0" lang="en-US" sz="3200" spc="-1" strike="noStrike">
                <a:solidFill>
                  <a:schemeClr val="dk1"/>
                </a:solidFill>
                <a:latin typeface="Calibri"/>
              </a:rPr>
              <a:t>La librairie de styles (</a:t>
            </a:r>
            <a:r>
              <a:rPr b="1" lang="en-US" sz="3200" spc="-1" strike="noStrike">
                <a:solidFill>
                  <a:schemeClr val="dk1"/>
                </a:solidFill>
                <a:latin typeface="Calibri"/>
              </a:rPr>
              <a:t>Style Template File</a:t>
            </a:r>
            <a:r>
              <a:rPr b="0" lang="en-US" sz="3200" spc="-1" strike="noStrike">
                <a:solidFill>
                  <a:schemeClr val="dk1"/>
                </a:solidFill>
                <a:latin typeface="Calibri"/>
              </a:rPr>
              <a:t>) est un fichier </a:t>
            </a:r>
            <a:r>
              <a:rPr b="1" i="1" lang="en-US" sz="3200" spc="-1" strike="noStrike">
                <a:solidFill>
                  <a:schemeClr val="dk1"/>
                </a:solidFill>
                <a:latin typeface="Calibri"/>
              </a:rPr>
              <a:t>.jrtx</a:t>
            </a:r>
            <a:r>
              <a:rPr b="0" lang="en-US" sz="3200" spc="-1" strike="noStrike">
                <a:solidFill>
                  <a:schemeClr val="dk1"/>
                </a:solidFill>
                <a:latin typeface="Calibri"/>
              </a:rPr>
              <a:t> complètement autonome et ayant un éditeur spécifique</a:t>
            </a:r>
            <a:endParaRPr b="0" lang="fr-FR"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Formats de données : les patterns</a:t>
            </a:r>
            <a:endParaRPr b="0" lang="fr-FR" sz="3600" spc="-1" strike="noStrike">
              <a:solidFill>
                <a:srgbClr val="000000"/>
              </a:solidFill>
              <a:latin typeface="Arial"/>
            </a:endParaRPr>
          </a:p>
        </p:txBody>
      </p:sp>
      <p:sp>
        <p:nvSpPr>
          <p:cNvPr id="313" name="PlaceHolder 2"/>
          <p:cNvSpPr>
            <a:spLocks noGrp="1"/>
          </p:cNvSpPr>
          <p:nvPr>
            <p:ph/>
          </p:nvPr>
        </p:nvSpPr>
        <p:spPr>
          <a:xfrm>
            <a:off x="762120" y="2095560"/>
            <a:ext cx="9397080" cy="506880"/>
          </a:xfrm>
          <a:prstGeom prst="rect">
            <a:avLst/>
          </a:prstGeom>
          <a:noFill/>
          <a:ln w="0">
            <a:noFill/>
          </a:ln>
        </p:spPr>
        <p:txBody>
          <a:bodyPr lIns="91440" rIns="91440" tIns="45720" bIns="45720" anchor="t">
            <a:normAutofit fontScale="75000"/>
          </a:bodyPr>
          <a:p>
            <a:pPr marL="343080" indent="-343080" defTabSz="457200">
              <a:lnSpc>
                <a:spcPct val="100000"/>
              </a:lnSpc>
              <a:spcBef>
                <a:spcPts val="360"/>
              </a:spcBef>
              <a:buClr>
                <a:srgbClr val="000000"/>
              </a:buClr>
              <a:buFont typeface="Arial"/>
              <a:buChar char="•"/>
            </a:pPr>
            <a:r>
              <a:rPr b="0" lang="en-US" sz="1800" spc="-1" strike="noStrike">
                <a:solidFill>
                  <a:schemeClr val="dk1"/>
                </a:solidFill>
                <a:latin typeface="Calibri"/>
              </a:rPr>
              <a:t>Propriété </a:t>
            </a:r>
            <a:r>
              <a:rPr b="1" lang="en-US" sz="1800" spc="-1" strike="noStrike">
                <a:solidFill>
                  <a:schemeClr val="dk1"/>
                </a:solidFill>
                <a:latin typeface="Calibri"/>
              </a:rPr>
              <a:t>Pattern</a:t>
            </a:r>
            <a:r>
              <a:rPr b="0" lang="en-US" sz="1800" spc="-1" strike="noStrike">
                <a:solidFill>
                  <a:schemeClr val="dk1"/>
                </a:solidFill>
                <a:latin typeface="Calibri"/>
              </a:rPr>
              <a:t> du champ texte, avec un éditeur graphique dans Studio ; le champ doit être de type numérique ou date, pas texte</a:t>
            </a:r>
            <a:endParaRPr b="0" lang="fr-FR" sz="1800" spc="-1" strike="noStrike">
              <a:solidFill>
                <a:srgbClr val="000000"/>
              </a:solidFill>
              <a:latin typeface="Arial"/>
            </a:endParaRPr>
          </a:p>
        </p:txBody>
      </p:sp>
      <p:graphicFrame>
        <p:nvGraphicFramePr>
          <p:cNvPr id="314" name="Table 3"/>
          <p:cNvGraphicFramePr/>
          <p:nvPr/>
        </p:nvGraphicFramePr>
        <p:xfrm>
          <a:off x="762120" y="2679840"/>
          <a:ext cx="9397440" cy="3333240"/>
        </p:xfrm>
        <a:graphic>
          <a:graphicData uri="http://schemas.openxmlformats.org/drawingml/2006/table">
            <a:tbl>
              <a:tblPr/>
              <a:tblGrid>
                <a:gridCol w="2793960"/>
                <a:gridCol w="2286000"/>
                <a:gridCol w="1650960"/>
                <a:gridCol w="2666880"/>
              </a:tblGrid>
              <a:tr h="335520">
                <a:tc>
                  <a:txBody>
                    <a:bodyPr lIns="50760" rIns="50760" anchor="t">
                      <a:noAutofit/>
                    </a:bodyPr>
                    <a:p>
                      <a:pPr defTabSz="457200">
                        <a:lnSpc>
                          <a:spcPct val="100000"/>
                        </a:lnSpc>
                      </a:pPr>
                      <a:r>
                        <a:rPr b="1" lang="en-US" sz="1500" spc="-1" strike="noStrike">
                          <a:solidFill>
                            <a:schemeClr val="dk1"/>
                          </a:solidFill>
                          <a:latin typeface="Calibri"/>
                        </a:rPr>
                        <a:t>Donnée</a:t>
                      </a:r>
                      <a:endParaRPr b="0" lang="fr-FR" sz="15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bcbcbc"/>
                      </a:solidFill>
                      <a:prstDash val="solid"/>
                    </a:lnT>
                    <a:lnB w="12240">
                      <a:solidFill>
                        <a:srgbClr val="000000"/>
                      </a:solidFill>
                      <a:prstDash val="solid"/>
                    </a:lnB>
                    <a:noFill/>
                  </a:tcPr>
                </a:tc>
                <a:tc>
                  <a:txBody>
                    <a:bodyPr lIns="50760" rIns="50760" anchor="t">
                      <a:noAutofit/>
                    </a:bodyPr>
                    <a:p>
                      <a:pPr defTabSz="457200">
                        <a:lnSpc>
                          <a:spcPct val="100000"/>
                        </a:lnSpc>
                      </a:pPr>
                      <a:r>
                        <a:rPr b="1" lang="en-US" sz="1500" spc="-1" strike="noStrike">
                          <a:solidFill>
                            <a:schemeClr val="dk1"/>
                          </a:solidFill>
                          <a:latin typeface="Calibri"/>
                        </a:rPr>
                        <a:t>Pattern</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bcbcbc"/>
                      </a:solidFill>
                      <a:prstDash val="solid"/>
                    </a:lnT>
                    <a:lnB w="12240">
                      <a:solidFill>
                        <a:srgbClr val="000000"/>
                      </a:solidFill>
                      <a:prstDash val="solid"/>
                    </a:lnB>
                    <a:noFill/>
                  </a:tcPr>
                </a:tc>
                <a:tc>
                  <a:txBody>
                    <a:bodyPr lIns="50760" rIns="50760" anchor="t">
                      <a:noAutofit/>
                    </a:bodyPr>
                    <a:p>
                      <a:pPr defTabSz="457200">
                        <a:lnSpc>
                          <a:spcPct val="100000"/>
                        </a:lnSpc>
                      </a:pPr>
                      <a:r>
                        <a:rPr b="1" lang="en-US" sz="1500" spc="-1" strike="noStrike">
                          <a:solidFill>
                            <a:schemeClr val="dk1"/>
                          </a:solidFill>
                          <a:latin typeface="Calibri"/>
                        </a:rPr>
                        <a:t>Valeur</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bcbcbc"/>
                      </a:solidFill>
                      <a:prstDash val="solid"/>
                    </a:lnT>
                    <a:lnB w="12240">
                      <a:solidFill>
                        <a:srgbClr val="000000"/>
                      </a:solidFill>
                      <a:prstDash val="solid"/>
                    </a:lnB>
                    <a:noFill/>
                  </a:tcPr>
                </a:tc>
                <a:tc>
                  <a:txBody>
                    <a:bodyPr lIns="50760" rIns="50760" anchor="t">
                      <a:noAutofit/>
                    </a:bodyPr>
                    <a:p>
                      <a:pPr defTabSz="457200">
                        <a:lnSpc>
                          <a:spcPct val="100000"/>
                        </a:lnSpc>
                      </a:pPr>
                      <a:r>
                        <a:rPr b="1" lang="en-US" sz="1500" spc="-1" strike="noStrike">
                          <a:solidFill>
                            <a:schemeClr val="dk1"/>
                          </a:solidFill>
                          <a:latin typeface="Calibri"/>
                        </a:rPr>
                        <a:t>Affichage</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bcbcbc"/>
                      </a:solidFill>
                      <a:prstDash val="solid"/>
                    </a:lnT>
                    <a:lnB w="12240">
                      <a:solidFill>
                        <a:srgbClr val="000000"/>
                      </a:solidFill>
                      <a:prstDash val="solid"/>
                    </a:lnB>
                    <a:noFill/>
                  </a:tcPr>
                </a:tc>
              </a:tr>
              <a:tr h="542520">
                <a:tc>
                  <a:txBody>
                    <a:bodyPr lIns="50760" rIns="50760" anchor="t">
                      <a:noAutofit/>
                    </a:bodyPr>
                    <a:p>
                      <a:pPr defTabSz="457200">
                        <a:lnSpc>
                          <a:spcPct val="100000"/>
                        </a:lnSpc>
                      </a:pPr>
                      <a:r>
                        <a:rPr b="0" lang="en-US" sz="1500" spc="-1" strike="noStrike">
                          <a:solidFill>
                            <a:schemeClr val="dk1"/>
                          </a:solidFill>
                          <a:latin typeface="Calibri"/>
                        </a:rPr>
                        <a:t>Entier avec séparateur de milliers</a:t>
                      </a:r>
                      <a:endParaRPr b="0" lang="fr-FR" sz="15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ourier New"/>
                        </a:rPr>
                        <a:t>#,##0</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1234567</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1 234 567</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335520">
                <a:tc>
                  <a:txBody>
                    <a:bodyPr lIns="50760" rIns="50760" anchor="t">
                      <a:noAutofit/>
                    </a:bodyPr>
                    <a:p>
                      <a:pPr defTabSz="457200">
                        <a:lnSpc>
                          <a:spcPct val="100000"/>
                        </a:lnSpc>
                      </a:pPr>
                      <a:r>
                        <a:rPr b="0" lang="en-US" sz="1500" spc="-1" strike="noStrike">
                          <a:solidFill>
                            <a:schemeClr val="dk1"/>
                          </a:solidFill>
                          <a:latin typeface="Calibri"/>
                        </a:rPr>
                        <a:t>Montant</a:t>
                      </a:r>
                      <a:endParaRPr b="0" lang="fr-FR" sz="15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ourier New"/>
                        </a:rPr>
                        <a:t>#,##0.00 €</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1234.5</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1 234,50 €</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335520">
                <a:tc>
                  <a:txBody>
                    <a:bodyPr lIns="50760" rIns="50760" anchor="t">
                      <a:noAutofit/>
                    </a:bodyPr>
                    <a:p>
                      <a:pPr defTabSz="457200">
                        <a:lnSpc>
                          <a:spcPct val="100000"/>
                        </a:lnSpc>
                      </a:pPr>
                      <a:r>
                        <a:rPr b="0" lang="en-US" sz="1500" spc="-1" strike="noStrike">
                          <a:solidFill>
                            <a:schemeClr val="dk1"/>
                          </a:solidFill>
                          <a:latin typeface="Calibri"/>
                        </a:rPr>
                        <a:t>Pourcentage</a:t>
                      </a:r>
                      <a:endParaRPr b="0" lang="fr-FR" sz="15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ourier New"/>
                        </a:rPr>
                        <a:t>#,##0.0 %</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0.1534</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15,3 %</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335520">
                <a:tc>
                  <a:txBody>
                    <a:bodyPr lIns="50760" rIns="50760" anchor="t">
                      <a:noAutofit/>
                    </a:bodyPr>
                    <a:p>
                      <a:pPr defTabSz="457200">
                        <a:lnSpc>
                          <a:spcPct val="100000"/>
                        </a:lnSpc>
                      </a:pPr>
                      <a:r>
                        <a:rPr b="0" lang="en-US" sz="1500" spc="-1" strike="noStrike">
                          <a:solidFill>
                            <a:schemeClr val="dk1"/>
                          </a:solidFill>
                          <a:latin typeface="Calibri"/>
                        </a:rPr>
                        <a:t>Date courte</a:t>
                      </a:r>
                      <a:endParaRPr b="0" lang="fr-FR" sz="15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ourier New"/>
                        </a:rPr>
                        <a:t>dd/MM/yyyy</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2026-09-12</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12/09/2026</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542520">
                <a:tc>
                  <a:txBody>
                    <a:bodyPr lIns="50760" rIns="50760" anchor="t">
                      <a:noAutofit/>
                    </a:bodyPr>
                    <a:p>
                      <a:pPr defTabSz="457200">
                        <a:lnSpc>
                          <a:spcPct val="100000"/>
                        </a:lnSpc>
                      </a:pPr>
                      <a:r>
                        <a:rPr b="0" lang="en-US" sz="1500" spc="-1" strike="noStrike">
                          <a:solidFill>
                            <a:schemeClr val="dk1"/>
                          </a:solidFill>
                          <a:latin typeface="Calibri"/>
                        </a:rPr>
                        <a:t>Date longue</a:t>
                      </a:r>
                      <a:endParaRPr b="0" lang="fr-FR" sz="15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ourier New"/>
                        </a:rPr>
                        <a:t>EEEE d MMMM yyyy</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2026-09-12</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samedi 12 septembre 2026</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362880">
                <a:tc>
                  <a:txBody>
                    <a:bodyPr lIns="50760" rIns="50760" anchor="t">
                      <a:noAutofit/>
                    </a:bodyPr>
                    <a:p>
                      <a:pPr defTabSz="457200">
                        <a:lnSpc>
                          <a:spcPct val="100000"/>
                        </a:lnSpc>
                      </a:pPr>
                      <a:r>
                        <a:rPr b="0" lang="en-US" sz="1500" spc="-1" strike="noStrike">
                          <a:solidFill>
                            <a:schemeClr val="dk1"/>
                          </a:solidFill>
                          <a:latin typeface="Calibri"/>
                        </a:rPr>
                        <a:t>Date et heure</a:t>
                      </a:r>
                      <a:endParaRPr b="0" lang="fr-FR" sz="15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ourier New"/>
                        </a:rPr>
                        <a:t>dd/MM/yyyy HH:mm</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endParaRPr b="0" lang="en-US" sz="1800" spc="-1" strike="noStrike">
                        <a:solidFill>
                          <a:schemeClr val="dk1"/>
                        </a:solidFill>
                        <a:latin typeface="Calibri"/>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12/09/2026 14:30</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543240">
                <a:tc>
                  <a:txBody>
                    <a:bodyPr lIns="50760" rIns="50760" anchor="t">
                      <a:noAutofit/>
                    </a:bodyPr>
                    <a:p>
                      <a:pPr defTabSz="457200">
                        <a:lnSpc>
                          <a:spcPct val="100000"/>
                        </a:lnSpc>
                      </a:pPr>
                      <a:r>
                        <a:rPr b="0" lang="en-US" sz="1500" spc="-1" strike="noStrike">
                          <a:solidFill>
                            <a:schemeClr val="dk1"/>
                          </a:solidFill>
                          <a:latin typeface="Calibri"/>
                        </a:rPr>
                        <a:t>Nombre sans décimale forcée</a:t>
                      </a:r>
                      <a:endParaRPr b="0" lang="fr-FR" sz="15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bcbcbc"/>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ourier New"/>
                        </a:rPr>
                        <a:t>#,##0.##</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bcbcbc"/>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12.5</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bcbcbc"/>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12,5</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bcbcbc"/>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Locale et formats</a:t>
            </a:r>
            <a:endParaRPr b="0" lang="fr-FR" sz="3600" spc="-1" strike="noStrike">
              <a:solidFill>
                <a:srgbClr val="000000"/>
              </a:solidFill>
              <a:latin typeface="Arial"/>
            </a:endParaRPr>
          </a:p>
        </p:txBody>
      </p:sp>
      <p:sp>
        <p:nvSpPr>
          <p:cNvPr id="316"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Les séparateurs (virgule, espace, point) et les noms de jours dépendent de la </a:t>
            </a:r>
            <a:r>
              <a:rPr b="1" lang="en-US" sz="2000" spc="-1" strike="noStrike">
                <a:solidFill>
                  <a:schemeClr val="dk1"/>
                </a:solidFill>
                <a:latin typeface="Calibri"/>
              </a:rPr>
              <a:t>locale</a:t>
            </a:r>
            <a:r>
              <a:rPr b="0" lang="en-US" sz="2000" spc="-1" strike="noStrike">
                <a:solidFill>
                  <a:schemeClr val="dk1"/>
                </a:solidFill>
                <a:latin typeface="Calibri"/>
              </a:rPr>
              <a:t> du rapport</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Paramètre prédéfini </a:t>
            </a:r>
            <a:r>
              <a:rPr b="0" lang="en-US" sz="2000" spc="-1" strike="noStrike">
                <a:solidFill>
                  <a:schemeClr val="dk1"/>
                </a:solidFill>
                <a:latin typeface="Courier New"/>
              </a:rPr>
              <a:t>$P{REPORT_LOCALE}</a:t>
            </a:r>
            <a:r>
              <a:rPr b="0" lang="en-US" sz="2000" spc="-1" strike="noStrike">
                <a:solidFill>
                  <a:schemeClr val="dk1"/>
                </a:solidFill>
                <a:latin typeface="Calibri"/>
              </a:rPr>
              <a:t> : fixé par Studio à l'aperçu, par l'application ou le serveur en production</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Un rapport correct dans Studio peut afficher « 1,234.50 » en production si la locale du serveur est anglaise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Forcer la locale dans les propriétés du rapport ou la passer en paramètre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Le pattern s'écrit toujours avec les symboles anglais (</a:t>
            </a:r>
            <a:r>
              <a:rPr b="0" lang="en-US" sz="2000" spc="-1" strike="noStrike">
                <a:solidFill>
                  <a:schemeClr val="dk1"/>
                </a:solidFill>
                <a:latin typeface="Courier New"/>
              </a:rPr>
              <a:t>,</a:t>
            </a:r>
            <a:r>
              <a:rPr b="0" lang="en-US" sz="2000" spc="-1" strike="noStrike">
                <a:solidFill>
                  <a:schemeClr val="dk1"/>
                </a:solidFill>
                <a:latin typeface="Calibri"/>
              </a:rPr>
              <a:t> milliers, </a:t>
            </a:r>
            <a:r>
              <a:rPr b="0" lang="en-US" sz="2000" spc="-1" strike="noStrike">
                <a:solidFill>
                  <a:schemeClr val="dk1"/>
                </a:solidFill>
                <a:latin typeface="Courier New"/>
              </a:rPr>
              <a:t>.</a:t>
            </a:r>
            <a:r>
              <a:rPr b="0" lang="en-US" sz="2000" spc="-1" strike="noStrike">
                <a:solidFill>
                  <a:schemeClr val="dk1"/>
                </a:solidFill>
                <a:latin typeface="Calibri"/>
              </a:rPr>
              <a:t> décimale) ; la locale fait la traduction</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Pour un format vraiment fixe : les fonctions TEXT( ) et DATEFORMAT( ) dans l'expression</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Règles de lisibilité pour un public métier</a:t>
            </a:r>
            <a:endParaRPr b="0" lang="fr-FR" sz="3600" spc="-1" strike="noStrike">
              <a:solidFill>
                <a:srgbClr val="000000"/>
              </a:solidFill>
              <a:latin typeface="Arial"/>
            </a:endParaRPr>
          </a:p>
        </p:txBody>
      </p:sp>
      <p:sp>
        <p:nvSpPr>
          <p:cNvPr id="318"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Une hiérarchie visuelle claire : 3 niveaux maximum (titre, entêtes, données)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Deux tailles de police et une seule famille suffisent ; le gras pour les entêtes et totaux</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Nombres alignés à droite, textes à gauche, même nombre de décimales dans une colonne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Unités et devise dans l'entête de colonne plutôt que sur chaque valeur</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Aérer : marges internes, interligne, filets fins plutôt que grilles complètes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Lignes alternées avec un style conditionnel : </a:t>
            </a:r>
            <a:r>
              <a:rPr b="0" lang="en-US" sz="2000" spc="-1" strike="noStrike">
                <a:solidFill>
                  <a:schemeClr val="dk1"/>
                </a:solidFill>
                <a:latin typeface="Courier New"/>
              </a:rPr>
              <a:t>$V{REPORT_COUNT} % 2 == 0</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Contraste suffisant pour l'impression noir et blanc : pas de texte gris clair sur fond gris</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Différencier titres, sous-titres, données et totaux</a:t>
            </a:r>
            <a:endParaRPr b="0" lang="fr-FR" sz="3600" spc="-1" strike="noStrike">
              <a:solidFill>
                <a:srgbClr val="000000"/>
              </a:solidFill>
              <a:latin typeface="Arial"/>
            </a:endParaRPr>
          </a:p>
        </p:txBody>
      </p:sp>
      <p:sp>
        <p:nvSpPr>
          <p:cNvPr id="320" name="PlaceHolder 2"/>
          <p:cNvSpPr>
            <a:spLocks noGrp="1"/>
          </p:cNvSpPr>
          <p:nvPr>
            <p:ph/>
          </p:nvPr>
        </p:nvSpPr>
        <p:spPr>
          <a:xfrm>
            <a:off x="762120" y="2095560"/>
            <a:ext cx="9397080" cy="506880"/>
          </a:xfrm>
          <a:prstGeom prst="rect">
            <a:avLst/>
          </a:prstGeom>
          <a:noFill/>
          <a:ln w="0">
            <a:noFill/>
          </a:ln>
        </p:spPr>
        <p:txBody>
          <a:bodyPr lIns="91440" rIns="91440" tIns="45720" bIns="45720" anchor="t">
            <a:normAutofit fontScale="75000"/>
          </a:bodyPr>
          <a:p>
            <a:pPr marL="343080" indent="-343080" defTabSz="457200">
              <a:lnSpc>
                <a:spcPct val="100000"/>
              </a:lnSpc>
              <a:spcBef>
                <a:spcPts val="360"/>
              </a:spcBef>
              <a:buClr>
                <a:srgbClr val="000000"/>
              </a:buClr>
              <a:buFont typeface="Arial"/>
              <a:buChar char="•"/>
            </a:pPr>
            <a:r>
              <a:rPr b="0" lang="en-US" sz="1800" spc="-1" strike="noStrike">
                <a:solidFill>
                  <a:schemeClr val="dk1"/>
                </a:solidFill>
                <a:latin typeface="Calibri"/>
              </a:rPr>
              <a:t>Une charte de styles type, à créer une fois dans une bibliothèque </a:t>
            </a:r>
            <a:r>
              <a:rPr b="0" lang="en-US" sz="1800" spc="-1" strike="noStrike">
                <a:solidFill>
                  <a:schemeClr val="dk1"/>
                </a:solidFill>
                <a:latin typeface="Courier New"/>
              </a:rPr>
              <a:t>.jrtx</a:t>
            </a:r>
            <a:r>
              <a:rPr b="0" lang="en-US" sz="1800" spc="-1" strike="noStrike">
                <a:solidFill>
                  <a:schemeClr val="dk1"/>
                </a:solidFill>
                <a:latin typeface="Calibri"/>
              </a:rPr>
              <a:t> et à réutiliser dans tous les rapports</a:t>
            </a:r>
            <a:endParaRPr b="0" lang="fr-FR" sz="1800" spc="-1" strike="noStrike">
              <a:solidFill>
                <a:srgbClr val="000000"/>
              </a:solidFill>
              <a:latin typeface="Arial"/>
            </a:endParaRPr>
          </a:p>
        </p:txBody>
      </p:sp>
      <p:graphicFrame>
        <p:nvGraphicFramePr>
          <p:cNvPr id="321" name="Table 3"/>
          <p:cNvGraphicFramePr/>
          <p:nvPr/>
        </p:nvGraphicFramePr>
        <p:xfrm>
          <a:off x="762120" y="2679840"/>
          <a:ext cx="9396720" cy="2921760"/>
        </p:xfrm>
        <a:graphic>
          <a:graphicData uri="http://schemas.openxmlformats.org/drawingml/2006/table">
            <a:tbl>
              <a:tblPr/>
              <a:tblGrid>
                <a:gridCol w="1904760"/>
                <a:gridCol w="2539800"/>
                <a:gridCol w="1904760"/>
                <a:gridCol w="3047760"/>
              </a:tblGrid>
              <a:tr h="330120">
                <a:tc>
                  <a:txBody>
                    <a:bodyPr lIns="50760" rIns="50760" anchor="t">
                      <a:noAutofit/>
                    </a:bodyPr>
                    <a:p>
                      <a:pPr defTabSz="457200">
                        <a:lnSpc>
                          <a:spcPct val="100000"/>
                        </a:lnSpc>
                      </a:pPr>
                      <a:r>
                        <a:rPr b="1" lang="en-US" sz="1500" spc="-1" strike="noStrike">
                          <a:solidFill>
                            <a:schemeClr val="dk1"/>
                          </a:solidFill>
                          <a:latin typeface="Calibri"/>
                        </a:rPr>
                        <a:t>Style</a:t>
                      </a:r>
                      <a:endParaRPr b="0" lang="fr-FR" sz="15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bcbcbc"/>
                      </a:solidFill>
                      <a:prstDash val="solid"/>
                    </a:lnT>
                    <a:lnB w="12240">
                      <a:solidFill>
                        <a:srgbClr val="000000"/>
                      </a:solidFill>
                      <a:prstDash val="solid"/>
                    </a:lnB>
                    <a:noFill/>
                  </a:tcPr>
                </a:tc>
                <a:tc>
                  <a:txBody>
                    <a:bodyPr lIns="50760" rIns="50760" anchor="t">
                      <a:noAutofit/>
                    </a:bodyPr>
                    <a:p>
                      <a:pPr defTabSz="457200">
                        <a:lnSpc>
                          <a:spcPct val="100000"/>
                        </a:lnSpc>
                      </a:pPr>
                      <a:r>
                        <a:rPr b="1" lang="en-US" sz="1500" spc="-1" strike="noStrike">
                          <a:solidFill>
                            <a:schemeClr val="dk1"/>
                          </a:solidFill>
                          <a:latin typeface="Calibri"/>
                        </a:rPr>
                        <a:t>Usage</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bcbcbc"/>
                      </a:solidFill>
                      <a:prstDash val="solid"/>
                    </a:lnT>
                    <a:lnB w="12240">
                      <a:solidFill>
                        <a:srgbClr val="000000"/>
                      </a:solidFill>
                      <a:prstDash val="solid"/>
                    </a:lnB>
                    <a:noFill/>
                  </a:tcPr>
                </a:tc>
                <a:tc>
                  <a:txBody>
                    <a:bodyPr lIns="50760" rIns="50760" anchor="t">
                      <a:noAutofit/>
                    </a:bodyPr>
                    <a:p>
                      <a:pPr defTabSz="457200">
                        <a:lnSpc>
                          <a:spcPct val="100000"/>
                        </a:lnSpc>
                      </a:pPr>
                      <a:r>
                        <a:rPr b="1" lang="en-US" sz="1500" spc="-1" strike="noStrike">
                          <a:solidFill>
                            <a:schemeClr val="dk1"/>
                          </a:solidFill>
                          <a:latin typeface="Calibri"/>
                        </a:rPr>
                        <a:t>Police</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bcbcbc"/>
                      </a:solidFill>
                      <a:prstDash val="solid"/>
                    </a:lnT>
                    <a:lnB w="12240">
                      <a:solidFill>
                        <a:srgbClr val="000000"/>
                      </a:solidFill>
                      <a:prstDash val="solid"/>
                    </a:lnB>
                    <a:noFill/>
                  </a:tcPr>
                </a:tc>
                <a:tc>
                  <a:txBody>
                    <a:bodyPr lIns="50760" rIns="50760" anchor="t">
                      <a:noAutofit/>
                    </a:bodyPr>
                    <a:p>
                      <a:pPr defTabSz="457200">
                        <a:lnSpc>
                          <a:spcPct val="100000"/>
                        </a:lnSpc>
                      </a:pPr>
                      <a:r>
                        <a:rPr b="1" lang="en-US" sz="1500" spc="-1" strike="noStrike">
                          <a:solidFill>
                            <a:schemeClr val="dk1"/>
                          </a:solidFill>
                          <a:latin typeface="Calibri"/>
                        </a:rPr>
                        <a:t>Autres propriétés</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bcbcbc"/>
                      </a:solidFill>
                      <a:prstDash val="solid"/>
                    </a:lnT>
                    <a:lnB w="12240">
                      <a:solidFill>
                        <a:srgbClr val="000000"/>
                      </a:solidFill>
                      <a:prstDash val="solid"/>
                    </a:lnB>
                    <a:noFill/>
                  </a:tcPr>
                </a:tc>
              </a:tr>
              <a:tr h="330120">
                <a:tc>
                  <a:txBody>
                    <a:bodyPr lIns="50760" rIns="50760" anchor="t">
                      <a:noAutofit/>
                    </a:bodyPr>
                    <a:p>
                      <a:pPr defTabSz="457200">
                        <a:lnSpc>
                          <a:spcPct val="100000"/>
                        </a:lnSpc>
                      </a:pPr>
                      <a:r>
                        <a:rPr b="0" lang="en-US" sz="1500" spc="-1" strike="noStrike">
                          <a:solidFill>
                            <a:schemeClr val="dk1"/>
                          </a:solidFill>
                          <a:latin typeface="Calibri"/>
                        </a:rPr>
                        <a:t>Titre</a:t>
                      </a:r>
                      <a:endParaRPr b="0" lang="fr-FR" sz="15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Bande Title</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18 pt, gras</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Centré ou aligné au logo</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330120">
                <a:tc>
                  <a:txBody>
                    <a:bodyPr lIns="50760" rIns="50760" anchor="t">
                      <a:noAutofit/>
                    </a:bodyPr>
                    <a:p>
                      <a:pPr defTabSz="457200">
                        <a:lnSpc>
                          <a:spcPct val="100000"/>
                        </a:lnSpc>
                      </a:pPr>
                      <a:r>
                        <a:rPr b="0" lang="en-US" sz="1500" spc="-1" strike="noStrike">
                          <a:solidFill>
                            <a:schemeClr val="dk1"/>
                          </a:solidFill>
                          <a:latin typeface="Calibri"/>
                        </a:rPr>
                        <a:t>Sous-titre</a:t>
                      </a:r>
                      <a:endParaRPr b="0" lang="fr-FR" sz="15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Période, filtres appliqués</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12 pt, italique</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Sous le titre, gris foncé</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330120">
                <a:tc>
                  <a:txBody>
                    <a:bodyPr lIns="50760" rIns="50760" anchor="t">
                      <a:noAutofit/>
                    </a:bodyPr>
                    <a:p>
                      <a:pPr defTabSz="457200">
                        <a:lnSpc>
                          <a:spcPct val="100000"/>
                        </a:lnSpc>
                      </a:pPr>
                      <a:r>
                        <a:rPr b="0" lang="en-US" sz="1500" spc="-1" strike="noStrike">
                          <a:solidFill>
                            <a:schemeClr val="dk1"/>
                          </a:solidFill>
                          <a:latin typeface="Calibri"/>
                        </a:rPr>
                        <a:t>Entête de colonne</a:t>
                      </a:r>
                      <a:endParaRPr b="0" lang="fr-FR" sz="15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Column Header</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10 pt, gras</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Fond gris clair, filet bas 1 pt</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330120">
                <a:tc>
                  <a:txBody>
                    <a:bodyPr lIns="50760" rIns="50760" anchor="t">
                      <a:noAutofit/>
                    </a:bodyPr>
                    <a:p>
                      <a:pPr defTabSz="457200">
                        <a:lnSpc>
                          <a:spcPct val="100000"/>
                        </a:lnSpc>
                      </a:pPr>
                      <a:r>
                        <a:rPr b="0" lang="en-US" sz="1500" spc="-1" strike="noStrike">
                          <a:solidFill>
                            <a:schemeClr val="dk1"/>
                          </a:solidFill>
                          <a:latin typeface="Calibri"/>
                        </a:rPr>
                        <a:t>Données</a:t>
                      </a:r>
                      <a:endParaRPr b="0" lang="fr-FR" sz="15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Detail</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9 pt</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Nombres à droite, padding 2 px</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330120">
                <a:tc>
                  <a:txBody>
                    <a:bodyPr lIns="50760" rIns="50760" anchor="t">
                      <a:noAutofit/>
                    </a:bodyPr>
                    <a:p>
                      <a:pPr defTabSz="457200">
                        <a:lnSpc>
                          <a:spcPct val="100000"/>
                        </a:lnSpc>
                      </a:pPr>
                      <a:r>
                        <a:rPr b="0" lang="en-US" sz="1500" spc="-1" strike="noStrike">
                          <a:solidFill>
                            <a:schemeClr val="dk1"/>
                          </a:solidFill>
                          <a:latin typeface="Calibri"/>
                        </a:rPr>
                        <a:t>Total</a:t>
                      </a:r>
                      <a:endParaRPr b="0" lang="fr-FR" sz="15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Summary, pieds de groupe</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9 pt, gras</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Filet haut 1 pt, hérite de Données</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330120">
                <a:tc>
                  <a:txBody>
                    <a:bodyPr lIns="50760" rIns="50760" anchor="t">
                      <a:noAutofit/>
                    </a:bodyPr>
                    <a:p>
                      <a:pPr defTabSz="457200">
                        <a:lnSpc>
                          <a:spcPct val="100000"/>
                        </a:lnSpc>
                      </a:pPr>
                      <a:r>
                        <a:rPr b="0" lang="en-US" sz="1500" spc="-1" strike="noStrike">
                          <a:solidFill>
                            <a:schemeClr val="dk1"/>
                          </a:solidFill>
                          <a:latin typeface="Calibri"/>
                        </a:rPr>
                        <a:t>Pied de page</a:t>
                      </a:r>
                      <a:endParaRPr b="0" lang="fr-FR" sz="15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bcbcbc"/>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Page Footer</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bcbcbc"/>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8 pt</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bcbcbc"/>
                      </a:solidFill>
                      <a:prstDash val="solid"/>
                    </a:lnB>
                    <a:noFill/>
                  </a:tcPr>
                </a:tc>
                <a:tc>
                  <a:txBody>
                    <a:bodyPr lIns="50760" rIns="50760" anchor="t">
                      <a:noAutofit/>
                    </a:bodyPr>
                    <a:p>
                      <a:pPr defTabSz="457200">
                        <a:lnSpc>
                          <a:spcPct val="100000"/>
                        </a:lnSpc>
                      </a:pPr>
                      <a:r>
                        <a:rPr b="0" lang="en-US" sz="1500" spc="-1" strike="noStrike">
                          <a:solidFill>
                            <a:schemeClr val="dk1"/>
                          </a:solidFill>
                          <a:latin typeface="Calibri"/>
                        </a:rPr>
                        <a:t>Numéro de page, date d'édition, gris</a:t>
                      </a:r>
                      <a:endParaRPr b="0" lang="fr-FR" sz="15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bcbcbc"/>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Atelier 8 : Mise en place d'une charte graphique</a:t>
            </a:r>
            <a:endParaRPr b="0" lang="fr-FR" sz="3600" spc="-1" strike="noStrike">
              <a:solidFill>
                <a:srgbClr val="000000"/>
              </a:solidFill>
              <a:latin typeface="Arial"/>
            </a:endParaRPr>
          </a:p>
        </p:txBody>
      </p:sp>
      <p:sp>
        <p:nvSpPr>
          <p:cNvPr id="323"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39"/>
              </a:spcBef>
              <a:buClr>
                <a:srgbClr val="000000"/>
              </a:buClr>
              <a:buFont typeface="Arial"/>
              <a:buChar char="•"/>
            </a:pPr>
            <a:r>
              <a:rPr b="0" lang="en-US" sz="2200" spc="-1" strike="noStrike">
                <a:solidFill>
                  <a:schemeClr val="dk1"/>
                </a:solidFill>
                <a:latin typeface="Calibri"/>
              </a:rPr>
              <a:t>Créer les styles Titre, Sous-titre, Entête, Données, Total avec héritage</a:t>
            </a:r>
            <a:endParaRPr b="0" lang="fr-FR" sz="2200" spc="-1" strike="noStrike">
              <a:solidFill>
                <a:srgbClr val="000000"/>
              </a:solidFill>
              <a:latin typeface="Arial"/>
            </a:endParaRPr>
          </a:p>
          <a:p>
            <a:pPr marL="343080" indent="-343080" defTabSz="457200">
              <a:lnSpc>
                <a:spcPct val="100000"/>
              </a:lnSpc>
              <a:spcBef>
                <a:spcPts val="439"/>
              </a:spcBef>
              <a:buClr>
                <a:srgbClr val="000000"/>
              </a:buClr>
              <a:buFont typeface="Arial"/>
              <a:buChar char="•"/>
            </a:pPr>
            <a:r>
              <a:rPr b="0" lang="en-US" sz="2200" spc="-1" strike="noStrike">
                <a:solidFill>
                  <a:schemeClr val="dk1"/>
                </a:solidFill>
                <a:latin typeface="Calibri"/>
              </a:rPr>
              <a:t>Les appliquer aux éléments du rapport, définir le style par défaut</a:t>
            </a:r>
            <a:endParaRPr b="0" lang="fr-FR" sz="2200" spc="-1" strike="noStrike">
              <a:solidFill>
                <a:srgbClr val="000000"/>
              </a:solidFill>
              <a:latin typeface="Arial"/>
            </a:endParaRPr>
          </a:p>
          <a:p>
            <a:pPr marL="343080" indent="-343080" defTabSz="457200">
              <a:lnSpc>
                <a:spcPct val="100000"/>
              </a:lnSpc>
              <a:spcBef>
                <a:spcPts val="439"/>
              </a:spcBef>
              <a:buClr>
                <a:srgbClr val="000000"/>
              </a:buClr>
              <a:buFont typeface="Arial"/>
              <a:buChar char="•"/>
            </a:pPr>
            <a:r>
              <a:rPr b="0" lang="en-US" sz="2200" spc="-1" strike="noStrike">
                <a:solidFill>
                  <a:schemeClr val="dk1"/>
                </a:solidFill>
                <a:latin typeface="Calibri"/>
              </a:rPr>
              <a:t>Formater les montants, pourcentages et dates avec des patterns</a:t>
            </a:r>
            <a:endParaRPr b="0" lang="fr-FR" sz="2200" spc="-1" strike="noStrike">
              <a:solidFill>
                <a:srgbClr val="000000"/>
              </a:solidFill>
              <a:latin typeface="Arial"/>
            </a:endParaRPr>
          </a:p>
          <a:p>
            <a:pPr marL="343080" indent="-343080" defTabSz="457200">
              <a:lnSpc>
                <a:spcPct val="100000"/>
              </a:lnSpc>
              <a:spcBef>
                <a:spcPts val="439"/>
              </a:spcBef>
              <a:buClr>
                <a:srgbClr val="000000"/>
              </a:buClr>
              <a:buFont typeface="Arial"/>
              <a:buChar char="•"/>
            </a:pPr>
            <a:r>
              <a:rPr b="0" lang="en-US" sz="2200" spc="-1" strike="noStrike">
                <a:solidFill>
                  <a:schemeClr val="dk1"/>
                </a:solidFill>
                <a:latin typeface="Calibri"/>
              </a:rPr>
              <a:t>Ajouter un style conditionnel pour les lignes alternées et les montants négatifs</a:t>
            </a:r>
            <a:endParaRPr b="0" lang="fr-FR" sz="2200" spc="-1" strike="noStrike">
              <a:solidFill>
                <a:srgbClr val="000000"/>
              </a:solidFill>
              <a:latin typeface="Arial"/>
            </a:endParaRPr>
          </a:p>
          <a:p>
            <a:pPr marL="343080" indent="-343080" defTabSz="457200">
              <a:lnSpc>
                <a:spcPct val="100000"/>
              </a:lnSpc>
              <a:spcBef>
                <a:spcPts val="439"/>
              </a:spcBef>
              <a:buClr>
                <a:srgbClr val="000000"/>
              </a:buClr>
              <a:buFont typeface="Arial"/>
              <a:buChar char="•"/>
            </a:pPr>
            <a:r>
              <a:rPr b="0" lang="en-US" sz="2200" spc="-1" strike="noStrike">
                <a:solidFill>
                  <a:schemeClr val="dk1"/>
                </a:solidFill>
                <a:latin typeface="Calibri"/>
              </a:rPr>
              <a:t>Exporter les styles en bibliothèque .jrtx et la référencer depuis un second rapport</a:t>
            </a:r>
            <a:endParaRPr b="0" lang="fr-FR"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Contrôler la pagination</a:t>
            </a:r>
            <a:endParaRPr b="0" lang="fr-FR" sz="3600" spc="-1" strike="noStrike">
              <a:solidFill>
                <a:srgbClr val="000000"/>
              </a:solidFill>
              <a:latin typeface="Arial"/>
            </a:endParaRPr>
          </a:p>
        </p:txBody>
      </p:sp>
      <p:sp>
        <p:nvSpPr>
          <p:cNvPr id="325" name="PlaceHolder 2"/>
          <p:cNvSpPr>
            <a:spLocks noGrp="1"/>
          </p:cNvSpPr>
          <p:nvPr>
            <p:ph/>
          </p:nvPr>
        </p:nvSpPr>
        <p:spPr>
          <a:xfrm>
            <a:off x="762120" y="2540160"/>
            <a:ext cx="9397080" cy="4062960"/>
          </a:xfrm>
          <a:prstGeom prst="rect">
            <a:avLst/>
          </a:prstGeom>
          <a:noFill/>
          <a:ln w="0">
            <a:noFill/>
          </a:ln>
        </p:spPr>
        <p:txBody>
          <a:bodyPr lIns="91440" rIns="91440" tIns="45720" bIns="45720" anchor="t">
            <a:normAutofit/>
          </a:bodyPr>
          <a:p>
            <a:pPr indent="0" algn="ctr" defTabSz="457200">
              <a:lnSpc>
                <a:spcPct val="100000"/>
              </a:lnSpc>
              <a:spcBef>
                <a:spcPts val="519"/>
              </a:spcBef>
              <a:buNone/>
              <a:tabLst>
                <a:tab algn="l" pos="0"/>
              </a:tabLst>
            </a:pPr>
            <a:r>
              <a:rPr b="0" lang="en-US" sz="2600" spc="-1" strike="noStrike">
                <a:solidFill>
                  <a:schemeClr val="dk1"/>
                </a:solidFill>
                <a:latin typeface="Calibri"/>
              </a:rPr>
              <a:t>Fonctionnement des </a:t>
            </a:r>
            <a:r>
              <a:rPr b="0" lang="en-US" sz="2600" spc="-1" strike="noStrike">
                <a:solidFill>
                  <a:schemeClr val="dk1"/>
                </a:solidFill>
                <a:latin typeface="Calibri"/>
              </a:rPr>
              <a:t>sauts de page</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Hauteur disponible par </a:t>
            </a:r>
            <a:r>
              <a:rPr b="0" lang="en-US" sz="2600" spc="-1" strike="noStrike">
                <a:solidFill>
                  <a:schemeClr val="dk1"/>
                </a:solidFill>
                <a:latin typeface="Calibri"/>
              </a:rPr>
              <a:t>page</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Impact des bandes sur </a:t>
            </a:r>
            <a:r>
              <a:rPr b="0" lang="en-US" sz="2600" spc="-1" strike="noStrike">
                <a:solidFill>
                  <a:schemeClr val="dk1"/>
                </a:solidFill>
                <a:latin typeface="Calibri"/>
              </a:rPr>
              <a:t>le rendu</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Répétition des en-</a:t>
            </a:r>
            <a:r>
              <a:rPr b="0" lang="en-US" sz="2600" spc="-1" strike="noStrike">
                <a:solidFill>
                  <a:schemeClr val="dk1"/>
                </a:solidFill>
                <a:latin typeface="Calibri"/>
              </a:rPr>
              <a:t>têtes</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Éviter les coupures </a:t>
            </a:r>
            <a:r>
              <a:rPr b="0" lang="en-US" sz="2600" spc="-1" strike="noStrike">
                <a:solidFill>
                  <a:schemeClr val="dk1"/>
                </a:solidFill>
                <a:latin typeface="Calibri"/>
              </a:rPr>
              <a:t>inopinées</a:t>
            </a:r>
            <a:endParaRPr b="0" lang="fr-FR"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Fonctionnement des sauts de page</a:t>
            </a:r>
            <a:endParaRPr b="0" lang="fr-FR" sz="3600" spc="-1" strike="noStrike">
              <a:solidFill>
                <a:srgbClr val="000000"/>
              </a:solidFill>
              <a:latin typeface="Arial"/>
            </a:endParaRPr>
          </a:p>
        </p:txBody>
      </p:sp>
      <p:sp>
        <p:nvSpPr>
          <p:cNvPr id="327"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Le moteur remplit la page bande après bande ; quand la bande suivante ne tient plus, il ferme la page (Page Footer) et en ouvre une nouvelle (Page Header, Column Header)</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Saut de page explicite : élément </a:t>
            </a:r>
            <a:r>
              <a:rPr b="1" lang="en-US" sz="2000" spc="-1" strike="noStrike">
                <a:solidFill>
                  <a:schemeClr val="dk1"/>
                </a:solidFill>
                <a:latin typeface="Calibri"/>
              </a:rPr>
              <a:t>Break</a:t>
            </a:r>
            <a:r>
              <a:rPr b="0" lang="en-US" sz="2000" spc="-1" strike="noStrike">
                <a:solidFill>
                  <a:schemeClr val="dk1"/>
                </a:solidFill>
                <a:latin typeface="Calibri"/>
              </a:rPr>
              <a:t> de la palette (type Page ou Column), placé dans une bande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Propriétés du rapport : </a:t>
            </a:r>
            <a:r>
              <a:rPr b="1" lang="en-US" sz="2000" spc="-1" strike="noStrike">
                <a:solidFill>
                  <a:schemeClr val="dk1"/>
                </a:solidFill>
                <a:latin typeface="Calibri"/>
              </a:rPr>
              <a:t>Title on a new page</a:t>
            </a:r>
            <a:r>
              <a:rPr b="0" lang="en-US" sz="2000" spc="-1" strike="noStrike">
                <a:solidFill>
                  <a:schemeClr val="dk1"/>
                </a:solidFill>
                <a:latin typeface="Calibri"/>
              </a:rPr>
              <a:t>, </a:t>
            </a:r>
            <a:r>
              <a:rPr b="1" lang="en-US" sz="2000" spc="-1" strike="noStrike">
                <a:solidFill>
                  <a:schemeClr val="dk1"/>
                </a:solidFill>
                <a:latin typeface="Calibri"/>
              </a:rPr>
              <a:t>Summary on a new page</a:t>
            </a:r>
            <a:r>
              <a:rPr b="0" lang="en-US" sz="2000" spc="-1" strike="noStrike">
                <a:solidFill>
                  <a:schemeClr val="dk1"/>
                </a:solidFill>
                <a:latin typeface="Calibri"/>
              </a:rPr>
              <a:t>, </a:t>
            </a:r>
            <a:r>
              <a:rPr b="1" lang="en-US" sz="2000" spc="-1" strike="noStrike">
                <a:solidFill>
                  <a:schemeClr val="dk1"/>
                </a:solidFill>
                <a:latin typeface="Calibri"/>
              </a:rPr>
              <a:t>Summary with page header and footer</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Le saut de page dépend donc des hauteurs réelles après étirement, pas des hauteurs de conception</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Propriété du rapport </a:t>
            </a:r>
            <a:r>
              <a:rPr b="1" lang="en-US" sz="2000" spc="-1" strike="noStrike">
                <a:solidFill>
                  <a:schemeClr val="dk1"/>
                </a:solidFill>
                <a:latin typeface="Calibri"/>
              </a:rPr>
              <a:t>Ignore pagination</a:t>
            </a:r>
            <a:r>
              <a:rPr b="0" lang="en-US" sz="2000" spc="-1" strike="noStrike">
                <a:solidFill>
                  <a:schemeClr val="dk1"/>
                </a:solidFill>
                <a:latin typeface="Calibri"/>
              </a:rPr>
              <a:t> : tout sur une seule page, utile pour l'export Excel</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Hauteur disponible par page</a:t>
            </a:r>
            <a:endParaRPr b="0" lang="fr-FR" sz="3600" spc="-1" strike="noStrike">
              <a:solidFill>
                <a:srgbClr val="000000"/>
              </a:solidFill>
              <a:latin typeface="Arial"/>
            </a:endParaRPr>
          </a:p>
        </p:txBody>
      </p:sp>
      <p:sp>
        <p:nvSpPr>
          <p:cNvPr id="329"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A4 portrait : 842 px de haut ; marges haut et bas 20 px chacune → 802 px utiles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Moins Page Header (60) et Page Footer (30), Column Header (25) et Column Footer (0) → 687 px pour les données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Avec une bande Detail de 20 px : 34 enregistrements par page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La somme des bandes non répétées (Title, Detail, Summary) ne doit pas dépasser l'espace utile : sinon erreur à la compilation</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Chaque champ en Stretch Height peut allonger la bande Detail : le nombre de lignes par page varie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Vue Report State après l'aperçu : nombre de pages générées</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Impact des bandes sur le rendu</a:t>
            </a:r>
            <a:endParaRPr b="0" lang="fr-FR" sz="3600" spc="-1" strike="noStrike">
              <a:solidFill>
                <a:srgbClr val="000000"/>
              </a:solidFill>
              <a:latin typeface="Arial"/>
            </a:endParaRPr>
          </a:p>
        </p:txBody>
      </p:sp>
      <p:sp>
        <p:nvSpPr>
          <p:cNvPr id="331"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Page Header et Page Footer : chaque page, y compris la page de titre sauf si Title on a new page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000" spc="-1" strike="noStrike">
                <a:solidFill>
                  <a:schemeClr val="dk1"/>
                </a:solidFill>
                <a:latin typeface="Calibri"/>
              </a:rPr>
              <a:t>Last Page Footer</a:t>
            </a:r>
            <a:r>
              <a:rPr b="0" lang="en-US" sz="2000" spc="-1" strike="noStrike">
                <a:solidFill>
                  <a:schemeClr val="dk1"/>
                </a:solidFill>
                <a:latin typeface="Calibri"/>
              </a:rPr>
              <a:t> : remplace Page Footer sur la dernière page (mentions finales, total général)</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Column Header : répété au début de chaque page et de chaque colonne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Summary : après le dernier enregistrement, sur la même page s'il reste de la place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Une bande vide (hauteur 0) ne consomme rien : supprimer celles qui ne servent pas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Print When Expression sur une bande : la masquer pour certaines pages, ex. </a:t>
            </a:r>
            <a:r>
              <a:rPr b="0" lang="en-US" sz="2000" spc="-1" strike="noStrike">
                <a:solidFill>
                  <a:schemeClr val="dk1"/>
                </a:solidFill>
                <a:latin typeface="Courier New"/>
              </a:rPr>
              <a:t>$V{PAGE_NUMBER} &gt; 1</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Répétition des en-têtes</a:t>
            </a:r>
            <a:endParaRPr b="0" lang="fr-FR" sz="3600" spc="-1" strike="noStrike">
              <a:solidFill>
                <a:srgbClr val="000000"/>
              </a:solidFill>
              <a:latin typeface="Arial"/>
            </a:endParaRPr>
          </a:p>
        </p:txBody>
      </p:sp>
      <p:sp>
        <p:nvSpPr>
          <p:cNvPr id="333"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Column Header : répétition automatique sur chaque page pour un rapport de type liste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Entête de groupe : propriété </a:t>
            </a:r>
            <a:r>
              <a:rPr b="1" lang="en-US" sz="2000" spc="-1" strike="noStrike">
                <a:solidFill>
                  <a:schemeClr val="dk1"/>
                </a:solidFill>
                <a:latin typeface="Calibri"/>
              </a:rPr>
              <a:t>Reprint Header On Each Page</a:t>
            </a:r>
            <a:r>
              <a:rPr b="0" lang="en-US" sz="2000" spc="-1" strike="noStrike">
                <a:solidFill>
                  <a:schemeClr val="dk1"/>
                </a:solidFill>
                <a:latin typeface="Calibri"/>
              </a:rPr>
              <a:t> du groupe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Élément Table : les en-têtes de colonnes se répètent à chaque page ; l'en-tête de table (Table Header) ne s'affiche qu'une fois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Sous-rapport : ses propres Column Header sont répétés dans la page du rapport parent</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Éviter de mettre les libellés de colonnes dans Title ou Page Header : ils ne suivraient pas les données</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Éviter les coupures inopinées</a:t>
            </a:r>
            <a:endParaRPr b="0" lang="fr-FR" sz="3600" spc="-1" strike="noStrike">
              <a:solidFill>
                <a:srgbClr val="000000"/>
              </a:solidFill>
              <a:latin typeface="Arial"/>
            </a:endParaRPr>
          </a:p>
        </p:txBody>
      </p:sp>
      <p:sp>
        <p:nvSpPr>
          <p:cNvPr id="335"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1" lang="en-US" sz="2000" spc="-1" strike="noStrike">
                <a:solidFill>
                  <a:schemeClr val="dk1"/>
                </a:solidFill>
                <a:latin typeface="Calibri"/>
              </a:rPr>
              <a:t>Split Type</a:t>
            </a:r>
            <a:r>
              <a:rPr b="0" lang="en-US" sz="2000" spc="-1" strike="noStrike">
                <a:solidFill>
                  <a:schemeClr val="dk1"/>
                </a:solidFill>
                <a:latin typeface="Calibri"/>
              </a:rPr>
              <a:t> de la bande Detail : Prevent pour ne jamais couper un enregistrement sur deux pages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Groupe : </a:t>
            </a:r>
            <a:r>
              <a:rPr b="1" lang="en-US" sz="2000" spc="-1" strike="noStrike">
                <a:solidFill>
                  <a:schemeClr val="dk1"/>
                </a:solidFill>
                <a:latin typeface="Calibri"/>
              </a:rPr>
              <a:t>Keep Together</a:t>
            </a:r>
            <a:r>
              <a:rPr b="0" lang="en-US" sz="2000" spc="-1" strike="noStrike">
                <a:solidFill>
                  <a:schemeClr val="dk1"/>
                </a:solidFill>
                <a:latin typeface="Calibri"/>
              </a:rPr>
              <a:t> pour garder l'en-tête de groupe avec sa première ligne, </a:t>
            </a:r>
            <a:r>
              <a:rPr b="1" lang="en-US" sz="2000" spc="-1" strike="noStrike">
                <a:solidFill>
                  <a:schemeClr val="dk1"/>
                </a:solidFill>
                <a:latin typeface="Calibri"/>
              </a:rPr>
              <a:t>Min Height To Start New Page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000" spc="-1" strike="noStrike">
                <a:solidFill>
                  <a:schemeClr val="dk1"/>
                </a:solidFill>
                <a:latin typeface="Calibri"/>
              </a:rPr>
              <a:t>Print When Detail Overflows</a:t>
            </a:r>
            <a:r>
              <a:rPr b="0" lang="en-US" sz="2000" spc="-1" strike="noStrike">
                <a:solidFill>
                  <a:schemeClr val="dk1"/>
                </a:solidFill>
                <a:latin typeface="Calibri"/>
              </a:rPr>
              <a:t> : réimprimer un élément (entête de bloc) si la bande déborde sur la page suivante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Un seul mode d'étirement cohérent sur une ligne : Text Adjust Stretch Height sur les textes, Stretch Type sur les bordures et lignes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Éviter Position Type Float mélangé à des éléments fixes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Textes longs : prévoir la hauteur, ou accepter Stretch Height mais tester avec les données les plus longues</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Page de garde et numérotation</a:t>
            </a:r>
            <a:endParaRPr b="0" lang="fr-FR" sz="3600" spc="-1" strike="noStrike">
              <a:solidFill>
                <a:srgbClr val="000000"/>
              </a:solidFill>
              <a:latin typeface="Arial"/>
            </a:endParaRPr>
          </a:p>
        </p:txBody>
      </p:sp>
      <p:sp>
        <p:nvSpPr>
          <p:cNvPr id="337"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Page de garde : bande Title avec </a:t>
            </a:r>
            <a:r>
              <a:rPr b="1" lang="en-US" sz="2000" spc="-1" strike="noStrike">
                <a:solidFill>
                  <a:schemeClr val="dk1"/>
                </a:solidFill>
                <a:latin typeface="Calibri"/>
              </a:rPr>
              <a:t>Title on a new page</a:t>
            </a:r>
            <a:r>
              <a:rPr b="0" lang="en-US" sz="2000" spc="-1" strike="noStrike">
                <a:solidFill>
                  <a:schemeClr val="dk1"/>
                </a:solidFill>
                <a:latin typeface="Calibri"/>
              </a:rPr>
              <a:t> ; le Page Header n'y apparaît pas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Numéro de page : champ texte </a:t>
            </a:r>
            <a:r>
              <a:rPr b="0" lang="en-US" sz="2000" spc="-1" strike="noStrike">
                <a:solidFill>
                  <a:schemeClr val="dk1"/>
                </a:solidFill>
                <a:latin typeface="Courier New"/>
              </a:rPr>
              <a:t>$V{PAGE_NUMBER}</a:t>
            </a:r>
            <a:r>
              <a:rPr b="0" lang="en-US" sz="2000" spc="-1" strike="noStrike">
                <a:solidFill>
                  <a:schemeClr val="dk1"/>
                </a:solidFill>
                <a:latin typeface="Calibri"/>
              </a:rPr>
              <a:t> dans Page Footer</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 Page 3 sur 12 » : deux champs texte, le premier avec Evaluation Time = Now, le second (total) avec Evaluation Time = </a:t>
            </a:r>
            <a:r>
              <a:rPr b="1" lang="en-US" sz="2000" spc="-1" strike="noStrike">
                <a:solidFill>
                  <a:schemeClr val="dk1"/>
                </a:solidFill>
                <a:latin typeface="Calibri"/>
              </a:rPr>
              <a:t>Report</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Ou en une seule expression avec la fonction </a:t>
            </a:r>
            <a:r>
              <a:rPr b="0" lang="en-US" sz="2000" spc="-1" strike="noStrike">
                <a:solidFill>
                  <a:schemeClr val="dk1"/>
                </a:solidFill>
                <a:latin typeface="Courier New"/>
              </a:rPr>
              <a:t>"Page " + $V{PAGE_NUMBER}</a:t>
            </a:r>
            <a:r>
              <a:rPr b="0" lang="en-US" sz="2000" spc="-1" strike="noStrike">
                <a:solidFill>
                  <a:schemeClr val="dk1"/>
                </a:solidFill>
                <a:latin typeface="Calibri"/>
              </a:rPr>
              <a:t> et un second champ Report</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Date d'édition : </a:t>
            </a:r>
            <a:r>
              <a:rPr b="0" lang="en-US" sz="2000" spc="-1" strike="noStrike">
                <a:solidFill>
                  <a:schemeClr val="dk1"/>
                </a:solidFill>
                <a:latin typeface="Courier New"/>
              </a:rPr>
              <a:t>TODAY()</a:t>
            </a:r>
            <a:r>
              <a:rPr b="0" lang="en-US" sz="2000" spc="-1" strike="noStrike">
                <a:solidFill>
                  <a:schemeClr val="dk1"/>
                </a:solidFill>
                <a:latin typeface="Calibri"/>
              </a:rPr>
              <a:t> ou </a:t>
            </a:r>
            <a:r>
              <a:rPr b="0" lang="en-US" sz="2000" spc="-1" strike="noStrike">
                <a:solidFill>
                  <a:schemeClr val="dk1"/>
                </a:solidFill>
                <a:latin typeface="Courier New"/>
              </a:rPr>
              <a:t>new java.util.Date()</a:t>
            </a:r>
            <a:r>
              <a:rPr b="0" lang="en-US" sz="2000" spc="-1" strike="noStrike">
                <a:solidFill>
                  <a:schemeClr val="dk1"/>
                </a:solidFill>
                <a:latin typeface="Calibri"/>
              </a:rPr>
              <a:t> avec un pattern de date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Recommencer la numérotation par groupe : variable PAGE_NUMBER remise à zéro n'est pas possible, utiliser un groupe avec Start New Page et une variable personnalisée</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Atelier 9 : Page de garde et gestion des sauts de page</a:t>
            </a:r>
            <a:endParaRPr b="0" lang="fr-FR" sz="3600" spc="-1" strike="noStrike">
              <a:solidFill>
                <a:srgbClr val="000000"/>
              </a:solidFill>
              <a:latin typeface="Arial"/>
            </a:endParaRPr>
          </a:p>
        </p:txBody>
      </p:sp>
      <p:sp>
        <p:nvSpPr>
          <p:cNvPr id="339"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39"/>
              </a:spcBef>
              <a:buClr>
                <a:srgbClr val="000000"/>
              </a:buClr>
              <a:buFont typeface="Arial"/>
              <a:buChar char="•"/>
            </a:pPr>
            <a:r>
              <a:rPr b="0" lang="en-US" sz="2200" spc="-1" strike="noStrike">
                <a:solidFill>
                  <a:schemeClr val="dk1"/>
                </a:solidFill>
                <a:latin typeface="Calibri"/>
              </a:rPr>
              <a:t>Créer une page de garde avec logo, titre et paramètres du rapport</a:t>
            </a:r>
            <a:endParaRPr b="0" lang="fr-FR" sz="2200" spc="-1" strike="noStrike">
              <a:solidFill>
                <a:srgbClr val="000000"/>
              </a:solidFill>
              <a:latin typeface="Arial"/>
            </a:endParaRPr>
          </a:p>
          <a:p>
            <a:pPr marL="343080" indent="-343080" defTabSz="457200">
              <a:lnSpc>
                <a:spcPct val="100000"/>
              </a:lnSpc>
              <a:spcBef>
                <a:spcPts val="439"/>
              </a:spcBef>
              <a:buClr>
                <a:srgbClr val="000000"/>
              </a:buClr>
              <a:buFont typeface="Arial"/>
              <a:buChar char="•"/>
            </a:pPr>
            <a:r>
              <a:rPr b="0" lang="en-US" sz="2200" spc="-1" strike="noStrike">
                <a:solidFill>
                  <a:schemeClr val="dk1"/>
                </a:solidFill>
                <a:latin typeface="Calibri"/>
              </a:rPr>
              <a:t>Ajouter « Page x sur y » et la date d'édition en pied de page</a:t>
            </a:r>
            <a:endParaRPr b="0" lang="fr-FR" sz="2200" spc="-1" strike="noStrike">
              <a:solidFill>
                <a:srgbClr val="000000"/>
              </a:solidFill>
              <a:latin typeface="Arial"/>
            </a:endParaRPr>
          </a:p>
          <a:p>
            <a:pPr marL="343080" indent="-343080" defTabSz="457200">
              <a:lnSpc>
                <a:spcPct val="100000"/>
              </a:lnSpc>
              <a:spcBef>
                <a:spcPts val="439"/>
              </a:spcBef>
              <a:buClr>
                <a:srgbClr val="000000"/>
              </a:buClr>
              <a:buFont typeface="Arial"/>
              <a:buChar char="•"/>
            </a:pPr>
            <a:r>
              <a:rPr b="0" lang="en-US" sz="2200" spc="-1" strike="noStrike">
                <a:solidFill>
                  <a:schemeClr val="dk1"/>
                </a:solidFill>
                <a:latin typeface="Calibri"/>
              </a:rPr>
              <a:t>Empêcher la coupure d'un enregistrement et répéter les entêtes</a:t>
            </a:r>
            <a:endParaRPr b="0" lang="fr-FR" sz="2200" spc="-1" strike="noStrike">
              <a:solidFill>
                <a:srgbClr val="000000"/>
              </a:solidFill>
              <a:latin typeface="Arial"/>
            </a:endParaRPr>
          </a:p>
          <a:p>
            <a:pPr marL="343080" indent="-343080" defTabSz="457200">
              <a:lnSpc>
                <a:spcPct val="100000"/>
              </a:lnSpc>
              <a:spcBef>
                <a:spcPts val="439"/>
              </a:spcBef>
              <a:buClr>
                <a:srgbClr val="000000"/>
              </a:buClr>
              <a:buFont typeface="Arial"/>
              <a:buChar char="•"/>
            </a:pPr>
            <a:r>
              <a:rPr b="0" lang="en-US" sz="2200" spc="-1" strike="noStrike">
                <a:solidFill>
                  <a:schemeClr val="dk1"/>
                </a:solidFill>
                <a:latin typeface="Calibri"/>
              </a:rPr>
              <a:t>Forcer un saut de page avant le résumé et vérifier le nombre de pages</a:t>
            </a:r>
            <a:endParaRPr b="0" lang="fr-FR"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Expressions simples</a:t>
            </a:r>
            <a:endParaRPr b="0" lang="fr-FR" sz="3600" spc="-1" strike="noStrike">
              <a:solidFill>
                <a:srgbClr val="000000"/>
              </a:solidFill>
              <a:latin typeface="Arial"/>
            </a:endParaRPr>
          </a:p>
        </p:txBody>
      </p:sp>
      <p:sp>
        <p:nvSpPr>
          <p:cNvPr id="341" name="PlaceHolder 2"/>
          <p:cNvSpPr>
            <a:spLocks noGrp="1"/>
          </p:cNvSpPr>
          <p:nvPr>
            <p:ph/>
          </p:nvPr>
        </p:nvSpPr>
        <p:spPr>
          <a:xfrm>
            <a:off x="762120" y="2540160"/>
            <a:ext cx="9397080" cy="4062960"/>
          </a:xfrm>
          <a:prstGeom prst="rect">
            <a:avLst/>
          </a:prstGeom>
          <a:noFill/>
          <a:ln w="0">
            <a:noFill/>
          </a:ln>
        </p:spPr>
        <p:txBody>
          <a:bodyPr lIns="91440" rIns="91440" tIns="45720" bIns="45720" anchor="t">
            <a:normAutofit/>
          </a:bodyPr>
          <a:p>
            <a:pPr indent="0" algn="ctr" defTabSz="457200">
              <a:lnSpc>
                <a:spcPct val="100000"/>
              </a:lnSpc>
              <a:spcBef>
                <a:spcPts val="519"/>
              </a:spcBef>
              <a:buNone/>
              <a:tabLst>
                <a:tab algn="l" pos="0"/>
              </a:tabLst>
            </a:pPr>
            <a:r>
              <a:rPr b="0" lang="en-US" sz="2600" spc="-1" strike="noStrike">
                <a:solidFill>
                  <a:schemeClr val="dk1"/>
                </a:solidFill>
                <a:latin typeface="Calibri"/>
              </a:rPr>
              <a:t>Concaténer des champs</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Afficher conditionnellement</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Gérer une valeur vide ou nulle</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Une logique de formule Excel</a:t>
            </a:r>
            <a:endParaRPr b="0" lang="fr-FR" sz="2600" spc="-1" strike="noStrike">
              <a:solidFill>
                <a:srgbClr val="000000"/>
              </a:solidFill>
              <a:latin typeface="Arial"/>
            </a:endParaRPr>
          </a:p>
          <a:p>
            <a:pPr indent="0" algn="ctr" defTabSz="457200">
              <a:lnSpc>
                <a:spcPct val="100000"/>
              </a:lnSpc>
              <a:spcBef>
                <a:spcPts val="519"/>
              </a:spcBef>
              <a:buNone/>
              <a:tabLst>
                <a:tab algn="l" pos="0"/>
              </a:tabLst>
            </a:pPr>
            <a:r>
              <a:rPr b="0" lang="en-US" sz="2600" spc="-1" strike="noStrike">
                <a:solidFill>
                  <a:schemeClr val="dk1"/>
                </a:solidFill>
                <a:latin typeface="Calibri"/>
              </a:rPr>
              <a:t>Libellés plus parlants</a:t>
            </a:r>
            <a:endParaRPr b="0" lang="fr-FR"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Expressions</a:t>
            </a:r>
            <a:endParaRPr b="0" lang="fr-FR" sz="3600" spc="-1" strike="noStrike">
              <a:solidFill>
                <a:srgbClr val="000000"/>
              </a:solidFill>
              <a:latin typeface="Arial"/>
            </a:endParaRPr>
          </a:p>
        </p:txBody>
      </p:sp>
      <p:sp>
        <p:nvSpPr>
          <p:cNvPr id="343"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Les </a:t>
            </a:r>
            <a:r>
              <a:rPr b="1" lang="en-US" sz="2800" spc="-1" strike="noStrike">
                <a:solidFill>
                  <a:schemeClr val="dk1"/>
                </a:solidFill>
                <a:latin typeface="Calibri"/>
              </a:rPr>
              <a:t>expressions</a:t>
            </a:r>
            <a:r>
              <a:rPr b="0" lang="en-US" sz="2800" spc="-1" strike="noStrike">
                <a:solidFill>
                  <a:schemeClr val="dk1"/>
                </a:solidFill>
                <a:latin typeface="Calibri"/>
              </a:rPr>
              <a:t> sont utilisées pour exprimer la valeur de certains éléments du rapport : variables, critère de regroupement, ou même tout simplement paramètre visuel du rapport </a:t>
            </a:r>
            <a:endParaRPr b="0" lang="fr-FR" sz="2800" spc="-1" strike="noStrike">
              <a:solidFill>
                <a:srgbClr val="000000"/>
              </a:solidFill>
              <a:latin typeface="Arial"/>
            </a:endParaRPr>
          </a:p>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Elles peuvent utiliser des opérateurs et les méthodes du langages</a:t>
            </a:r>
            <a:endParaRPr b="0" lang="fr-FR" sz="2800" spc="-1" strike="noStrike">
              <a:solidFill>
                <a:srgbClr val="000000"/>
              </a:solidFill>
              <a:latin typeface="Arial"/>
            </a:endParaRPr>
          </a:p>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Les langages disponibles sont Java, Javascript et Groovy</a:t>
            </a:r>
            <a:endParaRPr b="0" lang="fr-FR" sz="2800" spc="-1" strike="noStrike">
              <a:solidFill>
                <a:srgbClr val="000000"/>
              </a:solidFill>
              <a:latin typeface="Arial"/>
            </a:endParaRPr>
          </a:p>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Les expressions peuvent faire référence à des paramètres, des champs ou des variables</a:t>
            </a:r>
            <a:endParaRPr b="0" lang="fr-F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Spécification des expressions</a:t>
            </a:r>
            <a:endParaRPr b="0" lang="fr-FR" sz="3600" spc="-1" strike="noStrike">
              <a:solidFill>
                <a:srgbClr val="000000"/>
              </a:solidFill>
              <a:latin typeface="Arial"/>
            </a:endParaRPr>
          </a:p>
        </p:txBody>
      </p:sp>
      <p:sp>
        <p:nvSpPr>
          <p:cNvPr id="345"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La notation </a:t>
            </a:r>
            <a:r>
              <a:rPr b="1" lang="en-US" sz="3200" spc="-1" strike="noStrike">
                <a:solidFill>
                  <a:schemeClr val="dk1"/>
                </a:solidFill>
                <a:latin typeface="Calibri"/>
              </a:rPr>
              <a:t>${}</a:t>
            </a:r>
            <a:r>
              <a:rPr b="0" lang="en-US" sz="3200" spc="-1" strike="noStrike">
                <a:solidFill>
                  <a:schemeClr val="dk1"/>
                </a:solidFill>
                <a:latin typeface="Calibri"/>
              </a:rPr>
              <a:t> permet de faire référence à des champs, des variables, des paramètres ou des clés de ressources </a:t>
            </a:r>
            <a:endParaRPr b="0" lang="fr-FR" sz="32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pPr>
            <a:r>
              <a:rPr b="1" i="1" lang="en-US" sz="2800" spc="-1" strike="noStrike">
                <a:solidFill>
                  <a:schemeClr val="dk1"/>
                </a:solidFill>
                <a:latin typeface="Calibri"/>
              </a:rPr>
              <a:t>$F{ &lt;fieldName&gt; }</a:t>
            </a:r>
            <a:r>
              <a:rPr b="0" lang="en-US" sz="2800" spc="-1" strike="noStrike">
                <a:solidFill>
                  <a:schemeClr val="dk1"/>
                </a:solidFill>
                <a:latin typeface="Calibri"/>
              </a:rPr>
              <a:t> pour un champ </a:t>
            </a:r>
            <a:endParaRPr b="0" lang="fr-FR" sz="28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pPr>
            <a:r>
              <a:rPr b="1" i="1" lang="en-US" sz="2800" spc="-1" strike="noStrike">
                <a:solidFill>
                  <a:schemeClr val="dk1"/>
                </a:solidFill>
                <a:latin typeface="Calibri"/>
              </a:rPr>
              <a:t>$V{variableName}</a:t>
            </a:r>
            <a:r>
              <a:rPr b="0" lang="en-US" sz="2800" spc="-1" strike="noStrike">
                <a:solidFill>
                  <a:schemeClr val="dk1"/>
                </a:solidFill>
                <a:latin typeface="Calibri"/>
              </a:rPr>
              <a:t> pour une variable </a:t>
            </a:r>
            <a:endParaRPr b="0" lang="fr-FR" sz="28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pPr>
            <a:r>
              <a:rPr b="1" i="1" lang="en-US" sz="2800" spc="-1" strike="noStrike">
                <a:solidFill>
                  <a:schemeClr val="dk1"/>
                </a:solidFill>
                <a:latin typeface="Calibri"/>
              </a:rPr>
              <a:t>$P{parameterName}</a:t>
            </a:r>
            <a:r>
              <a:rPr b="0" lang="en-US" sz="2800" spc="-1" strike="noStrike">
                <a:solidFill>
                  <a:schemeClr val="dk1"/>
                </a:solidFill>
                <a:latin typeface="Calibri"/>
              </a:rPr>
              <a:t> ou </a:t>
            </a:r>
            <a:r>
              <a:rPr b="1" i="1" lang="en-US" sz="2800" spc="-1" strike="noStrike">
                <a:solidFill>
                  <a:schemeClr val="dk1"/>
                </a:solidFill>
                <a:latin typeface="Calibri"/>
              </a:rPr>
              <a:t>$P!{parameterName}</a:t>
            </a:r>
            <a:r>
              <a:rPr b="0" lang="en-US" sz="2800" spc="-1" strike="noStrike">
                <a:solidFill>
                  <a:schemeClr val="dk1"/>
                </a:solidFill>
                <a:latin typeface="Calibri"/>
              </a:rPr>
              <a:t> pour un paramètre. </a:t>
            </a:r>
            <a:endParaRPr b="0" lang="fr-FR" sz="28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pPr>
            <a:r>
              <a:rPr b="1" i="1" lang="en-US" sz="2800" spc="-1" strike="noStrike">
                <a:solidFill>
                  <a:schemeClr val="dk1"/>
                </a:solidFill>
                <a:latin typeface="Calibri"/>
              </a:rPr>
              <a:t>$R{resourceKey}</a:t>
            </a:r>
            <a:r>
              <a:rPr b="0" lang="en-US" sz="2800" spc="-1" strike="noStrike">
                <a:solidFill>
                  <a:schemeClr val="dk1"/>
                </a:solidFill>
                <a:latin typeface="Calibri"/>
              </a:rPr>
              <a:t> pour la localisation</a:t>
            </a:r>
            <a:endParaRPr b="0" lang="fr-F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Types des expressions</a:t>
            </a:r>
            <a:endParaRPr b="0" lang="fr-FR" sz="3600" spc="-1" strike="noStrike">
              <a:solidFill>
                <a:srgbClr val="000000"/>
              </a:solidFill>
              <a:latin typeface="Arial"/>
            </a:endParaRPr>
          </a:p>
        </p:txBody>
      </p:sp>
      <p:sp>
        <p:nvSpPr>
          <p:cNvPr id="347"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Le type de l'expression est souvent déterminé par son contexte d'utilisation (condition, calcul, texte, …)</a:t>
            </a:r>
            <a:endParaRPr b="0" lang="fr-FR" sz="32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Si le langage est Java, les types supportés sont : </a:t>
            </a:r>
            <a:r>
              <a:rPr b="0" i="1" lang="en-US" sz="2800" spc="-1" strike="noStrike">
                <a:solidFill>
                  <a:schemeClr val="dk1"/>
                </a:solidFill>
                <a:latin typeface="Calibri"/>
              </a:rPr>
              <a:t>Boolean</a:t>
            </a:r>
            <a:r>
              <a:rPr b="0" lang="en-US" sz="2800" spc="-1" strike="noStrike">
                <a:solidFill>
                  <a:schemeClr val="dk1"/>
                </a:solidFill>
                <a:latin typeface="Calibri"/>
              </a:rPr>
              <a:t>, </a:t>
            </a:r>
            <a:r>
              <a:rPr b="0" i="1" lang="en-US" sz="2800" spc="-1" strike="noStrike">
                <a:solidFill>
                  <a:schemeClr val="dk1"/>
                </a:solidFill>
                <a:latin typeface="Calibri"/>
              </a:rPr>
              <a:t>Byte</a:t>
            </a:r>
            <a:r>
              <a:rPr b="0" lang="en-US" sz="2800" spc="-1" strike="noStrike">
                <a:solidFill>
                  <a:schemeClr val="dk1"/>
                </a:solidFill>
                <a:latin typeface="Calibri"/>
              </a:rPr>
              <a:t>, </a:t>
            </a:r>
            <a:r>
              <a:rPr b="0" i="1" lang="en-US" sz="2800" spc="-1" strike="noStrike">
                <a:solidFill>
                  <a:schemeClr val="dk1"/>
                </a:solidFill>
                <a:latin typeface="Calibri"/>
              </a:rPr>
              <a:t>Integer</a:t>
            </a:r>
            <a:r>
              <a:rPr b="0" lang="en-US" sz="2800" spc="-1" strike="noStrike">
                <a:solidFill>
                  <a:schemeClr val="dk1"/>
                </a:solidFill>
                <a:latin typeface="Calibri"/>
              </a:rPr>
              <a:t>, </a:t>
            </a:r>
            <a:r>
              <a:rPr b="0" i="1" lang="en-US" sz="2800" spc="-1" strike="noStrike">
                <a:solidFill>
                  <a:schemeClr val="dk1"/>
                </a:solidFill>
                <a:latin typeface="Calibri"/>
              </a:rPr>
              <a:t>Long</a:t>
            </a:r>
            <a:r>
              <a:rPr b="0" lang="en-US" sz="2800" spc="-1" strike="noStrike">
                <a:solidFill>
                  <a:schemeClr val="dk1"/>
                </a:solidFill>
                <a:latin typeface="Calibri"/>
              </a:rPr>
              <a:t>, </a:t>
            </a:r>
            <a:r>
              <a:rPr b="0" i="1" lang="en-US" sz="2800" spc="-1" strike="noStrike">
                <a:solidFill>
                  <a:schemeClr val="dk1"/>
                </a:solidFill>
                <a:latin typeface="Calibri"/>
              </a:rPr>
              <a:t>Float</a:t>
            </a:r>
            <a:r>
              <a:rPr b="0" lang="en-US" sz="2800" spc="-1" strike="noStrike">
                <a:solidFill>
                  <a:schemeClr val="dk1"/>
                </a:solidFill>
                <a:latin typeface="Calibri"/>
              </a:rPr>
              <a:t>, </a:t>
            </a:r>
            <a:r>
              <a:rPr b="0" i="1" lang="en-US" sz="2800" spc="-1" strike="noStrike">
                <a:solidFill>
                  <a:schemeClr val="dk1"/>
                </a:solidFill>
                <a:latin typeface="Calibri"/>
              </a:rPr>
              <a:t>Double</a:t>
            </a:r>
            <a:r>
              <a:rPr b="0" lang="en-US" sz="2800" spc="-1" strike="noStrike">
                <a:solidFill>
                  <a:schemeClr val="dk1"/>
                </a:solidFill>
                <a:latin typeface="Calibri"/>
              </a:rPr>
              <a:t>, </a:t>
            </a:r>
            <a:r>
              <a:rPr b="0" i="1" lang="en-US" sz="2800" spc="-1" strike="noStrike">
                <a:solidFill>
                  <a:schemeClr val="dk1"/>
                </a:solidFill>
                <a:latin typeface="Calibri"/>
              </a:rPr>
              <a:t>String</a:t>
            </a:r>
            <a:r>
              <a:rPr b="0" lang="en-US" sz="2800" spc="-1" strike="noStrike">
                <a:solidFill>
                  <a:schemeClr val="dk1"/>
                </a:solidFill>
                <a:latin typeface="Calibri"/>
              </a:rPr>
              <a:t>, </a:t>
            </a:r>
            <a:r>
              <a:rPr b="0" i="1" lang="en-US" sz="2800" spc="-1" strike="noStrike">
                <a:solidFill>
                  <a:schemeClr val="dk1"/>
                </a:solidFill>
                <a:latin typeface="Calibri"/>
              </a:rPr>
              <a:t>Date</a:t>
            </a:r>
            <a:r>
              <a:rPr b="0" lang="en-US" sz="2800" spc="-1" strike="noStrike">
                <a:solidFill>
                  <a:schemeClr val="dk1"/>
                </a:solidFill>
                <a:latin typeface="Calibri"/>
              </a:rPr>
              <a:t> et </a:t>
            </a:r>
            <a:r>
              <a:rPr b="0" i="1" lang="en-US" sz="2800" spc="-1" strike="noStrike">
                <a:solidFill>
                  <a:schemeClr val="dk1"/>
                </a:solidFill>
                <a:latin typeface="Calibri"/>
              </a:rPr>
              <a:t>Object</a:t>
            </a:r>
            <a:endParaRPr b="0" lang="fr-FR" sz="2800" spc="-1" strike="noStrike">
              <a:solidFill>
                <a:srgbClr val="000000"/>
              </a:solidFill>
              <a:latin typeface="Arial"/>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En Javascript et Groovy, les expressions ne sont pas typées</a:t>
            </a:r>
            <a:endParaRPr b="0" lang="fr-F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Opérateurs</a:t>
            </a:r>
            <a:endParaRPr b="0" lang="fr-FR" sz="3600" spc="-1" strike="noStrike">
              <a:solidFill>
                <a:srgbClr val="000000"/>
              </a:solidFill>
              <a:latin typeface="Arial"/>
            </a:endParaRPr>
          </a:p>
        </p:txBody>
      </p:sp>
      <p:graphicFrame>
        <p:nvGraphicFramePr>
          <p:cNvPr id="349" name="Table 2"/>
          <p:cNvGraphicFramePr/>
          <p:nvPr/>
        </p:nvGraphicFramePr>
        <p:xfrm>
          <a:off x="1091880" y="2268000"/>
          <a:ext cx="8740440" cy="4291920"/>
        </p:xfrm>
        <a:graphic>
          <a:graphicData uri="http://schemas.openxmlformats.org/drawingml/2006/table">
            <a:tbl>
              <a:tblPr/>
              <a:tblGrid>
                <a:gridCol w="1260720"/>
                <a:gridCol w="7480080"/>
              </a:tblGrid>
              <a:tr h="804240">
                <a:tc>
                  <a:txBody>
                    <a:bodyPr lIns="50760" rIns="50760" anchor="t">
                      <a:noAutofit/>
                    </a:bodyPr>
                    <a:p>
                      <a:pPr defTabSz="457200">
                        <a:lnSpc>
                          <a:spcPct val="100000"/>
                        </a:lnSpc>
                      </a:pPr>
                      <a:r>
                        <a:rPr b="1" lang="en-US" sz="1800" spc="-1" strike="noStrike">
                          <a:solidFill>
                            <a:schemeClr val="dk1"/>
                          </a:solidFill>
                          <a:latin typeface="Calibri"/>
                        </a:rPr>
                        <a:t>Opérateur</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bcbcbc"/>
                      </a:solidFill>
                      <a:prstDash val="solid"/>
                    </a:lnT>
                    <a:lnB w="12240">
                      <a:solidFill>
                        <a:srgbClr val="000000"/>
                      </a:solidFill>
                      <a:prstDash val="solid"/>
                    </a:lnB>
                    <a:noFill/>
                  </a:tcPr>
                </a:tc>
                <a:tc>
                  <a:txBody>
                    <a:bodyPr lIns="50760" rIns="50760" anchor="t">
                      <a:noAutofit/>
                    </a:bodyPr>
                    <a:p>
                      <a:pPr defTabSz="457200">
                        <a:lnSpc>
                          <a:spcPct val="100000"/>
                        </a:lnSpc>
                      </a:pPr>
                      <a:r>
                        <a:rPr b="1" lang="en-US" sz="1800" spc="-1" strike="noStrike">
                          <a:solidFill>
                            <a:schemeClr val="dk1"/>
                          </a:solidFill>
                          <a:latin typeface="Calibri"/>
                        </a:rPr>
                        <a:t>Description</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bcbcbc"/>
                      </a:solidFill>
                      <a:prstDash val="solid"/>
                    </a:lnT>
                    <a:lnB w="12240">
                      <a:solidFill>
                        <a:srgbClr val="000000"/>
                      </a:solidFill>
                      <a:prstDash val="solid"/>
                    </a:lnB>
                    <a:noFill/>
                  </a:tcPr>
                </a:tc>
              </a:tr>
              <a:tr h="624960">
                <a:tc>
                  <a:txBody>
                    <a:bodyPr lIns="50760" rIns="50760" anchor="t">
                      <a:noAutofit/>
                    </a:bodyPr>
                    <a:p>
                      <a:pPr defTabSz="457200">
                        <a:lnSpc>
                          <a:spcPct val="100000"/>
                        </a:lnSpc>
                      </a:pPr>
                      <a:r>
                        <a:rPr b="0" lang="en-US" sz="1800" spc="-1" strike="noStrike">
                          <a:solidFill>
                            <a:schemeClr val="dk1"/>
                          </a:solidFill>
                          <a:latin typeface="Calibri"/>
                        </a:rPr>
                        <a:t>+</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Ajout de 2 nombres ou concaténation de 2 chaînes de caractères</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369720">
                <a:tc>
                  <a:txBody>
                    <a:bodyPr lIns="50760" rIns="50760" anchor="t">
                      <a:noAutofit/>
                    </a:bodyPr>
                    <a:p>
                      <a:pPr defTabSz="457200">
                        <a:lnSpc>
                          <a:spcPct val="100000"/>
                        </a:lnSpc>
                      </a:pPr>
                      <a:r>
                        <a:rPr b="0" lang="en-US" sz="1800" spc="-1" strike="noStrike">
                          <a:solidFill>
                            <a:schemeClr val="dk1"/>
                          </a:solidFill>
                          <a:latin typeface="Calibri"/>
                        </a:rPr>
                        <a:t>-</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Soustraction</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369360">
                <a:tc>
                  <a:txBody>
                    <a:bodyPr lIns="50760" rIns="50760" anchor="t">
                      <a:noAutofit/>
                    </a:bodyPr>
                    <a:p>
                      <a:pPr defTabSz="457200">
                        <a:lnSpc>
                          <a:spcPct val="100000"/>
                        </a:lnSpc>
                      </a:pPr>
                      <a:r>
                        <a:rPr b="0" lang="en-US" sz="1800" spc="-1" strike="noStrike">
                          <a:solidFill>
                            <a:schemeClr val="dk1"/>
                          </a:solidFill>
                          <a:latin typeface="Calibri"/>
                        </a:rPr>
                        <a:t>*</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Multiplication</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369720">
                <a:tc>
                  <a:txBody>
                    <a:bodyPr lIns="50760" rIns="50760" anchor="t">
                      <a:noAutofit/>
                    </a:bodyPr>
                    <a:p>
                      <a:pPr defTabSz="457200">
                        <a:lnSpc>
                          <a:spcPct val="100000"/>
                        </a:lnSpc>
                      </a:pPr>
                      <a:r>
                        <a:rPr b="0" lang="en-US" sz="1800" spc="-1" strike="noStrike">
                          <a:solidFill>
                            <a:schemeClr val="dk1"/>
                          </a:solidFill>
                          <a:latin typeface="Calibri"/>
                        </a:rPr>
                        <a:t>/</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Division</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369360">
                <a:tc>
                  <a:txBody>
                    <a:bodyPr lIns="50760" rIns="50760" anchor="t">
                      <a:noAutofit/>
                    </a:bodyPr>
                    <a:p>
                      <a:pPr defTabSz="457200">
                        <a:lnSpc>
                          <a:spcPct val="100000"/>
                        </a:lnSpc>
                      </a:pPr>
                      <a:r>
                        <a:rPr b="0" lang="en-US" sz="1800" spc="-1" strike="noStrike">
                          <a:solidFill>
                            <a:schemeClr val="dk1"/>
                          </a:solidFill>
                          <a:latin typeface="Calibri"/>
                        </a:rPr>
                        <a:t>%</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Modulo (Reste d'une division entière)</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369360">
                <a:tc>
                  <a:txBody>
                    <a:bodyPr lIns="50760" rIns="50760" anchor="t">
                      <a:noAutofit/>
                    </a:bodyPr>
                    <a:p>
                      <a:pPr defTabSz="457200">
                        <a:lnSpc>
                          <a:spcPct val="100000"/>
                        </a:lnSpc>
                      </a:pPr>
                      <a:r>
                        <a:rPr b="0" lang="en-US" sz="1800" spc="-1" strike="noStrike">
                          <a:solidFill>
                            <a:schemeClr val="dk1"/>
                          </a:solidFill>
                          <a:latin typeface="Calibri"/>
                        </a:rPr>
                        <a:t>||</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Opérateur logique OU</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369720">
                <a:tc>
                  <a:txBody>
                    <a:bodyPr lIns="50760" rIns="50760" anchor="t">
                      <a:noAutofit/>
                    </a:bodyPr>
                    <a:p>
                      <a:pPr defTabSz="457200">
                        <a:lnSpc>
                          <a:spcPct val="100000"/>
                        </a:lnSpc>
                      </a:pPr>
                      <a:r>
                        <a:rPr b="0" lang="en-US" sz="1800" spc="-1" strike="noStrike">
                          <a:solidFill>
                            <a:schemeClr val="dk1"/>
                          </a:solidFill>
                          <a:latin typeface="Calibri"/>
                        </a:rPr>
                        <a:t>&amp;&amp;</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Opérateur logique ET</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645480">
                <a:tc>
                  <a:txBody>
                    <a:bodyPr lIns="50760" rIns="50760" anchor="t">
                      <a:noAutofit/>
                    </a:bodyPr>
                    <a:p>
                      <a:pPr defTabSz="457200">
                        <a:lnSpc>
                          <a:spcPct val="100000"/>
                        </a:lnSpc>
                      </a:pPr>
                      <a:r>
                        <a:rPr b="0" lang="en-US" sz="1800" spc="-1" strike="noStrike">
                          <a:solidFill>
                            <a:schemeClr val="dk1"/>
                          </a:solidFill>
                          <a:latin typeface="Calibri"/>
                        </a:rPr>
                        <a:t>== et !=</a:t>
                      </a:r>
                      <a:endParaRPr b="0" lang="fr-FR" sz="18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bcbcbc"/>
                      </a:solidFill>
                      <a:prstDash val="solid"/>
                    </a:lnB>
                    <a:noFill/>
                  </a:tcPr>
                </a:tc>
                <a:tc>
                  <a:txBody>
                    <a:bodyPr lIns="50760" rIns="50760" anchor="t">
                      <a:noAutofit/>
                    </a:bodyPr>
                    <a:p>
                      <a:pPr defTabSz="457200">
                        <a:lnSpc>
                          <a:spcPct val="100000"/>
                        </a:lnSpc>
                      </a:pPr>
                      <a:r>
                        <a:rPr b="0" lang="en-US" sz="1800" spc="-1" strike="noStrike">
                          <a:solidFill>
                            <a:schemeClr val="dk1"/>
                          </a:solidFill>
                          <a:latin typeface="Calibri"/>
                        </a:rPr>
                        <a:t>Test d'égalité ou de différence (Attention en Java, différent de la méthode equals()</a:t>
                      </a:r>
                      <a:endParaRPr b="0" lang="fr-FR" sz="18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bcbcbc"/>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Expression conditionnelle</a:t>
            </a:r>
            <a:endParaRPr b="0" lang="fr-FR" sz="3600" spc="-1" strike="noStrike">
              <a:solidFill>
                <a:srgbClr val="000000"/>
              </a:solidFill>
              <a:latin typeface="Arial"/>
            </a:endParaRPr>
          </a:p>
        </p:txBody>
      </p:sp>
      <p:sp>
        <p:nvSpPr>
          <p:cNvPr id="351"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Les expressions de type « </a:t>
            </a:r>
            <a:r>
              <a:rPr b="0" i="1" lang="en-US" sz="2000" spc="-1" strike="noStrike">
                <a:solidFill>
                  <a:schemeClr val="dk1"/>
                </a:solidFill>
                <a:latin typeface="Calibri"/>
              </a:rPr>
              <a:t>if-else »</a:t>
            </a:r>
            <a:r>
              <a:rPr b="0" lang="en-US" sz="2000" spc="-1" strike="noStrike">
                <a:solidFill>
                  <a:schemeClr val="dk1"/>
                </a:solidFill>
                <a:latin typeface="Calibri"/>
              </a:rPr>
              <a:t> peuvent être spécifiées en utilisant la syntaxe : </a:t>
            </a:r>
            <a:r>
              <a:rPr b="1" i="1" lang="en-US" sz="2000" spc="-1" strike="noStrike">
                <a:solidFill>
                  <a:schemeClr val="dk1"/>
                </a:solidFill>
                <a:latin typeface="Calibri"/>
              </a:rPr>
              <a:t>(&lt;condition&gt;) ? &lt;value on true&gt; : &lt;value on false&gt;</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Exemple : </a:t>
            </a:r>
            <a:endParaRPr b="0" lang="fr-FR" sz="2000" spc="-1" strike="noStrike">
              <a:solidFill>
                <a:srgbClr val="000000"/>
              </a:solidFill>
              <a:latin typeface="Arial"/>
            </a:endParaRPr>
          </a:p>
          <a:p>
            <a:pPr indent="0" defTabSz="457200">
              <a:lnSpc>
                <a:spcPct val="100000"/>
              </a:lnSpc>
              <a:spcBef>
                <a:spcPts val="360"/>
              </a:spcBef>
              <a:buNone/>
              <a:tabLst>
                <a:tab algn="l" pos="0"/>
              </a:tabLst>
            </a:pPr>
            <a:r>
              <a:rPr b="1" i="1" lang="en-US" sz="1800" spc="-1" strike="noStrike">
                <a:solidFill>
                  <a:schemeClr val="dk1"/>
                </a:solidFill>
                <a:latin typeface="Courier New"/>
              </a:rPr>
              <a:t>(($F{name}.length() &gt; 50) ? $F{name}.substring(0,50) : </a:t>
            </a:r>
            <a:endParaRPr b="0" lang="fr-FR" sz="1800" spc="-1" strike="noStrike">
              <a:solidFill>
                <a:srgbClr val="000000"/>
              </a:solidFill>
              <a:latin typeface="Arial"/>
            </a:endParaRPr>
          </a:p>
          <a:p>
            <a:pPr indent="0" defTabSz="457200">
              <a:lnSpc>
                <a:spcPct val="100000"/>
              </a:lnSpc>
              <a:spcBef>
                <a:spcPts val="360"/>
              </a:spcBef>
              <a:buNone/>
              <a:tabLst>
                <a:tab algn="l" pos="0"/>
              </a:tabLst>
            </a:pPr>
            <a:r>
              <a:rPr b="1" i="1" lang="en-US" sz="1800" spc="-1" strike="noStrike">
                <a:solidFill>
                  <a:schemeClr val="dk1"/>
                </a:solidFill>
                <a:latin typeface="Courier New"/>
              </a:rPr>
              <a:t>$F{name})</a:t>
            </a:r>
            <a:endParaRPr b="0" lang="fr-FR" sz="1800" spc="-1" strike="noStrike">
              <a:solidFill>
                <a:srgbClr val="000000"/>
              </a:solidFill>
              <a:latin typeface="Arial"/>
            </a:endParaRPr>
          </a:p>
          <a:p>
            <a:pPr marL="343080" indent="-343080" defTabSz="457200">
              <a:lnSpc>
                <a:spcPct val="100000"/>
              </a:lnSpc>
              <a:spcBef>
                <a:spcPts val="400"/>
              </a:spcBef>
              <a:buClr>
                <a:srgbClr val="000000"/>
              </a:buClr>
              <a:buFont typeface="Arial"/>
              <a:buChar char="•"/>
              <a:tabLst>
                <a:tab algn="l" pos="0"/>
              </a:tabLst>
            </a:pPr>
            <a:r>
              <a:rPr b="0" lang="en-US" sz="2000" spc="-1" strike="noStrike">
                <a:solidFill>
                  <a:schemeClr val="dk1"/>
                </a:solidFill>
                <a:latin typeface="Calibri"/>
              </a:rPr>
              <a:t>Cette syntaxe est récursive comme dans :</a:t>
            </a:r>
            <a:endParaRPr b="0" lang="fr-FR" sz="2000" spc="-1" strike="noStrike">
              <a:solidFill>
                <a:srgbClr val="000000"/>
              </a:solidFill>
              <a:latin typeface="Arial"/>
            </a:endParaRPr>
          </a:p>
          <a:p>
            <a:pPr indent="0" defTabSz="457200">
              <a:lnSpc>
                <a:spcPct val="100000"/>
              </a:lnSpc>
              <a:spcBef>
                <a:spcPts val="360"/>
              </a:spcBef>
              <a:buNone/>
              <a:tabLst>
                <a:tab algn="l" pos="0"/>
              </a:tabLst>
            </a:pPr>
            <a:r>
              <a:rPr b="0" lang="en-US" sz="1800" spc="-1" strike="noStrike">
                <a:solidFill>
                  <a:schemeClr val="dk1"/>
                </a:solidFill>
                <a:latin typeface="Courier New"/>
              </a:rPr>
              <a:t>(($F{name}.length() &gt; 50) ? </a:t>
            </a:r>
            <a:endParaRPr b="0" lang="fr-FR" sz="1800" spc="-1" strike="noStrike">
              <a:solidFill>
                <a:srgbClr val="000000"/>
              </a:solidFill>
              <a:latin typeface="Arial"/>
            </a:endParaRPr>
          </a:p>
          <a:p>
            <a:pPr indent="0" defTabSz="457200">
              <a:lnSpc>
                <a:spcPct val="100000"/>
              </a:lnSpc>
              <a:spcBef>
                <a:spcPts val="360"/>
              </a:spcBef>
              <a:buNone/>
              <a:tabLst>
                <a:tab algn="l" pos="0"/>
              </a:tabLst>
            </a:pPr>
            <a:r>
              <a:rPr b="0" lang="en-US" sz="1800" spc="-1" strike="noStrike">
                <a:solidFill>
                  <a:schemeClr val="dk1"/>
                </a:solidFill>
                <a:latin typeface="Courier New"/>
              </a:rPr>
              <a:t>(($F{name}.startsWidth(“A”)) ? “AAAA” : “BBB”) : </a:t>
            </a:r>
            <a:endParaRPr b="0" lang="fr-FR" sz="1800" spc="-1" strike="noStrike">
              <a:solidFill>
                <a:srgbClr val="000000"/>
              </a:solidFill>
              <a:latin typeface="Arial"/>
            </a:endParaRPr>
          </a:p>
          <a:p>
            <a:pPr indent="0" defTabSz="457200">
              <a:lnSpc>
                <a:spcPct val="100000"/>
              </a:lnSpc>
              <a:spcBef>
                <a:spcPts val="360"/>
              </a:spcBef>
              <a:buNone/>
              <a:tabLst>
                <a:tab algn="l" pos="0"/>
              </a:tabLst>
            </a:pPr>
            <a:r>
              <a:rPr b="0" lang="en-US" sz="1800" spc="-1" strike="noStrike">
                <a:solidFill>
                  <a:schemeClr val="dk1"/>
                </a:solidFill>
                <a:latin typeface="Courier New"/>
              </a:rPr>
              <a:t>$F{name})</a:t>
            </a:r>
            <a:endParaRPr b="0" lang="fr-FR" sz="1800" spc="-1" strike="noStrike">
              <a:solidFill>
                <a:srgbClr val="000000"/>
              </a:solidFill>
              <a:latin typeface="Arial"/>
            </a:endParaRPr>
          </a:p>
          <a:p>
            <a:pPr marL="343080" indent="-343080" defTabSz="457200">
              <a:lnSpc>
                <a:spcPct val="100000"/>
              </a:lnSpc>
              <a:spcBef>
                <a:spcPts val="400"/>
              </a:spcBef>
              <a:buClr>
                <a:srgbClr val="000000"/>
              </a:buClr>
              <a:buFont typeface="Arial"/>
              <a:buChar char="•"/>
              <a:tabLst>
                <a:tab algn="l" pos="0"/>
              </a:tabLst>
            </a:pPr>
            <a:r>
              <a:rPr b="0" lang="en-US" sz="2000" spc="-1" strike="noStrike">
                <a:solidFill>
                  <a:schemeClr val="dk1"/>
                </a:solidFill>
                <a:latin typeface="Calibri"/>
              </a:rPr>
              <a:t>Il est toujours possible de déléguer des expressions plus complexes à une méthode statique d'une classe Java</a:t>
            </a:r>
            <a:endParaRPr b="0" lang="fr-FR" sz="2000" spc="-1" strike="noStrike">
              <a:solidFill>
                <a:srgbClr val="000000"/>
              </a:solidFill>
              <a:latin typeface="Arial"/>
            </a:endParaRPr>
          </a:p>
          <a:p>
            <a:pPr indent="0" defTabSz="457200">
              <a:lnSpc>
                <a:spcPct val="100000"/>
              </a:lnSpc>
              <a:spcBef>
                <a:spcPts val="400"/>
              </a:spcBef>
              <a:buNone/>
              <a:tabLst>
                <a:tab algn="l" pos="0"/>
              </a:tabLst>
            </a:pPr>
            <a:r>
              <a:rPr b="0" i="1" lang="en-US" sz="2000" spc="-1" strike="noStrike">
                <a:solidFill>
                  <a:schemeClr val="dk1"/>
                </a:solidFill>
                <a:latin typeface="Courier New"/>
              </a:rPr>
              <a:t>MyFormatter.toRomanNumber( $F{MyInteger}.intValue()</a:t>
            </a:r>
            <a:r>
              <a:rPr b="0" lang="en-US" sz="2000" spc="-1" strike="noStrike">
                <a:solidFill>
                  <a:schemeClr val="dk1"/>
                </a:solidFill>
                <a:latin typeface="Calibri"/>
              </a:rPr>
              <a:t> )</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L'éditeur d'expressions</a:t>
            </a:r>
            <a:endParaRPr b="0" lang="fr-FR" sz="3600" spc="-1" strike="noStrike">
              <a:solidFill>
                <a:srgbClr val="000000"/>
              </a:solidFill>
              <a:latin typeface="Arial"/>
            </a:endParaRPr>
          </a:p>
        </p:txBody>
      </p:sp>
      <p:sp>
        <p:nvSpPr>
          <p:cNvPr id="353"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Ouvert par le bouton « … » à côté de toute propriété acceptant une expression</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Colonne de gauche : paramètres, champs, variables, </a:t>
            </a:r>
            <a:r>
              <a:rPr b="1" lang="en-US" sz="2000" spc="-1" strike="noStrike">
                <a:solidFill>
                  <a:schemeClr val="dk1"/>
                </a:solidFill>
                <a:latin typeface="Calibri"/>
              </a:rPr>
              <a:t>fonctions intégrées</a:t>
            </a:r>
            <a:r>
              <a:rPr b="0" lang="en-US" sz="2000" spc="-1" strike="noStrike">
                <a:solidFill>
                  <a:schemeClr val="dk1"/>
                </a:solidFill>
                <a:latin typeface="Calibri"/>
              </a:rPr>
              <a:t> classées par catégorie (Texte, Date, Math, Logique)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Double-clic pour insérer ; l'aide décrit chaque fonction avec un exemple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Le résultat doit être du type attendu : texte pour un champ texte, vrai/faux pour Print When Expression</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Une erreur d'expression apparaît à la compilation, dans la vue Problems, avec le numéro de ligne</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Concaténer des champs</a:t>
            </a:r>
            <a:endParaRPr b="0" lang="fr-FR" sz="3600" spc="-1" strike="noStrike">
              <a:solidFill>
                <a:srgbClr val="000000"/>
              </a:solidFill>
              <a:latin typeface="Arial"/>
            </a:endParaRPr>
          </a:p>
        </p:txBody>
      </p:sp>
      <p:sp>
        <p:nvSpPr>
          <p:cNvPr id="355"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Opérateur </a:t>
            </a:r>
            <a:r>
              <a:rPr b="0" lang="en-US" sz="2000" spc="-1" strike="noStrike">
                <a:solidFill>
                  <a:schemeClr val="dk1"/>
                </a:solidFill>
                <a:latin typeface="Courier New"/>
              </a:rPr>
              <a:t>+</a:t>
            </a:r>
            <a:r>
              <a:rPr b="0" lang="en-US" sz="2000" spc="-1" strike="noStrike">
                <a:solidFill>
                  <a:schemeClr val="dk1"/>
                </a:solidFill>
                <a:latin typeface="Calibri"/>
              </a:rPr>
              <a:t> entre textes : </a:t>
            </a:r>
            <a:r>
              <a:rPr b="0" lang="en-US" sz="2000" spc="-1" strike="noStrike">
                <a:solidFill>
                  <a:schemeClr val="dk1"/>
                </a:solidFill>
                <a:latin typeface="Courier New"/>
              </a:rPr>
              <a:t>$F{prenom} + " " + $F{nom}</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Ou la fonction </a:t>
            </a:r>
            <a:r>
              <a:rPr b="0" lang="en-US" sz="2000" spc="-1" strike="noStrike">
                <a:solidFill>
                  <a:schemeClr val="dk1"/>
                </a:solidFill>
                <a:latin typeface="Courier New"/>
              </a:rPr>
              <a:t>CONCATENATE($F{prenom}, " ", $F{nom})</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Attention aux nombres : </a:t>
            </a:r>
            <a:r>
              <a:rPr b="0" lang="en-US" sz="2000" spc="-1" strike="noStrike">
                <a:solidFill>
                  <a:schemeClr val="dk1"/>
                </a:solidFill>
                <a:latin typeface="Courier New"/>
              </a:rPr>
              <a:t>$F{qte} + $F{prix}</a:t>
            </a:r>
            <a:r>
              <a:rPr b="0" lang="en-US" sz="2000" spc="-1" strike="noStrike">
                <a:solidFill>
                  <a:schemeClr val="dk1"/>
                </a:solidFill>
                <a:latin typeface="Calibri"/>
              </a:rPr>
              <a:t> additionne ; pour afficher, commencer par un texte : </a:t>
            </a:r>
            <a:r>
              <a:rPr b="0" lang="en-US" sz="2000" spc="-1" strike="noStrike">
                <a:solidFill>
                  <a:schemeClr val="dk1"/>
                </a:solidFill>
                <a:latin typeface="Courier New"/>
              </a:rPr>
              <a:t>"" + $F{qte} + " x " + $F{prix}</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Un champ vide (null) s'affiche « null » : voir la gestion des valeurs nulles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Retour à la ligne dans un champ texte : </a:t>
            </a:r>
            <a:r>
              <a:rPr b="0" lang="en-US" sz="2000" spc="-1" strike="noStrike">
                <a:solidFill>
                  <a:schemeClr val="dk1"/>
                </a:solidFill>
                <a:latin typeface="Courier New"/>
              </a:rPr>
              <a:t>$F{adresse} + "\n" + $F{cp} + " " + $F{ville}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Le champ texte doit être de classe </a:t>
            </a:r>
            <a:r>
              <a:rPr b="0" lang="en-US" sz="2000" spc="-1" strike="noStrike">
                <a:solidFill>
                  <a:schemeClr val="dk1"/>
                </a:solidFill>
                <a:latin typeface="Courier New"/>
              </a:rPr>
              <a:t>java.lang.String</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Afficher conditionnellement un texte</a:t>
            </a:r>
            <a:endParaRPr b="0" lang="fr-FR" sz="3600" spc="-1" strike="noStrike">
              <a:solidFill>
                <a:srgbClr val="000000"/>
              </a:solidFill>
              <a:latin typeface="Arial"/>
            </a:endParaRPr>
          </a:p>
        </p:txBody>
      </p:sp>
      <p:sp>
        <p:nvSpPr>
          <p:cNvPr id="357"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Expression conditionnelle : </a:t>
            </a:r>
            <a:r>
              <a:rPr b="0" lang="en-US" sz="2000" spc="-1" strike="noStrike">
                <a:solidFill>
                  <a:schemeClr val="dk1"/>
                </a:solidFill>
                <a:latin typeface="Courier New"/>
              </a:rPr>
              <a:t>condition ? valeur_si_vrai : valeur_si_faux</a:t>
            </a:r>
            <a:endParaRPr b="0" lang="fr-FR" sz="2000" spc="-1" strike="noStrike">
              <a:solidFill>
                <a:srgbClr val="000000"/>
              </a:solidFill>
              <a:latin typeface="Arial"/>
            </a:endParaRPr>
          </a:p>
          <a:p>
            <a:pPr lvl="1" marL="743040" indent="-285840" defTabSz="457200">
              <a:lnSpc>
                <a:spcPct val="100000"/>
              </a:lnSpc>
              <a:spcBef>
                <a:spcPts val="320"/>
              </a:spcBef>
              <a:buClr>
                <a:srgbClr val="000000"/>
              </a:buClr>
              <a:buFont typeface="Arial"/>
              <a:buChar char="–"/>
            </a:pPr>
            <a:r>
              <a:rPr b="0" lang="en-US" sz="1600" spc="-1" strike="noStrike">
                <a:solidFill>
                  <a:schemeClr val="dk1"/>
                </a:solidFill>
                <a:latin typeface="Courier New"/>
              </a:rPr>
              <a:t>$F{montant} &gt; 1000 ? "Important" : "Standard"</a:t>
            </a:r>
            <a:endParaRPr b="0" lang="fr-FR" sz="16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Ou la fonction </a:t>
            </a:r>
            <a:r>
              <a:rPr b="0" lang="en-US" sz="2000" spc="-1" strike="noStrike">
                <a:solidFill>
                  <a:schemeClr val="dk1"/>
                </a:solidFill>
                <a:latin typeface="Courier New"/>
              </a:rPr>
              <a:t>IF($F{montant} &gt; 1000, "Important", "Standard")</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Masquer un élément : </a:t>
            </a:r>
            <a:r>
              <a:rPr b="1" lang="en-US" sz="2000" spc="-1" strike="noStrike">
                <a:solidFill>
                  <a:schemeClr val="dk1"/>
                </a:solidFill>
                <a:latin typeface="Calibri"/>
              </a:rPr>
              <a:t>Print When Expression</a:t>
            </a:r>
            <a:r>
              <a:rPr b="0" lang="en-US" sz="2000" spc="-1" strike="noStrike">
                <a:solidFill>
                  <a:schemeClr val="dk1"/>
                </a:solidFill>
                <a:latin typeface="Calibri"/>
              </a:rPr>
              <a:t>, ex. </a:t>
            </a:r>
            <a:r>
              <a:rPr b="0" lang="en-US" sz="2000" spc="-1" strike="noStrike">
                <a:solidFill>
                  <a:schemeClr val="dk1"/>
                </a:solidFill>
                <a:latin typeface="Courier New"/>
              </a:rPr>
              <a:t>$F{remise} &gt; 0</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Masquer une bande entière : Print When Expression de la bande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Changer la couleur ou le gras selon une condition : style conditionnel</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Comparer des textes avec </a:t>
            </a:r>
            <a:r>
              <a:rPr b="0" lang="en-US" sz="2000" spc="-1" strike="noStrike">
                <a:solidFill>
                  <a:schemeClr val="dk1"/>
                </a:solidFill>
                <a:latin typeface="Courier New"/>
              </a:rPr>
              <a:t>EQUALS($F{statut}, "OK")</a:t>
            </a:r>
            <a:r>
              <a:rPr b="0" lang="en-US" sz="2000" spc="-1" strike="noStrike">
                <a:solidFill>
                  <a:schemeClr val="dk1"/>
                </a:solidFill>
                <a:latin typeface="Calibri"/>
              </a:rPr>
              <a:t> ou </a:t>
            </a:r>
            <a:r>
              <a:rPr b="0" lang="en-US" sz="2000" spc="-1" strike="noStrike">
                <a:solidFill>
                  <a:schemeClr val="dk1"/>
                </a:solidFill>
                <a:latin typeface="Courier New"/>
              </a:rPr>
              <a:t>.equals(...)</a:t>
            </a:r>
            <a:r>
              <a:rPr b="0" lang="en-US" sz="2000" spc="-1" strike="noStrike">
                <a:solidFill>
                  <a:schemeClr val="dk1"/>
                </a:solidFill>
                <a:latin typeface="Calibri"/>
              </a:rPr>
              <a:t>, jamais avec </a:t>
            </a:r>
            <a:r>
              <a:rPr b="0" lang="en-US" sz="2000" spc="-1" strike="noStrike">
                <a:solidFill>
                  <a:schemeClr val="dk1"/>
                </a:solidFill>
                <a:latin typeface="Courier New"/>
              </a:rPr>
              <a:t>==</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Gérer une valeur vide ou nulle</a:t>
            </a:r>
            <a:endParaRPr b="0" lang="fr-FR" sz="3600" spc="-1" strike="noStrike">
              <a:solidFill>
                <a:srgbClr val="000000"/>
              </a:solidFill>
              <a:latin typeface="Arial"/>
            </a:endParaRPr>
          </a:p>
        </p:txBody>
      </p:sp>
      <p:sp>
        <p:nvSpPr>
          <p:cNvPr id="359"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1" lang="en-US" sz="2000" spc="-1" strike="noStrike">
                <a:solidFill>
                  <a:schemeClr val="dk1"/>
                </a:solidFill>
                <a:latin typeface="Calibri"/>
              </a:rPr>
              <a:t>Blank When Null</a:t>
            </a:r>
            <a:r>
              <a:rPr b="0" lang="en-US" sz="2000" spc="-1" strike="noStrike">
                <a:solidFill>
                  <a:schemeClr val="dk1"/>
                </a:solidFill>
                <a:latin typeface="Calibri"/>
              </a:rPr>
              <a:t> sur le champ texte : la valeur nulle devient une chaîne vide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Valeur de remplacement : </a:t>
            </a:r>
            <a:r>
              <a:rPr b="0" lang="en-US" sz="2000" spc="-1" strike="noStrike">
                <a:solidFill>
                  <a:schemeClr val="dk1"/>
                </a:solidFill>
                <a:latin typeface="Courier New"/>
              </a:rPr>
              <a:t>$F{telephone} == null ? "Non renseigné" : $F{telephone}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Dans une concaténation : </a:t>
            </a:r>
            <a:r>
              <a:rPr b="0" lang="en-US" sz="2000" spc="-1" strike="noStrike">
                <a:solidFill>
                  <a:schemeClr val="dk1"/>
                </a:solidFill>
                <a:latin typeface="Courier New"/>
              </a:rPr>
              <a:t>(Objects.toString($F{prenom}, "") + " " + $F{nom}).trim()</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Tester le vide et le nul : </a:t>
            </a:r>
            <a:r>
              <a:rPr b="0" lang="en-US" sz="2000" spc="-1" strike="noStrike">
                <a:solidFill>
                  <a:schemeClr val="dk1"/>
                </a:solidFill>
                <a:latin typeface="Courier New"/>
              </a:rPr>
              <a:t>$F{ref} == null || $F{ref}.trim().isEmpty()</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Calculs : un nul dans une addition provoque une erreur → </a:t>
            </a:r>
            <a:r>
              <a:rPr b="0" lang="en-US" sz="2000" spc="-1" strike="noStrike">
                <a:solidFill>
                  <a:schemeClr val="dk1"/>
                </a:solidFill>
                <a:latin typeface="Courier New"/>
              </a:rPr>
              <a:t>($F{remise} == null ? 0 : $F{remise})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1" lang="en-US" sz="2000" spc="-1" strike="noStrike">
                <a:solidFill>
                  <a:schemeClr val="dk1"/>
                </a:solidFill>
                <a:latin typeface="Calibri"/>
              </a:rPr>
              <a:t>Remove Line When Blank</a:t>
            </a:r>
            <a:r>
              <a:rPr b="0" lang="en-US" sz="2000" spc="-1" strike="noStrike">
                <a:solidFill>
                  <a:schemeClr val="dk1"/>
                </a:solidFill>
                <a:latin typeface="Calibri"/>
              </a:rPr>
              <a:t> : supprime l'espace occupé par un élément vide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Préférer traiter les nuls dans la requête SQL (</a:t>
            </a:r>
            <a:r>
              <a:rPr b="0" lang="en-US" sz="2000" spc="-1" strike="noStrike">
                <a:solidFill>
                  <a:schemeClr val="dk1"/>
                </a:solidFill>
                <a:latin typeface="Courier New"/>
              </a:rPr>
              <a:t>COALESCE</a:t>
            </a:r>
            <a:r>
              <a:rPr b="0" lang="en-US" sz="2000" spc="-1" strike="noStrike">
                <a:solidFill>
                  <a:schemeClr val="dk1"/>
                </a:solidFill>
                <a:latin typeface="Calibri"/>
              </a:rPr>
              <a:t>) quand c'est possible</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Une logique de formule Excel</a:t>
            </a:r>
            <a:endParaRPr b="0" lang="fr-FR" sz="3600" spc="-1" strike="noStrike">
              <a:solidFill>
                <a:srgbClr val="000000"/>
              </a:solidFill>
              <a:latin typeface="Arial"/>
            </a:endParaRPr>
          </a:p>
        </p:txBody>
      </p:sp>
      <p:sp>
        <p:nvSpPr>
          <p:cNvPr id="361" name="PlaceHolder 2"/>
          <p:cNvSpPr>
            <a:spLocks noGrp="1"/>
          </p:cNvSpPr>
          <p:nvPr>
            <p:ph/>
          </p:nvPr>
        </p:nvSpPr>
        <p:spPr>
          <a:xfrm>
            <a:off x="762120" y="2095560"/>
            <a:ext cx="9397080" cy="506880"/>
          </a:xfrm>
          <a:prstGeom prst="rect">
            <a:avLst/>
          </a:prstGeom>
          <a:noFill/>
          <a:ln w="0">
            <a:noFill/>
          </a:ln>
        </p:spPr>
        <p:txBody>
          <a:bodyPr lIns="91440" rIns="91440" tIns="45720" bIns="45720" anchor="t">
            <a:normAutofit fontScale="75000"/>
          </a:bodyPr>
          <a:p>
            <a:pPr marL="343080" indent="-343080" defTabSz="457200">
              <a:lnSpc>
                <a:spcPct val="100000"/>
              </a:lnSpc>
              <a:spcBef>
                <a:spcPts val="360"/>
              </a:spcBef>
              <a:buClr>
                <a:srgbClr val="000000"/>
              </a:buClr>
              <a:buFont typeface="Arial"/>
              <a:buChar char="•"/>
            </a:pPr>
            <a:r>
              <a:rPr b="0" lang="en-US" sz="1800" spc="-1" strike="noStrike">
                <a:solidFill>
                  <a:schemeClr val="dk1"/>
                </a:solidFill>
                <a:latin typeface="Calibri"/>
              </a:rPr>
              <a:t>Les fonctions intégrées de JasperReports reprennent les noms Excel en anglais ; elles sont listées dans l'éditeur d'expressions</a:t>
            </a:r>
            <a:endParaRPr b="0" lang="fr-FR" sz="1800" spc="-1" strike="noStrike">
              <a:solidFill>
                <a:srgbClr val="000000"/>
              </a:solidFill>
              <a:latin typeface="Arial"/>
            </a:endParaRPr>
          </a:p>
        </p:txBody>
      </p:sp>
      <p:graphicFrame>
        <p:nvGraphicFramePr>
          <p:cNvPr id="362" name="Table 3"/>
          <p:cNvGraphicFramePr/>
          <p:nvPr/>
        </p:nvGraphicFramePr>
        <p:xfrm>
          <a:off x="762120" y="2679840"/>
          <a:ext cx="9396720" cy="3489480"/>
        </p:xfrm>
        <a:graphic>
          <a:graphicData uri="http://schemas.openxmlformats.org/drawingml/2006/table">
            <a:tbl>
              <a:tblPr/>
              <a:tblGrid>
                <a:gridCol w="2920680"/>
                <a:gridCol w="3555720"/>
                <a:gridCol w="2920680"/>
              </a:tblGrid>
              <a:tr h="332280">
                <a:tc>
                  <a:txBody>
                    <a:bodyPr lIns="50760" rIns="50760" anchor="t">
                      <a:noAutofit/>
                    </a:bodyPr>
                    <a:p>
                      <a:pPr defTabSz="457200">
                        <a:lnSpc>
                          <a:spcPct val="100000"/>
                        </a:lnSpc>
                      </a:pPr>
                      <a:r>
                        <a:rPr b="1" lang="en-US" sz="1400" spc="-1" strike="noStrike">
                          <a:solidFill>
                            <a:schemeClr val="dk1"/>
                          </a:solidFill>
                          <a:latin typeface="Calibri"/>
                        </a:rPr>
                        <a:t>Formule Excel</a:t>
                      </a:r>
                      <a:endParaRPr b="0" lang="fr-FR" sz="14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bcbcbc"/>
                      </a:solidFill>
                      <a:prstDash val="solid"/>
                    </a:lnT>
                    <a:lnB w="12240">
                      <a:solidFill>
                        <a:srgbClr val="000000"/>
                      </a:solidFill>
                      <a:prstDash val="solid"/>
                    </a:lnB>
                    <a:noFill/>
                  </a:tcPr>
                </a:tc>
                <a:tc>
                  <a:txBody>
                    <a:bodyPr lIns="50760" rIns="50760" anchor="t">
                      <a:noAutofit/>
                    </a:bodyPr>
                    <a:p>
                      <a:pPr defTabSz="457200">
                        <a:lnSpc>
                          <a:spcPct val="100000"/>
                        </a:lnSpc>
                      </a:pPr>
                      <a:r>
                        <a:rPr b="1" lang="en-US" sz="1400" spc="-1" strike="noStrike">
                          <a:solidFill>
                            <a:schemeClr val="dk1"/>
                          </a:solidFill>
                          <a:latin typeface="Calibri"/>
                        </a:rPr>
                        <a:t>Expression Jasper (fonction)</a:t>
                      </a:r>
                      <a:endParaRPr b="0" lang="fr-FR" sz="14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bcbcbc"/>
                      </a:solidFill>
                      <a:prstDash val="solid"/>
                    </a:lnT>
                    <a:lnB w="12240">
                      <a:solidFill>
                        <a:srgbClr val="000000"/>
                      </a:solidFill>
                      <a:prstDash val="solid"/>
                    </a:lnB>
                    <a:noFill/>
                  </a:tcPr>
                </a:tc>
                <a:tc>
                  <a:txBody>
                    <a:bodyPr lIns="50760" rIns="50760" anchor="t">
                      <a:noAutofit/>
                    </a:bodyPr>
                    <a:p>
                      <a:pPr defTabSz="457200">
                        <a:lnSpc>
                          <a:spcPct val="100000"/>
                        </a:lnSpc>
                      </a:pPr>
                      <a:r>
                        <a:rPr b="1" lang="en-US" sz="1400" spc="-1" strike="noStrike">
                          <a:solidFill>
                            <a:schemeClr val="dk1"/>
                          </a:solidFill>
                          <a:latin typeface="Calibri"/>
                        </a:rPr>
                        <a:t>Équivalent Java</a:t>
                      </a:r>
                      <a:endParaRPr b="0" lang="fr-FR" sz="14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bcbcbc"/>
                      </a:solidFill>
                      <a:prstDash val="solid"/>
                    </a:lnT>
                    <a:lnB w="12240">
                      <a:solidFill>
                        <a:srgbClr val="000000"/>
                      </a:solidFill>
                      <a:prstDash val="solid"/>
                    </a:lnB>
                    <a:noFill/>
                  </a:tcPr>
                </a:tc>
              </a:tr>
              <a:tr h="497520">
                <a:tc>
                  <a:txBody>
                    <a:bodyPr lIns="50760" rIns="50760" anchor="t">
                      <a:noAutofit/>
                    </a:bodyPr>
                    <a:p>
                      <a:pPr defTabSz="457200">
                        <a:lnSpc>
                          <a:spcPct val="100000"/>
                        </a:lnSpc>
                      </a:pPr>
                      <a:r>
                        <a:rPr b="0" lang="en-US" sz="1400" spc="-1" strike="noStrike">
                          <a:solidFill>
                            <a:schemeClr val="dk1"/>
                          </a:solidFill>
                          <a:latin typeface="Courier New"/>
                        </a:rPr>
                        <a:t>=SI(A1&gt;100;"Oui";"Non")</a:t>
                      </a:r>
                      <a:endParaRPr b="0" lang="fr-FR" sz="14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400" spc="-1" strike="noStrike">
                          <a:solidFill>
                            <a:schemeClr val="dk1"/>
                          </a:solidFill>
                          <a:latin typeface="Courier New"/>
                        </a:rPr>
                        <a:t>IF($F{a} &gt; 100, "Oui", "Non")</a:t>
                      </a:r>
                      <a:endParaRPr b="0" lang="fr-FR" sz="14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400" spc="-1" strike="noStrike">
                          <a:solidFill>
                            <a:schemeClr val="dk1"/>
                          </a:solidFill>
                          <a:latin typeface="Courier New"/>
                        </a:rPr>
                        <a:t>$F{a} &gt; 100 ? "Oui" : "Non"</a:t>
                      </a:r>
                      <a:endParaRPr b="0" lang="fr-FR" sz="14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332280">
                <a:tc>
                  <a:txBody>
                    <a:bodyPr lIns="50760" rIns="50760" anchor="t">
                      <a:noAutofit/>
                    </a:bodyPr>
                    <a:p>
                      <a:pPr defTabSz="457200">
                        <a:lnSpc>
                          <a:spcPct val="100000"/>
                        </a:lnSpc>
                      </a:pPr>
                      <a:r>
                        <a:rPr b="0" lang="en-US" sz="1400" spc="-1" strike="noStrike">
                          <a:solidFill>
                            <a:schemeClr val="dk1"/>
                          </a:solidFill>
                          <a:latin typeface="Courier New"/>
                        </a:rPr>
                        <a:t>=CONCATENER(A1;" ";B1)</a:t>
                      </a:r>
                      <a:endParaRPr b="0" lang="fr-FR" sz="14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400" spc="-1" strike="noStrike">
                          <a:solidFill>
                            <a:schemeClr val="dk1"/>
                          </a:solidFill>
                          <a:latin typeface="Courier New"/>
                        </a:rPr>
                        <a:t>CONCATENATE($F{a}, " ", $F{b})</a:t>
                      </a:r>
                      <a:endParaRPr b="0" lang="fr-FR" sz="14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400" spc="-1" strike="noStrike">
                          <a:solidFill>
                            <a:schemeClr val="dk1"/>
                          </a:solidFill>
                          <a:latin typeface="Courier New"/>
                        </a:rPr>
                        <a:t>$F{a} + " " + $F{b}</a:t>
                      </a:r>
                      <a:endParaRPr b="0" lang="fr-FR" sz="14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332280">
                <a:tc>
                  <a:txBody>
                    <a:bodyPr lIns="50760" rIns="50760" anchor="t">
                      <a:noAutofit/>
                    </a:bodyPr>
                    <a:p>
                      <a:pPr defTabSz="457200">
                        <a:lnSpc>
                          <a:spcPct val="100000"/>
                        </a:lnSpc>
                      </a:pPr>
                      <a:r>
                        <a:rPr b="0" lang="en-US" sz="1400" spc="-1" strike="noStrike">
                          <a:solidFill>
                            <a:schemeClr val="dk1"/>
                          </a:solidFill>
                          <a:latin typeface="Courier New"/>
                        </a:rPr>
                        <a:t>=MAJUSCULE(A1)</a:t>
                      </a:r>
                      <a:endParaRPr b="0" lang="fr-FR" sz="14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400" spc="-1" strike="noStrike">
                          <a:solidFill>
                            <a:schemeClr val="dk1"/>
                          </a:solidFill>
                          <a:latin typeface="Courier New"/>
                        </a:rPr>
                        <a:t>UPPER($F{a})</a:t>
                      </a:r>
                      <a:endParaRPr b="0" lang="fr-FR" sz="14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400" spc="-1" strike="noStrike">
                          <a:solidFill>
                            <a:schemeClr val="dk1"/>
                          </a:solidFill>
                          <a:latin typeface="Courier New"/>
                        </a:rPr>
                        <a:t>$F{a}.toUpperCase()</a:t>
                      </a:r>
                      <a:endParaRPr b="0" lang="fr-FR" sz="14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332280">
                <a:tc>
                  <a:txBody>
                    <a:bodyPr lIns="50760" rIns="50760" anchor="t">
                      <a:noAutofit/>
                    </a:bodyPr>
                    <a:p>
                      <a:pPr defTabSz="457200">
                        <a:lnSpc>
                          <a:spcPct val="100000"/>
                        </a:lnSpc>
                      </a:pPr>
                      <a:r>
                        <a:rPr b="0" lang="en-US" sz="1400" spc="-1" strike="noStrike">
                          <a:solidFill>
                            <a:schemeClr val="dk1"/>
                          </a:solidFill>
                          <a:latin typeface="Courier New"/>
                        </a:rPr>
                        <a:t>=GAUCHE(A1;3)</a:t>
                      </a:r>
                      <a:endParaRPr b="0" lang="fr-FR" sz="14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400" spc="-1" strike="noStrike">
                          <a:solidFill>
                            <a:schemeClr val="dk1"/>
                          </a:solidFill>
                          <a:latin typeface="Courier New"/>
                        </a:rPr>
                        <a:t>LEFT($F{a}, 3)</a:t>
                      </a:r>
                      <a:endParaRPr b="0" lang="fr-FR" sz="14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400" spc="-1" strike="noStrike">
                          <a:solidFill>
                            <a:schemeClr val="dk1"/>
                          </a:solidFill>
                          <a:latin typeface="Courier New"/>
                        </a:rPr>
                        <a:t>$F{a}.substring(0, 3)</a:t>
                      </a:r>
                      <a:endParaRPr b="0" lang="fr-FR" sz="14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332280">
                <a:tc>
                  <a:txBody>
                    <a:bodyPr lIns="50760" rIns="50760" anchor="t">
                      <a:noAutofit/>
                    </a:bodyPr>
                    <a:p>
                      <a:pPr defTabSz="457200">
                        <a:lnSpc>
                          <a:spcPct val="100000"/>
                        </a:lnSpc>
                      </a:pPr>
                      <a:r>
                        <a:rPr b="0" lang="en-US" sz="1400" spc="-1" strike="noStrike">
                          <a:solidFill>
                            <a:schemeClr val="dk1"/>
                          </a:solidFill>
                          <a:latin typeface="Courier New"/>
                        </a:rPr>
                        <a:t>=ARRONDI(A1;2)</a:t>
                      </a:r>
                      <a:endParaRPr b="0" lang="fr-FR" sz="14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400" spc="-1" strike="noStrike">
                          <a:solidFill>
                            <a:schemeClr val="dk1"/>
                          </a:solidFill>
                          <a:latin typeface="Courier New"/>
                        </a:rPr>
                        <a:t>ROUND($F{a}, 2)</a:t>
                      </a:r>
                      <a:endParaRPr b="0" lang="fr-FR" sz="14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400" spc="-1" strike="noStrike">
                          <a:solidFill>
                            <a:schemeClr val="dk1"/>
                          </a:solidFill>
                          <a:latin typeface="Calibri"/>
                        </a:rPr>
                        <a:t>pattern </a:t>
                      </a:r>
                      <a:r>
                        <a:rPr b="0" lang="en-US" sz="1400" spc="-1" strike="noStrike">
                          <a:solidFill>
                            <a:schemeClr val="dk1"/>
                          </a:solidFill>
                          <a:latin typeface="Courier New"/>
                        </a:rPr>
                        <a:t>#,##0.00</a:t>
                      </a:r>
                      <a:endParaRPr b="0" lang="fr-FR" sz="14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332280">
                <a:tc>
                  <a:txBody>
                    <a:bodyPr lIns="50760" rIns="50760" anchor="t">
                      <a:noAutofit/>
                    </a:bodyPr>
                    <a:p>
                      <a:pPr defTabSz="457200">
                        <a:lnSpc>
                          <a:spcPct val="100000"/>
                        </a:lnSpc>
                      </a:pPr>
                      <a:r>
                        <a:rPr b="0" lang="en-US" sz="1400" spc="-1" strike="noStrike">
                          <a:solidFill>
                            <a:schemeClr val="dk1"/>
                          </a:solidFill>
                          <a:latin typeface="Courier New"/>
                        </a:rPr>
                        <a:t>=AUJOURDHUI()</a:t>
                      </a:r>
                      <a:endParaRPr b="0" lang="fr-FR" sz="14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400" spc="-1" strike="noStrike">
                          <a:solidFill>
                            <a:schemeClr val="dk1"/>
                          </a:solidFill>
                          <a:latin typeface="Courier New"/>
                        </a:rPr>
                        <a:t>TODAY()</a:t>
                      </a:r>
                      <a:endParaRPr b="0" lang="fr-FR" sz="14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400" spc="-1" strike="noStrike">
                          <a:solidFill>
                            <a:schemeClr val="dk1"/>
                          </a:solidFill>
                          <a:latin typeface="Courier New"/>
                        </a:rPr>
                        <a:t>new java.util.Date()</a:t>
                      </a:r>
                      <a:endParaRPr b="0" lang="fr-FR" sz="14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332280">
                <a:tc>
                  <a:txBody>
                    <a:bodyPr lIns="50760" rIns="50760" anchor="t">
                      <a:noAutofit/>
                    </a:bodyPr>
                    <a:p>
                      <a:pPr defTabSz="457200">
                        <a:lnSpc>
                          <a:spcPct val="100000"/>
                        </a:lnSpc>
                      </a:pPr>
                      <a:r>
                        <a:rPr b="0" lang="en-US" sz="1400" spc="-1" strike="noStrike">
                          <a:solidFill>
                            <a:schemeClr val="dk1"/>
                          </a:solidFill>
                          <a:latin typeface="Courier New"/>
                        </a:rPr>
                        <a:t>=TEXTE(A1;"jj/mm/aaaa")</a:t>
                      </a:r>
                      <a:endParaRPr b="0" lang="fr-FR" sz="14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400" spc="-1" strike="noStrike">
                          <a:solidFill>
                            <a:schemeClr val="dk1"/>
                          </a:solidFill>
                          <a:latin typeface="Courier New"/>
                        </a:rPr>
                        <a:t>DATEFORMAT($F{d}, "dd/MM/yyyy")</a:t>
                      </a:r>
                      <a:endParaRPr b="0" lang="fr-FR" sz="14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400" spc="-1" strike="noStrike">
                          <a:solidFill>
                            <a:schemeClr val="dk1"/>
                          </a:solidFill>
                          <a:latin typeface="Calibri"/>
                        </a:rPr>
                        <a:t>pattern </a:t>
                      </a:r>
                      <a:r>
                        <a:rPr b="0" lang="en-US" sz="1400" spc="-1" strike="noStrike">
                          <a:solidFill>
                            <a:schemeClr val="dk1"/>
                          </a:solidFill>
                          <a:latin typeface="Courier New"/>
                        </a:rPr>
                        <a:t>dd/MM/yyyy</a:t>
                      </a:r>
                      <a:endParaRPr b="0" lang="fr-FR" sz="14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332280">
                <a:tc>
                  <a:txBody>
                    <a:bodyPr lIns="50760" rIns="50760" anchor="t">
                      <a:noAutofit/>
                    </a:bodyPr>
                    <a:p>
                      <a:pPr defTabSz="457200">
                        <a:lnSpc>
                          <a:spcPct val="100000"/>
                        </a:lnSpc>
                      </a:pPr>
                      <a:r>
                        <a:rPr b="0" lang="en-US" sz="1400" spc="-1" strike="noStrike">
                          <a:solidFill>
                            <a:schemeClr val="dk1"/>
                          </a:solidFill>
                          <a:latin typeface="Courier New"/>
                        </a:rPr>
                        <a:t>=ESTVIDE(A1)</a:t>
                      </a:r>
                      <a:endParaRPr b="0" lang="fr-FR" sz="14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400" spc="-1" strike="noStrike">
                          <a:solidFill>
                            <a:schemeClr val="dk1"/>
                          </a:solidFill>
                          <a:latin typeface="Courier New"/>
                        </a:rPr>
                        <a:t>$F{a} == null</a:t>
                      </a:r>
                      <a:endParaRPr b="0" lang="fr-FR" sz="14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50760" rIns="50760" anchor="t">
                      <a:noAutofit/>
                    </a:bodyPr>
                    <a:p>
                      <a:pPr defTabSz="457200">
                        <a:lnSpc>
                          <a:spcPct val="100000"/>
                        </a:lnSpc>
                      </a:pPr>
                      <a:r>
                        <a:rPr b="0" lang="en-US" sz="1400" spc="-1" strike="noStrike">
                          <a:solidFill>
                            <a:schemeClr val="dk1"/>
                          </a:solidFill>
                          <a:latin typeface="Courier New"/>
                        </a:rPr>
                        <a:t>$F{a} == null</a:t>
                      </a:r>
                      <a:endParaRPr b="0" lang="fr-FR" sz="14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000000"/>
                      </a:solidFill>
                      <a:prstDash val="solid"/>
                    </a:lnB>
                    <a:noFill/>
                  </a:tcPr>
                </a:tc>
              </a:tr>
              <a:tr h="333720">
                <a:tc>
                  <a:txBody>
                    <a:bodyPr lIns="50760" rIns="50760" anchor="t">
                      <a:noAutofit/>
                    </a:bodyPr>
                    <a:p>
                      <a:pPr defTabSz="457200">
                        <a:lnSpc>
                          <a:spcPct val="100000"/>
                        </a:lnSpc>
                      </a:pPr>
                      <a:r>
                        <a:rPr b="0" lang="en-US" sz="1400" spc="-1" strike="noStrike">
                          <a:solidFill>
                            <a:schemeClr val="dk1"/>
                          </a:solidFill>
                          <a:latin typeface="Courier New"/>
                        </a:rPr>
                        <a:t>=SOMME(colonne)</a:t>
                      </a:r>
                      <a:endParaRPr b="0" lang="fr-FR" sz="1400" spc="-1" strike="noStrike">
                        <a:solidFill>
                          <a:srgbClr val="000000"/>
                        </a:solidFill>
                        <a:latin typeface="Arial"/>
                      </a:endParaRPr>
                    </a:p>
                  </a:txBody>
                  <a:tcPr anchor="t" marL="50760" marR="50760">
                    <a:lnL w="12240">
                      <a:solidFill>
                        <a:srgbClr val="bcbcbc"/>
                      </a:solidFill>
                      <a:prstDash val="solid"/>
                    </a:lnL>
                    <a:lnR w="12240">
                      <a:solidFill>
                        <a:srgbClr val="000000"/>
                      </a:solidFill>
                      <a:prstDash val="solid"/>
                    </a:lnR>
                    <a:lnT w="12240">
                      <a:solidFill>
                        <a:srgbClr val="000000"/>
                      </a:solidFill>
                      <a:prstDash val="solid"/>
                    </a:lnT>
                    <a:lnB w="12240">
                      <a:solidFill>
                        <a:srgbClr val="bcbcbc"/>
                      </a:solidFill>
                      <a:prstDash val="solid"/>
                    </a:lnB>
                    <a:noFill/>
                  </a:tcPr>
                </a:tc>
                <a:tc>
                  <a:txBody>
                    <a:bodyPr lIns="50760" rIns="50760" anchor="t">
                      <a:noAutofit/>
                    </a:bodyPr>
                    <a:p>
                      <a:pPr defTabSz="457200">
                        <a:lnSpc>
                          <a:spcPct val="100000"/>
                        </a:lnSpc>
                      </a:pPr>
                      <a:r>
                        <a:rPr b="0" lang="en-US" sz="1400" spc="-1" strike="noStrike">
                          <a:solidFill>
                            <a:schemeClr val="dk1"/>
                          </a:solidFill>
                          <a:latin typeface="Calibri"/>
                        </a:rPr>
                        <a:t>Variable avec Calculation = Sum</a:t>
                      </a:r>
                      <a:endParaRPr b="0" lang="fr-FR" sz="1400" spc="-1" strike="noStrike">
                        <a:solidFill>
                          <a:srgbClr val="000000"/>
                        </a:solidFill>
                        <a:latin typeface="Arial"/>
                      </a:endParaRPr>
                    </a:p>
                  </a:txBody>
                  <a:tcPr anchor="t" marL="50760" marR="50760">
                    <a:lnL w="12240">
                      <a:solidFill>
                        <a:srgbClr val="000000"/>
                      </a:solidFill>
                      <a:prstDash val="solid"/>
                    </a:lnL>
                    <a:lnR w="12240">
                      <a:solidFill>
                        <a:srgbClr val="000000"/>
                      </a:solidFill>
                      <a:prstDash val="solid"/>
                    </a:lnR>
                    <a:lnT w="12240">
                      <a:solidFill>
                        <a:srgbClr val="000000"/>
                      </a:solidFill>
                      <a:prstDash val="solid"/>
                    </a:lnT>
                    <a:lnB w="12240">
                      <a:solidFill>
                        <a:srgbClr val="bcbcbc"/>
                      </a:solidFill>
                      <a:prstDash val="solid"/>
                    </a:lnB>
                    <a:noFill/>
                  </a:tcPr>
                </a:tc>
                <a:tc>
                  <a:txBody>
                    <a:bodyPr lIns="50760" rIns="50760" anchor="t">
                      <a:noAutofit/>
                    </a:bodyPr>
                    <a:p>
                      <a:pPr defTabSz="457200">
                        <a:lnSpc>
                          <a:spcPct val="100000"/>
                        </a:lnSpc>
                      </a:pPr>
                      <a:r>
                        <a:rPr b="0" lang="en-US" sz="1400" spc="-1" strike="noStrike">
                          <a:solidFill>
                            <a:schemeClr val="dk1"/>
                          </a:solidFill>
                          <a:latin typeface="Courier New"/>
                        </a:rPr>
                        <a:t>$V{total}</a:t>
                      </a:r>
                      <a:endParaRPr b="0" lang="fr-FR" sz="1400" spc="-1" strike="noStrike">
                        <a:solidFill>
                          <a:srgbClr val="000000"/>
                        </a:solidFill>
                        <a:latin typeface="Arial"/>
                      </a:endParaRPr>
                    </a:p>
                  </a:txBody>
                  <a:tcPr anchor="t" marL="50760" marR="50760">
                    <a:lnL w="12240">
                      <a:solidFill>
                        <a:srgbClr val="000000"/>
                      </a:solidFill>
                      <a:prstDash val="solid"/>
                    </a:lnL>
                    <a:lnR w="12240">
                      <a:solidFill>
                        <a:srgbClr val="bcbcbc"/>
                      </a:solidFill>
                      <a:prstDash val="solid"/>
                    </a:lnR>
                    <a:lnT w="12240">
                      <a:solidFill>
                        <a:srgbClr val="000000"/>
                      </a:solidFill>
                      <a:prstDash val="solid"/>
                    </a:lnT>
                    <a:lnB w="12240">
                      <a:solidFill>
                        <a:srgbClr val="bcbcbc"/>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1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Calculs sur les dates</a:t>
            </a:r>
            <a:endParaRPr b="0" lang="fr-FR" sz="3600" spc="-1" strike="noStrike">
              <a:solidFill>
                <a:srgbClr val="000000"/>
              </a:solidFill>
              <a:latin typeface="Arial"/>
            </a:endParaRPr>
          </a:p>
        </p:txBody>
      </p:sp>
      <p:sp>
        <p:nvSpPr>
          <p:cNvPr id="364"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Durée en jours entre deux dates : </a:t>
            </a:r>
            <a:r>
              <a:rPr b="0" lang="en-US" sz="2000" spc="-1" strike="noStrike">
                <a:solidFill>
                  <a:schemeClr val="dk1"/>
                </a:solidFill>
                <a:latin typeface="Courier New"/>
              </a:rPr>
              <a:t>DAYS($F{date_debut}, $F{date_fin})</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En mois ou en années : </a:t>
            </a:r>
            <a:r>
              <a:rPr b="0" lang="en-US" sz="2000" spc="-1" strike="noStrike">
                <a:solidFill>
                  <a:schemeClr val="dk1"/>
                </a:solidFill>
                <a:latin typeface="Courier New"/>
              </a:rPr>
              <a:t>MONTHS(...)</a:t>
            </a:r>
            <a:r>
              <a:rPr b="0" lang="en-US" sz="2000" spc="-1" strike="noStrike">
                <a:solidFill>
                  <a:schemeClr val="dk1"/>
                </a:solidFill>
                <a:latin typeface="Calibri"/>
              </a:rPr>
              <a:t>, </a:t>
            </a:r>
            <a:r>
              <a:rPr b="0" lang="en-US" sz="2000" spc="-1" strike="noStrike">
                <a:solidFill>
                  <a:schemeClr val="dk1"/>
                </a:solidFill>
                <a:latin typeface="Courier New"/>
              </a:rPr>
              <a:t>YEARS(...)</a:t>
            </a:r>
            <a:r>
              <a:rPr b="0" lang="en-US" sz="2000" spc="-1" strike="noStrike">
                <a:solidFill>
                  <a:schemeClr val="dk1"/>
                </a:solidFill>
                <a:latin typeface="Calibri"/>
              </a:rPr>
              <a:t> ; jours ouvrés : </a:t>
            </a:r>
            <a:r>
              <a:rPr b="0" lang="en-US" sz="2000" spc="-1" strike="noStrike">
                <a:solidFill>
                  <a:schemeClr val="dk1"/>
                </a:solidFill>
                <a:latin typeface="Courier New"/>
              </a:rPr>
              <a:t>NETWORKDAYS(...)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Ajouter des jours : </a:t>
            </a:r>
            <a:r>
              <a:rPr b="0" lang="en-US" sz="2000" spc="-1" strike="noStrike">
                <a:solidFill>
                  <a:schemeClr val="dk1"/>
                </a:solidFill>
                <a:latin typeface="Courier New"/>
              </a:rPr>
              <a:t>DATE(YEAR($F{d}), MONTH($F{d}), DAY($F{d}) + 30)</a:t>
            </a:r>
            <a:r>
              <a:rPr b="0" lang="en-US" sz="2000" spc="-1" strike="noStrike">
                <a:solidFill>
                  <a:schemeClr val="dk1"/>
                </a:solidFill>
                <a:latin typeface="Calibri"/>
              </a:rPr>
              <a:t> ou </a:t>
            </a:r>
            <a:r>
              <a:rPr b="0" lang="en-US" sz="2000" spc="-1" strike="noStrike">
                <a:solidFill>
                  <a:schemeClr val="dk1"/>
                </a:solidFill>
                <a:latin typeface="Courier New"/>
              </a:rPr>
              <a:t>EDATE($F{d}, 1)</a:t>
            </a:r>
            <a:r>
              <a:rPr b="0" lang="en-US" sz="2000" spc="-1" strike="noStrike">
                <a:solidFill>
                  <a:schemeClr val="dk1"/>
                </a:solidFill>
                <a:latin typeface="Calibri"/>
              </a:rPr>
              <a:t> pour un mois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Date du jour : </a:t>
            </a:r>
            <a:r>
              <a:rPr b="0" lang="en-US" sz="2000" spc="-1" strike="noStrike">
                <a:solidFill>
                  <a:schemeClr val="dk1"/>
                </a:solidFill>
                <a:latin typeface="Courier New"/>
              </a:rPr>
              <a:t>TODAY()</a:t>
            </a:r>
            <a:r>
              <a:rPr b="0" lang="en-US" sz="2000" spc="-1" strike="noStrike">
                <a:solidFill>
                  <a:schemeClr val="dk1"/>
                </a:solidFill>
                <a:latin typeface="Calibri"/>
              </a:rPr>
              <a:t> ; date et heure : </a:t>
            </a:r>
            <a:r>
              <a:rPr b="0" lang="en-US" sz="2000" spc="-1" strike="noStrike">
                <a:solidFill>
                  <a:schemeClr val="dk1"/>
                </a:solidFill>
                <a:latin typeface="Courier New"/>
              </a:rPr>
              <a:t>NOW()</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Afficher : </a:t>
            </a:r>
            <a:r>
              <a:rPr b="0" lang="en-US" sz="2000" spc="-1" strike="noStrike">
                <a:solidFill>
                  <a:schemeClr val="dk1"/>
                </a:solidFill>
                <a:latin typeface="Courier New"/>
              </a:rPr>
              <a:t>DATEFORMAT($F{d}, "dd/MM/yyyy")</a:t>
            </a:r>
            <a:r>
              <a:rPr b="0" lang="en-US" sz="2000" spc="-1" strike="noStrike">
                <a:solidFill>
                  <a:schemeClr val="dk1"/>
                </a:solidFill>
                <a:latin typeface="Calibri"/>
              </a:rPr>
              <a:t> ou le pattern du champ texte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Retard : </a:t>
            </a:r>
            <a:r>
              <a:rPr b="0" lang="en-US" sz="2000" spc="-1" strike="noStrike">
                <a:solidFill>
                  <a:schemeClr val="dk1"/>
                </a:solidFill>
                <a:latin typeface="Courier New"/>
              </a:rPr>
              <a:t>IF(DAYS($F{echeance}, TODAY()) &gt; 0, "En retard", "À échoir")</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Les champs doivent être de type date (java.util.Date, java.sql.Date, java.sql.Timestamp), pas texte</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Construire des libellés plus parlants</a:t>
            </a:r>
            <a:endParaRPr b="0" lang="fr-FR" sz="3600" spc="-1" strike="noStrike">
              <a:solidFill>
                <a:srgbClr val="000000"/>
              </a:solidFill>
              <a:latin typeface="Arial"/>
            </a:endParaRPr>
          </a:p>
        </p:txBody>
      </p:sp>
      <p:sp>
        <p:nvSpPr>
          <p:cNvPr id="366"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Un titre dynamique : </a:t>
            </a:r>
            <a:r>
              <a:rPr b="0" lang="en-US" sz="2000" spc="-1" strike="noStrike">
                <a:solidFill>
                  <a:schemeClr val="dk1"/>
                </a:solidFill>
                <a:latin typeface="Courier New"/>
              </a:rPr>
              <a:t>"Commandes du client " + $P{CLIENT} + " au " + DATEFORMAT(TODAY(), "dd/MM/yyyy")</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Traduire un code : </a:t>
            </a:r>
            <a:r>
              <a:rPr b="0" lang="en-US" sz="2000" spc="-1" strike="noStrike">
                <a:solidFill>
                  <a:schemeClr val="dk1"/>
                </a:solidFill>
                <a:latin typeface="Courier New"/>
              </a:rPr>
              <a:t>IF(EQUALS($F{statut}, "V"), "Validée", IF(EQUALS($F{statut}, "A"), "Annulée", "En cours"))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Quand il y a beaucoup de codes : faire la traduction dans la requête SQL (</a:t>
            </a:r>
            <a:r>
              <a:rPr b="0" lang="en-US" sz="2000" spc="-1" strike="noStrike">
                <a:solidFill>
                  <a:schemeClr val="dk1"/>
                </a:solidFill>
                <a:latin typeface="Courier New"/>
              </a:rPr>
              <a:t>CASE WHEN</a:t>
            </a:r>
            <a:r>
              <a:rPr b="0" lang="en-US" sz="2000" spc="-1" strike="noStrike">
                <a:solidFill>
                  <a:schemeClr val="dk1"/>
                </a:solidFill>
                <a:latin typeface="Calibri"/>
              </a:rPr>
              <a:t>) ou par jointure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Pluriel : </a:t>
            </a:r>
            <a:r>
              <a:rPr b="0" lang="en-US" sz="2000" spc="-1" strike="noStrike">
                <a:solidFill>
                  <a:schemeClr val="dk1"/>
                </a:solidFill>
                <a:latin typeface="Courier New"/>
              </a:rPr>
              <a:t>$V{nb} + (($V{nb} &gt; 1) ? " articles" : " article")</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Résumé de filtre en sous-titre : </a:t>
            </a:r>
            <a:r>
              <a:rPr b="0" lang="en-US" sz="2000" spc="-1" strike="noStrike">
                <a:solidFill>
                  <a:schemeClr val="dk1"/>
                </a:solidFill>
                <a:latin typeface="Courier New"/>
              </a:rPr>
              <a:t>"Période : " + DATEFORMAT($P{debut}, "dd/MM/yyyy") + " – " + DATEFORMAT($P{fin}, "dd/MM/yyyy")</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Garder les expressions courtes ; au-delà de deux conditions imbriquées, passer par la requête ou par une variable</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Évaluation des expressions</a:t>
            </a:r>
            <a:endParaRPr b="0" lang="fr-FR" sz="3600" spc="-1" strike="noStrike">
              <a:solidFill>
                <a:srgbClr val="000000"/>
              </a:solidFill>
              <a:latin typeface="Arial"/>
            </a:endParaRPr>
          </a:p>
        </p:txBody>
      </p:sp>
      <p:sp>
        <p:nvSpPr>
          <p:cNvPr id="368"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360"/>
              </a:spcBef>
              <a:buClr>
                <a:srgbClr val="000000"/>
              </a:buClr>
              <a:buFont typeface="Arial"/>
              <a:buChar char="•"/>
            </a:pPr>
            <a:r>
              <a:rPr b="0" lang="en-US" sz="1800" spc="-1" strike="noStrike">
                <a:solidFill>
                  <a:schemeClr val="dk1"/>
                </a:solidFill>
                <a:latin typeface="Calibri"/>
              </a:rPr>
              <a:t>Par défaut, les expressions sont évaluées immédiatement lorsque la moteur génère le rapport.</a:t>
            </a:r>
            <a:endParaRPr b="0" lang="fr-FR" sz="1800" spc="-1" strike="noStrike">
              <a:solidFill>
                <a:srgbClr val="000000"/>
              </a:solidFill>
              <a:latin typeface="Arial"/>
            </a:endParaRPr>
          </a:p>
          <a:p>
            <a:pPr marL="343080" indent="-343080" defTabSz="457200">
              <a:lnSpc>
                <a:spcPct val="100000"/>
              </a:lnSpc>
              <a:spcBef>
                <a:spcPts val="360"/>
              </a:spcBef>
              <a:buClr>
                <a:srgbClr val="000000"/>
              </a:buClr>
              <a:buFont typeface="Arial"/>
              <a:buChar char="•"/>
            </a:pPr>
            <a:r>
              <a:rPr b="0" lang="en-US" sz="1800" spc="-1" strike="noStrike">
                <a:solidFill>
                  <a:schemeClr val="dk1"/>
                </a:solidFill>
                <a:latin typeface="Calibri"/>
              </a:rPr>
              <a:t>On peut modifier ce comportement en modifiant l'attribut </a:t>
            </a:r>
            <a:r>
              <a:rPr b="1" i="1" lang="en-US" sz="1800" spc="-1" strike="noStrike">
                <a:solidFill>
                  <a:schemeClr val="dk1"/>
                </a:solidFill>
                <a:latin typeface="Calibri"/>
              </a:rPr>
              <a:t>evaluationTime</a:t>
            </a:r>
            <a:r>
              <a:rPr b="0" lang="en-US" sz="1800" spc="-1" strike="noStrike">
                <a:solidFill>
                  <a:schemeClr val="dk1"/>
                </a:solidFill>
                <a:latin typeface="Calibri"/>
              </a:rPr>
              <a:t> qui peut prendre les valeurs suivantes :</a:t>
            </a:r>
            <a:endParaRPr b="0" lang="fr-FR" sz="1800" spc="-1" strike="noStrike">
              <a:solidFill>
                <a:srgbClr val="000000"/>
              </a:solidFill>
              <a:latin typeface="Arial"/>
            </a:endParaRPr>
          </a:p>
          <a:p>
            <a:pPr lvl="2" marL="1143000" indent="-228600" defTabSz="457200">
              <a:lnSpc>
                <a:spcPct val="100000"/>
              </a:lnSpc>
              <a:spcBef>
                <a:spcPts val="320"/>
              </a:spcBef>
              <a:buClr>
                <a:srgbClr val="000000"/>
              </a:buClr>
              <a:buFont typeface="Arial"/>
              <a:buChar char="•"/>
            </a:pPr>
            <a:r>
              <a:rPr b="1" i="1" lang="en-US" sz="1600" spc="-1" strike="noStrike">
                <a:solidFill>
                  <a:schemeClr val="dk1"/>
                </a:solidFill>
                <a:latin typeface="Calibri"/>
              </a:rPr>
              <a:t>Now</a:t>
            </a:r>
            <a:r>
              <a:rPr b="0" lang="en-US" sz="1600" spc="-1" strike="noStrike">
                <a:solidFill>
                  <a:schemeClr val="dk1"/>
                </a:solidFill>
                <a:latin typeface="Calibri"/>
              </a:rPr>
              <a:t> : Immédiatement (valeur par défaut)</a:t>
            </a:r>
            <a:endParaRPr b="0" lang="fr-FR" sz="1600" spc="-1" strike="noStrike">
              <a:solidFill>
                <a:srgbClr val="000000"/>
              </a:solidFill>
              <a:latin typeface="Arial"/>
            </a:endParaRPr>
          </a:p>
          <a:p>
            <a:pPr lvl="2" marL="1143000" indent="-228600" defTabSz="457200">
              <a:lnSpc>
                <a:spcPct val="100000"/>
              </a:lnSpc>
              <a:spcBef>
                <a:spcPts val="320"/>
              </a:spcBef>
              <a:buClr>
                <a:srgbClr val="000000"/>
              </a:buClr>
              <a:buFont typeface="Arial"/>
              <a:buChar char="•"/>
            </a:pPr>
            <a:r>
              <a:rPr b="1" i="1" lang="en-US" sz="1600" spc="-1" strike="noStrike">
                <a:solidFill>
                  <a:schemeClr val="dk1"/>
                </a:solidFill>
                <a:latin typeface="Calibri"/>
              </a:rPr>
              <a:t>Report</a:t>
            </a:r>
            <a:r>
              <a:rPr b="0" lang="en-US" sz="1600" spc="-1" strike="noStrike">
                <a:solidFill>
                  <a:schemeClr val="dk1"/>
                </a:solidFill>
                <a:latin typeface="Calibri"/>
              </a:rPr>
              <a:t> : A la fin de la génération</a:t>
            </a:r>
            <a:endParaRPr b="0" lang="fr-FR" sz="1600" spc="-1" strike="noStrike">
              <a:solidFill>
                <a:srgbClr val="000000"/>
              </a:solidFill>
              <a:latin typeface="Arial"/>
            </a:endParaRPr>
          </a:p>
          <a:p>
            <a:pPr lvl="2" marL="1143000" indent="-228600" defTabSz="457200">
              <a:lnSpc>
                <a:spcPct val="100000"/>
              </a:lnSpc>
              <a:spcBef>
                <a:spcPts val="320"/>
              </a:spcBef>
              <a:buClr>
                <a:srgbClr val="000000"/>
              </a:buClr>
              <a:buFont typeface="Arial"/>
              <a:buChar char="•"/>
            </a:pPr>
            <a:r>
              <a:rPr b="1" i="1" lang="en-US" sz="1600" spc="-1" strike="noStrike">
                <a:solidFill>
                  <a:schemeClr val="dk1"/>
                </a:solidFill>
                <a:latin typeface="Calibri"/>
              </a:rPr>
              <a:t>Page</a:t>
            </a:r>
            <a:r>
              <a:rPr b="0" lang="en-US" sz="1600" spc="-1" strike="noStrike">
                <a:solidFill>
                  <a:schemeClr val="dk1"/>
                </a:solidFill>
                <a:latin typeface="Calibri"/>
              </a:rPr>
              <a:t> : A la fin de la page</a:t>
            </a:r>
            <a:endParaRPr b="0" lang="fr-FR" sz="1600" spc="-1" strike="noStrike">
              <a:solidFill>
                <a:srgbClr val="000000"/>
              </a:solidFill>
              <a:latin typeface="Arial"/>
            </a:endParaRPr>
          </a:p>
          <a:p>
            <a:pPr lvl="2" marL="1143000" indent="-228600" defTabSz="457200">
              <a:lnSpc>
                <a:spcPct val="100000"/>
              </a:lnSpc>
              <a:spcBef>
                <a:spcPts val="320"/>
              </a:spcBef>
              <a:buClr>
                <a:srgbClr val="000000"/>
              </a:buClr>
              <a:buFont typeface="Arial"/>
              <a:buChar char="•"/>
            </a:pPr>
            <a:r>
              <a:rPr b="1" i="1" lang="en-US" sz="1600" spc="-1" strike="noStrike">
                <a:solidFill>
                  <a:schemeClr val="dk1"/>
                </a:solidFill>
                <a:latin typeface="Calibri"/>
              </a:rPr>
              <a:t>Column</a:t>
            </a:r>
            <a:r>
              <a:rPr b="0" lang="en-US" sz="1600" spc="-1" strike="noStrike">
                <a:solidFill>
                  <a:schemeClr val="dk1"/>
                </a:solidFill>
                <a:latin typeface="Calibri"/>
              </a:rPr>
              <a:t> : A la fin de la colonne</a:t>
            </a:r>
            <a:endParaRPr b="0" lang="fr-FR" sz="1600" spc="-1" strike="noStrike">
              <a:solidFill>
                <a:srgbClr val="000000"/>
              </a:solidFill>
              <a:latin typeface="Arial"/>
            </a:endParaRPr>
          </a:p>
          <a:p>
            <a:pPr lvl="2" marL="1143000" indent="-228600" defTabSz="457200">
              <a:lnSpc>
                <a:spcPct val="100000"/>
              </a:lnSpc>
              <a:spcBef>
                <a:spcPts val="320"/>
              </a:spcBef>
              <a:buClr>
                <a:srgbClr val="000000"/>
              </a:buClr>
              <a:buFont typeface="Arial"/>
              <a:buChar char="•"/>
            </a:pPr>
            <a:r>
              <a:rPr b="1" i="1" lang="en-US" sz="1600" spc="-1" strike="noStrike">
                <a:solidFill>
                  <a:schemeClr val="dk1"/>
                </a:solidFill>
                <a:latin typeface="Calibri"/>
              </a:rPr>
              <a:t>Group</a:t>
            </a:r>
            <a:r>
              <a:rPr b="0" lang="en-US" sz="1600" spc="-1" strike="noStrike">
                <a:solidFill>
                  <a:schemeClr val="dk1"/>
                </a:solidFill>
                <a:latin typeface="Calibri"/>
              </a:rPr>
              <a:t> : A la fin de la groupe</a:t>
            </a:r>
            <a:endParaRPr b="0" lang="fr-FR" sz="1600" spc="-1" strike="noStrike">
              <a:solidFill>
                <a:srgbClr val="000000"/>
              </a:solidFill>
              <a:latin typeface="Arial"/>
            </a:endParaRPr>
          </a:p>
          <a:p>
            <a:pPr lvl="2" marL="1143000" indent="-228600" defTabSz="457200">
              <a:lnSpc>
                <a:spcPct val="100000"/>
              </a:lnSpc>
              <a:spcBef>
                <a:spcPts val="320"/>
              </a:spcBef>
              <a:buClr>
                <a:srgbClr val="000000"/>
              </a:buClr>
              <a:buFont typeface="Arial"/>
              <a:buChar char="•"/>
            </a:pPr>
            <a:r>
              <a:rPr b="1" i="1" lang="en-US" sz="1600" spc="-1" strike="noStrike">
                <a:solidFill>
                  <a:schemeClr val="dk1"/>
                </a:solidFill>
                <a:latin typeface="Calibri"/>
              </a:rPr>
              <a:t>Band</a:t>
            </a:r>
            <a:r>
              <a:rPr b="0" lang="en-US" sz="1600" spc="-1" strike="noStrike">
                <a:solidFill>
                  <a:schemeClr val="dk1"/>
                </a:solidFill>
                <a:latin typeface="Calibri"/>
              </a:rPr>
              <a:t> : A la fin de la bande dans laquelle se trouve l'expression</a:t>
            </a:r>
            <a:endParaRPr b="0" lang="fr-FR" sz="1600" spc="-1" strike="noStrike">
              <a:solidFill>
                <a:srgbClr val="000000"/>
              </a:solidFill>
              <a:latin typeface="Arial"/>
            </a:endParaRPr>
          </a:p>
          <a:p>
            <a:pPr lvl="2" marL="1143000" indent="-228600" defTabSz="457200">
              <a:lnSpc>
                <a:spcPct val="100000"/>
              </a:lnSpc>
              <a:spcBef>
                <a:spcPts val="320"/>
              </a:spcBef>
              <a:buClr>
                <a:srgbClr val="000000"/>
              </a:buClr>
              <a:buFont typeface="Arial"/>
              <a:buChar char="•"/>
            </a:pPr>
            <a:r>
              <a:rPr b="1" i="1" lang="en-US" sz="1600" spc="-1" strike="noStrike">
                <a:solidFill>
                  <a:schemeClr val="dk1"/>
                </a:solidFill>
                <a:latin typeface="Calibri"/>
              </a:rPr>
              <a:t>Auto</a:t>
            </a:r>
            <a:r>
              <a:rPr b="0" lang="en-US" sz="1600" spc="-1" strike="noStrike">
                <a:solidFill>
                  <a:schemeClr val="dk1"/>
                </a:solidFill>
                <a:latin typeface="Calibri"/>
              </a:rPr>
              <a:t> : Lorsque l'expression dépend de variables interdépendantes, on laisse le choix au moteur pour choisir le bon moment pour l'évaluation</a:t>
            </a:r>
            <a:endParaRPr b="0" lang="fr-FR"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Atelier 10 : Affichage conditionnel, concaténation, durées</a:t>
            </a:r>
            <a:endParaRPr b="0" lang="fr-FR" sz="3600" spc="-1" strike="noStrike">
              <a:solidFill>
                <a:srgbClr val="000000"/>
              </a:solidFill>
              <a:latin typeface="Arial"/>
            </a:endParaRPr>
          </a:p>
        </p:txBody>
      </p:sp>
      <p:sp>
        <p:nvSpPr>
          <p:cNvPr id="370"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39"/>
              </a:spcBef>
              <a:buClr>
                <a:srgbClr val="000000"/>
              </a:buClr>
              <a:buFont typeface="Arial"/>
              <a:buChar char="•"/>
            </a:pPr>
            <a:r>
              <a:rPr b="0" lang="en-US" sz="2200" spc="-1" strike="noStrike">
                <a:solidFill>
                  <a:schemeClr val="dk1"/>
                </a:solidFill>
                <a:latin typeface="Calibri"/>
              </a:rPr>
              <a:t>Afficher « Nom Prénom » en gérant les prénoms absents</a:t>
            </a:r>
            <a:endParaRPr b="0" lang="fr-FR" sz="2200" spc="-1" strike="noStrike">
              <a:solidFill>
                <a:srgbClr val="000000"/>
              </a:solidFill>
              <a:latin typeface="Arial"/>
            </a:endParaRPr>
          </a:p>
          <a:p>
            <a:pPr marL="343080" indent="-343080" defTabSz="457200">
              <a:lnSpc>
                <a:spcPct val="100000"/>
              </a:lnSpc>
              <a:spcBef>
                <a:spcPts val="439"/>
              </a:spcBef>
              <a:buClr>
                <a:srgbClr val="000000"/>
              </a:buClr>
              <a:buFont typeface="Arial"/>
              <a:buChar char="•"/>
            </a:pPr>
            <a:r>
              <a:rPr b="0" lang="en-US" sz="2200" spc="-1" strike="noStrike">
                <a:solidFill>
                  <a:schemeClr val="dk1"/>
                </a:solidFill>
                <a:latin typeface="Calibri"/>
              </a:rPr>
              <a:t>Afficher une mention conditionnelle selon le montant et masquer un élément si la remise est nulle</a:t>
            </a:r>
            <a:endParaRPr b="0" lang="fr-FR" sz="2200" spc="-1" strike="noStrike">
              <a:solidFill>
                <a:srgbClr val="000000"/>
              </a:solidFill>
              <a:latin typeface="Arial"/>
            </a:endParaRPr>
          </a:p>
          <a:p>
            <a:pPr marL="343080" indent="-343080" defTabSz="457200">
              <a:lnSpc>
                <a:spcPct val="100000"/>
              </a:lnSpc>
              <a:spcBef>
                <a:spcPts val="439"/>
              </a:spcBef>
              <a:buClr>
                <a:srgbClr val="000000"/>
              </a:buClr>
              <a:buFont typeface="Arial"/>
              <a:buChar char="•"/>
            </a:pPr>
            <a:r>
              <a:rPr b="0" lang="en-US" sz="2200" spc="-1" strike="noStrike">
                <a:solidFill>
                  <a:schemeClr val="dk1"/>
                </a:solidFill>
                <a:latin typeface="Calibri"/>
              </a:rPr>
              <a:t>Calculer un nombre de jours entre deux dates et le qualifier (en retard / à échoir)</a:t>
            </a:r>
            <a:endParaRPr b="0" lang="fr-FR" sz="2200" spc="-1" strike="noStrike">
              <a:solidFill>
                <a:srgbClr val="000000"/>
              </a:solidFill>
              <a:latin typeface="Arial"/>
            </a:endParaRPr>
          </a:p>
          <a:p>
            <a:pPr marL="343080" indent="-343080" defTabSz="457200">
              <a:lnSpc>
                <a:spcPct val="100000"/>
              </a:lnSpc>
              <a:spcBef>
                <a:spcPts val="439"/>
              </a:spcBef>
              <a:buClr>
                <a:srgbClr val="000000"/>
              </a:buClr>
              <a:buFont typeface="Arial"/>
              <a:buChar char="•"/>
            </a:pPr>
            <a:r>
              <a:rPr b="0" lang="en-US" sz="2200" spc="-1" strike="noStrike">
                <a:solidFill>
                  <a:schemeClr val="dk1"/>
                </a:solidFill>
                <a:latin typeface="Calibri"/>
              </a:rPr>
              <a:t>Construire un titre dynamique à partir des paramètres du rapport</a:t>
            </a:r>
            <a:endParaRPr b="0" lang="fr-FR"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Ressources</a:t>
            </a:r>
            <a:endParaRPr b="0" lang="fr-FR" sz="3600" spc="-1" strike="noStrike">
              <a:solidFill>
                <a:srgbClr val="000000"/>
              </a:solidFill>
              <a:latin typeface="Arial"/>
            </a:endParaRPr>
          </a:p>
        </p:txBody>
      </p:sp>
      <p:sp>
        <p:nvSpPr>
          <p:cNvPr id="372" name="PlaceHolder 2"/>
          <p:cNvSpPr>
            <a:spLocks noGrp="1"/>
          </p:cNvSpPr>
          <p:nvPr>
            <p:ph/>
          </p:nvPr>
        </p:nvSpPr>
        <p:spPr>
          <a:xfrm>
            <a:off x="762120" y="2158920"/>
            <a:ext cx="9397080" cy="4825080"/>
          </a:xfrm>
          <a:prstGeom prst="rect">
            <a:avLst/>
          </a:prstGeom>
          <a:noFill/>
          <a:ln w="0">
            <a:noFill/>
          </a:ln>
        </p:spPr>
        <p:txBody>
          <a:bodyPr lIns="91440" rIns="91440" tIns="45720" bIns="45720" anchor="t">
            <a:normAutofit/>
          </a:bodyPr>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Documentation Jaspersoft Studio : community.jaspersoft.com/documentation</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JasperReports Library, exemples et schéma : jasperreports.sourceforge.net</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Code source et notes de version : github.com/Jaspersoft/jasperreports</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 JasperReports Ultimate Guide » et « Jaspersoft Studio User Guide »</a:t>
            </a:r>
            <a:endParaRPr b="0" lang="fr-FR" sz="2000" spc="-1" strike="noStrike">
              <a:solidFill>
                <a:srgbClr val="000000"/>
              </a:solidFill>
              <a:latin typeface="Arial"/>
            </a:endParaRPr>
          </a:p>
          <a:p>
            <a:pPr marL="343080" indent="-343080" defTabSz="457200">
              <a:lnSpc>
                <a:spcPct val="100000"/>
              </a:lnSpc>
              <a:spcBef>
                <a:spcPts val="400"/>
              </a:spcBef>
              <a:buClr>
                <a:srgbClr val="000000"/>
              </a:buClr>
              <a:buFont typeface="Arial"/>
              <a:buChar char="•"/>
            </a:pPr>
            <a:r>
              <a:rPr b="0" lang="en-US" sz="2000" spc="-1" strike="noStrike">
                <a:solidFill>
                  <a:schemeClr val="dk1"/>
                </a:solidFill>
                <a:latin typeface="Calibri"/>
              </a:rPr>
              <a:t>Forums communautaires : community.jaspersoft.com, jasper-forum.com</a:t>
            </a:r>
            <a:endParaRPr b="0" lang="fr-F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 name="PlaceHolder 1"/>
          <p:cNvSpPr>
            <a:spLocks noGrp="1"/>
          </p:cNvSpPr>
          <p:nvPr>
            <p:ph type="title"/>
          </p:nvPr>
        </p:nvSpPr>
        <p:spPr>
          <a:xfrm>
            <a:off x="762120" y="507960"/>
            <a:ext cx="9168480" cy="1396080"/>
          </a:xfrm>
          <a:prstGeom prst="rect">
            <a:avLst/>
          </a:prstGeom>
          <a:noFill/>
          <a:ln w="0">
            <a:noFill/>
          </a:ln>
        </p:spPr>
        <p:txBody>
          <a:bodyPr lIns="91440" rIns="91440" tIns="45720" bIns="45720" anchor="ctr">
            <a:noAutofit/>
          </a:bodyPr>
          <a:p>
            <a:pPr indent="0" algn="ctr" defTabSz="457200">
              <a:lnSpc>
                <a:spcPct val="100000"/>
              </a:lnSpc>
              <a:buNone/>
              <a:tabLst>
                <a:tab algn="l" pos="0"/>
              </a:tabLst>
            </a:pPr>
            <a:r>
              <a:rPr b="0" lang="en-US" sz="3600" spc="-1" strike="noStrike">
                <a:solidFill>
                  <a:schemeClr val="dk1"/>
                </a:solidFill>
                <a:latin typeface="Calibri"/>
              </a:rPr>
              <a:t>Merci de votre attention</a:t>
            </a:r>
            <a:endParaRPr b="0" lang="fr-FR" sz="3600" spc="-1" strike="noStrike">
              <a:solidFill>
                <a:srgbClr val="000000"/>
              </a:solidFill>
              <a:latin typeface="Arial"/>
            </a:endParaRPr>
          </a:p>
        </p:txBody>
      </p:sp>
      <p:sp>
        <p:nvSpPr>
          <p:cNvPr id="374" name="PlaceHolder 2"/>
          <p:cNvSpPr>
            <a:spLocks noGrp="1"/>
          </p:cNvSpPr>
          <p:nvPr>
            <p:ph/>
          </p:nvPr>
        </p:nvSpPr>
        <p:spPr>
          <a:xfrm>
            <a:off x="762120" y="3301920"/>
            <a:ext cx="9397080" cy="3300840"/>
          </a:xfrm>
          <a:prstGeom prst="rect">
            <a:avLst/>
          </a:prstGeom>
          <a:noFill/>
          <a:ln w="0">
            <a:noFill/>
          </a:ln>
        </p:spPr>
        <p:txBody>
          <a:bodyPr lIns="91440" rIns="91440" tIns="45720" bIns="45720" anchor="t">
            <a:normAutofit/>
          </a:bodyPr>
          <a:p>
            <a:pPr indent="0" algn="ctr" defTabSz="457200">
              <a:lnSpc>
                <a:spcPct val="100000"/>
              </a:lnSpc>
              <a:spcBef>
                <a:spcPts val="641"/>
              </a:spcBef>
              <a:buNone/>
              <a:tabLst>
                <a:tab algn="l" pos="0"/>
              </a:tabLst>
            </a:pPr>
            <a:endParaRPr b="0" lang="fr-FR" sz="3200" spc="-1" strike="noStrike">
              <a:solidFill>
                <a:srgbClr val="000000"/>
              </a:solidFill>
              <a:latin typeface="Arial"/>
            </a:endParaRPr>
          </a:p>
          <a:p>
            <a:pPr indent="0" algn="ctr" defTabSz="457200">
              <a:lnSpc>
                <a:spcPct val="100000"/>
              </a:lnSpc>
              <a:spcBef>
                <a:spcPts val="561"/>
              </a:spcBef>
              <a:buNone/>
              <a:tabLst>
                <a:tab algn="l" pos="0"/>
              </a:tabLst>
            </a:pPr>
            <a:r>
              <a:rPr b="0" lang="en-US" sz="2800" spc="-1" strike="noStrike">
                <a:solidFill>
                  <a:schemeClr val="dk1"/>
                </a:solidFill>
                <a:latin typeface="Calibri"/>
              </a:rPr>
              <a:t>David THIBAU</a:t>
            </a:r>
            <a:endParaRPr b="0" lang="fr-F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2451</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fr-FR</dc:language>
  <cp:lastModifiedBy/>
  <cp:lastPrinted>2026-09-12T16:48:18Z</cp:lastPrinted>
  <dcterms:modified xsi:type="dcterms:W3CDTF">2026-09-16T21:19:52Z</dcterms:modified>
  <cp:revision>27</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